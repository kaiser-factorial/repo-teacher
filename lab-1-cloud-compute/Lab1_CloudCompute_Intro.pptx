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uggingface.co/mistralai/Mistral-7B-Instruct-v0.1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064240" y="4023360"/>
            <a:ext cx="3108960" cy="310896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9784080" y="960120"/>
            <a:ext cx="822960" cy="411480"/>
          </a:xfrm>
          <a:prstGeom prst="bentConnector3">
            <a:avLst/>
          </a:prstGeom>
          <a:ln w="15875">
            <a:solidFill>
              <a:srgbClr val="5A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784080" y="1371600"/>
            <a:ext cx="822960" cy="457200"/>
          </a:xfrm>
          <a:prstGeom prst="bentConnector3">
            <a:avLst/>
          </a:prstGeom>
          <a:ln w="15875">
            <a:solidFill>
              <a:srgbClr val="5A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10607040" y="640080"/>
            <a:ext cx="822960" cy="320040"/>
          </a:xfrm>
          <a:prstGeom prst="bentConnector3">
            <a:avLst/>
          </a:prstGeom>
          <a:ln w="15875">
            <a:solidFill>
              <a:srgbClr val="5A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07040" y="960120"/>
            <a:ext cx="822960" cy="320040"/>
          </a:xfrm>
          <a:prstGeom prst="bentConnector3">
            <a:avLst/>
          </a:prstGeom>
          <a:ln w="15875">
            <a:solidFill>
              <a:srgbClr val="5A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0607040" y="1783080"/>
            <a:ext cx="822960" cy="45720"/>
          </a:xfrm>
          <a:prstGeom prst="bentConnector3">
            <a:avLst/>
          </a:prstGeom>
          <a:ln w="15875">
            <a:solidFill>
              <a:srgbClr val="5A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607040" y="1828800"/>
            <a:ext cx="822960" cy="457200"/>
          </a:xfrm>
          <a:prstGeom prst="bentConnector3">
            <a:avLst/>
          </a:prstGeom>
          <a:ln w="15875">
            <a:solidFill>
              <a:srgbClr val="5A8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729215" y="1316736"/>
            <a:ext cx="109728" cy="109728"/>
          </a:xfrm>
          <a:prstGeom prst="ellipse">
            <a:avLst/>
          </a:prstGeom>
          <a:solidFill>
            <a:srgbClr val="8F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52176" y="905256"/>
            <a:ext cx="109728" cy="109728"/>
          </a:xfrm>
          <a:prstGeom prst="ellipse">
            <a:avLst/>
          </a:prstGeom>
          <a:solidFill>
            <a:srgbClr val="8F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552176" y="1773936"/>
            <a:ext cx="109728" cy="109728"/>
          </a:xfrm>
          <a:prstGeom prst="ellipse">
            <a:avLst/>
          </a:prstGeom>
          <a:solidFill>
            <a:srgbClr val="8F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75136" y="585215"/>
            <a:ext cx="109728" cy="109728"/>
          </a:xfrm>
          <a:prstGeom prst="ellipse">
            <a:avLst/>
          </a:prstGeom>
          <a:solidFill>
            <a:srgbClr val="8F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75136" y="1225295"/>
            <a:ext cx="109728" cy="109728"/>
          </a:xfrm>
          <a:prstGeom prst="ellipse">
            <a:avLst/>
          </a:prstGeom>
          <a:solidFill>
            <a:srgbClr val="8F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75136" y="1728216"/>
            <a:ext cx="109728" cy="109728"/>
          </a:xfrm>
          <a:prstGeom prst="ellipse">
            <a:avLst/>
          </a:prstGeom>
          <a:solidFill>
            <a:srgbClr val="8F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75136" y="2231136"/>
            <a:ext cx="109728" cy="109728"/>
          </a:xfrm>
          <a:prstGeom prst="ellipse">
            <a:avLst/>
          </a:prstGeom>
          <a:solidFill>
            <a:srgbClr val="8F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1" i="0">
                <a:solidFill>
                  <a:srgbClr val="7FB8D6"/>
                </a:solidFill>
                <a:latin typeface="Calibri"/>
              </a:rPr>
              <a:t>AI SEMINAR  ·  LAB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828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Cambria"/>
              </a:rPr>
              <a:t>Cloud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06324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0" i="0">
                <a:solidFill>
                  <a:srgbClr val="CFE8F0"/>
                </a:solidFill>
                <a:latin typeface="Calibri"/>
              </a:rPr>
              <a:t>Running Models You Can't Run on Your Laptop — Kaggle &amp; RunPod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3913632"/>
            <a:ext cx="2926080" cy="0"/>
          </a:xfrm>
          <a:prstGeom prst="bentConnector3">
            <a:avLst/>
          </a:prstGeom>
          <a:ln w="25400">
            <a:solidFill>
              <a:srgbClr val="1C72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114800"/>
            <a:ext cx="79552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50" b="1" i="0">
                <a:solidFill>
                  <a:srgbClr val="BFE0EE"/>
                </a:solidFill>
                <a:latin typeface="Calibri"/>
              </a:rPr>
              <a:t>How we'll get there:  </a:t>
            </a:r>
            <a:r>
              <a:rPr sz="1350" b="0" i="0">
                <a:solidFill>
                  <a:srgbClr val="9FC3D9"/>
                </a:solidFill>
                <a:latin typeface="Calibri"/>
              </a:rPr>
              <a:t>why this is a lab and not a lesson, what cloud compute for ML actually is, a one-slide tour of each platform, a side-by-side of when to use which, then a preview of the two hands-on parts you'll work through.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035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>
                <a:solidFill>
                  <a:srgbClr val="6FA0BE"/>
                </a:solidFill>
                <a:latin typeface="Courier New"/>
              </a:rPr>
              <a:t>Companion to Lesson 3: repeng   ·   github.com/vgel/repeng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C7293"/>
                </a:solidFill>
                <a:latin typeface="Calibri"/>
              </a:rPr>
              <a:t>ORIENTATION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B2733"/>
                </a:solidFill>
                <a:latin typeface="Cambria"/>
              </a:rPr>
              <a:t>This Is a Lab, Not a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350" b="0" i="0">
                <a:solidFill>
                  <a:srgbClr val="5C7080"/>
                </a:solidFill>
                <a:latin typeface="Calibri"/>
              </a:rPr>
              <a:t>Lesson 2 (LogitLoom) ran entirely in your browser against a hosted API — no hardware required. </a:t>
            </a:r>
            <a:r>
              <a:rPr sz="1350" b="1" i="0">
                <a:solidFill>
                  <a:srgbClr val="1B2733"/>
                </a:solidFill>
                <a:latin typeface="Calibri"/>
              </a:rPr>
              <a:t>repeng is different: it downloads and runs the actual model weights. </a:t>
            </a:r>
            <a:r>
              <a:rPr sz="1350" b="1" i="0">
                <a:solidFill>
                  <a:srgbClr val="065A82"/>
                </a:solidFill>
                <a:latin typeface="Calibri"/>
                <a:hlinkClick r:id="rId2"/>
              </a:rPr>
              <a:t>Mistral-7B</a:t>
            </a:r>
            <a:r>
              <a:rPr sz="1350" b="0" i="0">
                <a:solidFill>
                  <a:srgbClr val="5C7080"/>
                </a:solidFill>
                <a:latin typeface="Calibri"/>
              </a:rPr>
              <a:t> is ~7.24B parameters — about 14.5 GB in fp16 — needing far more GPU memory (VRAM) than the 4–8 GB on a typical laptop GPU, and many laptops have no dedicated GPU at all.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77440"/>
            <a:ext cx="5440680" cy="288036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9525">
            <a:solidFill>
              <a:srgbClr val="D9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65176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3347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69748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 i="0">
                <a:solidFill>
                  <a:srgbClr val="1B2733"/>
                </a:solidFill>
                <a:latin typeface="Calibri"/>
              </a:rPr>
              <a:t>Lesson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74720"/>
            <a:ext cx="4800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 i="0">
                <a:solidFill>
                  <a:srgbClr val="5C7080"/>
                </a:solidFill>
                <a:latin typeface="Calibri"/>
              </a:rPr>
              <a:t>Teaches one repo / tool in depth — what it is, how it works, how to use it. LogitLoom and repeng are lessons.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377440"/>
            <a:ext cx="5440680" cy="288036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651760"/>
            <a:ext cx="640080" cy="64008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633472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97480"/>
            <a:ext cx="4114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Calibri"/>
              </a:rPr>
              <a:t>Lab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74720"/>
            <a:ext cx="4800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300" b="0" i="0">
                <a:solidFill>
                  <a:srgbClr val="D7E9F2"/>
                </a:solidFill>
                <a:latin typeface="Calibri"/>
              </a:rPr>
              <a:t>Teaches a foundational platform or skill you need before you can explore certain repos. Cloud compute is Lab 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 i="0">
                <a:solidFill>
                  <a:srgbClr val="1B2733"/>
                </a:solidFill>
                <a:latin typeface="Calibri"/>
              </a:rPr>
              <a:t>The point: </a:t>
            </a:r>
            <a:r>
              <a:rPr sz="1300" b="0" i="0">
                <a:solidFill>
                  <a:srgbClr val="5C7080"/>
                </a:solidFill>
                <a:latin typeface="Calibri"/>
              </a:rPr>
              <a:t>before the repeng lesson, you need somewhere to run models. This lab builds that muscle — in two parts, Kaggle (A) and RunPod (B).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C7080"/>
                </a:solidFill>
                <a:latin typeface="Calibri"/>
              </a:rPr>
              <a:t>LAB 1 · CLOUD COMPUTE · AI SEMINAR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282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70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C7293"/>
                </a:solidFill>
                <a:latin typeface="Calibri"/>
              </a:rP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B2733"/>
                </a:solidFill>
                <a:latin typeface="Cambria"/>
              </a:rPr>
              <a:t>Cost Is the Only Sharp Divide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 i="0">
                <a:solidFill>
                  <a:srgbClr val="5C7080"/>
                </a:solidFill>
                <a:latin typeface="Calibri"/>
              </a:rPr>
              <a:t>Three dimensions to weigh. On cost, Kaggle and RunPod are genuinely opposite; on the other two they lean different ways but overlap.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9525">
            <a:solidFill>
              <a:srgbClr val="D9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246888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245059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1B2733"/>
                </a:solidFill>
                <a:latin typeface="Calibri"/>
              </a:rPr>
              <a:t>Ephemeral vs. persistent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977639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C7080"/>
                </a:solidFill>
                <a:latin typeface="Calibri"/>
              </a:rPr>
              <a:t>A hosted notebook that spins up, times out, and resets — versus a machine you rent and keep alive while you need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14884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9525">
            <a:solidFill>
              <a:srgbClr val="D9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33288" y="246888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33288" y="245059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3832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1B2733"/>
                </a:solidFill>
                <a:latin typeface="Calibri"/>
              </a:rPr>
              <a:t>Free vs. paid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3977639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C7080"/>
                </a:solidFill>
                <a:latin typeface="Calibri"/>
              </a:rPr>
              <a:t>A quota-limited free tier on shared hardware — versus pay-per-use where the GPU (and the clock) is yours.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148840"/>
            <a:ext cx="3566160" cy="320040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9525">
            <a:solidFill>
              <a:srgbClr val="D9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00615" y="2468880"/>
            <a:ext cx="731520" cy="73152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0615" y="245059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38328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1B2733"/>
                </a:solidFill>
                <a:latin typeface="Calibri"/>
              </a:rPr>
              <a:t>Managed vs. DIY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3977639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C7080"/>
                </a:solidFill>
                <a:latin typeface="Calibri"/>
              </a:rPr>
              <a:t>An environment handed to you ready to go — versus one you install, configure, and manage yourself.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3212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 i="0">
                <a:solidFill>
                  <a:srgbClr val="1B2733"/>
                </a:solidFill>
                <a:latin typeface="Calibri"/>
              </a:rPr>
              <a:t>Bottom line: </a:t>
            </a:r>
            <a:r>
              <a:rPr sz="1300" b="0" i="0">
                <a:solidFill>
                  <a:srgbClr val="5C7080"/>
                </a:solidFill>
                <a:latin typeface="Calibri"/>
              </a:rPr>
              <a:t>the real either/or is cost — Kaggle free (with limits), RunPod pay-as-you-go. On persistence and how hands-on you get, both cover a range and overlap (both run notebooks and scripts). Either way: a GPU your laptop doesn't have.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C7080"/>
                </a:solidFill>
                <a:latin typeface="Calibri"/>
              </a:rPr>
              <a:t>LAB 1 · CLOUD COMPUTE · AI SEMINAR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282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70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C7293"/>
                </a:solidFill>
                <a:latin typeface="Calibri"/>
              </a:rPr>
              <a:t>PLATFORM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B2733"/>
                </a:solidFill>
                <a:latin typeface="Cambria"/>
              </a:rPr>
              <a:t>Kaggle</a:t>
            </a:r>
          </a:p>
        </p:txBody>
      </p:sp>
      <p:sp>
        <p:nvSpPr>
          <p:cNvPr id="4" name="Oval 3"/>
          <p:cNvSpPr/>
          <p:nvPr/>
        </p:nvSpPr>
        <p:spPr>
          <a:xfrm>
            <a:off x="10744200" y="548640"/>
            <a:ext cx="777240" cy="777240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44200" y="530352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5C7080"/>
                </a:solidFill>
                <a:latin typeface="Calibri"/>
              </a:rPr>
              <a:t>A free, browser-based notebook platform (by Google) with datasets, pre-hosted models, and a big data-science community.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5440680" cy="384048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9525">
            <a:solidFill>
              <a:srgbClr val="D9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65A82"/>
                </a:solidFill>
                <a:latin typeface="Calibri"/>
              </a:rPr>
              <a:t>What you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70048"/>
            <a:ext cx="48463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B2733"/>
                </a:solidFill>
                <a:latin typeface="Calibri"/>
              </a:rPr>
              <a:t>Free GPUs:  </a:t>
            </a:r>
            <a:r>
              <a:rPr sz="1150" b="0" i="0">
                <a:solidFill>
                  <a:srgbClr val="5C7080"/>
                </a:solidFill>
                <a:latin typeface="Calibri"/>
              </a:rPr>
              <a:t>T4×2 or P100, within a weekly quota — what we'll use.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18688"/>
            <a:ext cx="48463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B2733"/>
                </a:solidFill>
                <a:latin typeface="Calibri"/>
              </a:rPr>
              <a:t>(TPUs too):  </a:t>
            </a:r>
            <a:r>
              <a:rPr sz="1150" b="0" i="0">
                <a:solidFill>
                  <a:srgbClr val="5C7080"/>
                </a:solidFill>
                <a:latin typeface="Calibri"/>
              </a:rPr>
              <a:t>also available on Kaggle — we'll come back to those in a later lesson.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67328"/>
            <a:ext cx="48463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B2733"/>
                </a:solidFill>
                <a:latin typeface="Calibri"/>
              </a:rPr>
              <a:t>Notebooks:  </a:t>
            </a:r>
            <a:r>
              <a:rPr sz="1150" b="0" i="0">
                <a:solidFill>
                  <a:srgbClr val="5C7080"/>
                </a:solidFill>
                <a:latin typeface="Calibri"/>
              </a:rPr>
              <a:t>Fork, run, and version Jupyter-style notebooks in the browser.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15968"/>
            <a:ext cx="48463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B2733"/>
                </a:solidFill>
                <a:latin typeface="Calibri"/>
              </a:rPr>
              <a:t>Datasets:  </a:t>
            </a:r>
            <a:r>
              <a:rPr sz="1150" b="0" i="0">
                <a:solidFill>
                  <a:srgbClr val="5C7080"/>
                </a:solidFill>
                <a:latin typeface="Calibri"/>
              </a:rPr>
              <a:t>Upload any files and mount them read-only — how we'll ship the repeng wheels.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64607"/>
            <a:ext cx="48463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B2733"/>
                </a:solidFill>
                <a:latin typeface="Calibri"/>
              </a:rPr>
              <a:t>Models:  </a:t>
            </a:r>
            <a:r>
              <a:rPr sz="1150" b="0" i="0">
                <a:solidFill>
                  <a:srgbClr val="5C7080"/>
                </a:solidFill>
                <a:latin typeface="Calibri"/>
              </a:rPr>
              <a:t>Pre-hosted weights (incl. Mistral) added from a sidebar search.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413247"/>
            <a:ext cx="48463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50" b="1" i="0">
                <a:solidFill>
                  <a:srgbClr val="1B2733"/>
                </a:solidFill>
                <a:latin typeface="Calibri"/>
              </a:rPr>
              <a:t>Secrets:  </a:t>
            </a:r>
            <a:r>
              <a:rPr sz="1150" b="0" i="0">
                <a:solidFill>
                  <a:srgbClr val="5C7080"/>
                </a:solidFill>
                <a:latin typeface="Calibri"/>
              </a:rPr>
              <a:t>Store tokens (e.g. an HF token) without hard-coding them.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148840"/>
            <a:ext cx="5440680" cy="38404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331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8FD4E8"/>
                </a:solidFill>
                <a:latin typeface="Calibri"/>
              </a:rPr>
              <a:t>Limits to plan around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Sessions time out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— after a fixed window — long runs can get cut 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2044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Not persistent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— the environment resets between sessions; save what you need.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9768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No root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— you can pip-install, but not reconfigure the machine.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7492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Internet off by default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— toggle it on, or install offline from a Dataset (what Part A does).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C7080"/>
                </a:solidFill>
                <a:latin typeface="Calibri"/>
              </a:rPr>
              <a:t>LAB 1 · CLOUD COMPUTE · AI SEMINAR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282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70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8FD4E8"/>
                </a:solidFill>
                <a:latin typeface="Calibri"/>
              </a:rPr>
              <a:t>PLATFORM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mbria"/>
              </a:rPr>
              <a:t>RunPod</a:t>
            </a:r>
          </a:p>
        </p:txBody>
      </p:sp>
      <p:sp>
        <p:nvSpPr>
          <p:cNvPr id="4" name="Oval 3"/>
          <p:cNvSpPr/>
          <p:nvPr/>
        </p:nvSpPr>
        <p:spPr>
          <a:xfrm>
            <a:off x="10744200" y="548640"/>
            <a:ext cx="777240" cy="77724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44200" y="530352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mbria"/>
              </a:rPr>
              <a:t>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00" b="0" i="0">
                <a:solidFill>
                  <a:srgbClr val="9FC3D9"/>
                </a:solidFill>
                <a:latin typeface="Calibri"/>
              </a:rPr>
              <a:t>Rent a GPU “pod” — a container on a cloud GPU — by the second or hour, and connect to it via Jupyter or SSH.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5440680" cy="38404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8FD4E8"/>
                </a:solidFill>
                <a:latin typeface="Calibri"/>
              </a:rPr>
              <a:t>What you 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43200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Your choice of GPU: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from small cards up to A100 / H100.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Jupyter or a terminal: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run notebooks, or plain scripts — your call.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59935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Persistent storage: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volumes that survive while the pod lives.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18303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Full control: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install anything; it's your environment.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76671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Real repos: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clone from GitHub, work, and push 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148840"/>
            <a:ext cx="5440680" cy="3840480"/>
          </a:xfrm>
          <a:prstGeom prst="roundRect">
            <a:avLst>
              <a:gd name="adj" fmla="val 8000"/>
            </a:avLst>
          </a:prstGeom>
          <a:solidFill>
            <a:srgbClr val="16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33172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FB4A2"/>
                </a:solidFill>
                <a:latin typeface="Calibri"/>
              </a:rPr>
              <a:t>Limits to plan around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4320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It costs money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— you pay while the pod runs — remember to stop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2044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You manage setup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— dependencies and drivers are on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9768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Persistence needs care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— use a volume, or your files vanish when the pod dies.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07492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150" b="1" i="0">
                <a:solidFill>
                  <a:srgbClr val="D7E9F2"/>
                </a:solidFill>
                <a:latin typeface="Calibri"/>
              </a:rPr>
              <a:t>Getting files out  </a:t>
            </a:r>
            <a:r>
              <a:rPr sz="1150" b="0" i="0">
                <a:solidFill>
                  <a:srgbClr val="AECBDD"/>
                </a:solidFill>
                <a:latin typeface="Calibri"/>
              </a:rPr>
              <a:t>— you have to pull outputs off the box deliberately.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8C2"/>
                </a:solidFill>
                <a:latin typeface="Calibri"/>
              </a:rPr>
              <a:t>LAB 1 · CLOUD COMPUTE · AI SEMINAR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4282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8C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C7293"/>
                </a:solidFill>
                <a:latin typeface="Calibri"/>
              </a:rPr>
              <a:t>THE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B2733"/>
                </a:solidFill>
                <a:latin typeface="Cambria"/>
              </a:rPr>
              <a:t>Match the Platform to the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0" i="0">
                <a:solidFill>
                  <a:srgbClr val="5C7080"/>
                </a:solidFill>
                <a:latin typeface="Calibri"/>
              </a:rPr>
              <a:t>Same job, two very different fits. Screenshot this one.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1091671" cy="3749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4169663"/>
                <a:gridCol w="417880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5C708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137160" marR="91440" marT="18288" marB="18288">
                    <a:solidFill>
                      <a:srgbClr val="F2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Kaggle</a:t>
                      </a:r>
                    </a:p>
                  </a:txBody>
                  <a:tcPr anchor="ctr" marL="137160" marR="91440" marT="18288" marB="18288">
                    <a:solidFill>
                      <a:srgbClr val="065A8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RunPod</a:t>
                      </a:r>
                    </a:p>
                  </a:txBody>
                  <a:tcPr anchor="ctr" marL="137160" marR="91440" marT="18288" marB="18288">
                    <a:solidFill>
                      <a:srgbClr val="1C729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B2733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 marL="137160" marR="91440" marT="18288" marB="18288">
                    <a:solidFill>
                      <a:srgbClr val="E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Free (weekly quota)</a:t>
                      </a:r>
                    </a:p>
                  </a:txBody>
                  <a:tcPr anchor="ctr" marL="13716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Pay per second / hour</a:t>
                      </a:r>
                    </a:p>
                  </a:txBody>
                  <a:tcPr anchor="ctr" marL="137160" marR="9144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B2733"/>
                          </a:solidFill>
                          <a:latin typeface="Calibri"/>
                        </a:rPr>
                        <a:t>Best for</a:t>
                      </a:r>
                    </a:p>
                  </a:txBody>
                  <a:tcPr anchor="ctr" marL="137160" marR="91440" marT="18288" marB="18288">
                    <a:solidFill>
                      <a:srgbClr val="E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Quick experiments, learning, sharing</a:t>
                      </a:r>
                    </a:p>
                  </a:txBody>
                  <a:tcPr anchor="ctr" marL="137160" marR="91440" marT="18288" marB="18288">
                    <a:solidFill>
                      <a:srgbClr val="F2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Big models, long runs, full control</a:t>
                      </a:r>
                    </a:p>
                  </a:txBody>
                  <a:tcPr anchor="ctr" marL="137160" marR="91440" marT="18288" marB="18288">
                    <a:solidFill>
                      <a:srgbClr val="F2F8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B2733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 anchor="ctr" marL="137160" marR="91440" marT="18288" marB="18288">
                    <a:solidFill>
                      <a:srgbClr val="E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Fixed free GPUs (T4 / P100)</a:t>
                      </a:r>
                    </a:p>
                  </a:txBody>
                  <a:tcPr anchor="ctr" marL="13716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Pick your GPU, up to A100 / H100</a:t>
                      </a:r>
                    </a:p>
                  </a:txBody>
                  <a:tcPr anchor="ctr" marL="137160" marR="9144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B2733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anchor="ctr" marL="137160" marR="91440" marT="18288" marB="18288">
                    <a:solidFill>
                      <a:srgbClr val="E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Managed; resets each session</a:t>
                      </a:r>
                    </a:p>
                  </a:txBody>
                  <a:tcPr anchor="ctr" marL="137160" marR="91440" marT="18288" marB="18288">
                    <a:solidFill>
                      <a:srgbClr val="F2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Yours to set up; persists with the pod</a:t>
                      </a:r>
                    </a:p>
                  </a:txBody>
                  <a:tcPr anchor="ctr" marL="137160" marR="91440" marT="18288" marB="18288">
                    <a:solidFill>
                      <a:srgbClr val="F2F8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B2733"/>
                          </a:solidFill>
                          <a:latin typeface="Calibri"/>
                        </a:rPr>
                        <a:t>Internet</a:t>
                      </a:r>
                    </a:p>
                  </a:txBody>
                  <a:tcPr anchor="ctr" marL="137160" marR="91440" marT="18288" marB="18288">
                    <a:solidFill>
                      <a:srgbClr val="E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Off by default</a:t>
                      </a:r>
                    </a:p>
                  </a:txBody>
                  <a:tcPr anchor="ctr" marL="137160" marR="9144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 anchor="ctr" marL="137160" marR="9144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B2733"/>
                          </a:solidFill>
                          <a:latin typeface="Calibri"/>
                        </a:rPr>
                        <a:t>Workflow</a:t>
                      </a:r>
                    </a:p>
                  </a:txBody>
                  <a:tcPr anchor="ctr" marL="137160" marR="91440" marT="18288" marB="18288">
                    <a:solidFill>
                      <a:srgbClr val="E9F1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Notebooks (fork / import)</a:t>
                      </a:r>
                    </a:p>
                  </a:txBody>
                  <a:tcPr anchor="ctr" marL="137160" marR="91440" marT="18288" marB="18288">
                    <a:solidFill>
                      <a:srgbClr val="F2F8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5C7080"/>
                          </a:solidFill>
                          <a:latin typeface="Calibri"/>
                        </a:rPr>
                        <a:t>Notebooks or scripts, your own repo</a:t>
                      </a:r>
                    </a:p>
                  </a:txBody>
                  <a:tcPr anchor="ctr" marL="137160" marR="91440" marT="18288" marB="18288">
                    <a:solidFill>
                      <a:srgbClr val="F2F8FA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6070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300" b="1" i="0">
                <a:solidFill>
                  <a:srgbClr val="8FD4E8"/>
                </a:solidFill>
                <a:latin typeface="Calibri"/>
              </a:rPr>
              <a:t>Rule of thumb:  </a:t>
            </a:r>
            <a:r>
              <a:rPr sz="1300" b="0" i="0">
                <a:solidFill>
                  <a:srgbClr val="E6F1F6"/>
                </a:solidFill>
                <a:latin typeface="Calibri"/>
              </a:rPr>
              <a:t>prototyping, free, shareable → Kaggle.   Heavy, long, or you need control → RunPod.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C7080"/>
                </a:solidFill>
                <a:latin typeface="Calibri"/>
              </a:rPr>
              <a:t>LAB 1 · CLOUD COMPUTE · AI SEMINAR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282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70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C7293"/>
                </a:solidFill>
                <a:latin typeface="Calibri"/>
              </a:rPr>
              <a:t>PART A · KAGGLE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B2733"/>
                </a:solidFill>
                <a:latin typeface="Cambria"/>
              </a:rPr>
              <a:t>Four Steps to a Saved Control Vector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9525">
            <a:solidFill>
              <a:srgbClr val="D9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49908" y="2194560"/>
            <a:ext cx="694944" cy="69494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49908" y="2176272"/>
            <a:ext cx="69494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39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B2733"/>
                </a:solidFill>
                <a:latin typeface="Calibri"/>
              </a:rPr>
              <a:t>Add a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749039"/>
            <a:ext cx="22219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5C7080"/>
                </a:solidFill>
                <a:latin typeface="Calibri"/>
              </a:rPr>
              <a:t>Pull Mistral-7B from Kaggle Models — hosted, license handled in-platform, just works.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874519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9525">
            <a:solidFill>
              <a:srgbClr val="D9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21124" y="2194560"/>
            <a:ext cx="694944" cy="69494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1124" y="2176272"/>
            <a:ext cx="69494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3063239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B2733"/>
                </a:solidFill>
                <a:latin typeface="Calibri"/>
              </a:rPr>
              <a:t>Install repeng offline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49039"/>
            <a:ext cx="22219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5C7080"/>
                </a:solidFill>
                <a:latin typeface="Calibri"/>
              </a:rPr>
              <a:t>From an uploaded wheels Dataset, with the internet turned off.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874519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9525">
            <a:solidFill>
              <a:srgbClr val="D9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92340" y="2194560"/>
            <a:ext cx="694944" cy="69494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2340" y="2176272"/>
            <a:ext cx="69494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39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B2733"/>
                </a:solidFill>
                <a:latin typeface="Calibri"/>
              </a:rPr>
              <a:t>Hit &amp; fix a token error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749039"/>
            <a:ext cx="22219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5C7080"/>
                </a:solidFill>
                <a:latin typeface="Calibri"/>
              </a:rPr>
              <a:t>Pull the same model from Hugging Face, get the gated-repo error, fix it with Kaggle Secrets.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1874519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9525">
            <a:solidFill>
              <a:srgbClr val="D9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63555" y="2194560"/>
            <a:ext cx="694944" cy="694944"/>
          </a:xfrm>
          <a:prstGeom prst="ellipse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3555" y="2176272"/>
            <a:ext cx="69494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3063239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B2733"/>
                </a:solidFill>
                <a:latin typeface="Calibri"/>
              </a:rPr>
              <a:t>Train &amp; save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749039"/>
            <a:ext cx="22219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5C7080"/>
                </a:solidFill>
                <a:latin typeface="Calibri"/>
              </a:rPr>
              <a:t>Build a control vector with repeng, export it, and save your notebook output.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 i="0">
                <a:solidFill>
                  <a:srgbClr val="1B2733"/>
                </a:solidFill>
                <a:latin typeface="Calibri"/>
              </a:rPr>
              <a:t>On purpose: </a:t>
            </a:r>
            <a:r>
              <a:rPr sz="1300" b="0" i="0">
                <a:solidFill>
                  <a:srgbClr val="5C7080"/>
                </a:solidFill>
                <a:latin typeface="Calibri"/>
              </a:rPr>
              <a:t>the code is provided and the ML is trivial — the skill you're building is operating Kaggle, not the modeling.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5C7080"/>
                </a:solidFill>
                <a:latin typeface="Calibri"/>
              </a:rPr>
              <a:t>LAB 1 · CLOUD COMPUTE · AI SEMINAR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282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5C70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9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8FD4E8"/>
                </a:solidFill>
                <a:latin typeface="Calibri"/>
              </a:rPr>
              <a:t>PART B · RUNPOD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mbria"/>
              </a:rPr>
              <a:t>Clone, Break, Fix, Push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549908" y="2194560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49908" y="2176272"/>
            <a:ext cx="69494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063239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Launch a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749039"/>
            <a:ext cx="22219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AECBDD"/>
                </a:solidFill>
                <a:latin typeface="Calibri"/>
              </a:rPr>
              <a:t>Pick a GPU, start it, and open Jupyter.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856" y="1874519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21124" y="2194560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1124" y="2176272"/>
            <a:ext cx="69494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3063239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Clone a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49039"/>
            <a:ext cx="22219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AECBDD"/>
                </a:solidFill>
                <a:latin typeface="Calibri"/>
              </a:rPr>
              <a:t>Fork it on GitHub, then git clone onto the pod.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1874519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92340" y="2194560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92340" y="2176272"/>
            <a:ext cx="69494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063239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Fix what breaks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3749039"/>
            <a:ext cx="22219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AECBDD"/>
                </a:solidFill>
                <a:latin typeface="Calibri"/>
              </a:rPr>
              <a:t>Run a script that works locally but breaks on RunPod — twice — and recover each time.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2288" y="1874519"/>
            <a:ext cx="2697480" cy="338328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63555" y="2194560"/>
            <a:ext cx="694944" cy="694944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3555" y="2176272"/>
            <a:ext cx="69494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3063239"/>
            <a:ext cx="22951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Push &amp; pull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3749039"/>
            <a:ext cx="22219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0" i="0">
                <a:solidFill>
                  <a:srgbClr val="AECBDD"/>
                </a:solidFill>
                <a:latin typeface="Calibri"/>
              </a:rPr>
              <a:t>Commit your change back to your fork, and pull your output files off the box.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1" i="0">
                <a:solidFill>
                  <a:srgbClr val="8FD4E8"/>
                </a:solidFill>
                <a:latin typeface="Calibri"/>
              </a:rPr>
              <a:t>Don't forget: </a:t>
            </a:r>
            <a:r>
              <a:rPr sz="1300" b="0" i="0">
                <a:solidFill>
                  <a:srgbClr val="AECBDD"/>
                </a:solidFill>
                <a:latin typeface="Calibri"/>
              </a:rPr>
              <a:t>the meter runs while a pod is alive. Stopping it when you're done is part of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8C2"/>
                </a:solidFill>
                <a:latin typeface="Calibri"/>
              </a:rPr>
              <a:t>LAB 1 · CLOUD COMPUTE · AI SEMINAR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282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8C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1C7293"/>
                </a:solidFill>
                <a:latin typeface="Calibri"/>
              </a:rPr>
              <a:t>BEFORE YOU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94944"/>
            <a:ext cx="10698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1B2733"/>
                </a:solidFill>
                <a:latin typeface="Cambria"/>
              </a:rPr>
              <a:t>Set Up Your Accounts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065A82"/>
                </a:solidFill>
                <a:latin typeface="Calibri"/>
              </a:rPr>
              <a:t>Accounts to create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929384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79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1B2733"/>
                </a:solidFill>
                <a:latin typeface="Calibri"/>
              </a:rPr>
              <a:t>Kaggle  </a:t>
            </a:r>
            <a:r>
              <a:rPr sz="1250" b="0" i="0">
                <a:solidFill>
                  <a:srgbClr val="5C7080"/>
                </a:solidFill>
                <a:latin typeface="Calibri"/>
              </a:rPr>
              <a:t>— free; verify your phone to unlock GPU + internet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496312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1B2733"/>
                </a:solidFill>
                <a:latin typeface="Calibri"/>
              </a:rPr>
              <a:t>RunPod  </a:t>
            </a:r>
            <a:r>
              <a:rPr sz="1250" b="0" i="0">
                <a:solidFill>
                  <a:srgbClr val="5C7080"/>
                </a:solidFill>
                <a:latin typeface="Calibri"/>
              </a:rPr>
              <a:t>— needs a little prepaid credit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3063240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9626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1B2733"/>
                </a:solidFill>
                <a:latin typeface="Calibri"/>
              </a:rPr>
              <a:t>GitHub  </a:t>
            </a:r>
            <a:r>
              <a:rPr sz="1250" b="0" i="0">
                <a:solidFill>
                  <a:srgbClr val="5C7080"/>
                </a:solidFill>
                <a:latin typeface="Calibri"/>
              </a:rPr>
              <a:t>— for the Part B clone / push round-trip</a:t>
            </a:r>
          </a:p>
        </p:txBody>
      </p:sp>
      <p:sp>
        <p:nvSpPr>
          <p:cNvPr id="11" name="Oval 10"/>
          <p:cNvSpPr/>
          <p:nvPr/>
        </p:nvSpPr>
        <p:spPr>
          <a:xfrm>
            <a:off x="594360" y="3630168"/>
            <a:ext cx="118872" cy="11887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295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1B2733"/>
                </a:solidFill>
                <a:latin typeface="Calibri"/>
              </a:rPr>
              <a:t>Hugging Face  </a:t>
            </a:r>
            <a:r>
              <a:rPr sz="1250" b="0" i="0">
                <a:solidFill>
                  <a:srgbClr val="5C7080"/>
                </a:solidFill>
                <a:latin typeface="Calibri"/>
              </a:rPr>
              <a:t>— for a token + accepting a model license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73736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2F8FA"/>
          </a:solidFill>
          <a:ln w="9525">
            <a:solidFill>
              <a:srgbClr val="D9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47672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993392"/>
            <a:ext cx="42976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1B2733"/>
                </a:solidFill>
                <a:latin typeface="Calibri"/>
              </a:rPr>
              <a:t>About that model 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97480"/>
            <a:ext cx="48463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200" b="0" i="0">
                <a:solidFill>
                  <a:srgbClr val="5C7080"/>
                </a:solidFill>
                <a:latin typeface="Calibri"/>
              </a:rPr>
              <a:t>Before Hugging Face lets you download some models (Mistral included), you have to accept a license. That's not a formality to click past — it's a real gate on real model weights, and knowing it exists is part of the point.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526280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05156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250" b="1" i="0">
                <a:solidFill>
                  <a:srgbClr val="8FD4E8"/>
                </a:solidFill>
                <a:latin typeface="Calibri"/>
              </a:rPr>
              <a:t>Where the files live:  </a:t>
            </a:r>
            <a:r>
              <a:rPr sz="1250" b="0" i="0">
                <a:solidFill>
                  <a:srgbClr val="E6F1F6"/>
                </a:solidFill>
                <a:latin typeface="Courier New"/>
              </a:rPr>
              <a:t>lab-1-cloud-compute/  — start with Part A (kaggle_assignment.md), then Part B (runpod_assignment.md).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300" b="0" i="1">
                <a:solidFill>
                  <a:srgbClr val="5C7080"/>
                </a:solidFill>
                <a:latin typeface="Calibri"/>
              </a:rPr>
              <a:t>Goal: by the end, running a model on borrowed hardware feels routine — so the repeng lesson can be about repeng.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8C2"/>
                </a:solidFill>
                <a:latin typeface="Calibri"/>
              </a:rPr>
              <a:t>LAB 1 · CLOUD COMPUTE · AI SEMINAR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2823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8FA8C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