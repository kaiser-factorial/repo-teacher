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4" Type="http://schemas.openxmlformats.org/officeDocument/2006/relationships/hyperlink" Target="https://github.com/lumpenspace/raft" TargetMode="External"/><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github.com/vgel/logitloom" TargetMode="External"/><Relationship Id="rId2" Type="http://schemas.openxmlformats.org/officeDocument/2006/relationships/hyperlink" Target="https://github.com/vgel/repeng"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942"/>
        </a:solidFill>
      </p:bgPr>
    </p:bg>
    <p:spTree>
      <p:nvGrpSpPr>
        <p:cNvPr id="1" name=""/>
        <p:cNvGrpSpPr/>
        <p:nvPr/>
      </p:nvGrpSpPr>
      <p:grpSpPr>
        <a:xfrm>
          <a:off x="0" y="0"/>
          <a:ext cx="0" cy="0"/>
          <a:chOff x="0" y="0"/>
          <a:chExt cx="0" cy="0"/>
        </a:xfrm>
      </p:grpSpPr>
      <p:sp>
        <p:nvSpPr>
          <p:cNvPr id="2" name="Shape 0"/>
          <p:cNvSpPr/>
          <p:nvPr/>
        </p:nvSpPr>
        <p:spPr>
          <a:xfrm>
            <a:off x="9692640" y="-1280160"/>
            <a:ext cx="4572000" cy="4572000"/>
          </a:xfrm>
          <a:prstGeom prst="ellipse">
            <a:avLst/>
          </a:prstGeom>
          <a:solidFill>
            <a:srgbClr val="21295C">
              <a:alpha val="60000"/>
            </a:srgbClr>
          </a:solidFill>
          <a:ln/>
        </p:spPr>
      </p:sp>
      <p:sp>
        <p:nvSpPr>
          <p:cNvPr id="3" name="Shape 1"/>
          <p:cNvSpPr/>
          <p:nvPr/>
        </p:nvSpPr>
        <p:spPr>
          <a:xfrm>
            <a:off x="11155680" y="4206240"/>
            <a:ext cx="2926080" cy="2926080"/>
          </a:xfrm>
          <a:prstGeom prst="ellipse">
            <a:avLst/>
          </a:prstGeom>
          <a:solidFill>
            <a:srgbClr val="065A82">
              <a:alpha val="45000"/>
            </a:srgbClr>
          </a:solidFill>
          <a:ln/>
        </p:spPr>
      </p:sp>
      <p:sp>
        <p:nvSpPr>
          <p:cNvPr id="4" name="Shape 2"/>
          <p:cNvSpPr/>
          <p:nvPr/>
        </p:nvSpPr>
        <p:spPr>
          <a:xfrm>
            <a:off x="9601200" y="548640"/>
            <a:ext cx="1920240" cy="384048"/>
          </a:xfrm>
          <a:prstGeom prst="roundRect">
            <a:avLst>
              <a:gd name="adj" fmla="val 11905"/>
            </a:avLst>
          </a:prstGeom>
          <a:solidFill>
            <a:srgbClr val="16385A"/>
          </a:solidFill>
          <a:ln w="9525">
            <a:solidFill>
              <a:srgbClr val="3F6E8C"/>
            </a:solidFill>
            <a:prstDash val="solid"/>
          </a:ln>
        </p:spPr>
      </p:sp>
      <p:sp>
        <p:nvSpPr>
          <p:cNvPr id="5" name="Shape 3"/>
          <p:cNvSpPr/>
          <p:nvPr/>
        </p:nvSpPr>
        <p:spPr>
          <a:xfrm>
            <a:off x="9601200" y="1060704"/>
            <a:ext cx="1920240" cy="384048"/>
          </a:xfrm>
          <a:prstGeom prst="roundRect">
            <a:avLst>
              <a:gd name="adj" fmla="val 11905"/>
            </a:avLst>
          </a:prstGeom>
          <a:solidFill>
            <a:srgbClr val="1E4A6E"/>
          </a:solidFill>
          <a:ln w="9525">
            <a:solidFill>
              <a:srgbClr val="3F6E8C"/>
            </a:solidFill>
            <a:prstDash val="solid"/>
          </a:ln>
        </p:spPr>
      </p:sp>
      <p:sp>
        <p:nvSpPr>
          <p:cNvPr id="6" name="Shape 4"/>
          <p:cNvSpPr/>
          <p:nvPr/>
        </p:nvSpPr>
        <p:spPr>
          <a:xfrm>
            <a:off x="9601200" y="1572768"/>
            <a:ext cx="1920240" cy="384048"/>
          </a:xfrm>
          <a:prstGeom prst="roundRect">
            <a:avLst>
              <a:gd name="adj" fmla="val 11905"/>
            </a:avLst>
          </a:prstGeom>
          <a:solidFill>
            <a:srgbClr val="16385A"/>
          </a:solidFill>
          <a:ln w="9525">
            <a:solidFill>
              <a:srgbClr val="3F6E8C"/>
            </a:solidFill>
            <a:prstDash val="solid"/>
          </a:ln>
        </p:spPr>
      </p:sp>
      <p:sp>
        <p:nvSpPr>
          <p:cNvPr id="7" name="Shape 5"/>
          <p:cNvSpPr/>
          <p:nvPr/>
        </p:nvSpPr>
        <p:spPr>
          <a:xfrm>
            <a:off x="9601200" y="2084832"/>
            <a:ext cx="1920240" cy="384048"/>
          </a:xfrm>
          <a:prstGeom prst="roundRect">
            <a:avLst>
              <a:gd name="adj" fmla="val 11905"/>
            </a:avLst>
          </a:prstGeom>
          <a:solidFill>
            <a:srgbClr val="1E4A6E"/>
          </a:solidFill>
          <a:ln w="9525">
            <a:solidFill>
              <a:srgbClr val="3F6E8C"/>
            </a:solidFill>
            <a:prstDash val="solid"/>
          </a:ln>
        </p:spPr>
      </p:sp>
      <p:sp>
        <p:nvSpPr>
          <p:cNvPr id="8" name="Shape 6"/>
          <p:cNvSpPr/>
          <p:nvPr/>
        </p:nvSpPr>
        <p:spPr>
          <a:xfrm>
            <a:off x="9601200" y="2596896"/>
            <a:ext cx="1920240" cy="384048"/>
          </a:xfrm>
          <a:prstGeom prst="roundRect">
            <a:avLst>
              <a:gd name="adj" fmla="val 11905"/>
            </a:avLst>
          </a:prstGeom>
          <a:solidFill>
            <a:srgbClr val="16385A"/>
          </a:solidFill>
          <a:ln w="9525">
            <a:solidFill>
              <a:srgbClr val="3F6E8C"/>
            </a:solidFill>
            <a:prstDash val="solid"/>
          </a:ln>
        </p:spPr>
      </p:sp>
      <p:sp>
        <p:nvSpPr>
          <p:cNvPr id="9" name="Text 7"/>
          <p:cNvSpPr/>
          <p:nvPr/>
        </p:nvSpPr>
        <p:spPr>
          <a:xfrm>
            <a:off x="731520" y="1417320"/>
            <a:ext cx="7315200" cy="365760"/>
          </a:xfrm>
          <a:prstGeom prst="rect">
            <a:avLst/>
          </a:prstGeom>
          <a:noFill/>
          <a:ln/>
        </p:spPr>
        <p:txBody>
          <a:bodyPr wrap="square" rtlCol="0" anchor="ctr"/>
          <a:lstStyle/>
          <a:p>
            <a:pPr indent="0" marL="0">
              <a:buNone/>
            </a:pPr>
            <a:r>
              <a:rPr lang="en-US" sz="1400" b="1" spc="300" kern="0" dirty="0">
                <a:solidFill>
                  <a:srgbClr val="7FB8D6"/>
                </a:solidFill>
                <a:latin typeface="Calibri" pitchFamily="34" charset="0"/>
                <a:ea typeface="Calibri" pitchFamily="34" charset="-122"/>
                <a:cs typeface="Calibri" pitchFamily="34" charset="-120"/>
              </a:rPr>
              <a:t>AI TOOLING SEMINAR  ·  LECTURE 1</a:t>
            </a:r>
            <a:endParaRPr lang="en-US" sz="1400" dirty="0"/>
          </a:p>
        </p:txBody>
      </p:sp>
      <p:sp>
        <p:nvSpPr>
          <p:cNvPr id="10" name="Text 8"/>
          <p:cNvSpPr/>
          <p:nvPr/>
        </p:nvSpPr>
        <p:spPr>
          <a:xfrm>
            <a:off x="685800" y="1874520"/>
            <a:ext cx="9144000" cy="109728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Foundations</a:t>
            </a:r>
            <a:endParaRPr lang="en-US" sz="6000" dirty="0"/>
          </a:p>
        </p:txBody>
      </p:sp>
      <p:sp>
        <p:nvSpPr>
          <p:cNvPr id="11" name="Text 9"/>
          <p:cNvSpPr/>
          <p:nvPr/>
        </p:nvSpPr>
        <p:spPr>
          <a:xfrm>
            <a:off x="731520" y="2880360"/>
            <a:ext cx="8961120" cy="640080"/>
          </a:xfrm>
          <a:prstGeom prst="rect">
            <a:avLst/>
          </a:prstGeom>
          <a:noFill/>
          <a:ln/>
        </p:spPr>
        <p:txBody>
          <a:bodyPr wrap="square" rtlCol="0" anchor="ctr"/>
          <a:lstStyle/>
          <a:p>
            <a:pPr indent="0" marL="0">
              <a:buNone/>
            </a:pPr>
            <a:r>
              <a:rPr lang="en-US" sz="2000" dirty="0">
                <a:solidFill>
                  <a:srgbClr val="CFE8F0"/>
                </a:solidFill>
                <a:latin typeface="Calibri" pitchFamily="34" charset="0"/>
                <a:ea typeface="Calibri" pitchFamily="34" charset="-122"/>
                <a:cs typeface="Calibri" pitchFamily="34" charset="-120"/>
              </a:rPr>
              <a:t>How Transformer LLMs Work, and How We Look Inside Them</a:t>
            </a:r>
            <a:endParaRPr lang="en-US" sz="2000" dirty="0"/>
          </a:p>
        </p:txBody>
      </p:sp>
      <p:sp>
        <p:nvSpPr>
          <p:cNvPr id="12" name="Shape 10"/>
          <p:cNvSpPr/>
          <p:nvPr/>
        </p:nvSpPr>
        <p:spPr>
          <a:xfrm>
            <a:off x="731520" y="3657600"/>
            <a:ext cx="2926080" cy="0"/>
          </a:xfrm>
          <a:prstGeom prst="line">
            <a:avLst/>
          </a:prstGeom>
          <a:noFill/>
          <a:ln w="25400">
            <a:solidFill>
              <a:srgbClr val="1C7293"/>
            </a:solidFill>
            <a:prstDash val="solid"/>
          </a:ln>
        </p:spPr>
      </p:sp>
      <p:sp>
        <p:nvSpPr>
          <p:cNvPr id="13" name="Text 11"/>
          <p:cNvSpPr/>
          <p:nvPr/>
        </p:nvSpPr>
        <p:spPr>
          <a:xfrm>
            <a:off x="731520" y="3886200"/>
            <a:ext cx="7955280" cy="1097280"/>
          </a:xfrm>
          <a:prstGeom prst="rect">
            <a:avLst/>
          </a:prstGeom>
          <a:noFill/>
          <a:ln/>
        </p:spPr>
        <p:txBody>
          <a:bodyPr wrap="square" rtlCol="0" anchor="ctr"/>
          <a:lstStyle/>
          <a:p>
            <a:pPr indent="0" marL="0">
              <a:lnSpc>
                <a:spcPct val="125000"/>
              </a:lnSpc>
              <a:buNone/>
            </a:pPr>
            <a:r>
              <a:rPr lang="en-US" sz="1350" b="1" dirty="0">
                <a:solidFill>
                  <a:srgbClr val="BFE0EE"/>
                </a:solidFill>
                <a:latin typeface="Calibri" pitchFamily="34" charset="0"/>
                <a:ea typeface="Calibri" pitchFamily="34" charset="-122"/>
                <a:cs typeface="Calibri" pitchFamily="34" charset="-120"/>
              </a:rPr>
              <a:t>What we'll cover: </a:t>
            </a:r>
            <a:pPr indent="0" marL="0">
              <a:lnSpc>
                <a:spcPct val="125000"/>
              </a:lnSpc>
              <a:buNone/>
            </a:pPr>
            <a:r>
              <a:rPr lang="en-US" sz="1350" dirty="0">
                <a:solidFill>
                  <a:srgbClr val="9FC3D9"/>
                </a:solidFill>
                <a:latin typeface="Calibri" pitchFamily="34" charset="0"/>
                <a:ea typeface="Calibri" pitchFamily="34" charset="-122"/>
                <a:cs typeface="Calibri" pitchFamily="34" charset="-120"/>
              </a:rPr>
              <a:t>one shared vocabulary for the transformer architecture, how models are trained, and the core mindset and terminology behind interpretability research — the foundation every tool we look at this semester builds on.</a:t>
            </a:r>
            <a:endParaRPr lang="en-US" sz="1350" dirty="0"/>
          </a:p>
        </p:txBody>
      </p:sp>
      <p:sp>
        <p:nvSpPr>
          <p:cNvPr id="14" name="Text 12"/>
          <p:cNvSpPr/>
          <p:nvPr/>
        </p:nvSpPr>
        <p:spPr>
          <a:xfrm>
            <a:off x="731520" y="6080760"/>
            <a:ext cx="8229600" cy="365760"/>
          </a:xfrm>
          <a:prstGeom prst="rect">
            <a:avLst/>
          </a:prstGeom>
          <a:noFill/>
          <a:ln/>
        </p:spPr>
        <p:txBody>
          <a:bodyPr wrap="square" rtlCol="0" anchor="ctr"/>
          <a:lstStyle/>
          <a:p>
            <a:pPr indent="0" marL="0">
              <a:buNone/>
            </a:pPr>
            <a:r>
              <a:rPr lang="en-US" sz="1150" i="1" dirty="0">
                <a:solidFill>
                  <a:srgbClr val="6FA0BE"/>
                </a:solidFill>
                <a:latin typeface="Calibri" pitchFamily="34" charset="0"/>
                <a:ea typeface="Calibri" pitchFamily="34" charset="-122"/>
                <a:cs typeface="Calibri" pitchFamily="34" charset="-120"/>
              </a:rPr>
              <a:t>This lecture assumes: some prior exposure to ML, but no shared vocabulary yet.</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COURSE FRAMING</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Welcome to AI Tooling</a:t>
            </a:r>
            <a:endParaRPr lang="en-US" sz="3000" dirty="0"/>
          </a:p>
        </p:txBody>
      </p:sp>
      <p:sp>
        <p:nvSpPr>
          <p:cNvPr id="4" name="Text 2"/>
          <p:cNvSpPr/>
          <p:nvPr/>
        </p:nvSpPr>
        <p:spPr>
          <a:xfrm>
            <a:off x="548640" y="1417320"/>
            <a:ext cx="11064240" cy="777240"/>
          </a:xfrm>
          <a:prstGeom prst="rect">
            <a:avLst/>
          </a:prstGeom>
          <a:noFill/>
          <a:ln/>
        </p:spPr>
        <p:txBody>
          <a:bodyPr wrap="square" rtlCol="0" anchor="ctr"/>
          <a:lstStyle/>
          <a:p>
            <a:pPr indent="0" marL="0">
              <a:lnSpc>
                <a:spcPct val="125000"/>
              </a:lnSpc>
              <a:buNone/>
            </a:pPr>
            <a:r>
              <a:rPr lang="en-US" sz="1350" dirty="0">
                <a:solidFill>
                  <a:srgbClr val="5C7080"/>
                </a:solidFill>
                <a:latin typeface="Calibri" pitchFamily="34" charset="0"/>
                <a:ea typeface="Calibri" pitchFamily="34" charset="-122"/>
                <a:cs typeface="Calibri" pitchFamily="34" charset="-120"/>
              </a:rPr>
              <a:t>This course is a hands-on tour of open-source AI and interpretability tools — each week digs into a real repo. Today's goal is a shared vocabulary, so that when we hit a new tool, we spend our time on what's actually new about it.</a:t>
            </a:r>
            <a:endParaRPr lang="en-US" sz="1350" dirty="0"/>
          </a:p>
        </p:txBody>
      </p:sp>
      <p:sp>
        <p:nvSpPr>
          <p:cNvPr id="5" name="Shape 3"/>
          <p:cNvSpPr/>
          <p:nvPr/>
        </p:nvSpPr>
        <p:spPr>
          <a:xfrm>
            <a:off x="548640" y="2331720"/>
            <a:ext cx="11064240" cy="3520440"/>
          </a:xfrm>
          <a:prstGeom prst="roundRect">
            <a:avLst>
              <a:gd name="adj" fmla="val 2078"/>
            </a:avLst>
          </a:prstGeom>
          <a:solidFill>
            <a:srgbClr val="F2F8FA"/>
          </a:solidFill>
          <a:ln/>
          <a:effectLst>
            <a:outerShdw sx="100000" sy="100000" kx="0" ky="0" algn="bl" rotWithShape="0" blurRad="101600" dist="25400" dir="5400000">
              <a:srgbClr val="1B2733">
                <a:alpha val="8000"/>
              </a:srgbClr>
            </a:outerShdw>
          </a:effectLst>
        </p:spPr>
      </p:sp>
      <p:sp>
        <p:nvSpPr>
          <p:cNvPr id="6" name="Text 4"/>
          <p:cNvSpPr/>
          <p:nvPr/>
        </p:nvSpPr>
        <p:spPr>
          <a:xfrm>
            <a:off x="868680" y="2560320"/>
            <a:ext cx="10424160" cy="365760"/>
          </a:xfrm>
          <a:prstGeom prst="rect">
            <a:avLst/>
          </a:prstGeom>
          <a:noFill/>
          <a:ln/>
        </p:spPr>
        <p:txBody>
          <a:bodyPr wrap="square"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By the end of today, you should be able to:</a:t>
            </a:r>
            <a:endParaRPr lang="en-US" sz="1500" dirty="0"/>
          </a:p>
        </p:txBody>
      </p:sp>
      <p:sp>
        <p:nvSpPr>
          <p:cNvPr id="7" name="Shape 5"/>
          <p:cNvSpPr/>
          <p:nvPr/>
        </p:nvSpPr>
        <p:spPr>
          <a:xfrm>
            <a:off x="868680" y="3063240"/>
            <a:ext cx="502920" cy="502920"/>
          </a:xfrm>
          <a:prstGeom prst="ellipse">
            <a:avLst/>
          </a:prstGeom>
          <a:solidFill>
            <a:srgbClr val="065A82"/>
          </a:solidFill>
          <a:ln/>
        </p:spPr>
      </p:sp>
      <p:pic>
        <p:nvPicPr>
          <p:cNvPr id="8" name="Image 0" descr="/home/claude/icons/cubes_white.png">    </p:cNvPr>
          <p:cNvPicPr>
            <a:picLocks noChangeAspect="1"/>
          </p:cNvPicPr>
          <p:nvPr/>
        </p:nvPicPr>
        <p:blipFill>
          <a:blip r:embed="rId1"/>
          <a:stretch>
            <a:fillRect/>
          </a:stretch>
        </p:blipFill>
        <p:spPr>
          <a:xfrm>
            <a:off x="999439" y="3193999"/>
            <a:ext cx="241402" cy="241402"/>
          </a:xfrm>
          <a:prstGeom prst="rect">
            <a:avLst/>
          </a:prstGeom>
        </p:spPr>
      </p:pic>
      <p:sp>
        <p:nvSpPr>
          <p:cNvPr id="9" name="Text 6"/>
          <p:cNvSpPr/>
          <p:nvPr/>
        </p:nvSpPr>
        <p:spPr>
          <a:xfrm>
            <a:off x="1554480" y="3044952"/>
            <a:ext cx="4434840" cy="365760"/>
          </a:xfrm>
          <a:prstGeom prst="rect">
            <a:avLst/>
          </a:prstGeom>
          <a:noFill/>
          <a:ln/>
        </p:spPr>
        <p:txBody>
          <a:bodyPr wrap="square"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Describe the transformer architecture end to end</a:t>
            </a:r>
            <a:endParaRPr lang="en-US" sz="1300" dirty="0"/>
          </a:p>
        </p:txBody>
      </p:sp>
      <p:sp>
        <p:nvSpPr>
          <p:cNvPr id="10" name="Text 7"/>
          <p:cNvSpPr/>
          <p:nvPr/>
        </p:nvSpPr>
        <p:spPr>
          <a:xfrm>
            <a:off x="1554480" y="3410712"/>
            <a:ext cx="4434840" cy="777240"/>
          </a:xfrm>
          <a:prstGeom prst="rect">
            <a:avLst/>
          </a:prstGeom>
          <a:noFill/>
          <a:ln/>
        </p:spPr>
        <p:txBody>
          <a:bodyPr wrap="square" rtlCol="0" anchor="ctr"/>
          <a:lstStyle/>
          <a:p>
            <a:pPr indent="0" marL="0">
              <a:lnSpc>
                <a:spcPct val="115000"/>
              </a:lnSpc>
              <a:buNone/>
            </a:pPr>
            <a:r>
              <a:rPr lang="en-US" sz="1100" dirty="0">
                <a:solidFill>
                  <a:srgbClr val="5C7080"/>
                </a:solidFill>
                <a:latin typeface="Calibri" pitchFamily="34" charset="0"/>
                <a:ea typeface="Calibri" pitchFamily="34" charset="-122"/>
                <a:cs typeface="Calibri" pitchFamily="34" charset="-120"/>
              </a:rPr>
              <a:t>tokenization → embeddings → attention → residual stream → MLPs → logits — in your own words.</a:t>
            </a:r>
            <a:endParaRPr lang="en-US" sz="1100" dirty="0"/>
          </a:p>
        </p:txBody>
      </p:sp>
      <p:sp>
        <p:nvSpPr>
          <p:cNvPr id="11" name="Shape 8"/>
          <p:cNvSpPr/>
          <p:nvPr/>
        </p:nvSpPr>
        <p:spPr>
          <a:xfrm>
            <a:off x="6309360" y="3063240"/>
            <a:ext cx="502920" cy="502920"/>
          </a:xfrm>
          <a:prstGeom prst="ellipse">
            <a:avLst/>
          </a:prstGeom>
          <a:solidFill>
            <a:srgbClr val="065A82"/>
          </a:solidFill>
          <a:ln/>
        </p:spPr>
      </p:sp>
      <p:pic>
        <p:nvPicPr>
          <p:cNvPr id="12" name="Image 1" descr="/home/claude/icons/route_white.png">    </p:cNvPr>
          <p:cNvPicPr>
            <a:picLocks noChangeAspect="1"/>
          </p:cNvPicPr>
          <p:nvPr/>
        </p:nvPicPr>
        <p:blipFill>
          <a:blip r:embed="rId2"/>
          <a:stretch>
            <a:fillRect/>
          </a:stretch>
        </p:blipFill>
        <p:spPr>
          <a:xfrm>
            <a:off x="6440119" y="3193999"/>
            <a:ext cx="241402" cy="241402"/>
          </a:xfrm>
          <a:prstGeom prst="rect">
            <a:avLst/>
          </a:prstGeom>
        </p:spPr>
      </p:pic>
      <p:sp>
        <p:nvSpPr>
          <p:cNvPr id="13" name="Text 9"/>
          <p:cNvSpPr/>
          <p:nvPr/>
        </p:nvSpPr>
        <p:spPr>
          <a:xfrm>
            <a:off x="6995160" y="3044952"/>
            <a:ext cx="4434840" cy="365760"/>
          </a:xfrm>
          <a:prstGeom prst="rect">
            <a:avLst/>
          </a:prstGeom>
          <a:noFill/>
          <a:ln/>
        </p:spPr>
        <p:txBody>
          <a:bodyPr wrap="square"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Explain the training pipeline</a:t>
            </a:r>
            <a:endParaRPr lang="en-US" sz="1300" dirty="0"/>
          </a:p>
        </p:txBody>
      </p:sp>
      <p:sp>
        <p:nvSpPr>
          <p:cNvPr id="14" name="Text 10"/>
          <p:cNvSpPr/>
          <p:nvPr/>
        </p:nvSpPr>
        <p:spPr>
          <a:xfrm>
            <a:off x="6995160" y="3410712"/>
            <a:ext cx="4434840" cy="777240"/>
          </a:xfrm>
          <a:prstGeom prst="rect">
            <a:avLst/>
          </a:prstGeom>
          <a:noFill/>
          <a:ln/>
        </p:spPr>
        <p:txBody>
          <a:bodyPr wrap="square" rtlCol="0" anchor="ctr"/>
          <a:lstStyle/>
          <a:p>
            <a:pPr indent="0" marL="0">
              <a:lnSpc>
                <a:spcPct val="115000"/>
              </a:lnSpc>
              <a:buNone/>
            </a:pPr>
            <a:r>
              <a:rPr lang="en-US" sz="1100" dirty="0">
                <a:solidFill>
                  <a:srgbClr val="5C7080"/>
                </a:solidFill>
                <a:latin typeface="Calibri" pitchFamily="34" charset="0"/>
                <a:ea typeface="Calibri" pitchFamily="34" charset="-122"/>
                <a:cs typeface="Calibri" pitchFamily="34" charset="-120"/>
              </a:rPr>
              <a:t>pretraining vs. fine-tuning vs. post-training alignment, and why that pipeline produces the “base vs. instruct” split.</a:t>
            </a:r>
            <a:endParaRPr lang="en-US" sz="1100" dirty="0"/>
          </a:p>
        </p:txBody>
      </p:sp>
      <p:sp>
        <p:nvSpPr>
          <p:cNvPr id="15" name="Shape 11"/>
          <p:cNvSpPr/>
          <p:nvPr/>
        </p:nvSpPr>
        <p:spPr>
          <a:xfrm>
            <a:off x="868680" y="4434840"/>
            <a:ext cx="502920" cy="502920"/>
          </a:xfrm>
          <a:prstGeom prst="ellipse">
            <a:avLst/>
          </a:prstGeom>
          <a:solidFill>
            <a:srgbClr val="065A82"/>
          </a:solidFill>
          <a:ln/>
        </p:spPr>
      </p:sp>
      <p:pic>
        <p:nvPicPr>
          <p:cNvPr id="16" name="Image 2" descr="/home/claude/icons/eye_white.png">    </p:cNvPr>
          <p:cNvPicPr>
            <a:picLocks noChangeAspect="1"/>
          </p:cNvPicPr>
          <p:nvPr/>
        </p:nvPicPr>
        <p:blipFill>
          <a:blip r:embed="rId3"/>
          <a:stretch>
            <a:fillRect/>
          </a:stretch>
        </p:blipFill>
        <p:spPr>
          <a:xfrm>
            <a:off x="999439" y="4565599"/>
            <a:ext cx="241402" cy="241402"/>
          </a:xfrm>
          <a:prstGeom prst="rect">
            <a:avLst/>
          </a:prstGeom>
        </p:spPr>
      </p:pic>
      <p:sp>
        <p:nvSpPr>
          <p:cNvPr id="17" name="Text 12"/>
          <p:cNvSpPr/>
          <p:nvPr/>
        </p:nvSpPr>
        <p:spPr>
          <a:xfrm>
            <a:off x="1554480" y="4416552"/>
            <a:ext cx="4434840" cy="365760"/>
          </a:xfrm>
          <a:prstGeom prst="rect">
            <a:avLst/>
          </a:prstGeom>
          <a:noFill/>
          <a:ln/>
        </p:spPr>
        <p:txBody>
          <a:bodyPr wrap="square"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Use standard interpretability vocabulary</a:t>
            </a:r>
            <a:endParaRPr lang="en-US" sz="1300" dirty="0"/>
          </a:p>
        </p:txBody>
      </p:sp>
      <p:sp>
        <p:nvSpPr>
          <p:cNvPr id="18" name="Text 13"/>
          <p:cNvSpPr/>
          <p:nvPr/>
        </p:nvSpPr>
        <p:spPr>
          <a:xfrm>
            <a:off x="1554480" y="4782312"/>
            <a:ext cx="4434840" cy="777240"/>
          </a:xfrm>
          <a:prstGeom prst="rect">
            <a:avLst/>
          </a:prstGeom>
          <a:noFill/>
          <a:ln/>
        </p:spPr>
        <p:txBody>
          <a:bodyPr wrap="square" rtlCol="0" anchor="ctr"/>
          <a:lstStyle/>
          <a:p>
            <a:pPr indent="0" marL="0">
              <a:lnSpc>
                <a:spcPct val="115000"/>
              </a:lnSpc>
              <a:buNone/>
            </a:pPr>
            <a:r>
              <a:rPr lang="en-US" sz="1100" dirty="0">
                <a:solidFill>
                  <a:srgbClr val="5C7080"/>
                </a:solidFill>
                <a:latin typeface="Calibri" pitchFamily="34" charset="0"/>
                <a:ea typeface="Calibri" pitchFamily="34" charset="-122"/>
                <a:cs typeface="Calibri" pitchFamily="34" charset="-120"/>
              </a:rPr>
              <a:t>residual stream, features, superposition, circuits, activation patching, SAEs, control vectors, logit lens.</a:t>
            </a:r>
            <a:endParaRPr lang="en-US" sz="1100" dirty="0"/>
          </a:p>
        </p:txBody>
      </p:sp>
      <p:sp>
        <p:nvSpPr>
          <p:cNvPr id="19" name="Shape 14"/>
          <p:cNvSpPr/>
          <p:nvPr/>
        </p:nvSpPr>
        <p:spPr>
          <a:xfrm>
            <a:off x="6309360" y="4434840"/>
            <a:ext cx="502920" cy="502920"/>
          </a:xfrm>
          <a:prstGeom prst="ellipse">
            <a:avLst/>
          </a:prstGeom>
          <a:solidFill>
            <a:srgbClr val="065A82"/>
          </a:solidFill>
          <a:ln/>
        </p:spPr>
      </p:sp>
      <p:pic>
        <p:nvPicPr>
          <p:cNvPr id="20" name="Image 3" descr="/home/claude/icons/terminal.png">    </p:cNvPr>
          <p:cNvPicPr>
            <a:picLocks noChangeAspect="1"/>
          </p:cNvPicPr>
          <p:nvPr/>
        </p:nvPicPr>
        <p:blipFill>
          <a:blip r:embed="rId4"/>
          <a:stretch>
            <a:fillRect/>
          </a:stretch>
        </p:blipFill>
        <p:spPr>
          <a:xfrm>
            <a:off x="6440119" y="4565599"/>
            <a:ext cx="241402" cy="241402"/>
          </a:xfrm>
          <a:prstGeom prst="rect">
            <a:avLst/>
          </a:prstGeom>
        </p:spPr>
      </p:pic>
      <p:sp>
        <p:nvSpPr>
          <p:cNvPr id="21" name="Text 15"/>
          <p:cNvSpPr/>
          <p:nvPr/>
        </p:nvSpPr>
        <p:spPr>
          <a:xfrm>
            <a:off x="6995160" y="4416552"/>
            <a:ext cx="4434840" cy="365760"/>
          </a:xfrm>
          <a:prstGeom prst="rect">
            <a:avLst/>
          </a:prstGeom>
          <a:noFill/>
          <a:ln/>
        </p:spPr>
        <p:txBody>
          <a:bodyPr wrap="square"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Navigate the common tooling stack</a:t>
            </a:r>
            <a:endParaRPr lang="en-US" sz="1300" dirty="0"/>
          </a:p>
        </p:txBody>
      </p:sp>
      <p:sp>
        <p:nvSpPr>
          <p:cNvPr id="22" name="Text 16"/>
          <p:cNvSpPr/>
          <p:nvPr/>
        </p:nvSpPr>
        <p:spPr>
          <a:xfrm>
            <a:off x="6995160" y="4782312"/>
            <a:ext cx="4434840" cy="777240"/>
          </a:xfrm>
          <a:prstGeom prst="rect">
            <a:avLst/>
          </a:prstGeom>
          <a:noFill/>
          <a:ln/>
        </p:spPr>
        <p:txBody>
          <a:bodyPr wrap="square" rtlCol="0" anchor="ctr"/>
          <a:lstStyle/>
          <a:p>
            <a:pPr indent="0" marL="0">
              <a:lnSpc>
                <a:spcPct val="115000"/>
              </a:lnSpc>
              <a:buNone/>
            </a:pPr>
            <a:r>
              <a:rPr lang="en-US" sz="1100" dirty="0">
                <a:solidFill>
                  <a:srgbClr val="5C7080"/>
                </a:solidFill>
                <a:latin typeface="Calibri" pitchFamily="34" charset="0"/>
                <a:ea typeface="Calibri" pitchFamily="34" charset="-122"/>
                <a:cs typeface="Calibri" pitchFamily="34" charset="-120"/>
              </a:rPr>
              <a:t>PyTorch tensors, HuggingFace Transformers, and TransformerLens — what each is for.</a:t>
            </a:r>
            <a:endParaRPr lang="en-US" sz="1100" dirty="0"/>
          </a:p>
        </p:txBody>
      </p:sp>
      <p:sp>
        <p:nvSpPr>
          <p:cNvPr id="23" name="Text 17"/>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AI TOOLING SEMINAR  ·  LECTURE 1: FOUNDATIONS</a:t>
            </a:r>
            <a:endParaRPr lang="en-US" sz="900" dirty="0"/>
          </a:p>
        </p:txBody>
      </p:sp>
      <p:sp>
        <p:nvSpPr>
          <p:cNvPr id="24" name="Text 18"/>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PERSPECTIVES</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One Object, Many Lenses</a:t>
            </a:r>
            <a:endParaRPr lang="en-US" sz="3000" dirty="0"/>
          </a:p>
        </p:txBody>
      </p:sp>
      <p:sp>
        <p:nvSpPr>
          <p:cNvPr id="4" name="Text 2"/>
          <p:cNvSpPr/>
          <p:nvPr/>
        </p:nvSpPr>
        <p:spPr>
          <a:xfrm>
            <a:off x="548640" y="1417320"/>
            <a:ext cx="11064240" cy="457200"/>
          </a:xfrm>
          <a:prstGeom prst="rect">
            <a:avLst/>
          </a:prstGeom>
          <a:noFill/>
          <a:ln/>
        </p:spPr>
        <p:txBody>
          <a:bodyPr wrap="square" rtlCol="0" anchor="ctr"/>
          <a:lstStyle/>
          <a:p>
            <a:pPr indent="0" marL="0">
              <a:buNone/>
            </a:pPr>
            <a:r>
              <a:rPr lang="en-US" sz="1350" dirty="0">
                <a:solidFill>
                  <a:srgbClr val="5C7080"/>
                </a:solidFill>
                <a:latin typeface="Calibri" pitchFamily="34" charset="0"/>
                <a:ea typeface="Calibri" pitchFamily="34" charset="-122"/>
                <a:cs typeface="Calibri" pitchFamily="34" charset="-120"/>
              </a:rPr>
              <a:t>Math, CS, EE, and data science each have their own native vocabulary for the same underlying object. None of these are required background — they're just optional handholds if one happens to be familiar.</a:t>
            </a:r>
            <a:endParaRPr lang="en-US" sz="1350" dirty="0"/>
          </a:p>
        </p:txBody>
      </p:sp>
      <p:sp>
        <p:nvSpPr>
          <p:cNvPr id="5" name="Shape 3"/>
          <p:cNvSpPr/>
          <p:nvPr/>
        </p:nvSpPr>
        <p:spPr>
          <a:xfrm>
            <a:off x="548640" y="2103120"/>
            <a:ext cx="11064240" cy="868680"/>
          </a:xfrm>
          <a:prstGeom prst="roundRect">
            <a:avLst>
              <a:gd name="adj" fmla="val 6316"/>
            </a:avLst>
          </a:prstGeom>
          <a:solidFill>
            <a:srgbClr val="F2F8FA"/>
          </a:solidFill>
          <a:ln/>
        </p:spPr>
      </p:sp>
      <p:sp>
        <p:nvSpPr>
          <p:cNvPr id="6" name="Shape 4"/>
          <p:cNvSpPr/>
          <p:nvPr/>
        </p:nvSpPr>
        <p:spPr>
          <a:xfrm>
            <a:off x="777240" y="2286000"/>
            <a:ext cx="502920" cy="502920"/>
          </a:xfrm>
          <a:prstGeom prst="ellipse">
            <a:avLst/>
          </a:prstGeom>
          <a:solidFill>
            <a:srgbClr val="FFFFFF"/>
          </a:solidFill>
          <a:ln/>
        </p:spPr>
      </p:sp>
      <p:pic>
        <p:nvPicPr>
          <p:cNvPr id="7" name="Image 0" descr="/home/claude/icons/calculator_teal.png">    </p:cNvPr>
          <p:cNvPicPr>
            <a:picLocks noChangeAspect="1"/>
          </p:cNvPicPr>
          <p:nvPr/>
        </p:nvPicPr>
        <p:blipFill>
          <a:blip r:embed="rId1"/>
          <a:stretch>
            <a:fillRect/>
          </a:stretch>
        </p:blipFill>
        <p:spPr>
          <a:xfrm>
            <a:off x="907999" y="2416759"/>
            <a:ext cx="241402" cy="241402"/>
          </a:xfrm>
          <a:prstGeom prst="rect">
            <a:avLst/>
          </a:prstGeom>
        </p:spPr>
      </p:pic>
      <p:sp>
        <p:nvSpPr>
          <p:cNvPr id="8" name="Text 5"/>
          <p:cNvSpPr/>
          <p:nvPr/>
        </p:nvSpPr>
        <p:spPr>
          <a:xfrm>
            <a:off x="1463040" y="2212848"/>
            <a:ext cx="1371600" cy="640080"/>
          </a:xfrm>
          <a:prstGeom prst="rect">
            <a:avLst/>
          </a:prstGeom>
          <a:noFill/>
          <a:ln/>
        </p:spPr>
        <p:txBody>
          <a:bodyPr wrap="square"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Math</a:t>
            </a:r>
            <a:endParaRPr lang="en-US" sz="1500" dirty="0"/>
          </a:p>
        </p:txBody>
      </p:sp>
      <p:sp>
        <p:nvSpPr>
          <p:cNvPr id="9" name="Text 6"/>
          <p:cNvSpPr/>
          <p:nvPr/>
        </p:nvSpPr>
        <p:spPr>
          <a:xfrm>
            <a:off x="2926080" y="2212848"/>
            <a:ext cx="2743200" cy="640080"/>
          </a:xfrm>
          <a:prstGeom prst="rect">
            <a:avLst/>
          </a:prstGeom>
          <a:noFill/>
          <a:ln/>
        </p:spPr>
        <p:txBody>
          <a:bodyPr wrap="square" rtlCol="0" anchor="ctr"/>
          <a:lstStyle/>
          <a:p>
            <a:pPr indent="0" marL="0">
              <a:buNone/>
            </a:pPr>
            <a:r>
              <a:rPr lang="en-US" sz="1200" i="1" dirty="0">
                <a:solidFill>
                  <a:srgbClr val="5C7080"/>
                </a:solidFill>
                <a:latin typeface="Calibri" pitchFamily="34" charset="0"/>
                <a:ea typeface="Calibri" pitchFamily="34" charset="-122"/>
                <a:cs typeface="Calibri" pitchFamily="34" charset="-120"/>
              </a:rPr>
              <a:t>Linear algebra &amp; vector spaces</a:t>
            </a:r>
            <a:endParaRPr lang="en-US" sz="1200" dirty="0"/>
          </a:p>
        </p:txBody>
      </p:sp>
      <p:sp>
        <p:nvSpPr>
          <p:cNvPr id="10" name="Text 7"/>
          <p:cNvSpPr/>
          <p:nvPr/>
        </p:nvSpPr>
        <p:spPr>
          <a:xfrm>
            <a:off x="5760720" y="2176272"/>
            <a:ext cx="5669280" cy="722376"/>
          </a:xfrm>
          <a:prstGeom prst="rect">
            <a:avLst/>
          </a:prstGeom>
          <a:noFill/>
          <a:ln/>
        </p:spPr>
        <p:txBody>
          <a:bodyPr wrap="square" rtlCol="0" anchor="ctr"/>
          <a:lstStyle/>
          <a:p>
            <a:pPr indent="0" marL="0">
              <a:lnSpc>
                <a:spcPct val="115000"/>
              </a:lnSpc>
              <a:buNone/>
            </a:pPr>
            <a:r>
              <a:rPr lang="en-US" sz="1100" dirty="0">
                <a:solidFill>
                  <a:srgbClr val="1B2733"/>
                </a:solidFill>
                <a:latin typeface="Calibri" pitchFamily="34" charset="0"/>
                <a:ea typeface="Calibri" pitchFamily="34" charset="-122"/>
                <a:cs typeface="Calibri" pitchFamily="34" charset="-120"/>
              </a:rPr>
              <a:t>Embeddings and the residual stream are just vectors; attention is a weighted combination — a matrix operation you already know.</a:t>
            </a:r>
            <a:endParaRPr lang="en-US" sz="1100" dirty="0"/>
          </a:p>
        </p:txBody>
      </p:sp>
      <p:sp>
        <p:nvSpPr>
          <p:cNvPr id="11" name="Shape 8"/>
          <p:cNvSpPr/>
          <p:nvPr/>
        </p:nvSpPr>
        <p:spPr>
          <a:xfrm>
            <a:off x="548640" y="3108960"/>
            <a:ext cx="11064240" cy="868680"/>
          </a:xfrm>
          <a:prstGeom prst="roundRect">
            <a:avLst>
              <a:gd name="adj" fmla="val 6316"/>
            </a:avLst>
          </a:prstGeom>
          <a:solidFill>
            <a:srgbClr val="F2F8FA"/>
          </a:solidFill>
          <a:ln/>
        </p:spPr>
      </p:sp>
      <p:sp>
        <p:nvSpPr>
          <p:cNvPr id="12" name="Shape 9"/>
          <p:cNvSpPr/>
          <p:nvPr/>
        </p:nvSpPr>
        <p:spPr>
          <a:xfrm>
            <a:off x="777240" y="3291840"/>
            <a:ext cx="502920" cy="502920"/>
          </a:xfrm>
          <a:prstGeom prst="ellipse">
            <a:avLst/>
          </a:prstGeom>
          <a:solidFill>
            <a:srgbClr val="FFFFFF"/>
          </a:solidFill>
          <a:ln/>
        </p:spPr>
      </p:sp>
      <p:pic>
        <p:nvPicPr>
          <p:cNvPr id="13" name="Image 1" descr="/home/claude/icons/microchip_teal.png">    </p:cNvPr>
          <p:cNvPicPr>
            <a:picLocks noChangeAspect="1"/>
          </p:cNvPicPr>
          <p:nvPr/>
        </p:nvPicPr>
        <p:blipFill>
          <a:blip r:embed="rId2"/>
          <a:stretch>
            <a:fillRect/>
          </a:stretch>
        </p:blipFill>
        <p:spPr>
          <a:xfrm>
            <a:off x="907999" y="3422599"/>
            <a:ext cx="241402" cy="241402"/>
          </a:xfrm>
          <a:prstGeom prst="rect">
            <a:avLst/>
          </a:prstGeom>
        </p:spPr>
      </p:pic>
      <p:sp>
        <p:nvSpPr>
          <p:cNvPr id="14" name="Text 10"/>
          <p:cNvSpPr/>
          <p:nvPr/>
        </p:nvSpPr>
        <p:spPr>
          <a:xfrm>
            <a:off x="1463040" y="3218688"/>
            <a:ext cx="1371600" cy="640080"/>
          </a:xfrm>
          <a:prstGeom prst="rect">
            <a:avLst/>
          </a:prstGeom>
          <a:noFill/>
          <a:ln/>
        </p:spPr>
        <p:txBody>
          <a:bodyPr wrap="square"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EE</a:t>
            </a:r>
            <a:endParaRPr lang="en-US" sz="1500" dirty="0"/>
          </a:p>
        </p:txBody>
      </p:sp>
      <p:sp>
        <p:nvSpPr>
          <p:cNvPr id="15" name="Text 11"/>
          <p:cNvSpPr/>
          <p:nvPr/>
        </p:nvSpPr>
        <p:spPr>
          <a:xfrm>
            <a:off x="2926080" y="3218688"/>
            <a:ext cx="2743200" cy="640080"/>
          </a:xfrm>
          <a:prstGeom prst="rect">
            <a:avLst/>
          </a:prstGeom>
          <a:noFill/>
          <a:ln/>
        </p:spPr>
        <p:txBody>
          <a:bodyPr wrap="square" rtlCol="0" anchor="ctr"/>
          <a:lstStyle/>
          <a:p>
            <a:pPr indent="0" marL="0">
              <a:buNone/>
            </a:pPr>
            <a:r>
              <a:rPr lang="en-US" sz="1200" i="1" dirty="0">
                <a:solidFill>
                  <a:srgbClr val="5C7080"/>
                </a:solidFill>
                <a:latin typeface="Calibri" pitchFamily="34" charset="0"/>
                <a:ea typeface="Calibri" pitchFamily="34" charset="-122"/>
                <a:cs typeface="Calibri" pitchFamily="34" charset="-120"/>
              </a:rPr>
              <a:t>Signals &amp; filtering</a:t>
            </a:r>
            <a:endParaRPr lang="en-US" sz="1200" dirty="0"/>
          </a:p>
        </p:txBody>
      </p:sp>
      <p:sp>
        <p:nvSpPr>
          <p:cNvPr id="16" name="Text 12"/>
          <p:cNvSpPr/>
          <p:nvPr/>
        </p:nvSpPr>
        <p:spPr>
          <a:xfrm>
            <a:off x="5760720" y="3182112"/>
            <a:ext cx="5669280" cy="722376"/>
          </a:xfrm>
          <a:prstGeom prst="rect">
            <a:avLst/>
          </a:prstGeom>
          <a:noFill/>
          <a:ln/>
        </p:spPr>
        <p:txBody>
          <a:bodyPr wrap="square" rtlCol="0" anchor="ctr"/>
          <a:lstStyle/>
          <a:p>
            <a:pPr indent="0" marL="0">
              <a:lnSpc>
                <a:spcPct val="115000"/>
              </a:lnSpc>
              <a:buNone/>
            </a:pPr>
            <a:r>
              <a:rPr lang="en-US" sz="1100" dirty="0">
                <a:solidFill>
                  <a:srgbClr val="1B2733"/>
                </a:solidFill>
                <a:latin typeface="Calibri" pitchFamily="34" charset="0"/>
                <a:ea typeface="Calibri" pitchFamily="34" charset="-122"/>
                <a:cs typeface="Calibri" pitchFamily="34" charset="-120"/>
              </a:rPr>
              <a:t>Attention behaves like an adaptive, learned filter: it re-weights a sequence of signals based on relevance, per position.</a:t>
            </a:r>
            <a:endParaRPr lang="en-US" sz="1100" dirty="0"/>
          </a:p>
        </p:txBody>
      </p:sp>
      <p:sp>
        <p:nvSpPr>
          <p:cNvPr id="17" name="Shape 13"/>
          <p:cNvSpPr/>
          <p:nvPr/>
        </p:nvSpPr>
        <p:spPr>
          <a:xfrm>
            <a:off x="548640" y="4114800"/>
            <a:ext cx="11064240" cy="868680"/>
          </a:xfrm>
          <a:prstGeom prst="roundRect">
            <a:avLst>
              <a:gd name="adj" fmla="val 6316"/>
            </a:avLst>
          </a:prstGeom>
          <a:solidFill>
            <a:srgbClr val="F2F8FA"/>
          </a:solidFill>
          <a:ln/>
        </p:spPr>
      </p:sp>
      <p:sp>
        <p:nvSpPr>
          <p:cNvPr id="18" name="Shape 14"/>
          <p:cNvSpPr/>
          <p:nvPr/>
        </p:nvSpPr>
        <p:spPr>
          <a:xfrm>
            <a:off x="777240" y="4297680"/>
            <a:ext cx="502920" cy="502920"/>
          </a:xfrm>
          <a:prstGeom prst="ellipse">
            <a:avLst/>
          </a:prstGeom>
          <a:solidFill>
            <a:srgbClr val="FFFFFF"/>
          </a:solidFill>
          <a:ln/>
        </p:spPr>
      </p:sp>
      <p:pic>
        <p:nvPicPr>
          <p:cNvPr id="19" name="Image 2" descr="/home/claude/icons/network_teal.png">    </p:cNvPr>
          <p:cNvPicPr>
            <a:picLocks noChangeAspect="1"/>
          </p:cNvPicPr>
          <p:nvPr/>
        </p:nvPicPr>
        <p:blipFill>
          <a:blip r:embed="rId3"/>
          <a:stretch>
            <a:fillRect/>
          </a:stretch>
        </p:blipFill>
        <p:spPr>
          <a:xfrm>
            <a:off x="907999" y="4428439"/>
            <a:ext cx="241402" cy="241402"/>
          </a:xfrm>
          <a:prstGeom prst="rect">
            <a:avLst/>
          </a:prstGeom>
        </p:spPr>
      </p:pic>
      <p:sp>
        <p:nvSpPr>
          <p:cNvPr id="20" name="Text 15"/>
          <p:cNvSpPr/>
          <p:nvPr/>
        </p:nvSpPr>
        <p:spPr>
          <a:xfrm>
            <a:off x="1463040" y="4224528"/>
            <a:ext cx="1371600" cy="640080"/>
          </a:xfrm>
          <a:prstGeom prst="rect">
            <a:avLst/>
          </a:prstGeom>
          <a:noFill/>
          <a:ln/>
        </p:spPr>
        <p:txBody>
          <a:bodyPr wrap="square"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CS</a:t>
            </a:r>
            <a:endParaRPr lang="en-US" sz="1500" dirty="0"/>
          </a:p>
        </p:txBody>
      </p:sp>
      <p:sp>
        <p:nvSpPr>
          <p:cNvPr id="21" name="Text 16"/>
          <p:cNvSpPr/>
          <p:nvPr/>
        </p:nvSpPr>
        <p:spPr>
          <a:xfrm>
            <a:off x="2926080" y="4224528"/>
            <a:ext cx="2743200" cy="640080"/>
          </a:xfrm>
          <a:prstGeom prst="rect">
            <a:avLst/>
          </a:prstGeom>
          <a:noFill/>
          <a:ln/>
        </p:spPr>
        <p:txBody>
          <a:bodyPr wrap="square" rtlCol="0" anchor="ctr"/>
          <a:lstStyle/>
          <a:p>
            <a:pPr indent="0" marL="0">
              <a:buNone/>
            </a:pPr>
            <a:r>
              <a:rPr lang="en-US" sz="1200" i="1" dirty="0">
                <a:solidFill>
                  <a:srgbClr val="5C7080"/>
                </a:solidFill>
                <a:latin typeface="Calibri" pitchFamily="34" charset="0"/>
                <a:ea typeface="Calibri" pitchFamily="34" charset="-122"/>
                <a:cs typeface="Calibri" pitchFamily="34" charset="-120"/>
              </a:rPr>
              <a:t>Data structures &amp; systems</a:t>
            </a:r>
            <a:endParaRPr lang="en-US" sz="1200" dirty="0"/>
          </a:p>
        </p:txBody>
      </p:sp>
      <p:sp>
        <p:nvSpPr>
          <p:cNvPr id="22" name="Text 17"/>
          <p:cNvSpPr/>
          <p:nvPr/>
        </p:nvSpPr>
        <p:spPr>
          <a:xfrm>
            <a:off x="5760720" y="4187952"/>
            <a:ext cx="5669280" cy="722376"/>
          </a:xfrm>
          <a:prstGeom prst="rect">
            <a:avLst/>
          </a:prstGeom>
          <a:noFill/>
          <a:ln/>
        </p:spPr>
        <p:txBody>
          <a:bodyPr wrap="square" rtlCol="0" anchor="ctr"/>
          <a:lstStyle/>
          <a:p>
            <a:pPr indent="0" marL="0">
              <a:lnSpc>
                <a:spcPct val="115000"/>
              </a:lnSpc>
              <a:buNone/>
            </a:pPr>
            <a:r>
              <a:rPr lang="en-US" sz="1100" dirty="0">
                <a:solidFill>
                  <a:srgbClr val="1B2733"/>
                </a:solidFill>
                <a:latin typeface="Calibri" pitchFamily="34" charset="0"/>
                <a:ea typeface="Calibri" pitchFamily="34" charset="-122"/>
                <a:cs typeface="Calibri" pitchFamily="34" charset="-120"/>
              </a:rPr>
              <a:t>Tokenization, model architecture, and tooling (hooks, pipelines, APIs) are the systems-engineering side of the same object.</a:t>
            </a:r>
            <a:endParaRPr lang="en-US" sz="1100" dirty="0"/>
          </a:p>
        </p:txBody>
      </p:sp>
      <p:sp>
        <p:nvSpPr>
          <p:cNvPr id="23" name="Shape 18"/>
          <p:cNvSpPr/>
          <p:nvPr/>
        </p:nvSpPr>
        <p:spPr>
          <a:xfrm>
            <a:off x="548640" y="5120640"/>
            <a:ext cx="11064240" cy="868680"/>
          </a:xfrm>
          <a:prstGeom prst="roundRect">
            <a:avLst>
              <a:gd name="adj" fmla="val 6316"/>
            </a:avLst>
          </a:prstGeom>
          <a:solidFill>
            <a:srgbClr val="F2F8FA"/>
          </a:solidFill>
          <a:ln/>
        </p:spPr>
      </p:sp>
      <p:sp>
        <p:nvSpPr>
          <p:cNvPr id="24" name="Shape 19"/>
          <p:cNvSpPr/>
          <p:nvPr/>
        </p:nvSpPr>
        <p:spPr>
          <a:xfrm>
            <a:off x="777240" y="5303520"/>
            <a:ext cx="502920" cy="502920"/>
          </a:xfrm>
          <a:prstGeom prst="ellipse">
            <a:avLst/>
          </a:prstGeom>
          <a:solidFill>
            <a:srgbClr val="FFFFFF"/>
          </a:solidFill>
          <a:ln/>
        </p:spPr>
      </p:sp>
      <p:pic>
        <p:nvPicPr>
          <p:cNvPr id="25" name="Image 3" descr="/home/claude/icons/database_teal.png">    </p:cNvPr>
          <p:cNvPicPr>
            <a:picLocks noChangeAspect="1"/>
          </p:cNvPicPr>
          <p:nvPr/>
        </p:nvPicPr>
        <p:blipFill>
          <a:blip r:embed="rId4"/>
          <a:stretch>
            <a:fillRect/>
          </a:stretch>
        </p:blipFill>
        <p:spPr>
          <a:xfrm>
            <a:off x="907999" y="5434279"/>
            <a:ext cx="241402" cy="241402"/>
          </a:xfrm>
          <a:prstGeom prst="rect">
            <a:avLst/>
          </a:prstGeom>
        </p:spPr>
      </p:pic>
      <p:sp>
        <p:nvSpPr>
          <p:cNvPr id="26" name="Text 20"/>
          <p:cNvSpPr/>
          <p:nvPr/>
        </p:nvSpPr>
        <p:spPr>
          <a:xfrm>
            <a:off x="1463040" y="5230368"/>
            <a:ext cx="1371600" cy="640080"/>
          </a:xfrm>
          <a:prstGeom prst="rect">
            <a:avLst/>
          </a:prstGeom>
          <a:noFill/>
          <a:ln/>
        </p:spPr>
        <p:txBody>
          <a:bodyPr wrap="square"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Data Sci</a:t>
            </a:r>
            <a:endParaRPr lang="en-US" sz="1500" dirty="0"/>
          </a:p>
        </p:txBody>
      </p:sp>
      <p:sp>
        <p:nvSpPr>
          <p:cNvPr id="27" name="Text 21"/>
          <p:cNvSpPr/>
          <p:nvPr/>
        </p:nvSpPr>
        <p:spPr>
          <a:xfrm>
            <a:off x="2926080" y="5230368"/>
            <a:ext cx="2743200" cy="640080"/>
          </a:xfrm>
          <a:prstGeom prst="rect">
            <a:avLst/>
          </a:prstGeom>
          <a:noFill/>
          <a:ln/>
        </p:spPr>
        <p:txBody>
          <a:bodyPr wrap="square" rtlCol="0" anchor="ctr"/>
          <a:lstStyle/>
          <a:p>
            <a:pPr indent="0" marL="0">
              <a:buNone/>
            </a:pPr>
            <a:r>
              <a:rPr lang="en-US" sz="1200" i="1" dirty="0">
                <a:solidFill>
                  <a:srgbClr val="5C7080"/>
                </a:solidFill>
                <a:latin typeface="Calibri" pitchFamily="34" charset="0"/>
                <a:ea typeface="Calibri" pitchFamily="34" charset="-122"/>
                <a:cs typeface="Calibri" pitchFamily="34" charset="-120"/>
              </a:rPr>
              <a:t>Probability &amp; statistics</a:t>
            </a:r>
            <a:endParaRPr lang="en-US" sz="1200" dirty="0"/>
          </a:p>
        </p:txBody>
      </p:sp>
      <p:sp>
        <p:nvSpPr>
          <p:cNvPr id="28" name="Text 22"/>
          <p:cNvSpPr/>
          <p:nvPr/>
        </p:nvSpPr>
        <p:spPr>
          <a:xfrm>
            <a:off x="5760720" y="5193792"/>
            <a:ext cx="5669280" cy="722376"/>
          </a:xfrm>
          <a:prstGeom prst="rect">
            <a:avLst/>
          </a:prstGeom>
          <a:noFill/>
          <a:ln/>
        </p:spPr>
        <p:txBody>
          <a:bodyPr wrap="square" rtlCol="0" anchor="ctr"/>
          <a:lstStyle/>
          <a:p>
            <a:pPr indent="0" marL="0">
              <a:lnSpc>
                <a:spcPct val="115000"/>
              </a:lnSpc>
              <a:buNone/>
            </a:pPr>
            <a:r>
              <a:rPr lang="en-US" sz="1100" dirty="0">
                <a:solidFill>
                  <a:srgbClr val="1B2733"/>
                </a:solidFill>
                <a:latin typeface="Calibri" pitchFamily="34" charset="0"/>
                <a:ea typeface="Calibri" pitchFamily="34" charset="-122"/>
                <a:cs typeface="Calibri" pitchFamily="34" charset="-120"/>
              </a:rPr>
              <a:t>Logits, softmax, and sampling are exactly the probability distributions and estimation you already reason about.</a:t>
            </a:r>
            <a:endParaRPr lang="en-US" sz="1100" dirty="0"/>
          </a:p>
        </p:txBody>
      </p:sp>
      <p:sp>
        <p:nvSpPr>
          <p:cNvPr id="29" name="Text 23"/>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AI TOOLING SEMINAR  ·  LECTURE 1: FOUNDATIONS</a:t>
            </a:r>
            <a:endParaRPr lang="en-US" sz="900" dirty="0"/>
          </a:p>
        </p:txBody>
      </p:sp>
      <p:sp>
        <p:nvSpPr>
          <p:cNvPr id="30" name="Text 24"/>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FAST REFRESHER</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A Neural Network Is a Differentiable Function</a:t>
            </a:r>
            <a:endParaRPr lang="en-US" sz="3000" dirty="0"/>
          </a:p>
        </p:txBody>
      </p:sp>
      <p:sp>
        <p:nvSpPr>
          <p:cNvPr id="4" name="Text 2"/>
          <p:cNvSpPr/>
          <p:nvPr/>
        </p:nvSpPr>
        <p:spPr>
          <a:xfrm>
            <a:off x="548640" y="1417320"/>
            <a:ext cx="11064240" cy="457200"/>
          </a:xfrm>
          <a:prstGeom prst="rect">
            <a:avLst/>
          </a:prstGeom>
          <a:noFill/>
          <a:ln/>
        </p:spPr>
        <p:txBody>
          <a:bodyPr wrap="square" rtlCol="0" anchor="ctr"/>
          <a:lstStyle/>
          <a:p>
            <a:pPr indent="0" marL="0">
              <a:buNone/>
            </a:pPr>
            <a:r>
              <a:rPr lang="en-US" sz="1350" dirty="0">
                <a:solidFill>
                  <a:srgbClr val="5C7080"/>
                </a:solidFill>
                <a:latin typeface="Calibri" pitchFamily="34" charset="0"/>
                <a:ea typeface="Calibri" pitchFamily="34" charset="-122"/>
                <a:cs typeface="Calibri" pitchFamily="34" charset="-120"/>
              </a:rPr>
              <a:t>Deliberately fast — just enough shared vocabulary on the core loop every neural net runs, so later slides can build on it without re-deriving it.</a:t>
            </a:r>
            <a:endParaRPr lang="en-US" sz="1350" dirty="0"/>
          </a:p>
        </p:txBody>
      </p:sp>
      <p:sp>
        <p:nvSpPr>
          <p:cNvPr id="5" name="Shape 3"/>
          <p:cNvSpPr/>
          <p:nvPr/>
        </p:nvSpPr>
        <p:spPr>
          <a:xfrm>
            <a:off x="548640" y="2103120"/>
            <a:ext cx="3520440" cy="3566160"/>
          </a:xfrm>
          <a:prstGeom prst="roundRect">
            <a:avLst>
              <a:gd name="adj" fmla="val 2078"/>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1943100" y="2423160"/>
            <a:ext cx="731520" cy="731520"/>
          </a:xfrm>
          <a:prstGeom prst="ellipse">
            <a:avLst/>
          </a:prstGeom>
          <a:solidFill>
            <a:srgbClr val="065A82"/>
          </a:solidFill>
          <a:ln/>
        </p:spPr>
      </p:sp>
      <p:pic>
        <p:nvPicPr>
          <p:cNvPr id="7" name="Image 0" descr="/home/claude/icons/puzzle_white.png">    </p:cNvPr>
          <p:cNvPicPr>
            <a:picLocks noChangeAspect="1"/>
          </p:cNvPicPr>
          <p:nvPr/>
        </p:nvPicPr>
        <p:blipFill>
          <a:blip r:embed="rId1"/>
          <a:stretch>
            <a:fillRect/>
          </a:stretch>
        </p:blipFill>
        <p:spPr>
          <a:xfrm>
            <a:off x="2133295" y="2613355"/>
            <a:ext cx="351130" cy="351130"/>
          </a:xfrm>
          <a:prstGeom prst="rect">
            <a:avLst/>
          </a:prstGeom>
        </p:spPr>
      </p:pic>
      <p:sp>
        <p:nvSpPr>
          <p:cNvPr id="8" name="Text 5"/>
          <p:cNvSpPr/>
          <p:nvPr/>
        </p:nvSpPr>
        <p:spPr>
          <a:xfrm>
            <a:off x="777240" y="3337560"/>
            <a:ext cx="3063240" cy="502920"/>
          </a:xfrm>
          <a:prstGeom prst="rect">
            <a:avLst/>
          </a:prstGeom>
          <a:noFill/>
          <a:ln/>
        </p:spPr>
        <p:txBody>
          <a:bodyPr wrap="square" rtlCol="0" anchor="ctr"/>
          <a:lstStyle/>
          <a:p>
            <a:pPr algn="ctr" indent="0" marL="0">
              <a:buNone/>
            </a:pPr>
            <a:r>
              <a:rPr lang="en-US" sz="1600" b="1" dirty="0">
                <a:solidFill>
                  <a:srgbClr val="1B2733"/>
                </a:solidFill>
                <a:latin typeface="Calibri" pitchFamily="34" charset="0"/>
                <a:ea typeface="Calibri" pitchFamily="34" charset="-122"/>
                <a:cs typeface="Calibri" pitchFamily="34" charset="-120"/>
              </a:rPr>
              <a:t>Forward pass</a:t>
            </a:r>
            <a:endParaRPr lang="en-US" sz="1600" dirty="0"/>
          </a:p>
        </p:txBody>
      </p:sp>
      <p:sp>
        <p:nvSpPr>
          <p:cNvPr id="9" name="Text 6"/>
          <p:cNvSpPr/>
          <p:nvPr/>
        </p:nvSpPr>
        <p:spPr>
          <a:xfrm>
            <a:off x="822960" y="3931920"/>
            <a:ext cx="2971800" cy="1554480"/>
          </a:xfrm>
          <a:prstGeom prst="rect">
            <a:avLst/>
          </a:prstGeom>
          <a:noFill/>
          <a:ln/>
        </p:spPr>
        <p:txBody>
          <a:bodyPr wrap="square" rtlCol="0" anchor="ctr"/>
          <a:lstStyle/>
          <a:p>
            <a:pPr algn="ctr" indent="0" marL="0">
              <a:lnSpc>
                <a:spcPct val="120000"/>
              </a:lnSpc>
              <a:buNone/>
            </a:pPr>
            <a:r>
              <a:rPr lang="en-US" sz="1150" dirty="0">
                <a:solidFill>
                  <a:srgbClr val="5C7080"/>
                </a:solidFill>
                <a:latin typeface="Calibri" pitchFamily="34" charset="0"/>
                <a:ea typeface="Calibri" pitchFamily="34" charset="-122"/>
                <a:cs typeface="Calibri" pitchFamily="34" charset="-120"/>
              </a:rPr>
              <a:t>Inputs are multiplied by learned weight matrices, summed, and passed through a nonlinearity (e.g. ReLU/GELU), layer after layer, to produce an output.</a:t>
            </a:r>
            <a:endParaRPr lang="en-US" sz="1150" dirty="0"/>
          </a:p>
        </p:txBody>
      </p:sp>
      <p:sp>
        <p:nvSpPr>
          <p:cNvPr id="10" name="Shape 7"/>
          <p:cNvSpPr/>
          <p:nvPr/>
        </p:nvSpPr>
        <p:spPr>
          <a:xfrm>
            <a:off x="4325112" y="2103120"/>
            <a:ext cx="3520440" cy="3566160"/>
          </a:xfrm>
          <a:prstGeom prst="roundRect">
            <a:avLst>
              <a:gd name="adj" fmla="val 2078"/>
            </a:avLst>
          </a:prstGeom>
          <a:solidFill>
            <a:srgbClr val="F2F8FA"/>
          </a:solidFill>
          <a:ln/>
          <a:effectLst>
            <a:outerShdw sx="100000" sy="100000" kx="0" ky="0" algn="bl" rotWithShape="0" blurRad="101600" dist="25400" dir="5400000">
              <a:srgbClr val="1B2733">
                <a:alpha val="8000"/>
              </a:srgbClr>
            </a:outerShdw>
          </a:effectLst>
        </p:spPr>
      </p:sp>
      <p:sp>
        <p:nvSpPr>
          <p:cNvPr id="11" name="Shape 8"/>
          <p:cNvSpPr/>
          <p:nvPr/>
        </p:nvSpPr>
        <p:spPr>
          <a:xfrm>
            <a:off x="5719572" y="2423160"/>
            <a:ext cx="731520" cy="731520"/>
          </a:xfrm>
          <a:prstGeom prst="ellipse">
            <a:avLst/>
          </a:prstGeom>
          <a:solidFill>
            <a:srgbClr val="1C7293"/>
          </a:solidFill>
          <a:ln/>
        </p:spPr>
      </p:sp>
      <p:pic>
        <p:nvPicPr>
          <p:cNvPr id="12" name="Image 1" descr="/home/claude/icons/compass_white.png">    </p:cNvPr>
          <p:cNvPicPr>
            <a:picLocks noChangeAspect="1"/>
          </p:cNvPicPr>
          <p:nvPr/>
        </p:nvPicPr>
        <p:blipFill>
          <a:blip r:embed="rId2"/>
          <a:stretch>
            <a:fillRect/>
          </a:stretch>
        </p:blipFill>
        <p:spPr>
          <a:xfrm>
            <a:off x="5909767" y="2613355"/>
            <a:ext cx="351130" cy="351130"/>
          </a:xfrm>
          <a:prstGeom prst="rect">
            <a:avLst/>
          </a:prstGeom>
        </p:spPr>
      </p:pic>
      <p:sp>
        <p:nvSpPr>
          <p:cNvPr id="13" name="Text 9"/>
          <p:cNvSpPr/>
          <p:nvPr/>
        </p:nvSpPr>
        <p:spPr>
          <a:xfrm>
            <a:off x="4553712" y="3337560"/>
            <a:ext cx="3063240" cy="502920"/>
          </a:xfrm>
          <a:prstGeom prst="rect">
            <a:avLst/>
          </a:prstGeom>
          <a:noFill/>
          <a:ln/>
        </p:spPr>
        <p:txBody>
          <a:bodyPr wrap="square" rtlCol="0" anchor="ctr"/>
          <a:lstStyle/>
          <a:p>
            <a:pPr algn="ctr" indent="0" marL="0">
              <a:buNone/>
            </a:pPr>
            <a:r>
              <a:rPr lang="en-US" sz="1600" b="1" dirty="0">
                <a:solidFill>
                  <a:srgbClr val="1B2733"/>
                </a:solidFill>
                <a:latin typeface="Calibri" pitchFamily="34" charset="0"/>
                <a:ea typeface="Calibri" pitchFamily="34" charset="-122"/>
                <a:cs typeface="Calibri" pitchFamily="34" charset="-120"/>
              </a:rPr>
              <a:t>Loss</a:t>
            </a:r>
            <a:endParaRPr lang="en-US" sz="1600" dirty="0"/>
          </a:p>
        </p:txBody>
      </p:sp>
      <p:sp>
        <p:nvSpPr>
          <p:cNvPr id="14" name="Text 10"/>
          <p:cNvSpPr/>
          <p:nvPr/>
        </p:nvSpPr>
        <p:spPr>
          <a:xfrm>
            <a:off x="4599432" y="3931920"/>
            <a:ext cx="2971800" cy="1554480"/>
          </a:xfrm>
          <a:prstGeom prst="rect">
            <a:avLst/>
          </a:prstGeom>
          <a:noFill/>
          <a:ln/>
        </p:spPr>
        <p:txBody>
          <a:bodyPr wrap="square" rtlCol="0" anchor="ctr"/>
          <a:lstStyle/>
          <a:p>
            <a:pPr algn="ctr" indent="0" marL="0">
              <a:lnSpc>
                <a:spcPct val="120000"/>
              </a:lnSpc>
              <a:buNone/>
            </a:pPr>
            <a:r>
              <a:rPr lang="en-US" sz="1150" dirty="0">
                <a:solidFill>
                  <a:srgbClr val="5C7080"/>
                </a:solidFill>
                <a:latin typeface="Calibri" pitchFamily="34" charset="0"/>
                <a:ea typeface="Calibri" pitchFamily="34" charset="-122"/>
                <a:cs typeface="Calibri" pitchFamily="34" charset="-120"/>
              </a:rPr>
              <a:t>A single number scoring how wrong the output was, compared to what it should have been.</a:t>
            </a:r>
            <a:endParaRPr lang="en-US" sz="1150" dirty="0"/>
          </a:p>
        </p:txBody>
      </p:sp>
      <p:sp>
        <p:nvSpPr>
          <p:cNvPr id="15" name="Shape 11"/>
          <p:cNvSpPr/>
          <p:nvPr/>
        </p:nvSpPr>
        <p:spPr>
          <a:xfrm>
            <a:off x="8101584" y="2103120"/>
            <a:ext cx="3520440" cy="3566160"/>
          </a:xfrm>
          <a:prstGeom prst="roundRect">
            <a:avLst>
              <a:gd name="adj" fmla="val 2078"/>
            </a:avLst>
          </a:prstGeom>
          <a:solidFill>
            <a:srgbClr val="F2F8FA"/>
          </a:solidFill>
          <a:ln/>
          <a:effectLst>
            <a:outerShdw sx="100000" sy="100000" kx="0" ky="0" algn="bl" rotWithShape="0" blurRad="101600" dist="25400" dir="5400000">
              <a:srgbClr val="1B2733">
                <a:alpha val="8000"/>
              </a:srgbClr>
            </a:outerShdw>
          </a:effectLst>
        </p:spPr>
      </p:sp>
      <p:sp>
        <p:nvSpPr>
          <p:cNvPr id="16" name="Shape 12"/>
          <p:cNvSpPr/>
          <p:nvPr/>
        </p:nvSpPr>
        <p:spPr>
          <a:xfrm>
            <a:off x="9496044" y="2423160"/>
            <a:ext cx="731520" cy="731520"/>
          </a:xfrm>
          <a:prstGeom prst="ellipse">
            <a:avLst/>
          </a:prstGeom>
          <a:solidFill>
            <a:srgbClr val="21295C"/>
          </a:solidFill>
          <a:ln/>
        </p:spPr>
      </p:sp>
      <p:pic>
        <p:nvPicPr>
          <p:cNvPr id="17" name="Image 2" descr="/home/claude/icons/route_white.png">    </p:cNvPr>
          <p:cNvPicPr>
            <a:picLocks noChangeAspect="1"/>
          </p:cNvPicPr>
          <p:nvPr/>
        </p:nvPicPr>
        <p:blipFill>
          <a:blip r:embed="rId3"/>
          <a:stretch>
            <a:fillRect/>
          </a:stretch>
        </p:blipFill>
        <p:spPr>
          <a:xfrm>
            <a:off x="9686239" y="2613355"/>
            <a:ext cx="351130" cy="351130"/>
          </a:xfrm>
          <a:prstGeom prst="rect">
            <a:avLst/>
          </a:prstGeom>
        </p:spPr>
      </p:pic>
      <p:sp>
        <p:nvSpPr>
          <p:cNvPr id="18" name="Text 13"/>
          <p:cNvSpPr/>
          <p:nvPr/>
        </p:nvSpPr>
        <p:spPr>
          <a:xfrm>
            <a:off x="8330184" y="3337560"/>
            <a:ext cx="3063240" cy="502920"/>
          </a:xfrm>
          <a:prstGeom prst="rect">
            <a:avLst/>
          </a:prstGeom>
          <a:noFill/>
          <a:ln/>
        </p:spPr>
        <p:txBody>
          <a:bodyPr wrap="square" rtlCol="0" anchor="ctr"/>
          <a:lstStyle/>
          <a:p>
            <a:pPr algn="ctr" indent="0" marL="0">
              <a:buNone/>
            </a:pPr>
            <a:r>
              <a:rPr lang="en-US" sz="1600" b="1" dirty="0">
                <a:solidFill>
                  <a:srgbClr val="1B2733"/>
                </a:solidFill>
                <a:latin typeface="Calibri" pitchFamily="34" charset="0"/>
                <a:ea typeface="Calibri" pitchFamily="34" charset="-122"/>
                <a:cs typeface="Calibri" pitchFamily="34" charset="-120"/>
              </a:rPr>
              <a:t>Backprop + gradient descent</a:t>
            </a:r>
            <a:endParaRPr lang="en-US" sz="1600" dirty="0"/>
          </a:p>
        </p:txBody>
      </p:sp>
      <p:sp>
        <p:nvSpPr>
          <p:cNvPr id="19" name="Text 14"/>
          <p:cNvSpPr/>
          <p:nvPr/>
        </p:nvSpPr>
        <p:spPr>
          <a:xfrm>
            <a:off x="8375904" y="3931920"/>
            <a:ext cx="2971800" cy="1554480"/>
          </a:xfrm>
          <a:prstGeom prst="rect">
            <a:avLst/>
          </a:prstGeom>
          <a:noFill/>
          <a:ln/>
        </p:spPr>
        <p:txBody>
          <a:bodyPr wrap="square" rtlCol="0" anchor="ctr"/>
          <a:lstStyle/>
          <a:p>
            <a:pPr algn="ctr" indent="0" marL="0">
              <a:lnSpc>
                <a:spcPct val="120000"/>
              </a:lnSpc>
              <a:buNone/>
            </a:pPr>
            <a:r>
              <a:rPr lang="en-US" sz="1150" dirty="0">
                <a:solidFill>
                  <a:srgbClr val="5C7080"/>
                </a:solidFill>
                <a:latin typeface="Calibri" pitchFamily="34" charset="0"/>
                <a:ea typeface="Calibri" pitchFamily="34" charset="-122"/>
                <a:cs typeface="Calibri" pitchFamily="34" charset="-120"/>
              </a:rPr>
              <a:t>The chain rule computes how much each weight contributed to the loss; weights are nudged a small step in the direction that reduces it. Repeat, a lot.</a:t>
            </a:r>
            <a:endParaRPr lang="en-US" sz="1150" dirty="0"/>
          </a:p>
        </p:txBody>
      </p:sp>
      <p:sp>
        <p:nvSpPr>
          <p:cNvPr id="20" name="Text 15"/>
          <p:cNvSpPr/>
          <p:nvPr/>
        </p:nvSpPr>
        <p:spPr>
          <a:xfrm>
            <a:off x="548640" y="5806440"/>
            <a:ext cx="11064240" cy="566928"/>
          </a:xfrm>
          <a:prstGeom prst="rect">
            <a:avLst/>
          </a:prstGeom>
          <a:noFill/>
          <a:ln/>
        </p:spPr>
        <p:txBody>
          <a:bodyPr wrap="square" rtlCol="0" anchor="ctr"/>
          <a:lstStyle/>
          <a:p>
            <a:pPr indent="0" marL="0">
              <a:lnSpc>
                <a:spcPct val="115000"/>
              </a:lnSpc>
              <a:buNone/>
            </a:pPr>
            <a:r>
              <a:rPr lang="en-US" sz="1150" b="1" dirty="0">
                <a:solidFill>
                  <a:srgbClr val="1B2733"/>
                </a:solidFill>
                <a:latin typeface="Calibri" pitchFamily="34" charset="0"/>
                <a:ea typeface="Calibri" pitchFamily="34" charset="-122"/>
                <a:cs typeface="Calibri" pitchFamily="34" charset="-120"/>
              </a:rPr>
              <a:t>Why this matters for interpretability: </a:t>
            </a:r>
            <a:pPr indent="0" marL="0">
              <a:lnSpc>
                <a:spcPct val="115000"/>
              </a:lnSpc>
              <a:buNone/>
            </a:pPr>
            <a:r>
              <a:rPr lang="en-US" sz="1150" dirty="0">
                <a:solidFill>
                  <a:srgbClr val="5C7080"/>
                </a:solidFill>
                <a:latin typeface="Calibri" pitchFamily="34" charset="0"/>
                <a:ea typeface="Calibri" pitchFamily="34" charset="-122"/>
                <a:cs typeface="Calibri" pitchFamily="34" charset="-120"/>
              </a:rPr>
              <a:t>every technique we'll use — patching, probing, steering — works by reading or intervening on the intermediate numbers this forward pass produces.</a:t>
            </a:r>
            <a:endParaRPr lang="en-US" sz="1150" dirty="0"/>
          </a:p>
        </p:txBody>
      </p:sp>
      <p:sp>
        <p:nvSpPr>
          <p:cNvPr id="21" name="Text 16"/>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AI TOOLING SEMINAR  ·  LECTURE 1: FOUNDATIONS</a:t>
            </a:r>
            <a:endParaRPr lang="en-US" sz="900" dirty="0"/>
          </a:p>
        </p:txBody>
      </p:sp>
      <p:sp>
        <p:nvSpPr>
          <p:cNvPr id="22" name="Text 17"/>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TRANSFORMER, STEP BY STEP</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Step 1: Tokenization</a:t>
            </a:r>
            <a:endParaRPr lang="en-US" sz="3000" dirty="0"/>
          </a:p>
        </p:txBody>
      </p:sp>
      <p:sp>
        <p:nvSpPr>
          <p:cNvPr id="4" name="Text 2"/>
          <p:cNvSpPr/>
          <p:nvPr/>
        </p:nvSpPr>
        <p:spPr>
          <a:xfrm>
            <a:off x="548640" y="1417320"/>
            <a:ext cx="11064240" cy="548640"/>
          </a:xfrm>
          <a:prstGeom prst="rect">
            <a:avLst/>
          </a:prstGeom>
          <a:noFill/>
          <a:ln/>
        </p:spPr>
        <p:txBody>
          <a:bodyPr wrap="square" rtlCol="0" anchor="ctr"/>
          <a:lstStyle/>
          <a:p>
            <a:pPr indent="0" marL="0">
              <a:lnSpc>
                <a:spcPct val="120000"/>
              </a:lnSpc>
              <a:buNone/>
            </a:pPr>
            <a:r>
              <a:rPr lang="en-US" sz="1350" dirty="0">
                <a:solidFill>
                  <a:srgbClr val="5C7080"/>
                </a:solidFill>
                <a:latin typeface="Calibri" pitchFamily="34" charset="0"/>
                <a:ea typeface="Calibri" pitchFamily="34" charset="-122"/>
                <a:cs typeface="Calibri" pitchFamily="34" charset="-120"/>
              </a:rPr>
              <a:t>Models don't read characters or whole words — they read tokens: subword chunks from a fixed vocabulary, usually built with Byte Pair Encoding (BPE).</a:t>
            </a:r>
            <a:endParaRPr lang="en-US" sz="1350" dirty="0"/>
          </a:p>
        </p:txBody>
      </p:sp>
      <p:sp>
        <p:nvSpPr>
          <p:cNvPr id="5" name="Shape 3"/>
          <p:cNvSpPr/>
          <p:nvPr/>
        </p:nvSpPr>
        <p:spPr>
          <a:xfrm>
            <a:off x="548640" y="2148840"/>
            <a:ext cx="11064240" cy="777240"/>
          </a:xfrm>
          <a:prstGeom prst="roundRect">
            <a:avLst>
              <a:gd name="adj" fmla="val 7059"/>
            </a:avLst>
          </a:prstGeom>
          <a:solidFill>
            <a:srgbClr val="F2F8FA"/>
          </a:solidFill>
          <a:ln/>
        </p:spPr>
      </p:sp>
      <p:sp>
        <p:nvSpPr>
          <p:cNvPr id="6" name="Text 4"/>
          <p:cNvSpPr/>
          <p:nvPr/>
        </p:nvSpPr>
        <p:spPr>
          <a:xfrm>
            <a:off x="822960" y="2221992"/>
            <a:ext cx="2377440" cy="640080"/>
          </a:xfrm>
          <a:prstGeom prst="rect">
            <a:avLst/>
          </a:prstGeom>
          <a:noFill/>
          <a:ln/>
        </p:spPr>
        <p:txBody>
          <a:bodyPr wrap="square" rtlCol="0" anchor="ctr"/>
          <a:lstStyle/>
          <a:p>
            <a:pPr indent="0" marL="0">
              <a:buNone/>
            </a:pPr>
            <a:r>
              <a:rPr lang="en-US" sz="1350" b="1" dirty="0">
                <a:solidFill>
                  <a:srgbClr val="B85042"/>
                </a:solidFill>
                <a:latin typeface="Calibri" pitchFamily="34" charset="0"/>
                <a:ea typeface="Calibri" pitchFamily="34" charset="-122"/>
                <a:cs typeface="Calibri" pitchFamily="34" charset="-120"/>
              </a:rPr>
              <a:t>Characters</a:t>
            </a:r>
            <a:endParaRPr lang="en-US" sz="1350" dirty="0"/>
          </a:p>
        </p:txBody>
      </p:sp>
      <p:sp>
        <p:nvSpPr>
          <p:cNvPr id="7" name="Text 5"/>
          <p:cNvSpPr/>
          <p:nvPr/>
        </p:nvSpPr>
        <p:spPr>
          <a:xfrm>
            <a:off x="3291840" y="2221992"/>
            <a:ext cx="8046720" cy="640080"/>
          </a:xfrm>
          <a:prstGeom prst="rect">
            <a:avLst/>
          </a:prstGeom>
          <a:noFill/>
          <a:ln/>
        </p:spPr>
        <p:txBody>
          <a:bodyPr wrap="square" rtlCol="0" anchor="ctr"/>
          <a:lstStyle/>
          <a:p>
            <a:pPr indent="0" marL="0">
              <a:lnSpc>
                <a:spcPct val="118000"/>
              </a:lnSpc>
              <a:buNone/>
            </a:pPr>
            <a:r>
              <a:rPr lang="en-US" sz="1100" dirty="0">
                <a:solidFill>
                  <a:srgbClr val="1B2733"/>
                </a:solidFill>
                <a:latin typeface="Calibri" pitchFamily="34" charset="0"/>
                <a:ea typeface="Calibri" pitchFamily="34" charset="-122"/>
                <a:cs typeface="Calibri" pitchFamily="34" charset="-120"/>
              </a:rPr>
              <a:t>Vocabulary is tiny, but sequences become very long — expensive, and hard to learn long-range structure.</a:t>
            </a:r>
            <a:endParaRPr lang="en-US" sz="1100" dirty="0"/>
          </a:p>
        </p:txBody>
      </p:sp>
      <p:sp>
        <p:nvSpPr>
          <p:cNvPr id="8" name="Shape 6"/>
          <p:cNvSpPr/>
          <p:nvPr/>
        </p:nvSpPr>
        <p:spPr>
          <a:xfrm>
            <a:off x="548640" y="3108960"/>
            <a:ext cx="11064240" cy="777240"/>
          </a:xfrm>
          <a:prstGeom prst="roundRect">
            <a:avLst>
              <a:gd name="adj" fmla="val 7059"/>
            </a:avLst>
          </a:prstGeom>
          <a:solidFill>
            <a:srgbClr val="F2F8FA"/>
          </a:solidFill>
          <a:ln/>
        </p:spPr>
      </p:sp>
      <p:sp>
        <p:nvSpPr>
          <p:cNvPr id="9" name="Text 7"/>
          <p:cNvSpPr/>
          <p:nvPr/>
        </p:nvSpPr>
        <p:spPr>
          <a:xfrm>
            <a:off x="822960" y="3182112"/>
            <a:ext cx="2377440" cy="640080"/>
          </a:xfrm>
          <a:prstGeom prst="rect">
            <a:avLst/>
          </a:prstGeom>
          <a:noFill/>
          <a:ln/>
        </p:spPr>
        <p:txBody>
          <a:bodyPr wrap="square" rtlCol="0" anchor="ctr"/>
          <a:lstStyle/>
          <a:p>
            <a:pPr indent="0" marL="0">
              <a:buNone/>
            </a:pPr>
            <a:r>
              <a:rPr lang="en-US" sz="1350" b="1" dirty="0">
                <a:solidFill>
                  <a:srgbClr val="B85042"/>
                </a:solidFill>
                <a:latin typeface="Calibri" pitchFamily="34" charset="0"/>
                <a:ea typeface="Calibri" pitchFamily="34" charset="-122"/>
                <a:cs typeface="Calibri" pitchFamily="34" charset="-120"/>
              </a:rPr>
              <a:t>Whole words</a:t>
            </a:r>
            <a:endParaRPr lang="en-US" sz="1350" dirty="0"/>
          </a:p>
        </p:txBody>
      </p:sp>
      <p:sp>
        <p:nvSpPr>
          <p:cNvPr id="10" name="Text 8"/>
          <p:cNvSpPr/>
          <p:nvPr/>
        </p:nvSpPr>
        <p:spPr>
          <a:xfrm>
            <a:off x="3291840" y="3182112"/>
            <a:ext cx="8046720" cy="640080"/>
          </a:xfrm>
          <a:prstGeom prst="rect">
            <a:avLst/>
          </a:prstGeom>
          <a:noFill/>
          <a:ln/>
        </p:spPr>
        <p:txBody>
          <a:bodyPr wrap="square" rtlCol="0" anchor="ctr"/>
          <a:lstStyle/>
          <a:p>
            <a:pPr indent="0" marL="0">
              <a:lnSpc>
                <a:spcPct val="118000"/>
              </a:lnSpc>
              <a:buNone/>
            </a:pPr>
            <a:r>
              <a:rPr lang="en-US" sz="1100" dirty="0">
                <a:solidFill>
                  <a:srgbClr val="1B2733"/>
                </a:solidFill>
                <a:latin typeface="Calibri" pitchFamily="34" charset="0"/>
                <a:ea typeface="Calibri" pitchFamily="34" charset="-122"/>
                <a:cs typeface="Calibri" pitchFamily="34" charset="-120"/>
              </a:rPr>
              <a:t>Sequences are short, but the vocabulary is huge and can't cover every word (typos, rare words, new terms) — the classic “out of vocabulary” problem.</a:t>
            </a:r>
            <a:endParaRPr lang="en-US" sz="1100" dirty="0"/>
          </a:p>
        </p:txBody>
      </p:sp>
      <p:sp>
        <p:nvSpPr>
          <p:cNvPr id="11" name="Shape 9"/>
          <p:cNvSpPr/>
          <p:nvPr/>
        </p:nvSpPr>
        <p:spPr>
          <a:xfrm>
            <a:off x="548640" y="4069080"/>
            <a:ext cx="11064240" cy="1371600"/>
          </a:xfrm>
          <a:prstGeom prst="roundRect">
            <a:avLst>
              <a:gd name="adj" fmla="val 4000"/>
            </a:avLst>
          </a:prstGeom>
          <a:solidFill>
            <a:srgbClr val="E9F4F8"/>
          </a:solidFill>
          <a:ln w="12700">
            <a:solidFill>
              <a:srgbClr val="065A82"/>
            </a:solidFill>
            <a:prstDash val="solid"/>
          </a:ln>
        </p:spPr>
      </p:sp>
      <p:sp>
        <p:nvSpPr>
          <p:cNvPr id="12" name="Text 10"/>
          <p:cNvSpPr/>
          <p:nvPr/>
        </p:nvSpPr>
        <p:spPr>
          <a:xfrm>
            <a:off x="822960" y="4142232"/>
            <a:ext cx="2377440" cy="1225296"/>
          </a:xfrm>
          <a:prstGeom prst="rect">
            <a:avLst/>
          </a:prstGeom>
          <a:noFill/>
          <a:ln/>
        </p:spPr>
        <p:txBody>
          <a:bodyPr wrap="square"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Subwords (BPE)</a:t>
            </a:r>
            <a:endParaRPr lang="en-US" sz="1350" dirty="0"/>
          </a:p>
        </p:txBody>
      </p:sp>
      <p:sp>
        <p:nvSpPr>
          <p:cNvPr id="13" name="Text 11"/>
          <p:cNvSpPr/>
          <p:nvPr/>
        </p:nvSpPr>
        <p:spPr>
          <a:xfrm>
            <a:off x="3291840" y="4142232"/>
            <a:ext cx="8046720" cy="1225296"/>
          </a:xfrm>
          <a:prstGeom prst="rect">
            <a:avLst/>
          </a:prstGeom>
          <a:noFill/>
          <a:ln/>
        </p:spPr>
        <p:txBody>
          <a:bodyPr wrap="square" rtlCol="0" anchor="ctr"/>
          <a:lstStyle/>
          <a:p>
            <a:pPr indent="0" marL="0">
              <a:lnSpc>
                <a:spcPct val="118000"/>
              </a:lnSpc>
              <a:buNone/>
            </a:pPr>
            <a:r>
              <a:rPr lang="en-US" sz="1100" dirty="0">
                <a:solidFill>
                  <a:srgbClr val="1B2733"/>
                </a:solidFill>
                <a:latin typeface="Calibri" pitchFamily="34" charset="0"/>
                <a:ea typeface="Calibri" pitchFamily="34" charset="-122"/>
                <a:cs typeface="Calibri" pitchFamily="34" charset="-120"/>
              </a:rPr>
              <a:t>Start from individual bytes/characters; repeatedly merge the most frequent adjacent pair into a new token, until you hit a target vocabulary size. Common words become single tokens; rare words fall back to smaller pieces.</a:t>
            </a:r>
            <a:endParaRPr lang="en-US" sz="1100" dirty="0"/>
          </a:p>
        </p:txBody>
      </p:sp>
      <p:sp>
        <p:nvSpPr>
          <p:cNvPr id="14" name="Text 12"/>
          <p:cNvSpPr/>
          <p:nvPr/>
        </p:nvSpPr>
        <p:spPr>
          <a:xfrm>
            <a:off x="548640" y="5715000"/>
            <a:ext cx="11064240" cy="457200"/>
          </a:xfrm>
          <a:prstGeom prst="rect">
            <a:avLst/>
          </a:prstGeom>
          <a:noFill/>
          <a:ln/>
        </p:spPr>
        <p:txBody>
          <a:bodyPr wrap="square" rtlCol="0" anchor="ctr"/>
          <a:lstStyle/>
          <a:p>
            <a:pPr indent="0" marL="0">
              <a:lnSpc>
                <a:spcPct val="120000"/>
              </a:lnSpc>
              <a:buNone/>
            </a:pPr>
            <a:r>
              <a:rPr lang="en-US" sz="1150" b="1" dirty="0">
                <a:solidFill>
                  <a:srgbClr val="1B2733"/>
                </a:solidFill>
                <a:latin typeface="Calibri" pitchFamily="34" charset="0"/>
                <a:ea typeface="Calibri" pitchFamily="34" charset="-122"/>
                <a:cs typeface="Calibri" pitchFamily="34" charset="-120"/>
              </a:rPr>
              <a:t>Why this matters later: </a:t>
            </a:r>
            <a:pPr indent="0" marL="0">
              <a:lnSpc>
                <a:spcPct val="120000"/>
              </a:lnSpc>
              <a:buNone/>
            </a:pPr>
            <a:r>
              <a:rPr lang="en-US" sz="1150" dirty="0">
                <a:solidFill>
                  <a:srgbClr val="5C7080"/>
                </a:solidFill>
                <a:latin typeface="Calibri" pitchFamily="34" charset="0"/>
                <a:ea typeface="Calibri" pitchFamily="34" charset="-122"/>
                <a:cs typeface="Calibri" pitchFamily="34" charset="-120"/>
              </a:rPr>
              <a:t>any tool that shows you a model's raw output token-by-token is showing you these exact subword pieces — which is why individual tokens sometimes look like partial words or single characters instead of whole words.</a:t>
            </a:r>
            <a:endParaRPr lang="en-US" sz="1150" dirty="0"/>
          </a:p>
        </p:txBody>
      </p:sp>
      <p:sp>
        <p:nvSpPr>
          <p:cNvPr id="15" name="Text 13"/>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AI TOOLING SEMINAR  ·  LECTURE 1: FOUNDATIONS</a:t>
            </a:r>
            <a:endParaRPr lang="en-US" sz="900" dirty="0"/>
          </a:p>
        </p:txBody>
      </p:sp>
      <p:sp>
        <p:nvSpPr>
          <p:cNvPr id="16" name="Text 14"/>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TRANSFORMER, STEP BY STEP</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Step 2: Embeddings &amp; Position</a:t>
            </a:r>
            <a:endParaRPr lang="en-US" sz="3000" dirty="0"/>
          </a:p>
        </p:txBody>
      </p:sp>
      <p:sp>
        <p:nvSpPr>
          <p:cNvPr id="4" name="Shape 2"/>
          <p:cNvSpPr/>
          <p:nvPr/>
        </p:nvSpPr>
        <p:spPr>
          <a:xfrm>
            <a:off x="548640" y="1737360"/>
            <a:ext cx="5257800" cy="4297680"/>
          </a:xfrm>
          <a:prstGeom prst="roundRect">
            <a:avLst>
              <a:gd name="adj" fmla="val 1702"/>
            </a:avLst>
          </a:prstGeom>
          <a:solidFill>
            <a:srgbClr val="F2F8FA"/>
          </a:solidFill>
          <a:ln/>
          <a:effectLst>
            <a:outerShdw sx="100000" sy="100000" kx="0" ky="0" algn="bl" rotWithShape="0" blurRad="101600" dist="25400" dir="5400000">
              <a:srgbClr val="1B2733">
                <a:alpha val="8000"/>
              </a:srgbClr>
            </a:outerShdw>
          </a:effectLst>
        </p:spPr>
      </p:sp>
      <p:sp>
        <p:nvSpPr>
          <p:cNvPr id="5" name="Shape 3"/>
          <p:cNvSpPr/>
          <p:nvPr/>
        </p:nvSpPr>
        <p:spPr>
          <a:xfrm>
            <a:off x="822960" y="2011680"/>
            <a:ext cx="548640" cy="548640"/>
          </a:xfrm>
          <a:prstGeom prst="ellipse">
            <a:avLst/>
          </a:prstGeom>
          <a:solidFill>
            <a:srgbClr val="065A82"/>
          </a:solidFill>
          <a:ln/>
        </p:spPr>
      </p:sp>
      <p:pic>
        <p:nvPicPr>
          <p:cNvPr id="6" name="Image 0" descr="/home/claude/icons/layers.png">    </p:cNvPr>
          <p:cNvPicPr>
            <a:picLocks noChangeAspect="1"/>
          </p:cNvPicPr>
          <p:nvPr/>
        </p:nvPicPr>
        <p:blipFill>
          <a:blip r:embed="rId1"/>
          <a:stretch>
            <a:fillRect/>
          </a:stretch>
        </p:blipFill>
        <p:spPr>
          <a:xfrm>
            <a:off x="965606" y="2154326"/>
            <a:ext cx="263347" cy="263347"/>
          </a:xfrm>
          <a:prstGeom prst="rect">
            <a:avLst/>
          </a:prstGeom>
        </p:spPr>
      </p:pic>
      <p:sp>
        <p:nvSpPr>
          <p:cNvPr id="7" name="Text 4"/>
          <p:cNvSpPr/>
          <p:nvPr/>
        </p:nvSpPr>
        <p:spPr>
          <a:xfrm>
            <a:off x="1554480" y="2011680"/>
            <a:ext cx="4114800" cy="548640"/>
          </a:xfrm>
          <a:prstGeom prst="rect">
            <a:avLst/>
          </a:prstGeom>
          <a:noFill/>
          <a:ln/>
        </p:spPr>
        <p:txBody>
          <a:bodyPr wrap="square" rtlCol="0" anchor="ctr"/>
          <a:lstStyle/>
          <a:p>
            <a:pPr indent="0" marL="0">
              <a:buNone/>
            </a:pPr>
            <a:r>
              <a:rPr lang="en-US" sz="1600" b="1" dirty="0">
                <a:solidFill>
                  <a:srgbClr val="1B2733"/>
                </a:solidFill>
                <a:latin typeface="Calibri" pitchFamily="34" charset="0"/>
                <a:ea typeface="Calibri" pitchFamily="34" charset="-122"/>
                <a:cs typeface="Calibri" pitchFamily="34" charset="-120"/>
              </a:rPr>
              <a:t>Token embeddings</a:t>
            </a:r>
            <a:endParaRPr lang="en-US" sz="1600" dirty="0"/>
          </a:p>
        </p:txBody>
      </p:sp>
      <p:sp>
        <p:nvSpPr>
          <p:cNvPr id="8" name="Text 5"/>
          <p:cNvSpPr/>
          <p:nvPr/>
        </p:nvSpPr>
        <p:spPr>
          <a:xfrm>
            <a:off x="822960" y="2788920"/>
            <a:ext cx="4709160" cy="1554480"/>
          </a:xfrm>
          <a:prstGeom prst="rect">
            <a:avLst/>
          </a:prstGeom>
          <a:noFill/>
          <a:ln/>
        </p:spPr>
        <p:txBody>
          <a:bodyPr wrap="square" rtlCol="0" anchor="ctr"/>
          <a:lstStyle/>
          <a:p>
            <a:pPr indent="0" marL="0">
              <a:lnSpc>
                <a:spcPct val="125000"/>
              </a:lnSpc>
              <a:buNone/>
            </a:pPr>
            <a:r>
              <a:rPr lang="en-US" sz="1200" dirty="0">
                <a:solidFill>
                  <a:srgbClr val="5C7080"/>
                </a:solidFill>
                <a:latin typeface="Calibri" pitchFamily="34" charset="0"/>
                <a:ea typeface="Calibri" pitchFamily="34" charset="-122"/>
                <a:cs typeface="Calibri" pitchFamily="34" charset="-120"/>
              </a:rPr>
              <a:t>Each token ID is looked up in an embedding matrix and turned into a dense vector (hundreds to thousands of dimensions). Similar tokens tend to land in similar directions — this vector space is where nearly all interpretability work actually happens.</a:t>
            </a:r>
            <a:endParaRPr lang="en-US" sz="1200" dirty="0"/>
          </a:p>
        </p:txBody>
      </p:sp>
      <p:sp>
        <p:nvSpPr>
          <p:cNvPr id="9" name="Text 6"/>
          <p:cNvSpPr/>
          <p:nvPr/>
        </p:nvSpPr>
        <p:spPr>
          <a:xfrm>
            <a:off x="822960" y="4572000"/>
            <a:ext cx="4709160" cy="1188720"/>
          </a:xfrm>
          <a:prstGeom prst="rect">
            <a:avLst/>
          </a:prstGeom>
          <a:noFill/>
          <a:ln/>
        </p:spPr>
        <p:txBody>
          <a:bodyPr wrap="square" rtlCol="0" anchor="ctr"/>
          <a:lstStyle/>
          <a:p>
            <a:pPr indent="0" marL="0">
              <a:lnSpc>
                <a:spcPct val="120000"/>
              </a:lnSpc>
              <a:buNone/>
            </a:pPr>
            <a:r>
              <a:rPr lang="en-US" sz="1100" i="1" dirty="0">
                <a:solidFill>
                  <a:srgbClr val="5C7080"/>
                </a:solidFill>
                <a:latin typeface="Calibri" pitchFamily="34" charset="0"/>
                <a:ea typeface="Calibri" pitchFamily="34" charset="-122"/>
                <a:cs typeface="Calibri" pitchFamily="34" charset="-120"/>
              </a:rPr>
              <a:t>A token's logprob — how likely the model thought it was — is, underneath, a statement about vectors in this exact space.</a:t>
            </a:r>
            <a:endParaRPr lang="en-US" sz="1100" dirty="0"/>
          </a:p>
        </p:txBody>
      </p:sp>
      <p:sp>
        <p:nvSpPr>
          <p:cNvPr id="10" name="Shape 7"/>
          <p:cNvSpPr/>
          <p:nvPr/>
        </p:nvSpPr>
        <p:spPr>
          <a:xfrm>
            <a:off x="6355080" y="1737360"/>
            <a:ext cx="5257800" cy="4297680"/>
          </a:xfrm>
          <a:prstGeom prst="roundRect">
            <a:avLst>
              <a:gd name="adj" fmla="val 1702"/>
            </a:avLst>
          </a:prstGeom>
          <a:solidFill>
            <a:srgbClr val="21295C"/>
          </a:solidFill>
          <a:ln/>
        </p:spPr>
      </p:sp>
      <p:sp>
        <p:nvSpPr>
          <p:cNvPr id="11" name="Shape 8"/>
          <p:cNvSpPr/>
          <p:nvPr/>
        </p:nvSpPr>
        <p:spPr>
          <a:xfrm>
            <a:off x="6629400" y="2011680"/>
            <a:ext cx="548640" cy="548640"/>
          </a:xfrm>
          <a:prstGeom prst="ellipse">
            <a:avLst/>
          </a:prstGeom>
          <a:solidFill>
            <a:srgbClr val="065A82"/>
          </a:solidFill>
          <a:ln/>
        </p:spPr>
      </p:sp>
      <p:pic>
        <p:nvPicPr>
          <p:cNvPr id="12" name="Image 1" descr="/home/claude/icons/compass_white.png">    </p:cNvPr>
          <p:cNvPicPr>
            <a:picLocks noChangeAspect="1"/>
          </p:cNvPicPr>
          <p:nvPr/>
        </p:nvPicPr>
        <p:blipFill>
          <a:blip r:embed="rId2"/>
          <a:stretch>
            <a:fillRect/>
          </a:stretch>
        </p:blipFill>
        <p:spPr>
          <a:xfrm>
            <a:off x="6772046" y="2154326"/>
            <a:ext cx="263347" cy="263347"/>
          </a:xfrm>
          <a:prstGeom prst="rect">
            <a:avLst/>
          </a:prstGeom>
        </p:spPr>
      </p:pic>
      <p:sp>
        <p:nvSpPr>
          <p:cNvPr id="13" name="Text 9"/>
          <p:cNvSpPr/>
          <p:nvPr/>
        </p:nvSpPr>
        <p:spPr>
          <a:xfrm>
            <a:off x="7360920" y="2011680"/>
            <a:ext cx="4023360" cy="5486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Positional encoding</a:t>
            </a:r>
            <a:endParaRPr lang="en-US" sz="1600" dirty="0"/>
          </a:p>
        </p:txBody>
      </p:sp>
      <p:sp>
        <p:nvSpPr>
          <p:cNvPr id="14" name="Text 10"/>
          <p:cNvSpPr/>
          <p:nvPr/>
        </p:nvSpPr>
        <p:spPr>
          <a:xfrm>
            <a:off x="6629400" y="2788920"/>
            <a:ext cx="4709160" cy="1280160"/>
          </a:xfrm>
          <a:prstGeom prst="rect">
            <a:avLst/>
          </a:prstGeom>
          <a:noFill/>
          <a:ln/>
        </p:spPr>
        <p:txBody>
          <a:bodyPr wrap="square" rtlCol="0" anchor="ctr"/>
          <a:lstStyle/>
          <a:p>
            <a:pPr indent="0" marL="0">
              <a:lnSpc>
                <a:spcPct val="125000"/>
              </a:lnSpc>
              <a:buNone/>
            </a:pPr>
            <a:r>
              <a:rPr lang="en-US" sz="1200" dirty="0">
                <a:solidFill>
                  <a:srgbClr val="D7E9F2"/>
                </a:solidFill>
                <a:latin typeface="Calibri" pitchFamily="34" charset="0"/>
                <a:ea typeface="Calibri" pitchFamily="34" charset="-122"/>
                <a:cs typeface="Calibri" pitchFamily="34" charset="-120"/>
              </a:rPr>
              <a:t>Attention (next slide) treats a sequence as an unordered set — it's permutation-invariant. Without extra help, “dog bites man” and “man bites dog” would look identical to the model.</a:t>
            </a:r>
            <a:endParaRPr lang="en-US" sz="1200" dirty="0"/>
          </a:p>
        </p:txBody>
      </p:sp>
      <p:sp>
        <p:nvSpPr>
          <p:cNvPr id="15" name="Text 11"/>
          <p:cNvSpPr/>
          <p:nvPr/>
        </p:nvSpPr>
        <p:spPr>
          <a:xfrm>
            <a:off x="6629400" y="4206240"/>
            <a:ext cx="4709160" cy="1645920"/>
          </a:xfrm>
          <a:prstGeom prst="rect">
            <a:avLst/>
          </a:prstGeom>
          <a:noFill/>
          <a:ln/>
        </p:spPr>
        <p:txBody>
          <a:bodyPr wrap="square" rtlCol="0" anchor="ctr"/>
          <a:lstStyle/>
          <a:p>
            <a:pPr indent="0" marL="0">
              <a:lnSpc>
                <a:spcPct val="122000"/>
              </a:lnSpc>
              <a:buNone/>
            </a:pPr>
            <a:r>
              <a:rPr lang="en-US" sz="1150" dirty="0">
                <a:solidFill>
                  <a:srgbClr val="9FC3D9"/>
                </a:solidFill>
                <a:latin typeface="Calibri" pitchFamily="34" charset="0"/>
                <a:ea typeface="Calibri" pitchFamily="34" charset="-122"/>
                <a:cs typeface="Calibri" pitchFamily="34" charset="-120"/>
              </a:rPr>
              <a:t>Fix: give the model access to position somehow. Older approaches inject it directly into the embeddings (classic sinusoidal encodings, learned position embeddings). Most current models instead apply it inside attention itself, at every layer — rotary position embeddings (RoPE).</a:t>
            </a:r>
            <a:endParaRPr lang="en-US" sz="1150" dirty="0"/>
          </a:p>
        </p:txBody>
      </p:sp>
      <p:sp>
        <p:nvSpPr>
          <p:cNvPr id="16" name="Text 12"/>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AI TOOLING SEMINAR  ·  LECTURE 1: FOUNDATIONS</a:t>
            </a:r>
            <a:endParaRPr lang="en-US" sz="900" dirty="0"/>
          </a:p>
        </p:txBody>
      </p:sp>
      <p:sp>
        <p:nvSpPr>
          <p:cNvPr id="17" name="Text 13"/>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TRANSFORMER, STEP BY STEP</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Step 3: Self-Attention</a:t>
            </a:r>
            <a:endParaRPr lang="en-US" sz="3000" dirty="0"/>
          </a:p>
        </p:txBody>
      </p:sp>
      <p:sp>
        <p:nvSpPr>
          <p:cNvPr id="4" name="Text 2"/>
          <p:cNvSpPr/>
          <p:nvPr/>
        </p:nvSpPr>
        <p:spPr>
          <a:xfrm>
            <a:off x="548640" y="1417320"/>
            <a:ext cx="11064240" cy="502920"/>
          </a:xfrm>
          <a:prstGeom prst="rect">
            <a:avLst/>
          </a:prstGeom>
          <a:noFill/>
          <a:ln/>
        </p:spPr>
        <p:txBody>
          <a:bodyPr wrap="square" rtlCol="0" anchor="ctr"/>
          <a:lstStyle/>
          <a:p>
            <a:pPr indent="0" marL="0">
              <a:lnSpc>
                <a:spcPct val="120000"/>
              </a:lnSpc>
              <a:buNone/>
            </a:pPr>
            <a:r>
              <a:rPr lang="en-US" sz="1350" dirty="0">
                <a:solidFill>
                  <a:srgbClr val="5C7080"/>
                </a:solidFill>
                <a:latin typeface="Calibri" pitchFamily="34" charset="0"/>
                <a:ea typeface="Calibri" pitchFamily="34" charset="-122"/>
                <a:cs typeface="Calibri" pitchFamily="34" charset="-120"/>
              </a:rPr>
              <a:t>Attention lets every token look at every other token and pull in the information it needs — dynamically, based on content, not fixed rules.</a:t>
            </a:r>
            <a:endParaRPr lang="en-US" sz="1350" dirty="0"/>
          </a:p>
        </p:txBody>
      </p:sp>
      <p:sp>
        <p:nvSpPr>
          <p:cNvPr id="5" name="Shape 3"/>
          <p:cNvSpPr/>
          <p:nvPr/>
        </p:nvSpPr>
        <p:spPr>
          <a:xfrm>
            <a:off x="548640" y="2057400"/>
            <a:ext cx="3520440" cy="1965960"/>
          </a:xfrm>
          <a:prstGeom prst="roundRect">
            <a:avLst>
              <a:gd name="adj" fmla="val 3721"/>
            </a:avLst>
          </a:prstGeom>
          <a:solidFill>
            <a:srgbClr val="F2F8FA"/>
          </a:solidFill>
          <a:ln/>
        </p:spPr>
      </p:sp>
      <p:sp>
        <p:nvSpPr>
          <p:cNvPr id="6" name="Shape 4"/>
          <p:cNvSpPr/>
          <p:nvPr/>
        </p:nvSpPr>
        <p:spPr>
          <a:xfrm>
            <a:off x="777240" y="2286000"/>
            <a:ext cx="502920" cy="502920"/>
          </a:xfrm>
          <a:prstGeom prst="ellipse">
            <a:avLst/>
          </a:prstGeom>
          <a:solidFill>
            <a:srgbClr val="065A82"/>
          </a:solidFill>
          <a:ln/>
        </p:spPr>
      </p:sp>
      <p:pic>
        <p:nvPicPr>
          <p:cNvPr id="7" name="Image 0" descr="/home/claude/icons/search.png">    </p:cNvPr>
          <p:cNvPicPr>
            <a:picLocks noChangeAspect="1"/>
          </p:cNvPicPr>
          <p:nvPr/>
        </p:nvPicPr>
        <p:blipFill>
          <a:blip r:embed="rId1"/>
          <a:stretch>
            <a:fillRect/>
          </a:stretch>
        </p:blipFill>
        <p:spPr>
          <a:xfrm>
            <a:off x="907999" y="2416759"/>
            <a:ext cx="241402" cy="241402"/>
          </a:xfrm>
          <a:prstGeom prst="rect">
            <a:avLst/>
          </a:prstGeom>
        </p:spPr>
      </p:pic>
      <p:sp>
        <p:nvSpPr>
          <p:cNvPr id="8" name="Text 5"/>
          <p:cNvSpPr/>
          <p:nvPr/>
        </p:nvSpPr>
        <p:spPr>
          <a:xfrm>
            <a:off x="1417320" y="2286000"/>
            <a:ext cx="2423160" cy="502920"/>
          </a:xfrm>
          <a:prstGeom prst="rect">
            <a:avLst/>
          </a:prstGeom>
          <a:noFill/>
          <a:ln/>
        </p:spPr>
        <p:txBody>
          <a:bodyPr wrap="square"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Query</a:t>
            </a:r>
            <a:endParaRPr lang="en-US" sz="1500" dirty="0"/>
          </a:p>
        </p:txBody>
      </p:sp>
      <p:sp>
        <p:nvSpPr>
          <p:cNvPr id="9" name="Text 6"/>
          <p:cNvSpPr/>
          <p:nvPr/>
        </p:nvSpPr>
        <p:spPr>
          <a:xfrm>
            <a:off x="777240" y="2880360"/>
            <a:ext cx="3063240" cy="1005840"/>
          </a:xfrm>
          <a:prstGeom prst="rect">
            <a:avLst/>
          </a:prstGeom>
          <a:noFill/>
          <a:ln/>
        </p:spPr>
        <p:txBody>
          <a:bodyPr wrap="square"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“What am I looking for?” — a vector each token emits describing what information it wants.</a:t>
            </a:r>
            <a:endParaRPr lang="en-US" sz="1050" dirty="0"/>
          </a:p>
        </p:txBody>
      </p:sp>
      <p:sp>
        <p:nvSpPr>
          <p:cNvPr id="10" name="Shape 7"/>
          <p:cNvSpPr/>
          <p:nvPr/>
        </p:nvSpPr>
        <p:spPr>
          <a:xfrm>
            <a:off x="4325112" y="2057400"/>
            <a:ext cx="3520440" cy="1965960"/>
          </a:xfrm>
          <a:prstGeom prst="roundRect">
            <a:avLst>
              <a:gd name="adj" fmla="val 3721"/>
            </a:avLst>
          </a:prstGeom>
          <a:solidFill>
            <a:srgbClr val="F2F8FA"/>
          </a:solidFill>
          <a:ln/>
        </p:spPr>
      </p:sp>
      <p:sp>
        <p:nvSpPr>
          <p:cNvPr id="11" name="Shape 8"/>
          <p:cNvSpPr/>
          <p:nvPr/>
        </p:nvSpPr>
        <p:spPr>
          <a:xfrm>
            <a:off x="4553712" y="2286000"/>
            <a:ext cx="502920" cy="502920"/>
          </a:xfrm>
          <a:prstGeom prst="ellipse">
            <a:avLst/>
          </a:prstGeom>
          <a:solidFill>
            <a:srgbClr val="1C7293"/>
          </a:solidFill>
          <a:ln/>
        </p:spPr>
      </p:sp>
      <p:pic>
        <p:nvPicPr>
          <p:cNvPr id="12" name="Image 1" descr="/home/claude/icons/network_white.png">    </p:cNvPr>
          <p:cNvPicPr>
            <a:picLocks noChangeAspect="1"/>
          </p:cNvPicPr>
          <p:nvPr/>
        </p:nvPicPr>
        <p:blipFill>
          <a:blip r:embed="rId2"/>
          <a:stretch>
            <a:fillRect/>
          </a:stretch>
        </p:blipFill>
        <p:spPr>
          <a:xfrm>
            <a:off x="4684471" y="2416759"/>
            <a:ext cx="241402" cy="241402"/>
          </a:xfrm>
          <a:prstGeom prst="rect">
            <a:avLst/>
          </a:prstGeom>
        </p:spPr>
      </p:pic>
      <p:sp>
        <p:nvSpPr>
          <p:cNvPr id="13" name="Text 9"/>
          <p:cNvSpPr/>
          <p:nvPr/>
        </p:nvSpPr>
        <p:spPr>
          <a:xfrm>
            <a:off x="5193792" y="2286000"/>
            <a:ext cx="2423160" cy="502920"/>
          </a:xfrm>
          <a:prstGeom prst="rect">
            <a:avLst/>
          </a:prstGeom>
          <a:noFill/>
          <a:ln/>
        </p:spPr>
        <p:txBody>
          <a:bodyPr wrap="square"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Key</a:t>
            </a:r>
            <a:endParaRPr lang="en-US" sz="1500" dirty="0"/>
          </a:p>
        </p:txBody>
      </p:sp>
      <p:sp>
        <p:nvSpPr>
          <p:cNvPr id="14" name="Text 10"/>
          <p:cNvSpPr/>
          <p:nvPr/>
        </p:nvSpPr>
        <p:spPr>
          <a:xfrm>
            <a:off x="4553712" y="2880360"/>
            <a:ext cx="3063240" cy="1005840"/>
          </a:xfrm>
          <a:prstGeom prst="rect">
            <a:avLst/>
          </a:prstGeom>
          <a:noFill/>
          <a:ln/>
        </p:spPr>
        <p:txBody>
          <a:bodyPr wrap="square"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“What do I offer?” — a vector each token emits describing what information it holds.</a:t>
            </a:r>
            <a:endParaRPr lang="en-US" sz="1050" dirty="0"/>
          </a:p>
        </p:txBody>
      </p:sp>
      <p:sp>
        <p:nvSpPr>
          <p:cNvPr id="15" name="Shape 11"/>
          <p:cNvSpPr/>
          <p:nvPr/>
        </p:nvSpPr>
        <p:spPr>
          <a:xfrm>
            <a:off x="8101584" y="2057400"/>
            <a:ext cx="3520440" cy="1965960"/>
          </a:xfrm>
          <a:prstGeom prst="roundRect">
            <a:avLst>
              <a:gd name="adj" fmla="val 3721"/>
            </a:avLst>
          </a:prstGeom>
          <a:solidFill>
            <a:srgbClr val="F2F8FA"/>
          </a:solidFill>
          <a:ln/>
        </p:spPr>
      </p:sp>
      <p:sp>
        <p:nvSpPr>
          <p:cNvPr id="16" name="Shape 12"/>
          <p:cNvSpPr/>
          <p:nvPr/>
        </p:nvSpPr>
        <p:spPr>
          <a:xfrm>
            <a:off x="8330184" y="2286000"/>
            <a:ext cx="502920" cy="502920"/>
          </a:xfrm>
          <a:prstGeom prst="ellipse">
            <a:avLst/>
          </a:prstGeom>
          <a:solidFill>
            <a:srgbClr val="21295C"/>
          </a:solidFill>
          <a:ln/>
        </p:spPr>
      </p:sp>
      <p:pic>
        <p:nvPicPr>
          <p:cNvPr id="17" name="Image 2" descr="/home/claude/icons/database_white.png">    </p:cNvPr>
          <p:cNvPicPr>
            <a:picLocks noChangeAspect="1"/>
          </p:cNvPicPr>
          <p:nvPr/>
        </p:nvPicPr>
        <p:blipFill>
          <a:blip r:embed="rId3"/>
          <a:stretch>
            <a:fillRect/>
          </a:stretch>
        </p:blipFill>
        <p:spPr>
          <a:xfrm>
            <a:off x="8460943" y="2416759"/>
            <a:ext cx="241402" cy="241402"/>
          </a:xfrm>
          <a:prstGeom prst="rect">
            <a:avLst/>
          </a:prstGeom>
        </p:spPr>
      </p:pic>
      <p:sp>
        <p:nvSpPr>
          <p:cNvPr id="18" name="Text 13"/>
          <p:cNvSpPr/>
          <p:nvPr/>
        </p:nvSpPr>
        <p:spPr>
          <a:xfrm>
            <a:off x="8970264" y="2286000"/>
            <a:ext cx="2423160" cy="502920"/>
          </a:xfrm>
          <a:prstGeom prst="rect">
            <a:avLst/>
          </a:prstGeom>
          <a:noFill/>
          <a:ln/>
        </p:spPr>
        <p:txBody>
          <a:bodyPr wrap="square"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Value</a:t>
            </a:r>
            <a:endParaRPr lang="en-US" sz="1500" dirty="0"/>
          </a:p>
        </p:txBody>
      </p:sp>
      <p:sp>
        <p:nvSpPr>
          <p:cNvPr id="19" name="Text 14"/>
          <p:cNvSpPr/>
          <p:nvPr/>
        </p:nvSpPr>
        <p:spPr>
          <a:xfrm>
            <a:off x="8330184" y="2880360"/>
            <a:ext cx="3063240" cy="1005840"/>
          </a:xfrm>
          <a:prstGeom prst="rect">
            <a:avLst/>
          </a:prstGeom>
          <a:noFill/>
          <a:ln/>
        </p:spPr>
        <p:txBody>
          <a:bodyPr wrap="square"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“Here's my actual content” — the information that actually gets passed along, weighted by the query-key match.</a:t>
            </a:r>
            <a:endParaRPr lang="en-US" sz="1050" dirty="0"/>
          </a:p>
        </p:txBody>
      </p:sp>
      <p:sp>
        <p:nvSpPr>
          <p:cNvPr id="20" name="Shape 15"/>
          <p:cNvSpPr/>
          <p:nvPr/>
        </p:nvSpPr>
        <p:spPr>
          <a:xfrm>
            <a:off x="548640" y="4251960"/>
            <a:ext cx="11064240" cy="2057400"/>
          </a:xfrm>
          <a:prstGeom prst="roundRect">
            <a:avLst>
              <a:gd name="adj" fmla="val 3556"/>
            </a:avLst>
          </a:prstGeom>
          <a:solidFill>
            <a:srgbClr val="21295C"/>
          </a:solidFill>
          <a:ln/>
        </p:spPr>
      </p:sp>
      <p:sp>
        <p:nvSpPr>
          <p:cNvPr id="21" name="Text 16"/>
          <p:cNvSpPr/>
          <p:nvPr/>
        </p:nvSpPr>
        <p:spPr>
          <a:xfrm>
            <a:off x="822960" y="4434840"/>
            <a:ext cx="10515600" cy="411480"/>
          </a:xfrm>
          <a:prstGeom prst="rect">
            <a:avLst/>
          </a:prstGeom>
          <a:noFill/>
          <a:ln/>
        </p:spPr>
        <p:txBody>
          <a:bodyPr wrap="square" rtlCol="0" anchor="ctr"/>
          <a:lstStyle/>
          <a:p>
            <a:pPr indent="0" marL="0">
              <a:buNone/>
            </a:pPr>
            <a:r>
              <a:rPr lang="en-US" sz="1500" b="1" dirty="0">
                <a:solidFill>
                  <a:srgbClr val="8FD4E8"/>
                </a:solidFill>
                <a:latin typeface="Courier New" pitchFamily="34" charset="0"/>
                <a:ea typeface="Courier New" pitchFamily="34" charset="-122"/>
                <a:cs typeface="Courier New" pitchFamily="34" charset="-120"/>
              </a:rPr>
              <a:t>scaled dot-product attention: softmax( Q · Kᵀ / √dk ) · V</a:t>
            </a:r>
            <a:endParaRPr lang="en-US" sz="1500" dirty="0"/>
          </a:p>
        </p:txBody>
      </p:sp>
      <p:sp>
        <p:nvSpPr>
          <p:cNvPr id="22" name="Text 17"/>
          <p:cNvSpPr/>
          <p:nvPr/>
        </p:nvSpPr>
        <p:spPr>
          <a:xfrm>
            <a:off x="822960" y="4892040"/>
            <a:ext cx="10515600" cy="1325880"/>
          </a:xfrm>
          <a:prstGeom prst="rect">
            <a:avLst/>
          </a:prstGeom>
          <a:noFill/>
          <a:ln/>
        </p:spPr>
        <p:txBody>
          <a:bodyPr wrap="square" rtlCol="0" anchor="ctr"/>
          <a:lstStyle/>
          <a:p>
            <a:pPr indent="0" marL="0">
              <a:lnSpc>
                <a:spcPct val="122000"/>
              </a:lnSpc>
              <a:buNone/>
            </a:pPr>
            <a:r>
              <a:rPr lang="en-US" sz="1150" dirty="0">
                <a:solidFill>
                  <a:srgbClr val="D7E9F2"/>
                </a:solidFill>
                <a:latin typeface="Calibri" pitchFamily="34" charset="0"/>
                <a:ea typeface="Calibri" pitchFamily="34" charset="-122"/>
                <a:cs typeface="Calibri" pitchFamily="34" charset="-120"/>
              </a:rPr>
              <a:t>Here, dk is the dimensionality of the key vectors — dividing by its square root keeps the dot products from growing too large as dimensionality increases, which would otherwise push softmax into a region with near-zero gradients. Each token's query is compared against every other token's key; the scores are turned into weights (softmax); those weights combine the values into this token's new representation. "Multi-head" attention just runs several of these in parallel with different learned projections, so different heads can specialize — one for syntax, another for coreference, and so on.</a:t>
            </a:r>
            <a:endParaRPr lang="en-US" sz="1150" dirty="0"/>
          </a:p>
        </p:txBody>
      </p:sp>
      <p:sp>
        <p:nvSpPr>
          <p:cNvPr id="23" name="Text 18"/>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AI TOOLING SEMINAR  ·  LECTURE 1: FOUNDATIONS</a:t>
            </a:r>
            <a:endParaRPr lang="en-US" sz="900" dirty="0"/>
          </a:p>
        </p:txBody>
      </p:sp>
      <p:sp>
        <p:nvSpPr>
          <p:cNvPr id="24" name="Text 19"/>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942"/>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8FD4E8"/>
                </a:solidFill>
                <a:latin typeface="Calibri" pitchFamily="34" charset="0"/>
                <a:ea typeface="Calibri" pitchFamily="34" charset="-122"/>
                <a:cs typeface="Calibri" pitchFamily="34" charset="-120"/>
              </a:rPr>
              <a:t>THE TRANSFORMER, STEP BY STEP</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Step 4: The Residual Stream</a:t>
            </a:r>
            <a:endParaRPr lang="en-US" sz="3000" dirty="0"/>
          </a:p>
        </p:txBody>
      </p:sp>
      <p:sp>
        <p:nvSpPr>
          <p:cNvPr id="4" name="Text 2"/>
          <p:cNvSpPr/>
          <p:nvPr/>
        </p:nvSpPr>
        <p:spPr>
          <a:xfrm>
            <a:off x="548640" y="1463040"/>
            <a:ext cx="6675120" cy="914400"/>
          </a:xfrm>
          <a:prstGeom prst="rect">
            <a:avLst/>
          </a:prstGeom>
          <a:noFill/>
          <a:ln/>
        </p:spPr>
        <p:txBody>
          <a:bodyPr wrap="square" rtlCol="0" anchor="ctr"/>
          <a:lstStyle/>
          <a:p>
            <a:pPr indent="0" marL="0">
              <a:lnSpc>
                <a:spcPct val="125000"/>
              </a:lnSpc>
              <a:buNone/>
            </a:pPr>
            <a:r>
              <a:rPr lang="en-US" sz="1350" dirty="0">
                <a:solidFill>
                  <a:srgbClr val="BFDCE8"/>
                </a:solidFill>
                <a:latin typeface="Calibri" pitchFamily="34" charset="0"/>
                <a:ea typeface="Calibri" pitchFamily="34" charset="-122"/>
                <a:cs typeface="Calibri" pitchFamily="34" charset="-120"/>
              </a:rPr>
              <a:t>This is the single most important concept for everything we'll do later in the course — most interpretability techniques are really just techniques for reading or editing this one object.</a:t>
            </a:r>
            <a:endParaRPr lang="en-US" sz="1350" dirty="0"/>
          </a:p>
        </p:txBody>
      </p:sp>
      <p:sp>
        <p:nvSpPr>
          <p:cNvPr id="5" name="Shape 3"/>
          <p:cNvSpPr/>
          <p:nvPr/>
        </p:nvSpPr>
        <p:spPr>
          <a:xfrm>
            <a:off x="7086600" y="1517904"/>
            <a:ext cx="109728" cy="109728"/>
          </a:xfrm>
          <a:prstGeom prst="ellipse">
            <a:avLst/>
          </a:prstGeom>
          <a:solidFill>
            <a:srgbClr val="8FD4E8"/>
          </a:solidFill>
          <a:ln/>
        </p:spPr>
      </p:sp>
      <p:sp>
        <p:nvSpPr>
          <p:cNvPr id="6" name="Text 4"/>
          <p:cNvSpPr/>
          <p:nvPr/>
        </p:nvSpPr>
        <p:spPr>
          <a:xfrm>
            <a:off x="7315200" y="1325880"/>
            <a:ext cx="4297680" cy="5029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 shared channel, not a hidden state</a:t>
            </a:r>
            <a:endParaRPr lang="en-US" sz="1400" dirty="0"/>
          </a:p>
        </p:txBody>
      </p:sp>
      <p:sp>
        <p:nvSpPr>
          <p:cNvPr id="7" name="Text 5"/>
          <p:cNvSpPr/>
          <p:nvPr/>
        </p:nvSpPr>
        <p:spPr>
          <a:xfrm>
            <a:off x="7315200" y="1783080"/>
            <a:ext cx="4297680" cy="1051560"/>
          </a:xfrm>
          <a:prstGeom prst="rect">
            <a:avLst/>
          </a:prstGeom>
          <a:noFill/>
          <a:ln/>
        </p:spPr>
        <p:txBody>
          <a:bodyPr wrap="square" rtlCol="0" anchor="ctr"/>
          <a:lstStyle/>
          <a:p>
            <a:pPr indent="0" marL="0">
              <a:lnSpc>
                <a:spcPct val="120000"/>
              </a:lnSpc>
              <a:buNone/>
            </a:pPr>
            <a:r>
              <a:rPr lang="en-US" sz="1100" dirty="0">
                <a:solidFill>
                  <a:srgbClr val="9FC3D9"/>
                </a:solidFill>
                <a:latin typeface="Calibri" pitchFamily="34" charset="0"/>
                <a:ea typeface="Calibri" pitchFamily="34" charset="-122"/>
                <a:cs typeface="Calibri" pitchFamily="34" charset="-120"/>
              </a:rPr>
              <a:t>Each token position has one vector — the residual stream — that persists across every layer of the model.</a:t>
            </a:r>
            <a:endParaRPr lang="en-US" sz="1100" dirty="0"/>
          </a:p>
        </p:txBody>
      </p:sp>
      <p:sp>
        <p:nvSpPr>
          <p:cNvPr id="8" name="Shape 6"/>
          <p:cNvSpPr/>
          <p:nvPr/>
        </p:nvSpPr>
        <p:spPr>
          <a:xfrm>
            <a:off x="7086600" y="2935224"/>
            <a:ext cx="109728" cy="109728"/>
          </a:xfrm>
          <a:prstGeom prst="ellipse">
            <a:avLst/>
          </a:prstGeom>
          <a:solidFill>
            <a:srgbClr val="8FD4E8"/>
          </a:solidFill>
          <a:ln/>
        </p:spPr>
      </p:sp>
      <p:sp>
        <p:nvSpPr>
          <p:cNvPr id="9" name="Text 7"/>
          <p:cNvSpPr/>
          <p:nvPr/>
        </p:nvSpPr>
        <p:spPr>
          <a:xfrm>
            <a:off x="7315200" y="2743200"/>
            <a:ext cx="4297680" cy="5029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Layers read and add, they don't overwrite</a:t>
            </a:r>
            <a:endParaRPr lang="en-US" sz="1400" dirty="0"/>
          </a:p>
        </p:txBody>
      </p:sp>
      <p:sp>
        <p:nvSpPr>
          <p:cNvPr id="10" name="Text 8"/>
          <p:cNvSpPr/>
          <p:nvPr/>
        </p:nvSpPr>
        <p:spPr>
          <a:xfrm>
            <a:off x="7315200" y="3200400"/>
            <a:ext cx="4297680" cy="1051560"/>
          </a:xfrm>
          <a:prstGeom prst="rect">
            <a:avLst/>
          </a:prstGeom>
          <a:noFill/>
          <a:ln/>
        </p:spPr>
        <p:txBody>
          <a:bodyPr wrap="square" rtlCol="0" anchor="ctr"/>
          <a:lstStyle/>
          <a:p>
            <a:pPr indent="0" marL="0">
              <a:lnSpc>
                <a:spcPct val="120000"/>
              </a:lnSpc>
              <a:buNone/>
            </a:pPr>
            <a:r>
              <a:rPr lang="en-US" sz="1100" dirty="0">
                <a:solidFill>
                  <a:srgbClr val="9FC3D9"/>
                </a:solidFill>
                <a:latin typeface="Calibri" pitchFamily="34" charset="0"/>
                <a:ea typeface="Calibri" pitchFamily="34" charset="-122"/>
                <a:cs typeface="Calibri" pitchFamily="34" charset="-120"/>
              </a:rPr>
              <a:t>Attention reads the stream, computes something, and adds its result back in. Then the MLP block does the same. The stream accumulates.</a:t>
            </a:r>
            <a:endParaRPr lang="en-US" sz="1100" dirty="0"/>
          </a:p>
        </p:txBody>
      </p:sp>
      <p:sp>
        <p:nvSpPr>
          <p:cNvPr id="11" name="Shape 9"/>
          <p:cNvSpPr/>
          <p:nvPr/>
        </p:nvSpPr>
        <p:spPr>
          <a:xfrm>
            <a:off x="7086600" y="4352544"/>
            <a:ext cx="109728" cy="109728"/>
          </a:xfrm>
          <a:prstGeom prst="ellipse">
            <a:avLst/>
          </a:prstGeom>
          <a:solidFill>
            <a:srgbClr val="8FD4E8"/>
          </a:solidFill>
          <a:ln/>
        </p:spPr>
      </p:sp>
      <p:sp>
        <p:nvSpPr>
          <p:cNvPr id="12" name="Text 10"/>
          <p:cNvSpPr/>
          <p:nvPr/>
        </p:nvSpPr>
        <p:spPr>
          <a:xfrm>
            <a:off x="7315200" y="4160520"/>
            <a:ext cx="4297680" cy="5029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Everything lives here</a:t>
            </a:r>
            <a:endParaRPr lang="en-US" sz="1400" dirty="0"/>
          </a:p>
        </p:txBody>
      </p:sp>
      <p:sp>
        <p:nvSpPr>
          <p:cNvPr id="13" name="Text 11"/>
          <p:cNvSpPr/>
          <p:nvPr/>
        </p:nvSpPr>
        <p:spPr>
          <a:xfrm>
            <a:off x="7315200" y="4617720"/>
            <a:ext cx="4297680" cy="1051560"/>
          </a:xfrm>
          <a:prstGeom prst="rect">
            <a:avLst/>
          </a:prstGeom>
          <a:noFill/>
          <a:ln/>
        </p:spPr>
        <p:txBody>
          <a:bodyPr wrap="square" rtlCol="0" anchor="ctr"/>
          <a:lstStyle/>
          <a:p>
            <a:pPr indent="0" marL="0">
              <a:lnSpc>
                <a:spcPct val="120000"/>
              </a:lnSpc>
              <a:buNone/>
            </a:pPr>
            <a:r>
              <a:rPr lang="en-US" sz="1100" dirty="0">
                <a:solidFill>
                  <a:srgbClr val="9FC3D9"/>
                </a:solidFill>
                <a:latin typeface="Calibri" pitchFamily="34" charset="0"/>
                <a:ea typeface="Calibri" pitchFamily="34" charset="-122"/>
                <a:cs typeface="Calibri" pitchFamily="34" charset="-120"/>
              </a:rPr>
              <a:t>Early “raw” token information, later “processed” information, and everything in between coexist, added together, in the same vector.</a:t>
            </a:r>
            <a:endParaRPr lang="en-US" sz="1100" dirty="0"/>
          </a:p>
        </p:txBody>
      </p:sp>
      <p:sp>
        <p:nvSpPr>
          <p:cNvPr id="14" name="Shape 12"/>
          <p:cNvSpPr/>
          <p:nvPr/>
        </p:nvSpPr>
        <p:spPr>
          <a:xfrm>
            <a:off x="2011680" y="3840480"/>
            <a:ext cx="0" cy="365760"/>
          </a:xfrm>
          <a:prstGeom prst="line">
            <a:avLst/>
          </a:prstGeom>
          <a:noFill/>
          <a:ln w="15875">
            <a:solidFill>
              <a:srgbClr val="5A8FB0"/>
            </a:solidFill>
            <a:prstDash val="solid"/>
          </a:ln>
        </p:spPr>
      </p:sp>
      <p:sp>
        <p:nvSpPr>
          <p:cNvPr id="15" name="Shape 13"/>
          <p:cNvSpPr/>
          <p:nvPr/>
        </p:nvSpPr>
        <p:spPr>
          <a:xfrm>
            <a:off x="2011680" y="4206240"/>
            <a:ext cx="0" cy="685800"/>
          </a:xfrm>
          <a:prstGeom prst="line">
            <a:avLst/>
          </a:prstGeom>
          <a:noFill/>
          <a:ln w="25400">
            <a:solidFill>
              <a:srgbClr val="5A8FB0"/>
            </a:solidFill>
            <a:prstDash val="solid"/>
          </a:ln>
        </p:spPr>
      </p:sp>
      <p:sp>
        <p:nvSpPr>
          <p:cNvPr id="16" name="Shape 14"/>
          <p:cNvSpPr/>
          <p:nvPr/>
        </p:nvSpPr>
        <p:spPr>
          <a:xfrm>
            <a:off x="2011680" y="4892040"/>
            <a:ext cx="0" cy="685800"/>
          </a:xfrm>
          <a:prstGeom prst="line">
            <a:avLst/>
          </a:prstGeom>
          <a:noFill/>
          <a:ln w="34925">
            <a:solidFill>
              <a:srgbClr val="5A8FB0"/>
            </a:solidFill>
            <a:prstDash val="solid"/>
          </a:ln>
        </p:spPr>
      </p:sp>
      <p:sp>
        <p:nvSpPr>
          <p:cNvPr id="17" name="Shape 15"/>
          <p:cNvSpPr/>
          <p:nvPr/>
        </p:nvSpPr>
        <p:spPr>
          <a:xfrm>
            <a:off x="2011680" y="5577840"/>
            <a:ext cx="0" cy="228600"/>
          </a:xfrm>
          <a:prstGeom prst="line">
            <a:avLst/>
          </a:prstGeom>
          <a:noFill/>
          <a:ln w="44450">
            <a:solidFill>
              <a:srgbClr val="5A8FB0"/>
            </a:solidFill>
            <a:prstDash val="solid"/>
          </a:ln>
        </p:spPr>
      </p:sp>
      <p:sp>
        <p:nvSpPr>
          <p:cNvPr id="18" name="Shape 16"/>
          <p:cNvSpPr/>
          <p:nvPr/>
        </p:nvSpPr>
        <p:spPr>
          <a:xfrm>
            <a:off x="1892808" y="4087368"/>
            <a:ext cx="237744" cy="237744"/>
          </a:xfrm>
          <a:prstGeom prst="ellipse">
            <a:avLst/>
          </a:prstGeom>
          <a:solidFill>
            <a:srgbClr val="8FD4E8"/>
          </a:solidFill>
          <a:ln/>
        </p:spPr>
      </p:sp>
      <p:sp>
        <p:nvSpPr>
          <p:cNvPr id="19" name="Text 17"/>
          <p:cNvSpPr/>
          <p:nvPr/>
        </p:nvSpPr>
        <p:spPr>
          <a:xfrm>
            <a:off x="1892808" y="4059936"/>
            <a:ext cx="237744" cy="237744"/>
          </a:xfrm>
          <a:prstGeom prst="rect">
            <a:avLst/>
          </a:prstGeom>
          <a:noFill/>
          <a:ln/>
        </p:spPr>
        <p:txBody>
          <a:bodyPr wrap="square" rtlCol="0" anchor="ctr"/>
          <a:lstStyle/>
          <a:p>
            <a:pPr algn="ctr" indent="0" marL="0">
              <a:buNone/>
            </a:pPr>
            <a:r>
              <a:rPr lang="en-US" sz="1300" b="1" dirty="0">
                <a:solidFill>
                  <a:srgbClr val="0B2942"/>
                </a:solidFill>
                <a:latin typeface="Calibri" pitchFamily="34" charset="0"/>
                <a:ea typeface="Calibri" pitchFamily="34" charset="-122"/>
                <a:cs typeface="Calibri" pitchFamily="34" charset="-120"/>
              </a:rPr>
              <a:t>+</a:t>
            </a:r>
            <a:endParaRPr lang="en-US" sz="1300" dirty="0"/>
          </a:p>
        </p:txBody>
      </p:sp>
      <p:sp>
        <p:nvSpPr>
          <p:cNvPr id="20" name="Shape 18"/>
          <p:cNvSpPr/>
          <p:nvPr/>
        </p:nvSpPr>
        <p:spPr>
          <a:xfrm>
            <a:off x="2331720" y="4005072"/>
            <a:ext cx="1737360" cy="402336"/>
          </a:xfrm>
          <a:prstGeom prst="roundRect">
            <a:avLst>
              <a:gd name="adj" fmla="val 13636"/>
            </a:avLst>
          </a:prstGeom>
          <a:solidFill>
            <a:srgbClr val="1C7293"/>
          </a:solidFill>
          <a:ln/>
        </p:spPr>
      </p:sp>
      <p:sp>
        <p:nvSpPr>
          <p:cNvPr id="21" name="Text 19"/>
          <p:cNvSpPr/>
          <p:nvPr/>
        </p:nvSpPr>
        <p:spPr>
          <a:xfrm>
            <a:off x="2331720" y="4005072"/>
            <a:ext cx="17373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Attention</a:t>
            </a:r>
            <a:endParaRPr lang="en-US" sz="1100" dirty="0"/>
          </a:p>
        </p:txBody>
      </p:sp>
      <p:sp>
        <p:nvSpPr>
          <p:cNvPr id="22" name="Shape 20"/>
          <p:cNvSpPr/>
          <p:nvPr/>
        </p:nvSpPr>
        <p:spPr>
          <a:xfrm>
            <a:off x="1892808" y="4773168"/>
            <a:ext cx="237744" cy="237744"/>
          </a:xfrm>
          <a:prstGeom prst="ellipse">
            <a:avLst/>
          </a:prstGeom>
          <a:solidFill>
            <a:srgbClr val="8FD4E8"/>
          </a:solidFill>
          <a:ln/>
        </p:spPr>
      </p:sp>
      <p:sp>
        <p:nvSpPr>
          <p:cNvPr id="23" name="Text 21"/>
          <p:cNvSpPr/>
          <p:nvPr/>
        </p:nvSpPr>
        <p:spPr>
          <a:xfrm>
            <a:off x="1892808" y="4745736"/>
            <a:ext cx="237744" cy="237744"/>
          </a:xfrm>
          <a:prstGeom prst="rect">
            <a:avLst/>
          </a:prstGeom>
          <a:noFill/>
          <a:ln/>
        </p:spPr>
        <p:txBody>
          <a:bodyPr wrap="square" rtlCol="0" anchor="ctr"/>
          <a:lstStyle/>
          <a:p>
            <a:pPr algn="ctr" indent="0" marL="0">
              <a:buNone/>
            </a:pPr>
            <a:r>
              <a:rPr lang="en-US" sz="1300" b="1" dirty="0">
                <a:solidFill>
                  <a:srgbClr val="0B2942"/>
                </a:solidFill>
                <a:latin typeface="Calibri" pitchFamily="34" charset="0"/>
                <a:ea typeface="Calibri" pitchFamily="34" charset="-122"/>
                <a:cs typeface="Calibri" pitchFamily="34" charset="-120"/>
              </a:rPr>
              <a:t>+</a:t>
            </a:r>
            <a:endParaRPr lang="en-US" sz="1300" dirty="0"/>
          </a:p>
        </p:txBody>
      </p:sp>
      <p:sp>
        <p:nvSpPr>
          <p:cNvPr id="24" name="Shape 22"/>
          <p:cNvSpPr/>
          <p:nvPr/>
        </p:nvSpPr>
        <p:spPr>
          <a:xfrm>
            <a:off x="2331720" y="4690872"/>
            <a:ext cx="1737360" cy="402336"/>
          </a:xfrm>
          <a:prstGeom prst="roundRect">
            <a:avLst>
              <a:gd name="adj" fmla="val 13636"/>
            </a:avLst>
          </a:prstGeom>
          <a:solidFill>
            <a:srgbClr val="065A82"/>
          </a:solidFill>
          <a:ln/>
        </p:spPr>
      </p:sp>
      <p:sp>
        <p:nvSpPr>
          <p:cNvPr id="25" name="Text 23"/>
          <p:cNvSpPr/>
          <p:nvPr/>
        </p:nvSpPr>
        <p:spPr>
          <a:xfrm>
            <a:off x="2331720" y="4690872"/>
            <a:ext cx="17373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MLP</a:t>
            </a:r>
            <a:endParaRPr lang="en-US" sz="1100" dirty="0"/>
          </a:p>
        </p:txBody>
      </p:sp>
      <p:sp>
        <p:nvSpPr>
          <p:cNvPr id="26" name="Shape 24"/>
          <p:cNvSpPr/>
          <p:nvPr/>
        </p:nvSpPr>
        <p:spPr>
          <a:xfrm>
            <a:off x="1892808" y="5458968"/>
            <a:ext cx="237744" cy="237744"/>
          </a:xfrm>
          <a:prstGeom prst="ellipse">
            <a:avLst/>
          </a:prstGeom>
          <a:solidFill>
            <a:srgbClr val="8FD4E8"/>
          </a:solidFill>
          <a:ln/>
        </p:spPr>
      </p:sp>
      <p:sp>
        <p:nvSpPr>
          <p:cNvPr id="27" name="Text 25"/>
          <p:cNvSpPr/>
          <p:nvPr/>
        </p:nvSpPr>
        <p:spPr>
          <a:xfrm>
            <a:off x="1892808" y="5431536"/>
            <a:ext cx="237744" cy="237744"/>
          </a:xfrm>
          <a:prstGeom prst="rect">
            <a:avLst/>
          </a:prstGeom>
          <a:noFill/>
          <a:ln/>
        </p:spPr>
        <p:txBody>
          <a:bodyPr wrap="square" rtlCol="0" anchor="ctr"/>
          <a:lstStyle/>
          <a:p>
            <a:pPr algn="ctr" indent="0" marL="0">
              <a:buNone/>
            </a:pPr>
            <a:r>
              <a:rPr lang="en-US" sz="1300" b="1" dirty="0">
                <a:solidFill>
                  <a:srgbClr val="0B2942"/>
                </a:solidFill>
                <a:latin typeface="Calibri" pitchFamily="34" charset="0"/>
                <a:ea typeface="Calibri" pitchFamily="34" charset="-122"/>
                <a:cs typeface="Calibri" pitchFamily="34" charset="-120"/>
              </a:rPr>
              <a:t>+</a:t>
            </a:r>
            <a:endParaRPr lang="en-US" sz="1300" dirty="0"/>
          </a:p>
        </p:txBody>
      </p:sp>
      <p:sp>
        <p:nvSpPr>
          <p:cNvPr id="28" name="Shape 26"/>
          <p:cNvSpPr/>
          <p:nvPr/>
        </p:nvSpPr>
        <p:spPr>
          <a:xfrm>
            <a:off x="2331720" y="5376672"/>
            <a:ext cx="1737360" cy="402336"/>
          </a:xfrm>
          <a:prstGeom prst="roundRect">
            <a:avLst>
              <a:gd name="adj" fmla="val 13636"/>
            </a:avLst>
          </a:prstGeom>
          <a:solidFill>
            <a:srgbClr val="1C7293"/>
          </a:solidFill>
          <a:ln/>
        </p:spPr>
      </p:sp>
      <p:sp>
        <p:nvSpPr>
          <p:cNvPr id="29" name="Text 27"/>
          <p:cNvSpPr/>
          <p:nvPr/>
        </p:nvSpPr>
        <p:spPr>
          <a:xfrm>
            <a:off x="2331720" y="5376672"/>
            <a:ext cx="17373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Attention</a:t>
            </a:r>
            <a:endParaRPr lang="en-US" sz="1100" dirty="0"/>
          </a:p>
        </p:txBody>
      </p:sp>
      <p:sp>
        <p:nvSpPr>
          <p:cNvPr id="30" name="Text 28"/>
          <p:cNvSpPr/>
          <p:nvPr/>
        </p:nvSpPr>
        <p:spPr>
          <a:xfrm>
            <a:off x="1417320" y="3337560"/>
            <a:ext cx="1188720" cy="457200"/>
          </a:xfrm>
          <a:prstGeom prst="rect">
            <a:avLst/>
          </a:prstGeom>
          <a:noFill/>
          <a:ln/>
        </p:spPr>
        <p:txBody>
          <a:bodyPr wrap="square" rtlCol="0" anchor="ctr"/>
          <a:lstStyle/>
          <a:p>
            <a:pPr algn="ctr" indent="0" marL="0">
              <a:buNone/>
            </a:pPr>
            <a:r>
              <a:rPr lang="en-US" sz="1000" i="1" dirty="0">
                <a:solidFill>
                  <a:srgbClr val="8FA8C2"/>
                </a:solidFill>
                <a:latin typeface="Calibri" pitchFamily="34" charset="0"/>
                <a:ea typeface="Calibri" pitchFamily="34" charset="-122"/>
                <a:cs typeface="Calibri" pitchFamily="34" charset="-120"/>
              </a:rPr>
              <a:t>residual</a:t>
            </a:r>
            <a:endParaRPr lang="en-US" sz="1000" dirty="0"/>
          </a:p>
          <a:p>
            <a:pPr algn="ctr" indent="0" marL="0">
              <a:buNone/>
            </a:pPr>
            <a:r>
              <a:rPr lang="en-US" sz="1000" i="1" dirty="0">
                <a:solidFill>
                  <a:srgbClr val="8FA8C2"/>
                </a:solidFill>
                <a:latin typeface="Calibri" pitchFamily="34" charset="0"/>
                <a:ea typeface="Calibri" pitchFamily="34" charset="-122"/>
                <a:cs typeface="Calibri" pitchFamily="34" charset="-120"/>
              </a:rPr>
              <a:t>stream</a:t>
            </a:r>
            <a:endParaRPr lang="en-US" sz="1000" dirty="0"/>
          </a:p>
        </p:txBody>
      </p:sp>
      <p:sp>
        <p:nvSpPr>
          <p:cNvPr id="31" name="Text 29"/>
          <p:cNvSpPr/>
          <p:nvPr/>
        </p:nvSpPr>
        <p:spPr>
          <a:xfrm>
            <a:off x="1417320" y="5943600"/>
            <a:ext cx="4754880" cy="365760"/>
          </a:xfrm>
          <a:prstGeom prst="rect">
            <a:avLst/>
          </a:prstGeom>
          <a:noFill/>
          <a:ln/>
        </p:spPr>
        <p:txBody>
          <a:bodyPr wrap="square" rtlCol="0" anchor="ctr"/>
          <a:lstStyle/>
          <a:p>
            <a:pPr indent="0" marL="0">
              <a:buNone/>
            </a:pPr>
            <a:r>
              <a:rPr lang="en-US" sz="950" i="1" dirty="0">
                <a:solidFill>
                  <a:srgbClr val="7FA9C4"/>
                </a:solidFill>
                <a:latin typeface="Calibri" pitchFamily="34" charset="0"/>
                <a:ea typeface="Calibri" pitchFamily="34" charset="-122"/>
                <a:cs typeface="Calibri" pitchFamily="34" charset="-120"/>
              </a:rPr>
              <a:t>the line thickens at each + — the vector is genuinely accumulating, not just passing by</a:t>
            </a:r>
            <a:endParaRPr lang="en-US" sz="950" dirty="0"/>
          </a:p>
        </p:txBody>
      </p:sp>
      <p:sp>
        <p:nvSpPr>
          <p:cNvPr id="32" name="Text 30"/>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8FA8C2"/>
                </a:solidFill>
                <a:latin typeface="Calibri" pitchFamily="34" charset="0"/>
                <a:ea typeface="Calibri" pitchFamily="34" charset="-122"/>
                <a:cs typeface="Calibri" pitchFamily="34" charset="-120"/>
              </a:rPr>
              <a:t>AI TOOLING SEMINAR  ·  LECTURE 1: FOUNDATIONS</a:t>
            </a:r>
            <a:endParaRPr lang="en-US" sz="900" dirty="0"/>
          </a:p>
        </p:txBody>
      </p:sp>
      <p:sp>
        <p:nvSpPr>
          <p:cNvPr id="33" name="Text 31"/>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TRANSFORMER, STEP BY STEP</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Step 5: MLP Blocks &amp; LayerNorm</a:t>
            </a:r>
            <a:endParaRPr lang="en-US" sz="3000" dirty="0"/>
          </a:p>
        </p:txBody>
      </p:sp>
      <p:sp>
        <p:nvSpPr>
          <p:cNvPr id="4" name="Shape 2"/>
          <p:cNvSpPr/>
          <p:nvPr/>
        </p:nvSpPr>
        <p:spPr>
          <a:xfrm>
            <a:off x="548640" y="1737360"/>
            <a:ext cx="5257800" cy="4297680"/>
          </a:xfrm>
          <a:prstGeom prst="roundRect">
            <a:avLst>
              <a:gd name="adj" fmla="val 1702"/>
            </a:avLst>
          </a:prstGeom>
          <a:solidFill>
            <a:srgbClr val="F2F8FA"/>
          </a:solidFill>
          <a:ln/>
          <a:effectLst>
            <a:outerShdw sx="100000" sy="100000" kx="0" ky="0" algn="bl" rotWithShape="0" blurRad="101600" dist="25400" dir="5400000">
              <a:srgbClr val="1B2733">
                <a:alpha val="8000"/>
              </a:srgbClr>
            </a:outerShdw>
          </a:effectLst>
        </p:spPr>
      </p:sp>
      <p:sp>
        <p:nvSpPr>
          <p:cNvPr id="5" name="Shape 3"/>
          <p:cNvSpPr/>
          <p:nvPr/>
        </p:nvSpPr>
        <p:spPr>
          <a:xfrm>
            <a:off x="822960" y="2011680"/>
            <a:ext cx="548640" cy="548640"/>
          </a:xfrm>
          <a:prstGeom prst="ellipse">
            <a:avLst/>
          </a:prstGeom>
          <a:solidFill>
            <a:srgbClr val="065A82"/>
          </a:solidFill>
          <a:ln/>
        </p:spPr>
      </p:sp>
      <p:pic>
        <p:nvPicPr>
          <p:cNvPr id="6" name="Image 0" descr="/home/claude/icons/cubes_white.png">    </p:cNvPr>
          <p:cNvPicPr>
            <a:picLocks noChangeAspect="1"/>
          </p:cNvPicPr>
          <p:nvPr/>
        </p:nvPicPr>
        <p:blipFill>
          <a:blip r:embed="rId1"/>
          <a:stretch>
            <a:fillRect/>
          </a:stretch>
        </p:blipFill>
        <p:spPr>
          <a:xfrm>
            <a:off x="965606" y="2154326"/>
            <a:ext cx="263347" cy="263347"/>
          </a:xfrm>
          <a:prstGeom prst="rect">
            <a:avLst/>
          </a:prstGeom>
        </p:spPr>
      </p:pic>
      <p:sp>
        <p:nvSpPr>
          <p:cNvPr id="7" name="Text 4"/>
          <p:cNvSpPr/>
          <p:nvPr/>
        </p:nvSpPr>
        <p:spPr>
          <a:xfrm>
            <a:off x="1554480" y="2011680"/>
            <a:ext cx="4114800" cy="548640"/>
          </a:xfrm>
          <a:prstGeom prst="rect">
            <a:avLst/>
          </a:prstGeom>
          <a:noFill/>
          <a:ln/>
        </p:spPr>
        <p:txBody>
          <a:bodyPr wrap="square"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MLP (feedforward) block</a:t>
            </a:r>
            <a:endParaRPr lang="en-US" sz="1500" dirty="0"/>
          </a:p>
        </p:txBody>
      </p:sp>
      <p:sp>
        <p:nvSpPr>
          <p:cNvPr id="8" name="Text 5"/>
          <p:cNvSpPr/>
          <p:nvPr/>
        </p:nvSpPr>
        <p:spPr>
          <a:xfrm>
            <a:off x="822960" y="2788920"/>
            <a:ext cx="4709160" cy="914400"/>
          </a:xfrm>
          <a:prstGeom prst="rect">
            <a:avLst/>
          </a:prstGeom>
          <a:noFill/>
          <a:ln/>
        </p:spPr>
        <p:txBody>
          <a:bodyPr wrap="square" rtlCol="0" anchor="ctr"/>
          <a:lstStyle/>
          <a:p>
            <a:pPr indent="0" marL="0">
              <a:lnSpc>
                <a:spcPct val="125000"/>
              </a:lnSpc>
              <a:buNone/>
            </a:pPr>
            <a:r>
              <a:rPr lang="en-US" sz="1200" dirty="0">
                <a:solidFill>
                  <a:srgbClr val="5C7080"/>
                </a:solidFill>
                <a:latin typeface="Calibri" pitchFamily="34" charset="0"/>
                <a:ea typeface="Calibri" pitchFamily="34" charset="-122"/>
                <a:cs typeface="Calibri" pitchFamily="34" charset="-120"/>
              </a:rPr>
              <a:t>Unlike attention, the MLP processes each token position independently — no mixing across positions. It's a simple up-projection, nonlinearity, down-projection.</a:t>
            </a:r>
            <a:endParaRPr lang="en-US" sz="1200" dirty="0"/>
          </a:p>
        </p:txBody>
      </p:sp>
      <p:sp>
        <p:nvSpPr>
          <p:cNvPr id="9" name="Text 6"/>
          <p:cNvSpPr/>
          <p:nvPr/>
        </p:nvSpPr>
        <p:spPr>
          <a:xfrm>
            <a:off x="822960" y="3840480"/>
            <a:ext cx="4709160" cy="1005840"/>
          </a:xfrm>
          <a:prstGeom prst="rect">
            <a:avLst/>
          </a:prstGeom>
          <a:noFill/>
          <a:ln/>
        </p:spPr>
        <p:txBody>
          <a:bodyPr wrap="square" rtlCol="0" anchor="ctr"/>
          <a:lstStyle/>
          <a:p>
            <a:pPr indent="0" marL="0">
              <a:lnSpc>
                <a:spcPct val="120000"/>
              </a:lnSpc>
              <a:buNone/>
            </a:pPr>
            <a:r>
              <a:rPr lang="en-US" sz="1150" i="1" dirty="0">
                <a:solidFill>
                  <a:srgbClr val="5C7080"/>
                </a:solidFill>
                <a:latin typeface="Calibri" pitchFamily="34" charset="0"/>
                <a:ea typeface="Calibri" pitchFamily="34" charset="-122"/>
                <a:cs typeface="Calibri" pitchFamily="34" charset="-120"/>
              </a:rPr>
              <a:t>In practice, MLP blocks are where a large share of a model's factual knowledge appears to be stored and looked up — a recurring finding in interpretability research.</a:t>
            </a:r>
            <a:endParaRPr lang="en-US" sz="1150" dirty="0"/>
          </a:p>
        </p:txBody>
      </p:sp>
      <p:sp>
        <p:nvSpPr>
          <p:cNvPr id="10" name="Shape 7"/>
          <p:cNvSpPr/>
          <p:nvPr/>
        </p:nvSpPr>
        <p:spPr>
          <a:xfrm>
            <a:off x="6355080" y="1737360"/>
            <a:ext cx="5257800" cy="4297680"/>
          </a:xfrm>
          <a:prstGeom prst="roundRect">
            <a:avLst>
              <a:gd name="adj" fmla="val 1702"/>
            </a:avLst>
          </a:prstGeom>
          <a:solidFill>
            <a:srgbClr val="21295C"/>
          </a:solidFill>
          <a:ln/>
        </p:spPr>
      </p:sp>
      <p:sp>
        <p:nvSpPr>
          <p:cNvPr id="11" name="Shape 8"/>
          <p:cNvSpPr/>
          <p:nvPr/>
        </p:nvSpPr>
        <p:spPr>
          <a:xfrm>
            <a:off x="6629400" y="2011680"/>
            <a:ext cx="548640" cy="548640"/>
          </a:xfrm>
          <a:prstGeom prst="ellipse">
            <a:avLst/>
          </a:prstGeom>
          <a:solidFill>
            <a:srgbClr val="065A82"/>
          </a:solidFill>
          <a:ln/>
        </p:spPr>
      </p:sp>
      <p:pic>
        <p:nvPicPr>
          <p:cNvPr id="12" name="Image 1" descr="/home/claude/icons/sliders.png">    </p:cNvPr>
          <p:cNvPicPr>
            <a:picLocks noChangeAspect="1"/>
          </p:cNvPicPr>
          <p:nvPr/>
        </p:nvPicPr>
        <p:blipFill>
          <a:blip r:embed="rId2"/>
          <a:stretch>
            <a:fillRect/>
          </a:stretch>
        </p:blipFill>
        <p:spPr>
          <a:xfrm>
            <a:off x="6772046" y="2154326"/>
            <a:ext cx="263347" cy="263347"/>
          </a:xfrm>
          <a:prstGeom prst="rect">
            <a:avLst/>
          </a:prstGeom>
        </p:spPr>
      </p:pic>
      <p:sp>
        <p:nvSpPr>
          <p:cNvPr id="13" name="Text 9"/>
          <p:cNvSpPr/>
          <p:nvPr/>
        </p:nvSpPr>
        <p:spPr>
          <a:xfrm>
            <a:off x="7360920" y="2011680"/>
            <a:ext cx="4023360" cy="5486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LayerNorm</a:t>
            </a:r>
            <a:endParaRPr lang="en-US" sz="1500" dirty="0"/>
          </a:p>
        </p:txBody>
      </p:sp>
      <p:sp>
        <p:nvSpPr>
          <p:cNvPr id="14" name="Text 10"/>
          <p:cNvSpPr/>
          <p:nvPr/>
        </p:nvSpPr>
        <p:spPr>
          <a:xfrm>
            <a:off x="6629400" y="2788920"/>
            <a:ext cx="4709160" cy="1188720"/>
          </a:xfrm>
          <a:prstGeom prst="rect">
            <a:avLst/>
          </a:prstGeom>
          <a:noFill/>
          <a:ln/>
        </p:spPr>
        <p:txBody>
          <a:bodyPr wrap="square" rtlCol="0" anchor="ctr"/>
          <a:lstStyle/>
          <a:p>
            <a:pPr indent="0" marL="0">
              <a:lnSpc>
                <a:spcPct val="125000"/>
              </a:lnSpc>
              <a:buNone/>
            </a:pPr>
            <a:r>
              <a:rPr lang="en-US" sz="1200" dirty="0">
                <a:solidFill>
                  <a:srgbClr val="D7E9F2"/>
                </a:solidFill>
                <a:latin typeface="Calibri" pitchFamily="34" charset="0"/>
                <a:ea typeface="Calibri" pitchFamily="34" charset="-122"/>
                <a:cs typeface="Calibri" pitchFamily="34" charset="-120"/>
              </a:rPr>
              <a:t>A normalization step applied before (or after) attention and MLP blocks, rescaling each token's vector so training stays numerically stable across many stacked layers.</a:t>
            </a:r>
            <a:endParaRPr lang="en-US" sz="1200" dirty="0"/>
          </a:p>
        </p:txBody>
      </p:sp>
      <p:sp>
        <p:nvSpPr>
          <p:cNvPr id="15" name="Text 11"/>
          <p:cNvSpPr/>
          <p:nvPr/>
        </p:nvSpPr>
        <p:spPr>
          <a:xfrm>
            <a:off x="6629400" y="4114800"/>
            <a:ext cx="4709160" cy="1554480"/>
          </a:xfrm>
          <a:prstGeom prst="rect">
            <a:avLst/>
          </a:prstGeom>
          <a:noFill/>
          <a:ln/>
        </p:spPr>
        <p:txBody>
          <a:bodyPr wrap="square" rtlCol="0" anchor="ctr"/>
          <a:lstStyle/>
          <a:p>
            <a:pPr indent="0" marL="0">
              <a:lnSpc>
                <a:spcPct val="122000"/>
              </a:lnSpc>
              <a:buNone/>
            </a:pPr>
            <a:r>
              <a:rPr lang="en-US" sz="1100" i="1" dirty="0">
                <a:solidFill>
                  <a:srgbClr val="9FC3D9"/>
                </a:solidFill>
                <a:latin typeface="Calibri" pitchFamily="34" charset="0"/>
                <a:ea typeface="Calibri" pitchFamily="34" charset="-122"/>
                <a:cs typeface="Calibri" pitchFamily="34" charset="-120"/>
              </a:rPr>
              <a:t>Practical note: because LayerNorm rescales, interpretability tools that read the residual stream often have to account for it — raw magnitudes aren't always directly comparable across positions or layers.</a:t>
            </a:r>
            <a:endParaRPr lang="en-US" sz="1100" dirty="0"/>
          </a:p>
        </p:txBody>
      </p:sp>
      <p:sp>
        <p:nvSpPr>
          <p:cNvPr id="16" name="Text 12"/>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AI TOOLING SEMINAR  ·  LECTURE 1: FOUNDATIONS</a:t>
            </a:r>
            <a:endParaRPr lang="en-US" sz="900" dirty="0"/>
          </a:p>
        </p:txBody>
      </p:sp>
      <p:sp>
        <p:nvSpPr>
          <p:cNvPr id="17" name="Text 13"/>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PUTTING IT TOGETHER</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The Full Pipeline, End to End</a:t>
            </a:r>
            <a:endParaRPr lang="en-US" sz="3000" dirty="0"/>
          </a:p>
        </p:txBody>
      </p:sp>
      <p:sp>
        <p:nvSpPr>
          <p:cNvPr id="4" name="Shape 2"/>
          <p:cNvSpPr/>
          <p:nvPr/>
        </p:nvSpPr>
        <p:spPr>
          <a:xfrm>
            <a:off x="1280160" y="1508760"/>
            <a:ext cx="9601200" cy="475488"/>
          </a:xfrm>
          <a:prstGeom prst="roundRect">
            <a:avLst>
              <a:gd name="adj" fmla="val 11538"/>
            </a:avLst>
          </a:prstGeom>
          <a:solidFill>
            <a:srgbClr val="065A82"/>
          </a:solidFill>
          <a:ln/>
        </p:spPr>
      </p:sp>
      <p:sp>
        <p:nvSpPr>
          <p:cNvPr id="5" name="Text 3"/>
          <p:cNvSpPr/>
          <p:nvPr/>
        </p:nvSpPr>
        <p:spPr>
          <a:xfrm>
            <a:off x="1463040" y="1508760"/>
            <a:ext cx="9235440" cy="47548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Tokens</a:t>
            </a:r>
            <a:endParaRPr lang="en-US" sz="1300" dirty="0"/>
          </a:p>
        </p:txBody>
      </p:sp>
      <p:sp>
        <p:nvSpPr>
          <p:cNvPr id="6" name="Shape 4"/>
          <p:cNvSpPr/>
          <p:nvPr/>
        </p:nvSpPr>
        <p:spPr>
          <a:xfrm>
            <a:off x="6035040" y="2002536"/>
            <a:ext cx="109728" cy="109728"/>
          </a:xfrm>
          <a:prstGeom prst="ellipse">
            <a:avLst/>
          </a:prstGeom>
          <a:solidFill>
            <a:srgbClr val="5C7080"/>
          </a:solidFill>
          <a:ln/>
        </p:spPr>
      </p:sp>
      <p:sp>
        <p:nvSpPr>
          <p:cNvPr id="7" name="Shape 5"/>
          <p:cNvSpPr/>
          <p:nvPr/>
        </p:nvSpPr>
        <p:spPr>
          <a:xfrm>
            <a:off x="1280160" y="2148840"/>
            <a:ext cx="9601200" cy="475488"/>
          </a:xfrm>
          <a:prstGeom prst="roundRect">
            <a:avLst>
              <a:gd name="adj" fmla="val 11538"/>
            </a:avLst>
          </a:prstGeom>
          <a:solidFill>
            <a:srgbClr val="065A82"/>
          </a:solidFill>
          <a:ln/>
        </p:spPr>
      </p:sp>
      <p:sp>
        <p:nvSpPr>
          <p:cNvPr id="8" name="Text 6"/>
          <p:cNvSpPr/>
          <p:nvPr/>
        </p:nvSpPr>
        <p:spPr>
          <a:xfrm>
            <a:off x="1463040" y="2148840"/>
            <a:ext cx="9235440" cy="47548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Embeddings + position</a:t>
            </a:r>
            <a:endParaRPr lang="en-US" sz="1300" dirty="0"/>
          </a:p>
        </p:txBody>
      </p:sp>
      <p:sp>
        <p:nvSpPr>
          <p:cNvPr id="9" name="Shape 7"/>
          <p:cNvSpPr/>
          <p:nvPr/>
        </p:nvSpPr>
        <p:spPr>
          <a:xfrm>
            <a:off x="6035040" y="2642616"/>
            <a:ext cx="109728" cy="109728"/>
          </a:xfrm>
          <a:prstGeom prst="ellipse">
            <a:avLst/>
          </a:prstGeom>
          <a:solidFill>
            <a:srgbClr val="5C7080"/>
          </a:solidFill>
          <a:ln/>
        </p:spPr>
      </p:sp>
      <p:sp>
        <p:nvSpPr>
          <p:cNvPr id="10" name="Shape 8"/>
          <p:cNvSpPr/>
          <p:nvPr/>
        </p:nvSpPr>
        <p:spPr>
          <a:xfrm>
            <a:off x="1280160" y="2788920"/>
            <a:ext cx="9601200" cy="621792"/>
          </a:xfrm>
          <a:prstGeom prst="roundRect">
            <a:avLst>
              <a:gd name="adj" fmla="val 8824"/>
            </a:avLst>
          </a:prstGeom>
          <a:solidFill>
            <a:srgbClr val="21295C"/>
          </a:solidFill>
          <a:ln/>
        </p:spPr>
      </p:sp>
      <p:sp>
        <p:nvSpPr>
          <p:cNvPr id="11" name="Text 9"/>
          <p:cNvSpPr/>
          <p:nvPr/>
        </p:nvSpPr>
        <p:spPr>
          <a:xfrm>
            <a:off x="1463040" y="2788920"/>
            <a:ext cx="9235440" cy="621792"/>
          </a:xfrm>
          <a:prstGeom prst="rect">
            <a:avLst/>
          </a:prstGeom>
          <a:noFill/>
          <a:ln/>
        </p:spPr>
        <p:txBody>
          <a:bodyPr wrap="square"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 LayerNorm → Attention → +residual → LayerNorm → MLP → +residual ]  × N layers</a:t>
            </a:r>
            <a:endParaRPr lang="en-US" sz="1100" dirty="0"/>
          </a:p>
        </p:txBody>
      </p:sp>
      <p:sp>
        <p:nvSpPr>
          <p:cNvPr id="12" name="Shape 10"/>
          <p:cNvSpPr/>
          <p:nvPr/>
        </p:nvSpPr>
        <p:spPr>
          <a:xfrm>
            <a:off x="6035040" y="3429000"/>
            <a:ext cx="109728" cy="109728"/>
          </a:xfrm>
          <a:prstGeom prst="ellipse">
            <a:avLst/>
          </a:prstGeom>
          <a:solidFill>
            <a:srgbClr val="5C7080"/>
          </a:solidFill>
          <a:ln/>
        </p:spPr>
      </p:sp>
      <p:sp>
        <p:nvSpPr>
          <p:cNvPr id="13" name="Shape 11"/>
          <p:cNvSpPr/>
          <p:nvPr/>
        </p:nvSpPr>
        <p:spPr>
          <a:xfrm>
            <a:off x="1280160" y="3575304"/>
            <a:ext cx="9601200" cy="475488"/>
          </a:xfrm>
          <a:prstGeom prst="roundRect">
            <a:avLst>
              <a:gd name="adj" fmla="val 11538"/>
            </a:avLst>
          </a:prstGeom>
          <a:solidFill>
            <a:srgbClr val="065A82"/>
          </a:solidFill>
          <a:ln/>
        </p:spPr>
      </p:sp>
      <p:sp>
        <p:nvSpPr>
          <p:cNvPr id="14" name="Text 12"/>
          <p:cNvSpPr/>
          <p:nvPr/>
        </p:nvSpPr>
        <p:spPr>
          <a:xfrm>
            <a:off x="1463040" y="3575304"/>
            <a:ext cx="9235440" cy="47548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Final LayerNorm</a:t>
            </a:r>
            <a:endParaRPr lang="en-US" sz="1300" dirty="0"/>
          </a:p>
        </p:txBody>
      </p:sp>
      <p:sp>
        <p:nvSpPr>
          <p:cNvPr id="15" name="Shape 13"/>
          <p:cNvSpPr/>
          <p:nvPr/>
        </p:nvSpPr>
        <p:spPr>
          <a:xfrm>
            <a:off x="6035040" y="4069080"/>
            <a:ext cx="109728" cy="109728"/>
          </a:xfrm>
          <a:prstGeom prst="ellipse">
            <a:avLst/>
          </a:prstGeom>
          <a:solidFill>
            <a:srgbClr val="5C7080"/>
          </a:solidFill>
          <a:ln/>
        </p:spPr>
      </p:sp>
      <p:sp>
        <p:nvSpPr>
          <p:cNvPr id="16" name="Shape 14"/>
          <p:cNvSpPr/>
          <p:nvPr/>
        </p:nvSpPr>
        <p:spPr>
          <a:xfrm>
            <a:off x="1280160" y="4215384"/>
            <a:ext cx="9601200" cy="475488"/>
          </a:xfrm>
          <a:prstGeom prst="roundRect">
            <a:avLst>
              <a:gd name="adj" fmla="val 11538"/>
            </a:avLst>
          </a:prstGeom>
          <a:solidFill>
            <a:srgbClr val="065A82"/>
          </a:solidFill>
          <a:ln/>
        </p:spPr>
      </p:sp>
      <p:sp>
        <p:nvSpPr>
          <p:cNvPr id="17" name="Text 15"/>
          <p:cNvSpPr/>
          <p:nvPr/>
        </p:nvSpPr>
        <p:spPr>
          <a:xfrm>
            <a:off x="1463040" y="4215384"/>
            <a:ext cx="9235440" cy="47548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Unembedding matrix</a:t>
            </a:r>
            <a:endParaRPr lang="en-US" sz="1300" dirty="0"/>
          </a:p>
        </p:txBody>
      </p:sp>
      <p:sp>
        <p:nvSpPr>
          <p:cNvPr id="18" name="Shape 16"/>
          <p:cNvSpPr/>
          <p:nvPr/>
        </p:nvSpPr>
        <p:spPr>
          <a:xfrm>
            <a:off x="6035040" y="4709160"/>
            <a:ext cx="109728" cy="109728"/>
          </a:xfrm>
          <a:prstGeom prst="ellipse">
            <a:avLst/>
          </a:prstGeom>
          <a:solidFill>
            <a:srgbClr val="5C7080"/>
          </a:solidFill>
          <a:ln/>
        </p:spPr>
      </p:sp>
      <p:sp>
        <p:nvSpPr>
          <p:cNvPr id="19" name="Shape 17"/>
          <p:cNvSpPr/>
          <p:nvPr/>
        </p:nvSpPr>
        <p:spPr>
          <a:xfrm>
            <a:off x="1280160" y="4855464"/>
            <a:ext cx="9601200" cy="475488"/>
          </a:xfrm>
          <a:prstGeom prst="roundRect">
            <a:avLst>
              <a:gd name="adj" fmla="val 11538"/>
            </a:avLst>
          </a:prstGeom>
          <a:solidFill>
            <a:srgbClr val="1C7293"/>
          </a:solidFill>
          <a:ln/>
        </p:spPr>
      </p:sp>
      <p:sp>
        <p:nvSpPr>
          <p:cNvPr id="20" name="Text 18"/>
          <p:cNvSpPr/>
          <p:nvPr/>
        </p:nvSpPr>
        <p:spPr>
          <a:xfrm>
            <a:off x="1463040" y="4855464"/>
            <a:ext cx="9235440" cy="47548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Logits → softmax → probability distribution over next token</a:t>
            </a:r>
            <a:endParaRPr lang="en-US" sz="1300" dirty="0"/>
          </a:p>
        </p:txBody>
      </p:sp>
      <p:sp>
        <p:nvSpPr>
          <p:cNvPr id="21" name="Text 19"/>
          <p:cNvSpPr/>
          <p:nvPr/>
        </p:nvSpPr>
        <p:spPr>
          <a:xfrm>
            <a:off x="548640" y="5559552"/>
            <a:ext cx="11064240" cy="502920"/>
          </a:xfrm>
          <a:prstGeom prst="rect">
            <a:avLst/>
          </a:prstGeom>
          <a:noFill/>
          <a:ln/>
        </p:spPr>
        <p:txBody>
          <a:bodyPr wrap="square" rtlCol="0" anchor="ctr"/>
          <a:lstStyle/>
          <a:p>
            <a:pPr indent="0" marL="0">
              <a:lnSpc>
                <a:spcPct val="120000"/>
              </a:lnSpc>
              <a:buNone/>
            </a:pPr>
            <a:r>
              <a:rPr lang="en-US" sz="1150" b="1" dirty="0">
                <a:solidFill>
                  <a:srgbClr val="1B2733"/>
                </a:solidFill>
                <a:latin typeface="Calibri" pitchFamily="34" charset="0"/>
                <a:ea typeface="Calibri" pitchFamily="34" charset="-122"/>
                <a:cs typeface="Calibri" pitchFamily="34" charset="-120"/>
              </a:rPr>
              <a:t>The key idea to hold onto: </a:t>
            </a:r>
            <a:pPr indent="0" marL="0">
              <a:lnSpc>
                <a:spcPct val="120000"/>
              </a:lnSpc>
              <a:buNone/>
            </a:pPr>
            <a:r>
              <a:rPr lang="en-US" sz="1150" dirty="0">
                <a:solidFill>
                  <a:srgbClr val="5C7080"/>
                </a:solidFill>
                <a:latin typeface="Calibri" pitchFamily="34" charset="0"/>
                <a:ea typeface="Calibri" pitchFamily="34" charset="-122"/>
                <a:cs typeface="Calibri" pitchFamily="34" charset="-120"/>
              </a:rPr>
              <a:t>the model doesn't just produce one answer — it produces this whole final probability distribution, and “the output” is just one draw from it. Every tool in this course reads or intervenes on some piece of this pipeline.</a:t>
            </a:r>
            <a:endParaRPr lang="en-US" sz="1150" dirty="0"/>
          </a:p>
        </p:txBody>
      </p:sp>
      <p:sp>
        <p:nvSpPr>
          <p:cNvPr id="22" name="Text 20"/>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AI TOOLING SEMINAR  ·  LECTURE 1: FOUNDATIONS</a:t>
            </a:r>
            <a:endParaRPr lang="en-US" sz="900" dirty="0"/>
          </a:p>
        </p:txBody>
      </p:sp>
      <p:sp>
        <p:nvSpPr>
          <p:cNvPr id="23" name="Text 21"/>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HOW MODELS GET THIS WAY</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Three Stages of Training</a:t>
            </a:r>
            <a:endParaRPr lang="en-US" sz="3000" dirty="0"/>
          </a:p>
        </p:txBody>
      </p:sp>
      <p:sp>
        <p:nvSpPr>
          <p:cNvPr id="4" name="Text 2"/>
          <p:cNvSpPr/>
          <p:nvPr/>
        </p:nvSpPr>
        <p:spPr>
          <a:xfrm>
            <a:off x="548640" y="1417320"/>
            <a:ext cx="11064240" cy="502920"/>
          </a:xfrm>
          <a:prstGeom prst="rect">
            <a:avLst/>
          </a:prstGeom>
          <a:noFill/>
          <a:ln/>
        </p:spPr>
        <p:txBody>
          <a:bodyPr wrap="square" rtlCol="0" anchor="ctr"/>
          <a:lstStyle/>
          <a:p>
            <a:pPr indent="0" marL="0">
              <a:lnSpc>
                <a:spcPct val="120000"/>
              </a:lnSpc>
              <a:buNone/>
            </a:pPr>
            <a:r>
              <a:rPr lang="en-US" sz="1350" dirty="0">
                <a:solidFill>
                  <a:srgbClr val="5C7080"/>
                </a:solidFill>
                <a:latin typeface="Calibri" pitchFamily="34" charset="0"/>
                <a:ea typeface="Calibri" pitchFamily="34" charset="-122"/>
                <a:cs typeface="Calibri" pitchFamily="34" charset="-120"/>
              </a:rPr>
              <a:t>This pipeline is exactly where the “base vs. instruct” distinction comes from — they're just checkpoints from different stages below.</a:t>
            </a:r>
            <a:endParaRPr lang="en-US" sz="1350" dirty="0"/>
          </a:p>
        </p:txBody>
      </p:sp>
      <p:sp>
        <p:nvSpPr>
          <p:cNvPr id="5" name="Shape 3"/>
          <p:cNvSpPr/>
          <p:nvPr/>
        </p:nvSpPr>
        <p:spPr>
          <a:xfrm>
            <a:off x="548640" y="2103120"/>
            <a:ext cx="3520440" cy="3657600"/>
          </a:xfrm>
          <a:prstGeom prst="roundRect">
            <a:avLst>
              <a:gd name="adj" fmla="val 2078"/>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777240" y="2377440"/>
            <a:ext cx="548640" cy="548640"/>
          </a:xfrm>
          <a:prstGeom prst="ellipse">
            <a:avLst/>
          </a:prstGeom>
          <a:solidFill>
            <a:srgbClr val="065A82"/>
          </a:solidFill>
          <a:ln/>
        </p:spPr>
      </p:sp>
      <p:pic>
        <p:nvPicPr>
          <p:cNvPr id="7" name="Image 0" descr="/home/claude/icons/book.png">    </p:cNvPr>
          <p:cNvPicPr>
            <a:picLocks noChangeAspect="1"/>
          </p:cNvPicPr>
          <p:nvPr/>
        </p:nvPicPr>
        <p:blipFill>
          <a:blip r:embed="rId1"/>
          <a:stretch>
            <a:fillRect/>
          </a:stretch>
        </p:blipFill>
        <p:spPr>
          <a:xfrm>
            <a:off x="919886" y="2520086"/>
            <a:ext cx="263347" cy="263347"/>
          </a:xfrm>
          <a:prstGeom prst="rect">
            <a:avLst/>
          </a:prstGeom>
        </p:spPr>
      </p:pic>
      <p:sp>
        <p:nvSpPr>
          <p:cNvPr id="8" name="Text 5"/>
          <p:cNvSpPr/>
          <p:nvPr/>
        </p:nvSpPr>
        <p:spPr>
          <a:xfrm>
            <a:off x="777240" y="3063240"/>
            <a:ext cx="3063240" cy="365760"/>
          </a:xfrm>
          <a:prstGeom prst="rect">
            <a:avLst/>
          </a:prstGeom>
          <a:noFill/>
          <a:ln/>
        </p:spPr>
        <p:txBody>
          <a:bodyPr wrap="square"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1. Pretraining</a:t>
            </a:r>
            <a:endParaRPr lang="en-US" sz="1500" dirty="0"/>
          </a:p>
        </p:txBody>
      </p:sp>
      <p:sp>
        <p:nvSpPr>
          <p:cNvPr id="9" name="Text 6"/>
          <p:cNvSpPr/>
          <p:nvPr/>
        </p:nvSpPr>
        <p:spPr>
          <a:xfrm>
            <a:off x="777240" y="3429000"/>
            <a:ext cx="3063240" cy="1600200"/>
          </a:xfrm>
          <a:prstGeom prst="rect">
            <a:avLst/>
          </a:prstGeom>
          <a:noFill/>
          <a:ln/>
        </p:spPr>
        <p:txBody>
          <a:bodyPr wrap="square" rtlCol="0" anchor="ctr"/>
          <a:lstStyle/>
          <a:p>
            <a:pPr indent="0" marL="0">
              <a:lnSpc>
                <a:spcPct val="120000"/>
              </a:lnSpc>
              <a:buNone/>
            </a:pPr>
            <a:r>
              <a:rPr lang="en-US" sz="1100" dirty="0">
                <a:solidFill>
                  <a:srgbClr val="5C7080"/>
                </a:solidFill>
                <a:latin typeface="Calibri" pitchFamily="34" charset="0"/>
                <a:ea typeface="Calibri" pitchFamily="34" charset="-122"/>
                <a:cs typeface="Calibri" pitchFamily="34" charset="-120"/>
              </a:rPr>
              <a:t>Self-supervised next-token prediction on a huge, broad text corpus. No notion of “assistant” — the model just learns to continue text.</a:t>
            </a:r>
            <a:endParaRPr lang="en-US" sz="1100" dirty="0"/>
          </a:p>
        </p:txBody>
      </p:sp>
      <p:sp>
        <p:nvSpPr>
          <p:cNvPr id="10" name="Shape 7"/>
          <p:cNvSpPr/>
          <p:nvPr/>
        </p:nvSpPr>
        <p:spPr>
          <a:xfrm>
            <a:off x="777240" y="5166360"/>
            <a:ext cx="3063240" cy="411480"/>
          </a:xfrm>
          <a:prstGeom prst="roundRect">
            <a:avLst>
              <a:gd name="adj" fmla="val 11111"/>
            </a:avLst>
          </a:prstGeom>
          <a:solidFill>
            <a:srgbClr val="065A82"/>
          </a:solidFill>
          <a:ln/>
        </p:spPr>
      </p:sp>
      <p:sp>
        <p:nvSpPr>
          <p:cNvPr id="11" name="Text 8"/>
          <p:cNvSpPr/>
          <p:nvPr/>
        </p:nvSpPr>
        <p:spPr>
          <a:xfrm>
            <a:off x="777240" y="5166360"/>
            <a:ext cx="3063240" cy="4114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This produces a BASE model.</a:t>
            </a:r>
            <a:endParaRPr lang="en-US" sz="1000" dirty="0"/>
          </a:p>
        </p:txBody>
      </p:sp>
      <p:sp>
        <p:nvSpPr>
          <p:cNvPr id="12" name="Shape 9"/>
          <p:cNvSpPr/>
          <p:nvPr/>
        </p:nvSpPr>
        <p:spPr>
          <a:xfrm>
            <a:off x="4325112" y="2103120"/>
            <a:ext cx="3520440" cy="3657600"/>
          </a:xfrm>
          <a:prstGeom prst="roundRect">
            <a:avLst>
              <a:gd name="adj" fmla="val 2078"/>
            </a:avLst>
          </a:prstGeom>
          <a:solidFill>
            <a:srgbClr val="F2F8FA"/>
          </a:solidFill>
          <a:ln/>
          <a:effectLst>
            <a:outerShdw sx="100000" sy="100000" kx="0" ky="0" algn="bl" rotWithShape="0" blurRad="101600" dist="25400" dir="5400000">
              <a:srgbClr val="1B2733">
                <a:alpha val="8000"/>
              </a:srgbClr>
            </a:outerShdw>
          </a:effectLst>
        </p:spPr>
      </p:sp>
      <p:sp>
        <p:nvSpPr>
          <p:cNvPr id="13" name="Shape 10"/>
          <p:cNvSpPr/>
          <p:nvPr/>
        </p:nvSpPr>
        <p:spPr>
          <a:xfrm>
            <a:off x="4553712" y="2377440"/>
            <a:ext cx="548640" cy="548640"/>
          </a:xfrm>
          <a:prstGeom prst="ellipse">
            <a:avLst/>
          </a:prstGeom>
          <a:solidFill>
            <a:srgbClr val="1C7293"/>
          </a:solidFill>
          <a:ln/>
        </p:spPr>
      </p:sp>
      <p:pic>
        <p:nvPicPr>
          <p:cNvPr id="14" name="Image 1" descr="/home/claude/icons/gradcap_white.png">    </p:cNvPr>
          <p:cNvPicPr>
            <a:picLocks noChangeAspect="1"/>
          </p:cNvPicPr>
          <p:nvPr/>
        </p:nvPicPr>
        <p:blipFill>
          <a:blip r:embed="rId2"/>
          <a:stretch>
            <a:fillRect/>
          </a:stretch>
        </p:blipFill>
        <p:spPr>
          <a:xfrm>
            <a:off x="4696358" y="2520086"/>
            <a:ext cx="263347" cy="263347"/>
          </a:xfrm>
          <a:prstGeom prst="rect">
            <a:avLst/>
          </a:prstGeom>
        </p:spPr>
      </p:pic>
      <p:sp>
        <p:nvSpPr>
          <p:cNvPr id="15" name="Text 11"/>
          <p:cNvSpPr/>
          <p:nvPr/>
        </p:nvSpPr>
        <p:spPr>
          <a:xfrm>
            <a:off x="4553712" y="3063240"/>
            <a:ext cx="3063240" cy="365760"/>
          </a:xfrm>
          <a:prstGeom prst="rect">
            <a:avLst/>
          </a:prstGeom>
          <a:noFill/>
          <a:ln/>
        </p:spPr>
        <p:txBody>
          <a:bodyPr wrap="square"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2. Fine-tuning</a:t>
            </a:r>
            <a:endParaRPr lang="en-US" sz="1500" dirty="0"/>
          </a:p>
        </p:txBody>
      </p:sp>
      <p:sp>
        <p:nvSpPr>
          <p:cNvPr id="16" name="Text 12"/>
          <p:cNvSpPr/>
          <p:nvPr/>
        </p:nvSpPr>
        <p:spPr>
          <a:xfrm>
            <a:off x="4553712" y="3429000"/>
            <a:ext cx="3063240" cy="1600200"/>
          </a:xfrm>
          <a:prstGeom prst="rect">
            <a:avLst/>
          </a:prstGeom>
          <a:noFill/>
          <a:ln/>
        </p:spPr>
        <p:txBody>
          <a:bodyPr wrap="square" rtlCol="0" anchor="ctr"/>
          <a:lstStyle/>
          <a:p>
            <a:pPr indent="0" marL="0">
              <a:lnSpc>
                <a:spcPct val="120000"/>
              </a:lnSpc>
              <a:buNone/>
            </a:pPr>
            <a:r>
              <a:rPr lang="en-US" sz="1100" dirty="0">
                <a:solidFill>
                  <a:srgbClr val="5C7080"/>
                </a:solidFill>
                <a:latin typeface="Calibri" pitchFamily="34" charset="0"/>
                <a:ea typeface="Calibri" pitchFamily="34" charset="-122"/>
                <a:cs typeface="Calibri" pitchFamily="34" charset="-120"/>
              </a:rPr>
              <a:t>Supervised training on a much smaller, curated set of examples — often instruction/response pairs — to teach a task format.</a:t>
            </a:r>
            <a:endParaRPr lang="en-US" sz="1100" dirty="0"/>
          </a:p>
        </p:txBody>
      </p:sp>
      <p:sp>
        <p:nvSpPr>
          <p:cNvPr id="17" name="Shape 13"/>
          <p:cNvSpPr/>
          <p:nvPr/>
        </p:nvSpPr>
        <p:spPr>
          <a:xfrm>
            <a:off x="4553712" y="5166360"/>
            <a:ext cx="3063240" cy="411480"/>
          </a:xfrm>
          <a:prstGeom prst="roundRect">
            <a:avLst>
              <a:gd name="adj" fmla="val 11111"/>
            </a:avLst>
          </a:prstGeom>
          <a:solidFill>
            <a:srgbClr val="1C7293"/>
          </a:solidFill>
          <a:ln/>
        </p:spPr>
      </p:sp>
      <p:sp>
        <p:nvSpPr>
          <p:cNvPr id="18" name="Text 14"/>
          <p:cNvSpPr/>
          <p:nvPr/>
        </p:nvSpPr>
        <p:spPr>
          <a:xfrm>
            <a:off x="4553712" y="5166360"/>
            <a:ext cx="3063240" cy="4114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Base → instruction-following.</a:t>
            </a:r>
            <a:endParaRPr lang="en-US" sz="1000" dirty="0"/>
          </a:p>
        </p:txBody>
      </p:sp>
      <p:sp>
        <p:nvSpPr>
          <p:cNvPr id="19" name="Shape 15"/>
          <p:cNvSpPr/>
          <p:nvPr/>
        </p:nvSpPr>
        <p:spPr>
          <a:xfrm>
            <a:off x="8101584" y="2103120"/>
            <a:ext cx="3520440" cy="3657600"/>
          </a:xfrm>
          <a:prstGeom prst="roundRect">
            <a:avLst>
              <a:gd name="adj" fmla="val 2078"/>
            </a:avLst>
          </a:prstGeom>
          <a:solidFill>
            <a:srgbClr val="F2F8FA"/>
          </a:solidFill>
          <a:ln/>
          <a:effectLst>
            <a:outerShdw sx="100000" sy="100000" kx="0" ky="0" algn="bl" rotWithShape="0" blurRad="101600" dist="25400" dir="5400000">
              <a:srgbClr val="1B2733">
                <a:alpha val="8000"/>
              </a:srgbClr>
            </a:outerShdw>
          </a:effectLst>
        </p:spPr>
      </p:sp>
      <p:sp>
        <p:nvSpPr>
          <p:cNvPr id="20" name="Shape 16"/>
          <p:cNvSpPr/>
          <p:nvPr/>
        </p:nvSpPr>
        <p:spPr>
          <a:xfrm>
            <a:off x="8330184" y="2377440"/>
            <a:ext cx="548640" cy="548640"/>
          </a:xfrm>
          <a:prstGeom prst="ellipse">
            <a:avLst/>
          </a:prstGeom>
          <a:solidFill>
            <a:srgbClr val="21295C"/>
          </a:solidFill>
          <a:ln/>
        </p:spPr>
      </p:sp>
      <p:pic>
        <p:nvPicPr>
          <p:cNvPr id="21" name="Image 2" descr="/home/claude/icons/shield.png">    </p:cNvPr>
          <p:cNvPicPr>
            <a:picLocks noChangeAspect="1"/>
          </p:cNvPicPr>
          <p:nvPr/>
        </p:nvPicPr>
        <p:blipFill>
          <a:blip r:embed="rId3"/>
          <a:stretch>
            <a:fillRect/>
          </a:stretch>
        </p:blipFill>
        <p:spPr>
          <a:xfrm>
            <a:off x="8472830" y="2520086"/>
            <a:ext cx="263347" cy="263347"/>
          </a:xfrm>
          <a:prstGeom prst="rect">
            <a:avLst/>
          </a:prstGeom>
        </p:spPr>
      </p:pic>
      <p:sp>
        <p:nvSpPr>
          <p:cNvPr id="22" name="Text 17"/>
          <p:cNvSpPr/>
          <p:nvPr/>
        </p:nvSpPr>
        <p:spPr>
          <a:xfrm>
            <a:off x="8330184" y="3063240"/>
            <a:ext cx="3063240" cy="365760"/>
          </a:xfrm>
          <a:prstGeom prst="rect">
            <a:avLst/>
          </a:prstGeom>
          <a:noFill/>
          <a:ln/>
        </p:spPr>
        <p:txBody>
          <a:bodyPr wrap="square"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3. Post-training</a:t>
            </a:r>
            <a:endParaRPr lang="en-US" sz="1500" dirty="0"/>
          </a:p>
        </p:txBody>
      </p:sp>
      <p:sp>
        <p:nvSpPr>
          <p:cNvPr id="23" name="Text 18"/>
          <p:cNvSpPr/>
          <p:nvPr/>
        </p:nvSpPr>
        <p:spPr>
          <a:xfrm>
            <a:off x="8330184" y="3429000"/>
            <a:ext cx="3063240" cy="1600200"/>
          </a:xfrm>
          <a:prstGeom prst="rect">
            <a:avLst/>
          </a:prstGeom>
          <a:noFill/>
          <a:ln/>
        </p:spPr>
        <p:txBody>
          <a:bodyPr wrap="square" rtlCol="0" anchor="ctr"/>
          <a:lstStyle/>
          <a:p>
            <a:pPr indent="0" marL="0">
              <a:lnSpc>
                <a:spcPct val="120000"/>
              </a:lnSpc>
              <a:buNone/>
            </a:pPr>
            <a:r>
              <a:rPr lang="en-US" sz="1100" dirty="0">
                <a:solidFill>
                  <a:srgbClr val="5C7080"/>
                </a:solidFill>
                <a:latin typeface="Calibri" pitchFamily="34" charset="0"/>
                <a:ea typeface="Calibri" pitchFamily="34" charset="-122"/>
                <a:cs typeface="Calibri" pitchFamily="34" charset="-120"/>
              </a:rPr>
              <a:t>Further alignment toward some notion of a “better” response, using feedback of some kind. RLHF, DPO, RLVR, and </a:t>
            </a:r>
            <a:pPr indent="0" marL="0">
              <a:lnSpc>
                <a:spcPct val="120000"/>
              </a:lnSpc>
              <a:buNone/>
            </a:pPr>
            <a:r>
              <a:rPr lang="en-US" sz="1100" b="1" u="sng" dirty="0">
                <a:solidFill>
                  <a:srgbClr val="065A8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RAFT</a:t>
            </a:r>
            <a:pPr indent="0" marL="0">
              <a:lnSpc>
                <a:spcPct val="120000"/>
              </a:lnSpc>
              <a:buNone/>
            </a:pPr>
            <a:r>
              <a:rPr lang="en-US" sz="1100" dirty="0">
                <a:solidFill>
                  <a:srgbClr val="5C7080"/>
                </a:solidFill>
                <a:latin typeface="Calibri" pitchFamily="34" charset="0"/>
                <a:ea typeface="Calibri" pitchFamily="34" charset="-122"/>
                <a:cs typeface="Calibri" pitchFamily="34" charset="-120"/>
              </a:rPr>
              <a:t> are all examples — the specific mechanism varies; the goal doesn't.</a:t>
            </a:r>
            <a:endParaRPr lang="en-US" sz="1100" dirty="0"/>
          </a:p>
        </p:txBody>
      </p:sp>
      <p:sp>
        <p:nvSpPr>
          <p:cNvPr id="24" name="Shape 19"/>
          <p:cNvSpPr/>
          <p:nvPr/>
        </p:nvSpPr>
        <p:spPr>
          <a:xfrm>
            <a:off x="8330184" y="5166360"/>
            <a:ext cx="3063240" cy="411480"/>
          </a:xfrm>
          <a:prstGeom prst="roundRect">
            <a:avLst>
              <a:gd name="adj" fmla="val 11111"/>
            </a:avLst>
          </a:prstGeom>
          <a:solidFill>
            <a:srgbClr val="21295C"/>
          </a:solidFill>
          <a:ln/>
        </p:spPr>
      </p:sp>
      <p:sp>
        <p:nvSpPr>
          <p:cNvPr id="25" name="Text 20"/>
          <p:cNvSpPr/>
          <p:nvPr/>
        </p:nvSpPr>
        <p:spPr>
          <a:xfrm>
            <a:off x="8330184" y="5166360"/>
            <a:ext cx="3063240" cy="4114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This produces an INSTRUCT / chat model.</a:t>
            </a:r>
            <a:endParaRPr lang="en-US" sz="1000" dirty="0"/>
          </a:p>
        </p:txBody>
      </p:sp>
      <p:sp>
        <p:nvSpPr>
          <p:cNvPr id="26" name="Text 21"/>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AI TOOLING SEMINAR  ·  LECTURE 1: FOUNDATIONS</a:t>
            </a:r>
            <a:endParaRPr lang="en-US" sz="900" dirty="0"/>
          </a:p>
        </p:txBody>
      </p:sp>
      <p:sp>
        <p:nvSpPr>
          <p:cNvPr id="27" name="Text 22"/>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942"/>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8FD4E8"/>
                </a:solidFill>
                <a:latin typeface="Calibri" pitchFamily="34" charset="0"/>
                <a:ea typeface="Calibri" pitchFamily="34" charset="-122"/>
                <a:cs typeface="Calibri" pitchFamily="34" charset="-120"/>
              </a:rPr>
              <a:t>WHY WE'RE HERE</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Interpretability Mindset</a:t>
            </a:r>
            <a:endParaRPr lang="en-US" sz="3000" dirty="0"/>
          </a:p>
        </p:txBody>
      </p:sp>
      <p:sp>
        <p:nvSpPr>
          <p:cNvPr id="4" name="Text 2"/>
          <p:cNvSpPr/>
          <p:nvPr/>
        </p:nvSpPr>
        <p:spPr>
          <a:xfrm>
            <a:off x="548640" y="1463040"/>
            <a:ext cx="10972800" cy="548640"/>
          </a:xfrm>
          <a:prstGeom prst="rect">
            <a:avLst/>
          </a:prstGeom>
          <a:noFill/>
          <a:ln/>
        </p:spPr>
        <p:txBody>
          <a:bodyPr wrap="square" rtlCol="0" anchor="ctr"/>
          <a:lstStyle/>
          <a:p>
            <a:pPr indent="0" marL="0">
              <a:lnSpc>
                <a:spcPct val="125000"/>
              </a:lnSpc>
              <a:buNone/>
            </a:pPr>
            <a:r>
              <a:rPr lang="en-US" sz="1400" dirty="0">
                <a:solidFill>
                  <a:srgbClr val="BFDCE8"/>
                </a:solidFill>
                <a:latin typeface="Calibri" pitchFamily="34" charset="0"/>
                <a:ea typeface="Calibri" pitchFamily="34" charset="-122"/>
                <a:cs typeface="Calibri" pitchFamily="34" charset="-120"/>
              </a:rPr>
              <a:t>We can already observe what a model outputs. Interpretability asks a different question: what is it actually computing to get there?</a:t>
            </a:r>
            <a:endParaRPr lang="en-US" sz="1400" dirty="0"/>
          </a:p>
        </p:txBody>
      </p:sp>
      <p:sp>
        <p:nvSpPr>
          <p:cNvPr id="5" name="Shape 3"/>
          <p:cNvSpPr/>
          <p:nvPr/>
        </p:nvSpPr>
        <p:spPr>
          <a:xfrm>
            <a:off x="548640" y="2331720"/>
            <a:ext cx="2606040" cy="1920240"/>
          </a:xfrm>
          <a:prstGeom prst="roundRect">
            <a:avLst>
              <a:gd name="adj" fmla="val 3810"/>
            </a:avLst>
          </a:prstGeom>
          <a:solidFill>
            <a:srgbClr val="21295C"/>
          </a:solidFill>
          <a:ln/>
        </p:spPr>
      </p:sp>
      <p:sp>
        <p:nvSpPr>
          <p:cNvPr id="6" name="Text 4"/>
          <p:cNvSpPr/>
          <p:nvPr/>
        </p:nvSpPr>
        <p:spPr>
          <a:xfrm>
            <a:off x="731520" y="2468880"/>
            <a:ext cx="548640" cy="457200"/>
          </a:xfrm>
          <a:prstGeom prst="rect">
            <a:avLst/>
          </a:prstGeom>
          <a:noFill/>
          <a:ln/>
        </p:spPr>
        <p:txBody>
          <a:bodyPr wrap="square" rtlCol="0" anchor="ctr"/>
          <a:lstStyle/>
          <a:p>
            <a:pPr indent="0" marL="0">
              <a:buNone/>
            </a:pPr>
            <a:r>
              <a:rPr lang="en-US" sz="2200" b="1" dirty="0">
                <a:solidFill>
                  <a:srgbClr val="3F6E8C"/>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731520" y="2926080"/>
            <a:ext cx="224028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Hypothesize</a:t>
            </a:r>
            <a:endParaRPr lang="en-US" sz="1400" dirty="0"/>
          </a:p>
        </p:txBody>
      </p:sp>
      <p:sp>
        <p:nvSpPr>
          <p:cNvPr id="8" name="Text 6"/>
          <p:cNvSpPr/>
          <p:nvPr/>
        </p:nvSpPr>
        <p:spPr>
          <a:xfrm>
            <a:off x="731520" y="3291840"/>
            <a:ext cx="2240280" cy="822960"/>
          </a:xfrm>
          <a:prstGeom prst="rect">
            <a:avLst/>
          </a:prstGeom>
          <a:noFill/>
          <a:ln/>
        </p:spPr>
        <p:txBody>
          <a:bodyPr wrap="square" rtlCol="0" anchor="ctr"/>
          <a:lstStyle/>
          <a:p>
            <a:pPr indent="0" marL="0">
              <a:lnSpc>
                <a:spcPct val="118000"/>
              </a:lnSpc>
              <a:buNone/>
            </a:pPr>
            <a:r>
              <a:rPr lang="en-US" sz="1000" dirty="0">
                <a:solidFill>
                  <a:srgbClr val="9FC3D9"/>
                </a:solidFill>
                <a:latin typeface="Calibri" pitchFamily="34" charset="0"/>
                <a:ea typeface="Calibri" pitchFamily="34" charset="-122"/>
                <a:cs typeface="Calibri" pitchFamily="34" charset="-120"/>
              </a:rPr>
              <a:t>Propose a specific mechanism — e.g. “this attention head copies the subject of the sentence.”</a:t>
            </a:r>
            <a:endParaRPr lang="en-US" sz="1000" dirty="0"/>
          </a:p>
        </p:txBody>
      </p:sp>
      <p:sp>
        <p:nvSpPr>
          <p:cNvPr id="9" name="Text 7"/>
          <p:cNvSpPr/>
          <p:nvPr/>
        </p:nvSpPr>
        <p:spPr>
          <a:xfrm>
            <a:off x="3154680" y="3063240"/>
            <a:ext cx="182880" cy="457200"/>
          </a:xfrm>
          <a:prstGeom prst="rect">
            <a:avLst/>
          </a:prstGeom>
          <a:noFill/>
          <a:ln/>
        </p:spPr>
        <p:txBody>
          <a:bodyPr wrap="square" rtlCol="0" anchor="ctr"/>
          <a:lstStyle/>
          <a:p>
            <a:pPr algn="ctr" indent="0" marL="0">
              <a:buNone/>
            </a:pPr>
            <a:r>
              <a:rPr lang="en-US" sz="1800" b="1" dirty="0">
                <a:solidFill>
                  <a:srgbClr val="5A8FB0"/>
                </a:solidFill>
              </a:rPr>
              <a:t>&gt;</a:t>
            </a:r>
            <a:endParaRPr lang="en-US" sz="1800" dirty="0"/>
          </a:p>
        </p:txBody>
      </p:sp>
      <p:sp>
        <p:nvSpPr>
          <p:cNvPr id="10" name="Shape 8"/>
          <p:cNvSpPr/>
          <p:nvPr/>
        </p:nvSpPr>
        <p:spPr>
          <a:xfrm>
            <a:off x="3337560" y="2331720"/>
            <a:ext cx="2606040" cy="1920240"/>
          </a:xfrm>
          <a:prstGeom prst="roundRect">
            <a:avLst>
              <a:gd name="adj" fmla="val 3810"/>
            </a:avLst>
          </a:prstGeom>
          <a:solidFill>
            <a:srgbClr val="21295C"/>
          </a:solidFill>
          <a:ln/>
        </p:spPr>
      </p:sp>
      <p:sp>
        <p:nvSpPr>
          <p:cNvPr id="11" name="Text 9"/>
          <p:cNvSpPr/>
          <p:nvPr/>
        </p:nvSpPr>
        <p:spPr>
          <a:xfrm>
            <a:off x="3520440" y="2468880"/>
            <a:ext cx="548640" cy="457200"/>
          </a:xfrm>
          <a:prstGeom prst="rect">
            <a:avLst/>
          </a:prstGeom>
          <a:noFill/>
          <a:ln/>
        </p:spPr>
        <p:txBody>
          <a:bodyPr wrap="square" rtlCol="0" anchor="ctr"/>
          <a:lstStyle/>
          <a:p>
            <a:pPr indent="0" marL="0">
              <a:buNone/>
            </a:pPr>
            <a:r>
              <a:rPr lang="en-US" sz="2200" b="1" dirty="0">
                <a:solidFill>
                  <a:srgbClr val="3F6E8C"/>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3520440" y="2926080"/>
            <a:ext cx="224028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Intervene</a:t>
            </a:r>
            <a:endParaRPr lang="en-US" sz="1400" dirty="0"/>
          </a:p>
        </p:txBody>
      </p:sp>
      <p:sp>
        <p:nvSpPr>
          <p:cNvPr id="13" name="Text 11"/>
          <p:cNvSpPr/>
          <p:nvPr/>
        </p:nvSpPr>
        <p:spPr>
          <a:xfrm>
            <a:off x="3520440" y="3291840"/>
            <a:ext cx="2240280" cy="822960"/>
          </a:xfrm>
          <a:prstGeom prst="rect">
            <a:avLst/>
          </a:prstGeom>
          <a:noFill/>
          <a:ln/>
        </p:spPr>
        <p:txBody>
          <a:bodyPr wrap="square" rtlCol="0" anchor="ctr"/>
          <a:lstStyle/>
          <a:p>
            <a:pPr indent="0" marL="0">
              <a:lnSpc>
                <a:spcPct val="118000"/>
              </a:lnSpc>
              <a:buNone/>
            </a:pPr>
            <a:r>
              <a:rPr lang="en-US" sz="1000" dirty="0">
                <a:solidFill>
                  <a:srgbClr val="9FC3D9"/>
                </a:solidFill>
                <a:latin typeface="Calibri" pitchFamily="34" charset="0"/>
                <a:ea typeface="Calibri" pitchFamily="34" charset="-122"/>
                <a:cs typeface="Calibri" pitchFamily="34" charset="-120"/>
              </a:rPr>
              <a:t>Don't just look — change something: ablate a component, patch in an activation from a different run, add a steering vector.</a:t>
            </a:r>
            <a:endParaRPr lang="en-US" sz="1000" dirty="0"/>
          </a:p>
        </p:txBody>
      </p:sp>
      <p:sp>
        <p:nvSpPr>
          <p:cNvPr id="14" name="Text 12"/>
          <p:cNvSpPr/>
          <p:nvPr/>
        </p:nvSpPr>
        <p:spPr>
          <a:xfrm>
            <a:off x="5943600" y="3063240"/>
            <a:ext cx="182880" cy="457200"/>
          </a:xfrm>
          <a:prstGeom prst="rect">
            <a:avLst/>
          </a:prstGeom>
          <a:noFill/>
          <a:ln/>
        </p:spPr>
        <p:txBody>
          <a:bodyPr wrap="square" rtlCol="0" anchor="ctr"/>
          <a:lstStyle/>
          <a:p>
            <a:pPr algn="ctr" indent="0" marL="0">
              <a:buNone/>
            </a:pPr>
            <a:r>
              <a:rPr lang="en-US" sz="1800" b="1" dirty="0">
                <a:solidFill>
                  <a:srgbClr val="5A8FB0"/>
                </a:solidFill>
              </a:rPr>
              <a:t>&gt;</a:t>
            </a:r>
            <a:endParaRPr lang="en-US" sz="1800" dirty="0"/>
          </a:p>
        </p:txBody>
      </p:sp>
      <p:sp>
        <p:nvSpPr>
          <p:cNvPr id="15" name="Shape 13"/>
          <p:cNvSpPr/>
          <p:nvPr/>
        </p:nvSpPr>
        <p:spPr>
          <a:xfrm>
            <a:off x="6126480" y="2331720"/>
            <a:ext cx="2606040" cy="1920240"/>
          </a:xfrm>
          <a:prstGeom prst="roundRect">
            <a:avLst>
              <a:gd name="adj" fmla="val 3810"/>
            </a:avLst>
          </a:prstGeom>
          <a:solidFill>
            <a:srgbClr val="21295C"/>
          </a:solidFill>
          <a:ln/>
        </p:spPr>
      </p:sp>
      <p:sp>
        <p:nvSpPr>
          <p:cNvPr id="16" name="Text 14"/>
          <p:cNvSpPr/>
          <p:nvPr/>
        </p:nvSpPr>
        <p:spPr>
          <a:xfrm>
            <a:off x="6309360" y="2468880"/>
            <a:ext cx="548640" cy="457200"/>
          </a:xfrm>
          <a:prstGeom prst="rect">
            <a:avLst/>
          </a:prstGeom>
          <a:noFill/>
          <a:ln/>
        </p:spPr>
        <p:txBody>
          <a:bodyPr wrap="square" rtlCol="0" anchor="ctr"/>
          <a:lstStyle/>
          <a:p>
            <a:pPr indent="0" marL="0">
              <a:buNone/>
            </a:pPr>
            <a:r>
              <a:rPr lang="en-US" sz="2200" b="1" dirty="0">
                <a:solidFill>
                  <a:srgbClr val="3F6E8C"/>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6309360" y="2926080"/>
            <a:ext cx="224028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Observe</a:t>
            </a:r>
            <a:endParaRPr lang="en-US" sz="1400" dirty="0"/>
          </a:p>
        </p:txBody>
      </p:sp>
      <p:sp>
        <p:nvSpPr>
          <p:cNvPr id="18" name="Text 16"/>
          <p:cNvSpPr/>
          <p:nvPr/>
        </p:nvSpPr>
        <p:spPr>
          <a:xfrm>
            <a:off x="6309360" y="3291840"/>
            <a:ext cx="2240280" cy="822960"/>
          </a:xfrm>
          <a:prstGeom prst="rect">
            <a:avLst/>
          </a:prstGeom>
          <a:noFill/>
          <a:ln/>
        </p:spPr>
        <p:txBody>
          <a:bodyPr wrap="square" rtlCol="0" anchor="ctr"/>
          <a:lstStyle/>
          <a:p>
            <a:pPr indent="0" marL="0">
              <a:lnSpc>
                <a:spcPct val="118000"/>
              </a:lnSpc>
              <a:buNone/>
            </a:pPr>
            <a:r>
              <a:rPr lang="en-US" sz="1000" dirty="0">
                <a:solidFill>
                  <a:srgbClr val="9FC3D9"/>
                </a:solidFill>
                <a:latin typeface="Calibri" pitchFamily="34" charset="0"/>
                <a:ea typeface="Calibri" pitchFamily="34" charset="-122"/>
                <a:cs typeface="Calibri" pitchFamily="34" charset="-120"/>
              </a:rPr>
              <a:t>Measure the causal effect on the model's output or on a downstream activation.</a:t>
            </a:r>
            <a:endParaRPr lang="en-US" sz="1000" dirty="0"/>
          </a:p>
        </p:txBody>
      </p:sp>
      <p:sp>
        <p:nvSpPr>
          <p:cNvPr id="19" name="Text 17"/>
          <p:cNvSpPr/>
          <p:nvPr/>
        </p:nvSpPr>
        <p:spPr>
          <a:xfrm>
            <a:off x="8732520" y="3063240"/>
            <a:ext cx="182880" cy="457200"/>
          </a:xfrm>
          <a:prstGeom prst="rect">
            <a:avLst/>
          </a:prstGeom>
          <a:noFill/>
          <a:ln/>
        </p:spPr>
        <p:txBody>
          <a:bodyPr wrap="square" rtlCol="0" anchor="ctr"/>
          <a:lstStyle/>
          <a:p>
            <a:pPr algn="ctr" indent="0" marL="0">
              <a:buNone/>
            </a:pPr>
            <a:r>
              <a:rPr lang="en-US" sz="1800" b="1" dirty="0">
                <a:solidFill>
                  <a:srgbClr val="5A8FB0"/>
                </a:solidFill>
              </a:rPr>
              <a:t>&gt;</a:t>
            </a:r>
            <a:endParaRPr lang="en-US" sz="1800" dirty="0"/>
          </a:p>
        </p:txBody>
      </p:sp>
      <p:sp>
        <p:nvSpPr>
          <p:cNvPr id="20" name="Shape 18"/>
          <p:cNvSpPr/>
          <p:nvPr/>
        </p:nvSpPr>
        <p:spPr>
          <a:xfrm>
            <a:off x="8915400" y="2331720"/>
            <a:ext cx="2606040" cy="1920240"/>
          </a:xfrm>
          <a:prstGeom prst="roundRect">
            <a:avLst>
              <a:gd name="adj" fmla="val 3810"/>
            </a:avLst>
          </a:prstGeom>
          <a:solidFill>
            <a:srgbClr val="21295C"/>
          </a:solidFill>
          <a:ln/>
        </p:spPr>
      </p:sp>
      <p:sp>
        <p:nvSpPr>
          <p:cNvPr id="21" name="Text 19"/>
          <p:cNvSpPr/>
          <p:nvPr/>
        </p:nvSpPr>
        <p:spPr>
          <a:xfrm>
            <a:off x="9098280" y="2468880"/>
            <a:ext cx="548640" cy="457200"/>
          </a:xfrm>
          <a:prstGeom prst="rect">
            <a:avLst/>
          </a:prstGeom>
          <a:noFill/>
          <a:ln/>
        </p:spPr>
        <p:txBody>
          <a:bodyPr wrap="square" rtlCol="0" anchor="ctr"/>
          <a:lstStyle/>
          <a:p>
            <a:pPr indent="0" marL="0">
              <a:buNone/>
            </a:pPr>
            <a:r>
              <a:rPr lang="en-US" sz="2200" b="1" dirty="0">
                <a:solidFill>
                  <a:srgbClr val="3F6E8C"/>
                </a:solidFill>
                <a:latin typeface="Cambria" pitchFamily="34" charset="0"/>
                <a:ea typeface="Cambria" pitchFamily="34" charset="-122"/>
                <a:cs typeface="Cambria" pitchFamily="34" charset="-120"/>
              </a:rPr>
              <a:t>4</a:t>
            </a:r>
            <a:endParaRPr lang="en-US" sz="2200" dirty="0"/>
          </a:p>
        </p:txBody>
      </p:sp>
      <p:sp>
        <p:nvSpPr>
          <p:cNvPr id="22" name="Text 20"/>
          <p:cNvSpPr/>
          <p:nvPr/>
        </p:nvSpPr>
        <p:spPr>
          <a:xfrm>
            <a:off x="9098280" y="2926080"/>
            <a:ext cx="224028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Revise</a:t>
            </a:r>
            <a:endParaRPr lang="en-US" sz="1400" dirty="0"/>
          </a:p>
        </p:txBody>
      </p:sp>
      <p:sp>
        <p:nvSpPr>
          <p:cNvPr id="23" name="Text 21"/>
          <p:cNvSpPr/>
          <p:nvPr/>
        </p:nvSpPr>
        <p:spPr>
          <a:xfrm>
            <a:off x="9098280" y="3291840"/>
            <a:ext cx="2240280" cy="822960"/>
          </a:xfrm>
          <a:prstGeom prst="rect">
            <a:avLst/>
          </a:prstGeom>
          <a:noFill/>
          <a:ln/>
        </p:spPr>
        <p:txBody>
          <a:bodyPr wrap="square" rtlCol="0" anchor="ctr"/>
          <a:lstStyle/>
          <a:p>
            <a:pPr indent="0" marL="0">
              <a:lnSpc>
                <a:spcPct val="118000"/>
              </a:lnSpc>
              <a:buNone/>
            </a:pPr>
            <a:r>
              <a:rPr lang="en-US" sz="1000" dirty="0">
                <a:solidFill>
                  <a:srgbClr val="9FC3D9"/>
                </a:solidFill>
                <a:latin typeface="Calibri" pitchFamily="34" charset="0"/>
                <a:ea typeface="Calibri" pitchFamily="34" charset="-122"/>
                <a:cs typeface="Calibri" pitchFamily="34" charset="-120"/>
              </a:rPr>
              <a:t>Update the hypothesis based on what actually moved — and what didn't.</a:t>
            </a:r>
            <a:endParaRPr lang="en-US" sz="1000" dirty="0"/>
          </a:p>
        </p:txBody>
      </p:sp>
      <p:sp>
        <p:nvSpPr>
          <p:cNvPr id="24" name="Text 22"/>
          <p:cNvSpPr/>
          <p:nvPr/>
        </p:nvSpPr>
        <p:spPr>
          <a:xfrm>
            <a:off x="548640" y="4572000"/>
            <a:ext cx="11064240" cy="548640"/>
          </a:xfrm>
          <a:prstGeom prst="rect">
            <a:avLst/>
          </a:prstGeom>
          <a:noFill/>
          <a:ln/>
        </p:spPr>
        <p:txBody>
          <a:bodyPr wrap="square" rtlCol="0" anchor="ctr"/>
          <a:lstStyle/>
          <a:p>
            <a:pPr indent="0" marL="0">
              <a:lnSpc>
                <a:spcPct val="125000"/>
              </a:lnSpc>
              <a:buNone/>
            </a:pPr>
            <a:r>
              <a:rPr lang="en-US" sz="1250" b="1" dirty="0">
                <a:solidFill>
                  <a:srgbClr val="FFFFFF"/>
                </a:solidFill>
                <a:latin typeface="Calibri" pitchFamily="34" charset="0"/>
                <a:ea typeface="Calibri" pitchFamily="34" charset="-122"/>
                <a:cs typeface="Calibri" pitchFamily="34" charset="-120"/>
              </a:rPr>
              <a:t>Correlational vs. causal: </a:t>
            </a:r>
            <a:pPr indent="0" marL="0">
              <a:lnSpc>
                <a:spcPct val="125000"/>
              </a:lnSpc>
              <a:buNone/>
            </a:pPr>
            <a:r>
              <a:rPr lang="en-US" sz="1250" dirty="0">
                <a:solidFill>
                  <a:srgbClr val="9FC3D9"/>
                </a:solidFill>
                <a:latin typeface="Calibri" pitchFamily="34" charset="0"/>
                <a:ea typeface="Calibri" pitchFamily="34" charset="-122"/>
                <a:cs typeface="Calibri" pitchFamily="34" charset="-120"/>
              </a:rPr>
              <a:t>noticing that a neuron activates on a concept is a hypothesis, not a finding. Patching or ablating it and watching the downstream effect is what makes it evidence.</a:t>
            </a:r>
            <a:endParaRPr lang="en-US" sz="1250" dirty="0"/>
          </a:p>
        </p:txBody>
      </p:sp>
      <p:sp>
        <p:nvSpPr>
          <p:cNvPr id="25" name="Text 23"/>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8FA8C2"/>
                </a:solidFill>
                <a:latin typeface="Calibri" pitchFamily="34" charset="0"/>
                <a:ea typeface="Calibri" pitchFamily="34" charset="-122"/>
                <a:cs typeface="Calibri" pitchFamily="34" charset="-120"/>
              </a:rPr>
              <a:t>AI TOOLING SEMINAR  ·  LECTURE 1: FOUNDATIONS</a:t>
            </a:r>
            <a:endParaRPr lang="en-US" sz="900" dirty="0"/>
          </a:p>
        </p:txBody>
      </p:sp>
      <p:sp>
        <p:nvSpPr>
          <p:cNvPr id="26" name="Text 24"/>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REFERENCE</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A Field Guide to Mechinterp Vocabulary</a:t>
            </a:r>
            <a:endParaRPr lang="en-US" sz="3000" dirty="0"/>
          </a:p>
        </p:txBody>
      </p:sp>
      <p:sp>
        <p:nvSpPr>
          <p:cNvPr id="4" name="Text 2"/>
          <p:cNvSpPr/>
          <p:nvPr/>
        </p:nvSpPr>
        <p:spPr>
          <a:xfrm>
            <a:off x="548640" y="1417320"/>
            <a:ext cx="11064240" cy="457200"/>
          </a:xfrm>
          <a:prstGeom prst="rect">
            <a:avLst/>
          </a:prstGeom>
          <a:noFill/>
          <a:ln/>
        </p:spPr>
        <p:txBody>
          <a:bodyPr wrap="square" rtlCol="0" anchor="ctr"/>
          <a:lstStyle/>
          <a:p>
            <a:pPr indent="0" marL="0">
              <a:buNone/>
            </a:pPr>
            <a:r>
              <a:rPr lang="en-US" sz="1350" dirty="0">
                <a:solidFill>
                  <a:srgbClr val="5C7080"/>
                </a:solidFill>
                <a:latin typeface="Calibri" pitchFamily="34" charset="0"/>
                <a:ea typeface="Calibri" pitchFamily="34" charset="-122"/>
                <a:cs typeface="Calibri" pitchFamily="34" charset="-120"/>
              </a:rPr>
              <a:t>We're introducing these now so future lectures on specific tools don't have to stop and define them — we'll go deep on each as it comes up.</a:t>
            </a:r>
            <a:endParaRPr lang="en-US" sz="1350" dirty="0"/>
          </a:p>
        </p:txBody>
      </p:sp>
      <p:sp>
        <p:nvSpPr>
          <p:cNvPr id="5" name="Shape 3"/>
          <p:cNvSpPr/>
          <p:nvPr/>
        </p:nvSpPr>
        <p:spPr>
          <a:xfrm>
            <a:off x="548640" y="2011680"/>
            <a:ext cx="5349240" cy="960120"/>
          </a:xfrm>
          <a:prstGeom prst="roundRect">
            <a:avLst>
              <a:gd name="adj" fmla="val 5714"/>
            </a:avLst>
          </a:prstGeom>
          <a:solidFill>
            <a:srgbClr val="F2F8FA"/>
          </a:solidFill>
          <a:ln/>
        </p:spPr>
      </p:sp>
      <p:sp>
        <p:nvSpPr>
          <p:cNvPr id="6" name="Text 4"/>
          <p:cNvSpPr/>
          <p:nvPr/>
        </p:nvSpPr>
        <p:spPr>
          <a:xfrm>
            <a:off x="731520" y="2084832"/>
            <a:ext cx="4983480" cy="292608"/>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Feature</a:t>
            </a:r>
            <a:endParaRPr lang="en-US" sz="1250" dirty="0"/>
          </a:p>
        </p:txBody>
      </p:sp>
      <p:sp>
        <p:nvSpPr>
          <p:cNvPr id="7" name="Text 5"/>
          <p:cNvSpPr/>
          <p:nvPr/>
        </p:nvSpPr>
        <p:spPr>
          <a:xfrm>
            <a:off x="731520" y="2377440"/>
            <a:ext cx="4983480" cy="521208"/>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A human-interpretable direction or pattern in a model's activation space — not necessarily one neuron.</a:t>
            </a:r>
            <a:endParaRPr lang="en-US" sz="1000" dirty="0"/>
          </a:p>
        </p:txBody>
      </p:sp>
      <p:sp>
        <p:nvSpPr>
          <p:cNvPr id="8" name="Shape 6"/>
          <p:cNvSpPr/>
          <p:nvPr/>
        </p:nvSpPr>
        <p:spPr>
          <a:xfrm>
            <a:off x="6263640" y="2011680"/>
            <a:ext cx="5349240" cy="960120"/>
          </a:xfrm>
          <a:prstGeom prst="roundRect">
            <a:avLst>
              <a:gd name="adj" fmla="val 5714"/>
            </a:avLst>
          </a:prstGeom>
          <a:solidFill>
            <a:srgbClr val="F2F8FA"/>
          </a:solidFill>
          <a:ln/>
        </p:spPr>
      </p:sp>
      <p:sp>
        <p:nvSpPr>
          <p:cNvPr id="9" name="Text 7"/>
          <p:cNvSpPr/>
          <p:nvPr/>
        </p:nvSpPr>
        <p:spPr>
          <a:xfrm>
            <a:off x="6446520" y="2084832"/>
            <a:ext cx="4983480" cy="292608"/>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Superposition</a:t>
            </a:r>
            <a:endParaRPr lang="en-US" sz="1250" dirty="0"/>
          </a:p>
        </p:txBody>
      </p:sp>
      <p:sp>
        <p:nvSpPr>
          <p:cNvPr id="10" name="Text 8"/>
          <p:cNvSpPr/>
          <p:nvPr/>
        </p:nvSpPr>
        <p:spPr>
          <a:xfrm>
            <a:off x="6446520" y="2377440"/>
            <a:ext cx="4983480" cy="521208"/>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A model needs to represent far more concepts than it has dimensions for, so it compresses many unrelated ones into overlapping directions — one neuron can end up firing for several unrelated concepts at once.</a:t>
            </a:r>
            <a:endParaRPr lang="en-US" sz="1000" dirty="0"/>
          </a:p>
        </p:txBody>
      </p:sp>
      <p:sp>
        <p:nvSpPr>
          <p:cNvPr id="11" name="Shape 9"/>
          <p:cNvSpPr/>
          <p:nvPr/>
        </p:nvSpPr>
        <p:spPr>
          <a:xfrm>
            <a:off x="548640" y="3081528"/>
            <a:ext cx="5349240" cy="960120"/>
          </a:xfrm>
          <a:prstGeom prst="roundRect">
            <a:avLst>
              <a:gd name="adj" fmla="val 5714"/>
            </a:avLst>
          </a:prstGeom>
          <a:solidFill>
            <a:srgbClr val="F2F8FA"/>
          </a:solidFill>
          <a:ln/>
        </p:spPr>
      </p:sp>
      <p:sp>
        <p:nvSpPr>
          <p:cNvPr id="12" name="Text 10"/>
          <p:cNvSpPr/>
          <p:nvPr/>
        </p:nvSpPr>
        <p:spPr>
          <a:xfrm>
            <a:off x="731520" y="3154680"/>
            <a:ext cx="4983480" cy="292608"/>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Circuit</a:t>
            </a:r>
            <a:endParaRPr lang="en-US" sz="1250" dirty="0"/>
          </a:p>
        </p:txBody>
      </p:sp>
      <p:sp>
        <p:nvSpPr>
          <p:cNvPr id="13" name="Text 11"/>
          <p:cNvSpPr/>
          <p:nvPr/>
        </p:nvSpPr>
        <p:spPr>
          <a:xfrm>
            <a:off x="731520" y="3447288"/>
            <a:ext cx="4983480" cy="521208"/>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A sub-network of attention heads and MLPs that together implement one identifiable behavior.</a:t>
            </a:r>
            <a:endParaRPr lang="en-US" sz="1000" dirty="0"/>
          </a:p>
        </p:txBody>
      </p:sp>
      <p:sp>
        <p:nvSpPr>
          <p:cNvPr id="14" name="Shape 12"/>
          <p:cNvSpPr/>
          <p:nvPr/>
        </p:nvSpPr>
        <p:spPr>
          <a:xfrm>
            <a:off x="6263640" y="3081528"/>
            <a:ext cx="5349240" cy="960120"/>
          </a:xfrm>
          <a:prstGeom prst="roundRect">
            <a:avLst>
              <a:gd name="adj" fmla="val 5714"/>
            </a:avLst>
          </a:prstGeom>
          <a:solidFill>
            <a:srgbClr val="F2F8FA"/>
          </a:solidFill>
          <a:ln/>
        </p:spPr>
      </p:sp>
      <p:sp>
        <p:nvSpPr>
          <p:cNvPr id="15" name="Text 13"/>
          <p:cNvSpPr/>
          <p:nvPr/>
        </p:nvSpPr>
        <p:spPr>
          <a:xfrm>
            <a:off x="6446520" y="3154680"/>
            <a:ext cx="4983480" cy="292608"/>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Activation patching</a:t>
            </a:r>
            <a:endParaRPr lang="en-US" sz="1250" dirty="0"/>
          </a:p>
        </p:txBody>
      </p:sp>
      <p:sp>
        <p:nvSpPr>
          <p:cNvPr id="16" name="Text 14"/>
          <p:cNvSpPr/>
          <p:nvPr/>
        </p:nvSpPr>
        <p:spPr>
          <a:xfrm>
            <a:off x="6446520" y="3447288"/>
            <a:ext cx="4983480" cy="521208"/>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Swapping an internal activation from one run into another to test whether it's causally responsible for a behavior.</a:t>
            </a:r>
            <a:endParaRPr lang="en-US" sz="1000" dirty="0"/>
          </a:p>
        </p:txBody>
      </p:sp>
      <p:sp>
        <p:nvSpPr>
          <p:cNvPr id="17" name="Shape 15"/>
          <p:cNvSpPr/>
          <p:nvPr/>
        </p:nvSpPr>
        <p:spPr>
          <a:xfrm>
            <a:off x="548640" y="4151376"/>
            <a:ext cx="5349240" cy="960120"/>
          </a:xfrm>
          <a:prstGeom prst="roundRect">
            <a:avLst>
              <a:gd name="adj" fmla="val 5714"/>
            </a:avLst>
          </a:prstGeom>
          <a:solidFill>
            <a:srgbClr val="F2F8FA"/>
          </a:solidFill>
          <a:ln/>
        </p:spPr>
      </p:sp>
      <p:sp>
        <p:nvSpPr>
          <p:cNvPr id="18" name="Text 16"/>
          <p:cNvSpPr/>
          <p:nvPr/>
        </p:nvSpPr>
        <p:spPr>
          <a:xfrm>
            <a:off x="731520" y="4224528"/>
            <a:ext cx="4983480" cy="292608"/>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Probing</a:t>
            </a:r>
            <a:endParaRPr lang="en-US" sz="1250" dirty="0"/>
          </a:p>
        </p:txBody>
      </p:sp>
      <p:sp>
        <p:nvSpPr>
          <p:cNvPr id="19" name="Text 17"/>
          <p:cNvSpPr/>
          <p:nvPr/>
        </p:nvSpPr>
        <p:spPr>
          <a:xfrm>
            <a:off x="731520" y="4517136"/>
            <a:ext cx="4983480" cy="521208"/>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Training a simple classifier on internal activations to test whether a concept is linearly decodable from them.</a:t>
            </a:r>
            <a:endParaRPr lang="en-US" sz="1000" dirty="0"/>
          </a:p>
        </p:txBody>
      </p:sp>
      <p:sp>
        <p:nvSpPr>
          <p:cNvPr id="20" name="Shape 18"/>
          <p:cNvSpPr/>
          <p:nvPr/>
        </p:nvSpPr>
        <p:spPr>
          <a:xfrm>
            <a:off x="6263640" y="4151376"/>
            <a:ext cx="5349240" cy="960120"/>
          </a:xfrm>
          <a:prstGeom prst="roundRect">
            <a:avLst>
              <a:gd name="adj" fmla="val 5714"/>
            </a:avLst>
          </a:prstGeom>
          <a:solidFill>
            <a:srgbClr val="F2F8FA"/>
          </a:solidFill>
          <a:ln/>
        </p:spPr>
      </p:sp>
      <p:sp>
        <p:nvSpPr>
          <p:cNvPr id="21" name="Text 19"/>
          <p:cNvSpPr/>
          <p:nvPr/>
        </p:nvSpPr>
        <p:spPr>
          <a:xfrm>
            <a:off x="6446520" y="4224528"/>
            <a:ext cx="4983480" cy="292608"/>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Sparse autoencoder (SAE)</a:t>
            </a:r>
            <a:endParaRPr lang="en-US" sz="1250" dirty="0"/>
          </a:p>
        </p:txBody>
      </p:sp>
      <p:sp>
        <p:nvSpPr>
          <p:cNvPr id="22" name="Text 20"/>
          <p:cNvSpPr/>
          <p:nvPr/>
        </p:nvSpPr>
        <p:spPr>
          <a:xfrm>
            <a:off x="6446520" y="4517136"/>
            <a:ext cx="4983480" cy="521208"/>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Learns an overcomplete, sparse basis that decomposes messy activations into cleaner, more interpretable features.</a:t>
            </a:r>
            <a:endParaRPr lang="en-US" sz="1000" dirty="0"/>
          </a:p>
        </p:txBody>
      </p:sp>
      <p:sp>
        <p:nvSpPr>
          <p:cNvPr id="23" name="Shape 21"/>
          <p:cNvSpPr/>
          <p:nvPr/>
        </p:nvSpPr>
        <p:spPr>
          <a:xfrm>
            <a:off x="548640" y="5221224"/>
            <a:ext cx="5349240" cy="960120"/>
          </a:xfrm>
          <a:prstGeom prst="roundRect">
            <a:avLst>
              <a:gd name="adj" fmla="val 5714"/>
            </a:avLst>
          </a:prstGeom>
          <a:solidFill>
            <a:srgbClr val="F2F8FA"/>
          </a:solidFill>
          <a:ln/>
        </p:spPr>
      </p:sp>
      <p:sp>
        <p:nvSpPr>
          <p:cNvPr id="24" name="Text 22"/>
          <p:cNvSpPr/>
          <p:nvPr/>
        </p:nvSpPr>
        <p:spPr>
          <a:xfrm>
            <a:off x="731520" y="5294376"/>
            <a:ext cx="4983480" cy="292608"/>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Logit lens</a:t>
            </a:r>
            <a:endParaRPr lang="en-US" sz="1250" dirty="0"/>
          </a:p>
        </p:txBody>
      </p:sp>
      <p:sp>
        <p:nvSpPr>
          <p:cNvPr id="25" name="Text 23"/>
          <p:cNvSpPr/>
          <p:nvPr/>
        </p:nvSpPr>
        <p:spPr>
          <a:xfrm>
            <a:off x="731520" y="5586984"/>
            <a:ext cx="4983480" cy="521208"/>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Projecting an intermediate residual-stream state through the unembedding matrix to see what the model would “say” from that layer.</a:t>
            </a:r>
            <a:endParaRPr lang="en-US" sz="1000" dirty="0"/>
          </a:p>
        </p:txBody>
      </p:sp>
      <p:sp>
        <p:nvSpPr>
          <p:cNvPr id="26" name="Shape 24"/>
          <p:cNvSpPr/>
          <p:nvPr/>
        </p:nvSpPr>
        <p:spPr>
          <a:xfrm>
            <a:off x="6263640" y="5221224"/>
            <a:ext cx="5349240" cy="960120"/>
          </a:xfrm>
          <a:prstGeom prst="roundRect">
            <a:avLst>
              <a:gd name="adj" fmla="val 5714"/>
            </a:avLst>
          </a:prstGeom>
          <a:solidFill>
            <a:srgbClr val="F2F8FA"/>
          </a:solidFill>
          <a:ln/>
        </p:spPr>
      </p:sp>
      <p:sp>
        <p:nvSpPr>
          <p:cNvPr id="27" name="Text 25"/>
          <p:cNvSpPr/>
          <p:nvPr/>
        </p:nvSpPr>
        <p:spPr>
          <a:xfrm>
            <a:off x="6446520" y="5294376"/>
            <a:ext cx="4983480" cy="292608"/>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Control / steering vector</a:t>
            </a:r>
            <a:endParaRPr lang="en-US" sz="1250" dirty="0"/>
          </a:p>
        </p:txBody>
      </p:sp>
      <p:sp>
        <p:nvSpPr>
          <p:cNvPr id="28" name="Text 26"/>
          <p:cNvSpPr/>
          <p:nvPr/>
        </p:nvSpPr>
        <p:spPr>
          <a:xfrm>
            <a:off x="6446520" y="5586984"/>
            <a:ext cx="4983480" cy="521208"/>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A direction in activation space that, when added in during a forward pass at inference time, reliably shifts model behavior — no retraining required.</a:t>
            </a:r>
            <a:endParaRPr lang="en-US" sz="1000" dirty="0"/>
          </a:p>
        </p:txBody>
      </p:sp>
      <p:sp>
        <p:nvSpPr>
          <p:cNvPr id="29" name="Text 27"/>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AI TOOLING SEMINAR  ·  LECTURE 1: FOUNDATIONS</a:t>
            </a:r>
            <a:endParaRPr lang="en-US" sz="900" dirty="0"/>
          </a:p>
        </p:txBody>
      </p:sp>
      <p:sp>
        <p:nvSpPr>
          <p:cNvPr id="30" name="Text 28"/>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PRACTICAL MATTERS</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The Tooling Landscape</a:t>
            </a:r>
            <a:endParaRPr lang="en-US" sz="3000" dirty="0"/>
          </a:p>
        </p:txBody>
      </p:sp>
      <p:sp>
        <p:nvSpPr>
          <p:cNvPr id="4" name="Text 2"/>
          <p:cNvSpPr/>
          <p:nvPr/>
        </p:nvSpPr>
        <p:spPr>
          <a:xfrm>
            <a:off x="548640" y="1417320"/>
            <a:ext cx="11064240" cy="457200"/>
          </a:xfrm>
          <a:prstGeom prst="rect">
            <a:avLst/>
          </a:prstGeom>
          <a:noFill/>
          <a:ln/>
        </p:spPr>
        <p:txBody>
          <a:bodyPr wrap="square" rtlCol="0" anchor="ctr"/>
          <a:lstStyle/>
          <a:p>
            <a:pPr indent="0" marL="0">
              <a:buNone/>
            </a:pPr>
            <a:r>
              <a:rPr lang="en-US" sz="1350" dirty="0">
                <a:solidFill>
                  <a:srgbClr val="5C7080"/>
                </a:solidFill>
                <a:latin typeface="Calibri" pitchFamily="34" charset="0"/>
                <a:ea typeface="Calibri" pitchFamily="34" charset="-122"/>
                <a:cs typeface="Calibri" pitchFamily="34" charset="-120"/>
              </a:rPr>
              <a:t>The practical stack most of the tools in this course sit on top of.</a:t>
            </a:r>
            <a:endParaRPr lang="en-US" sz="1350" dirty="0"/>
          </a:p>
        </p:txBody>
      </p:sp>
      <p:sp>
        <p:nvSpPr>
          <p:cNvPr id="5" name="Shape 3"/>
          <p:cNvSpPr/>
          <p:nvPr/>
        </p:nvSpPr>
        <p:spPr>
          <a:xfrm>
            <a:off x="548640" y="2103120"/>
            <a:ext cx="5257800" cy="1737360"/>
          </a:xfrm>
          <a:prstGeom prst="roundRect">
            <a:avLst>
              <a:gd name="adj" fmla="val 4211"/>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822960" y="2377440"/>
            <a:ext cx="548640" cy="548640"/>
          </a:xfrm>
          <a:prstGeom prst="ellipse">
            <a:avLst/>
          </a:prstGeom>
          <a:solidFill>
            <a:srgbClr val="065A82"/>
          </a:solidFill>
          <a:ln/>
        </p:spPr>
      </p:sp>
      <p:pic>
        <p:nvPicPr>
          <p:cNvPr id="7" name="Image 0" descr="/home/claude/icons/cubes_white.png">    </p:cNvPr>
          <p:cNvPicPr>
            <a:picLocks noChangeAspect="1"/>
          </p:cNvPicPr>
          <p:nvPr/>
        </p:nvPicPr>
        <p:blipFill>
          <a:blip r:embed="rId1"/>
          <a:stretch>
            <a:fillRect/>
          </a:stretch>
        </p:blipFill>
        <p:spPr>
          <a:xfrm>
            <a:off x="965606" y="2520086"/>
            <a:ext cx="263347" cy="263347"/>
          </a:xfrm>
          <a:prstGeom prst="rect">
            <a:avLst/>
          </a:prstGeom>
        </p:spPr>
      </p:pic>
      <p:sp>
        <p:nvSpPr>
          <p:cNvPr id="8" name="Text 5"/>
          <p:cNvSpPr/>
          <p:nvPr/>
        </p:nvSpPr>
        <p:spPr>
          <a:xfrm>
            <a:off x="1554480" y="2377440"/>
            <a:ext cx="3977640" cy="548640"/>
          </a:xfrm>
          <a:prstGeom prst="rect">
            <a:avLst/>
          </a:prstGeom>
          <a:noFill/>
          <a:ln/>
        </p:spPr>
        <p:txBody>
          <a:bodyPr wrap="square"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PyTorch</a:t>
            </a:r>
            <a:endParaRPr lang="en-US" sz="1500" dirty="0"/>
          </a:p>
        </p:txBody>
      </p:sp>
      <p:sp>
        <p:nvSpPr>
          <p:cNvPr id="9" name="Text 6"/>
          <p:cNvSpPr/>
          <p:nvPr/>
        </p:nvSpPr>
        <p:spPr>
          <a:xfrm>
            <a:off x="822960" y="3063240"/>
            <a:ext cx="4709160" cy="640080"/>
          </a:xfrm>
          <a:prstGeom prst="rect">
            <a:avLst/>
          </a:prstGeom>
          <a:noFill/>
          <a:ln/>
        </p:spPr>
        <p:txBody>
          <a:bodyPr wrap="square" rtlCol="0" anchor="ctr"/>
          <a:lstStyle/>
          <a:p>
            <a:pPr indent="0" marL="0">
              <a:lnSpc>
                <a:spcPct val="120000"/>
              </a:lnSpc>
              <a:buNone/>
            </a:pPr>
            <a:r>
              <a:rPr lang="en-US" sz="1100" dirty="0">
                <a:solidFill>
                  <a:srgbClr val="5C7080"/>
                </a:solidFill>
                <a:latin typeface="Calibri" pitchFamily="34" charset="0"/>
                <a:ea typeface="Calibri" pitchFamily="34" charset="-122"/>
                <a:cs typeface="Calibri" pitchFamily="34" charset="-120"/>
              </a:rPr>
              <a:t>The tensor engine underneath almost everything here — models are just nested operations on tensors, with automatic differentiation for training.</a:t>
            </a:r>
            <a:endParaRPr lang="en-US" sz="1100" dirty="0"/>
          </a:p>
        </p:txBody>
      </p:sp>
      <p:sp>
        <p:nvSpPr>
          <p:cNvPr id="10" name="Shape 7"/>
          <p:cNvSpPr/>
          <p:nvPr/>
        </p:nvSpPr>
        <p:spPr>
          <a:xfrm>
            <a:off x="6172200" y="2103120"/>
            <a:ext cx="5257800" cy="1737360"/>
          </a:xfrm>
          <a:prstGeom prst="roundRect">
            <a:avLst>
              <a:gd name="adj" fmla="val 4211"/>
            </a:avLst>
          </a:prstGeom>
          <a:solidFill>
            <a:srgbClr val="F2F8FA"/>
          </a:solidFill>
          <a:ln/>
          <a:effectLst>
            <a:outerShdw sx="100000" sy="100000" kx="0" ky="0" algn="bl" rotWithShape="0" blurRad="101600" dist="25400" dir="5400000">
              <a:srgbClr val="1B2733">
                <a:alpha val="8000"/>
              </a:srgbClr>
            </a:outerShdw>
          </a:effectLst>
        </p:spPr>
      </p:sp>
      <p:sp>
        <p:nvSpPr>
          <p:cNvPr id="11" name="Shape 8"/>
          <p:cNvSpPr/>
          <p:nvPr/>
        </p:nvSpPr>
        <p:spPr>
          <a:xfrm>
            <a:off x="6446520" y="2377440"/>
            <a:ext cx="548640" cy="548640"/>
          </a:xfrm>
          <a:prstGeom prst="ellipse">
            <a:avLst/>
          </a:prstGeom>
          <a:solidFill>
            <a:srgbClr val="065A82"/>
          </a:solidFill>
          <a:ln/>
        </p:spPr>
      </p:sp>
      <p:pic>
        <p:nvPicPr>
          <p:cNvPr id="12" name="Image 1" descr="/home/claude/icons/network_white.png">    </p:cNvPr>
          <p:cNvPicPr>
            <a:picLocks noChangeAspect="1"/>
          </p:cNvPicPr>
          <p:nvPr/>
        </p:nvPicPr>
        <p:blipFill>
          <a:blip r:embed="rId2"/>
          <a:stretch>
            <a:fillRect/>
          </a:stretch>
        </p:blipFill>
        <p:spPr>
          <a:xfrm>
            <a:off x="6589166" y="2520086"/>
            <a:ext cx="263347" cy="263347"/>
          </a:xfrm>
          <a:prstGeom prst="rect">
            <a:avLst/>
          </a:prstGeom>
        </p:spPr>
      </p:pic>
      <p:sp>
        <p:nvSpPr>
          <p:cNvPr id="13" name="Text 9"/>
          <p:cNvSpPr/>
          <p:nvPr/>
        </p:nvSpPr>
        <p:spPr>
          <a:xfrm>
            <a:off x="7178040" y="2377440"/>
            <a:ext cx="3977640" cy="548640"/>
          </a:xfrm>
          <a:prstGeom prst="rect">
            <a:avLst/>
          </a:prstGeom>
          <a:noFill/>
          <a:ln/>
        </p:spPr>
        <p:txBody>
          <a:bodyPr wrap="square"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HuggingFace Transformers</a:t>
            </a:r>
            <a:endParaRPr lang="en-US" sz="1500" dirty="0"/>
          </a:p>
        </p:txBody>
      </p:sp>
      <p:sp>
        <p:nvSpPr>
          <p:cNvPr id="14" name="Text 10"/>
          <p:cNvSpPr/>
          <p:nvPr/>
        </p:nvSpPr>
        <p:spPr>
          <a:xfrm>
            <a:off x="6446520" y="3063240"/>
            <a:ext cx="4709160" cy="640080"/>
          </a:xfrm>
          <a:prstGeom prst="rect">
            <a:avLst/>
          </a:prstGeom>
          <a:noFill/>
          <a:ln/>
        </p:spPr>
        <p:txBody>
          <a:bodyPr wrap="square" rtlCol="0" anchor="ctr"/>
          <a:lstStyle/>
          <a:p>
            <a:pPr indent="0" marL="0">
              <a:lnSpc>
                <a:spcPct val="120000"/>
              </a:lnSpc>
              <a:buNone/>
            </a:pPr>
            <a:r>
              <a:rPr lang="en-US" sz="1100" dirty="0">
                <a:solidFill>
                  <a:srgbClr val="5C7080"/>
                </a:solidFill>
                <a:latin typeface="Calibri" pitchFamily="34" charset="0"/>
                <a:ea typeface="Calibri" pitchFamily="34" charset="-122"/>
                <a:cs typeface="Calibri" pitchFamily="34" charset="-120"/>
              </a:rPr>
              <a:t>The standard library for loading and running pretrained model architectures and weights with a consistent API.</a:t>
            </a:r>
            <a:endParaRPr lang="en-US" sz="1100" dirty="0"/>
          </a:p>
        </p:txBody>
      </p:sp>
      <p:sp>
        <p:nvSpPr>
          <p:cNvPr id="15" name="Shape 11"/>
          <p:cNvSpPr/>
          <p:nvPr/>
        </p:nvSpPr>
        <p:spPr>
          <a:xfrm>
            <a:off x="548640" y="4069080"/>
            <a:ext cx="5257800" cy="1737360"/>
          </a:xfrm>
          <a:prstGeom prst="roundRect">
            <a:avLst>
              <a:gd name="adj" fmla="val 4211"/>
            </a:avLst>
          </a:prstGeom>
          <a:solidFill>
            <a:srgbClr val="F2F8FA"/>
          </a:solidFill>
          <a:ln/>
          <a:effectLst>
            <a:outerShdw sx="100000" sy="100000" kx="0" ky="0" algn="bl" rotWithShape="0" blurRad="101600" dist="25400" dir="5400000">
              <a:srgbClr val="1B2733">
                <a:alpha val="8000"/>
              </a:srgbClr>
            </a:outerShdw>
          </a:effectLst>
        </p:spPr>
      </p:sp>
      <p:sp>
        <p:nvSpPr>
          <p:cNvPr id="16" name="Shape 12"/>
          <p:cNvSpPr/>
          <p:nvPr/>
        </p:nvSpPr>
        <p:spPr>
          <a:xfrm>
            <a:off x="822960" y="4343400"/>
            <a:ext cx="548640" cy="548640"/>
          </a:xfrm>
          <a:prstGeom prst="ellipse">
            <a:avLst/>
          </a:prstGeom>
          <a:solidFill>
            <a:srgbClr val="065A82"/>
          </a:solidFill>
          <a:ln/>
        </p:spPr>
      </p:sp>
      <p:pic>
        <p:nvPicPr>
          <p:cNvPr id="17" name="Image 2" descr="/home/claude/icons/search.png">    </p:cNvPr>
          <p:cNvPicPr>
            <a:picLocks noChangeAspect="1"/>
          </p:cNvPicPr>
          <p:nvPr/>
        </p:nvPicPr>
        <p:blipFill>
          <a:blip r:embed="rId3"/>
          <a:stretch>
            <a:fillRect/>
          </a:stretch>
        </p:blipFill>
        <p:spPr>
          <a:xfrm>
            <a:off x="965606" y="4486046"/>
            <a:ext cx="263347" cy="263347"/>
          </a:xfrm>
          <a:prstGeom prst="rect">
            <a:avLst/>
          </a:prstGeom>
        </p:spPr>
      </p:pic>
      <p:sp>
        <p:nvSpPr>
          <p:cNvPr id="18" name="Text 13"/>
          <p:cNvSpPr/>
          <p:nvPr/>
        </p:nvSpPr>
        <p:spPr>
          <a:xfrm>
            <a:off x="1554480" y="4343400"/>
            <a:ext cx="3977640" cy="548640"/>
          </a:xfrm>
          <a:prstGeom prst="rect">
            <a:avLst/>
          </a:prstGeom>
          <a:noFill/>
          <a:ln/>
        </p:spPr>
        <p:txBody>
          <a:bodyPr wrap="square"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TransformerLens</a:t>
            </a:r>
            <a:endParaRPr lang="en-US" sz="1500" dirty="0"/>
          </a:p>
        </p:txBody>
      </p:sp>
      <p:sp>
        <p:nvSpPr>
          <p:cNvPr id="19" name="Text 14"/>
          <p:cNvSpPr/>
          <p:nvPr/>
        </p:nvSpPr>
        <p:spPr>
          <a:xfrm>
            <a:off x="822960" y="5029200"/>
            <a:ext cx="4709160" cy="640080"/>
          </a:xfrm>
          <a:prstGeom prst="rect">
            <a:avLst/>
          </a:prstGeom>
          <a:noFill/>
          <a:ln/>
        </p:spPr>
        <p:txBody>
          <a:bodyPr wrap="square" rtlCol="0" anchor="ctr"/>
          <a:lstStyle/>
          <a:p>
            <a:pPr indent="0" marL="0">
              <a:lnSpc>
                <a:spcPct val="120000"/>
              </a:lnSpc>
              <a:buNone/>
            </a:pPr>
            <a:r>
              <a:rPr lang="en-US" sz="1100" dirty="0">
                <a:solidFill>
                  <a:srgbClr val="5C7080"/>
                </a:solidFill>
                <a:latin typeface="Calibri" pitchFamily="34" charset="0"/>
                <a:ea typeface="Calibri" pitchFamily="34" charset="-122"/>
                <a:cs typeface="Calibri" pitchFamily="34" charset="-120"/>
              </a:rPr>
              <a:t>A lightweight research library purpose-built for interpretability — easy hooks to read and edit any internal activation during a forward pass.</a:t>
            </a:r>
            <a:endParaRPr lang="en-US" sz="1100" dirty="0"/>
          </a:p>
        </p:txBody>
      </p:sp>
      <p:sp>
        <p:nvSpPr>
          <p:cNvPr id="20" name="Shape 15"/>
          <p:cNvSpPr/>
          <p:nvPr/>
        </p:nvSpPr>
        <p:spPr>
          <a:xfrm>
            <a:off x="6172200" y="4069080"/>
            <a:ext cx="5257800" cy="1737360"/>
          </a:xfrm>
          <a:prstGeom prst="roundRect">
            <a:avLst>
              <a:gd name="adj" fmla="val 4211"/>
            </a:avLst>
          </a:prstGeom>
          <a:solidFill>
            <a:srgbClr val="F2F8FA"/>
          </a:solidFill>
          <a:ln/>
          <a:effectLst>
            <a:outerShdw sx="100000" sy="100000" kx="0" ky="0" algn="bl" rotWithShape="0" blurRad="101600" dist="25400" dir="5400000">
              <a:srgbClr val="1B2733">
                <a:alpha val="8000"/>
              </a:srgbClr>
            </a:outerShdw>
          </a:effectLst>
        </p:spPr>
      </p:sp>
      <p:sp>
        <p:nvSpPr>
          <p:cNvPr id="21" name="Shape 16"/>
          <p:cNvSpPr/>
          <p:nvPr/>
        </p:nvSpPr>
        <p:spPr>
          <a:xfrm>
            <a:off x="6446520" y="4343400"/>
            <a:ext cx="548640" cy="548640"/>
          </a:xfrm>
          <a:prstGeom prst="ellipse">
            <a:avLst/>
          </a:prstGeom>
          <a:solidFill>
            <a:srgbClr val="065A82"/>
          </a:solidFill>
          <a:ln/>
        </p:spPr>
      </p:sp>
      <p:pic>
        <p:nvPicPr>
          <p:cNvPr id="22" name="Image 3" descr="/home/claude/icons/terminal.png">    </p:cNvPr>
          <p:cNvPicPr>
            <a:picLocks noChangeAspect="1"/>
          </p:cNvPicPr>
          <p:nvPr/>
        </p:nvPicPr>
        <p:blipFill>
          <a:blip r:embed="rId4"/>
          <a:stretch>
            <a:fillRect/>
          </a:stretch>
        </p:blipFill>
        <p:spPr>
          <a:xfrm>
            <a:off x="6589166" y="4486046"/>
            <a:ext cx="263347" cy="263347"/>
          </a:xfrm>
          <a:prstGeom prst="rect">
            <a:avLst/>
          </a:prstGeom>
        </p:spPr>
      </p:pic>
      <p:sp>
        <p:nvSpPr>
          <p:cNvPr id="23" name="Text 17"/>
          <p:cNvSpPr/>
          <p:nvPr/>
        </p:nvSpPr>
        <p:spPr>
          <a:xfrm>
            <a:off x="7178040" y="4343400"/>
            <a:ext cx="3977640" cy="548640"/>
          </a:xfrm>
          <a:prstGeom prst="rect">
            <a:avLst/>
          </a:prstGeom>
          <a:noFill/>
          <a:ln/>
        </p:spPr>
        <p:txBody>
          <a:bodyPr wrap="square"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Jupyter / Colab</a:t>
            </a:r>
            <a:endParaRPr lang="en-US" sz="1500" dirty="0"/>
          </a:p>
        </p:txBody>
      </p:sp>
      <p:sp>
        <p:nvSpPr>
          <p:cNvPr id="24" name="Text 18"/>
          <p:cNvSpPr/>
          <p:nvPr/>
        </p:nvSpPr>
        <p:spPr>
          <a:xfrm>
            <a:off x="6446520" y="5029200"/>
            <a:ext cx="4709160" cy="640080"/>
          </a:xfrm>
          <a:prstGeom prst="rect">
            <a:avLst/>
          </a:prstGeom>
          <a:noFill/>
          <a:ln/>
        </p:spPr>
        <p:txBody>
          <a:bodyPr wrap="square" rtlCol="0" anchor="ctr"/>
          <a:lstStyle/>
          <a:p>
            <a:pPr indent="0" marL="0">
              <a:lnSpc>
                <a:spcPct val="120000"/>
              </a:lnSpc>
              <a:buNone/>
            </a:pPr>
            <a:r>
              <a:rPr lang="en-US" sz="1100" dirty="0">
                <a:solidFill>
                  <a:srgbClr val="5C7080"/>
                </a:solidFill>
                <a:latin typeface="Calibri" pitchFamily="34" charset="0"/>
                <a:ea typeface="Calibri" pitchFamily="34" charset="-122"/>
                <a:cs typeface="Calibri" pitchFamily="34" charset="-120"/>
              </a:rPr>
              <a:t>The iterative, cell-by-cell workflow most interpretability exploration actually happens in — run, inspect, adjust, repeat.</a:t>
            </a:r>
            <a:endParaRPr lang="en-US" sz="1100" dirty="0"/>
          </a:p>
        </p:txBody>
      </p:sp>
      <p:sp>
        <p:nvSpPr>
          <p:cNvPr id="25" name="Text 19"/>
          <p:cNvSpPr/>
          <p:nvPr/>
        </p:nvSpPr>
        <p:spPr>
          <a:xfrm>
            <a:off x="548640" y="5806440"/>
            <a:ext cx="11064240" cy="548640"/>
          </a:xfrm>
          <a:prstGeom prst="rect">
            <a:avLst/>
          </a:prstGeom>
          <a:noFill/>
          <a:ln/>
        </p:spPr>
        <p:txBody>
          <a:bodyPr wrap="square" rtlCol="0" anchor="ctr"/>
          <a:lstStyle/>
          <a:p>
            <a:pPr indent="0" marL="0">
              <a:lnSpc>
                <a:spcPct val="120000"/>
              </a:lnSpc>
              <a:buNone/>
            </a:pPr>
            <a:r>
              <a:rPr lang="en-US" sz="1100" b="1" dirty="0">
                <a:solidFill>
                  <a:srgbClr val="1B2733"/>
                </a:solidFill>
                <a:latin typeface="Calibri" pitchFamily="34" charset="0"/>
                <a:ea typeface="Calibri" pitchFamily="34" charset="-122"/>
                <a:cs typeface="Calibri" pitchFamily="34" charset="-120"/>
              </a:rPr>
              <a:t>Not every tool works this way: </a:t>
            </a:r>
            <a:pPr indent="0" marL="0">
              <a:lnSpc>
                <a:spcPct val="120000"/>
              </a:lnSpc>
              <a:buNone/>
            </a:pPr>
            <a:r>
              <a:rPr lang="en-US" sz="1100" dirty="0">
                <a:solidFill>
                  <a:srgbClr val="5C7080"/>
                </a:solidFill>
                <a:latin typeface="Calibri" pitchFamily="34" charset="0"/>
                <a:ea typeface="Calibri" pitchFamily="34" charset="-122"/>
                <a:cs typeface="Calibri" pitchFamily="34" charset="-120"/>
              </a:rPr>
              <a:t>some skip loading weights locally entirely, and instead call a hosted provider's API directly for what they need (like per-token logprobs). Same underlying idea — inspecting what's normally hidden — just a different point of entry.</a:t>
            </a:r>
            <a:endParaRPr lang="en-US" sz="1100" dirty="0"/>
          </a:p>
        </p:txBody>
      </p:sp>
      <p:sp>
        <p:nvSpPr>
          <p:cNvPr id="26" name="Text 20"/>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AI TOOLING SEMINAR  ·  LECTURE 1: FOUNDATIONS</a:t>
            </a:r>
            <a:endParaRPr lang="en-US" sz="900" dirty="0"/>
          </a:p>
        </p:txBody>
      </p:sp>
      <p:sp>
        <p:nvSpPr>
          <p:cNvPr id="27" name="Text 21"/>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942"/>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8FD4E8"/>
                </a:solidFill>
                <a:latin typeface="Calibri" pitchFamily="34" charset="0"/>
                <a:ea typeface="Calibri" pitchFamily="34" charset="-122"/>
                <a:cs typeface="Calibri" pitchFamily="34" charset="-120"/>
              </a:rPr>
              <a:t>LOOKING AHEAD</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Where This Course Goes From Here</a:t>
            </a:r>
            <a:endParaRPr lang="en-US" sz="3000" dirty="0"/>
          </a:p>
        </p:txBody>
      </p:sp>
      <p:sp>
        <p:nvSpPr>
          <p:cNvPr id="4" name="Shape 2"/>
          <p:cNvSpPr/>
          <p:nvPr/>
        </p:nvSpPr>
        <p:spPr>
          <a:xfrm>
            <a:off x="640080" y="1591056"/>
            <a:ext cx="402336" cy="402336"/>
          </a:xfrm>
          <a:prstGeom prst="ellipse">
            <a:avLst/>
          </a:prstGeom>
          <a:solidFill>
            <a:srgbClr val="1C7293"/>
          </a:solidFill>
          <a:ln/>
        </p:spPr>
      </p:sp>
      <p:sp>
        <p:nvSpPr>
          <p:cNvPr id="5" name="Text 3"/>
          <p:cNvSpPr/>
          <p:nvPr/>
        </p:nvSpPr>
        <p:spPr>
          <a:xfrm>
            <a:off x="640080" y="1591056"/>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Shape 4"/>
          <p:cNvSpPr/>
          <p:nvPr/>
        </p:nvSpPr>
        <p:spPr>
          <a:xfrm>
            <a:off x="1234440" y="1554480"/>
            <a:ext cx="10012680" cy="621792"/>
          </a:xfrm>
          <a:prstGeom prst="roundRect">
            <a:avLst>
              <a:gd name="adj" fmla="val 8824"/>
            </a:avLst>
          </a:prstGeom>
          <a:solidFill>
            <a:srgbClr val="16385A"/>
          </a:solidFill>
          <a:ln w="12700">
            <a:solidFill>
              <a:srgbClr val="1C7293"/>
            </a:solidFill>
            <a:prstDash val="solid"/>
          </a:ln>
        </p:spPr>
      </p:sp>
      <p:sp>
        <p:nvSpPr>
          <p:cNvPr id="7" name="Text 5"/>
          <p:cNvSpPr/>
          <p:nvPr/>
        </p:nvSpPr>
        <p:spPr>
          <a:xfrm>
            <a:off x="1463040" y="1609344"/>
            <a:ext cx="3840480" cy="51206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Foundations (today)</a:t>
            </a:r>
            <a:endParaRPr lang="en-US" sz="1300" dirty="0"/>
          </a:p>
        </p:txBody>
      </p:sp>
      <p:sp>
        <p:nvSpPr>
          <p:cNvPr id="8" name="Text 6"/>
          <p:cNvSpPr/>
          <p:nvPr/>
        </p:nvSpPr>
        <p:spPr>
          <a:xfrm>
            <a:off x="5349240" y="1609344"/>
            <a:ext cx="5715000" cy="512064"/>
          </a:xfrm>
          <a:prstGeom prst="rect">
            <a:avLst/>
          </a:prstGeom>
          <a:noFill/>
          <a:ln/>
        </p:spPr>
        <p:txBody>
          <a:bodyPr wrap="square" rtlCol="0" anchor="ctr"/>
          <a:lstStyle/>
          <a:p>
            <a:pPr indent="0" marL="0">
              <a:lnSpc>
                <a:spcPct val="110000"/>
              </a:lnSpc>
              <a:buNone/>
            </a:pPr>
            <a:r>
              <a:rPr lang="en-US" sz="1050" dirty="0">
                <a:solidFill>
                  <a:srgbClr val="9FC3D9"/>
                </a:solidFill>
                <a:latin typeface="Calibri" pitchFamily="34" charset="0"/>
                <a:ea typeface="Calibri" pitchFamily="34" charset="-122"/>
                <a:cs typeface="Calibri" pitchFamily="34" charset="-120"/>
              </a:rPr>
              <a:t>Shared vocabulary: architecture, training, interpretability mindset.</a:t>
            </a:r>
            <a:endParaRPr lang="en-US" sz="1050" dirty="0"/>
          </a:p>
        </p:txBody>
      </p:sp>
      <p:sp>
        <p:nvSpPr>
          <p:cNvPr id="9" name="Shape 7"/>
          <p:cNvSpPr/>
          <p:nvPr/>
        </p:nvSpPr>
        <p:spPr>
          <a:xfrm>
            <a:off x="640080" y="2340864"/>
            <a:ext cx="402336" cy="402336"/>
          </a:xfrm>
          <a:prstGeom prst="ellipse">
            <a:avLst/>
          </a:prstGeom>
          <a:solidFill>
            <a:srgbClr val="21295C"/>
          </a:solidFill>
          <a:ln w="12700">
            <a:solidFill>
              <a:srgbClr val="3F6E8C"/>
            </a:solidFill>
            <a:prstDash val="solid"/>
          </a:ln>
        </p:spPr>
      </p:sp>
      <p:sp>
        <p:nvSpPr>
          <p:cNvPr id="10" name="Text 8"/>
          <p:cNvSpPr/>
          <p:nvPr/>
        </p:nvSpPr>
        <p:spPr>
          <a:xfrm>
            <a:off x="640080" y="2340864"/>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Shape 9"/>
          <p:cNvSpPr/>
          <p:nvPr/>
        </p:nvSpPr>
        <p:spPr>
          <a:xfrm>
            <a:off x="1234440" y="2304288"/>
            <a:ext cx="10012680" cy="621792"/>
          </a:xfrm>
          <a:prstGeom prst="roundRect">
            <a:avLst>
              <a:gd name="adj" fmla="val 8824"/>
            </a:avLst>
          </a:prstGeom>
          <a:solidFill>
            <a:srgbClr val="21295C"/>
          </a:solidFill>
          <a:ln/>
        </p:spPr>
      </p:sp>
      <p:sp>
        <p:nvSpPr>
          <p:cNvPr id="12" name="Text 10"/>
          <p:cNvSpPr/>
          <p:nvPr/>
        </p:nvSpPr>
        <p:spPr>
          <a:xfrm>
            <a:off x="1463040" y="2359152"/>
            <a:ext cx="3840480" cy="512064"/>
          </a:xfrm>
          <a:prstGeom prst="rect">
            <a:avLst/>
          </a:prstGeom>
          <a:noFill/>
          <a:ln/>
        </p:spPr>
        <p:txBody>
          <a:bodyPr wrap="square" rtlCol="0" anchor="ctr"/>
          <a:lstStyle/>
          <a:p>
            <a:pPr indent="0" marL="0">
              <a:buNone/>
            </a:pPr>
            <a:r>
              <a:rPr lang="en-US" sz="1300" b="1" u="sng" dirty="0">
                <a:solidFill>
                  <a:srgbClr val="8FD4E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LogitLoom</a:t>
            </a:r>
            <a:endParaRPr lang="en-US" sz="1300" dirty="0"/>
          </a:p>
        </p:txBody>
      </p:sp>
      <p:sp>
        <p:nvSpPr>
          <p:cNvPr id="13" name="Text 11"/>
          <p:cNvSpPr/>
          <p:nvPr/>
        </p:nvSpPr>
        <p:spPr>
          <a:xfrm>
            <a:off x="5349240" y="2359152"/>
            <a:ext cx="5715000" cy="512064"/>
          </a:xfrm>
          <a:prstGeom prst="rect">
            <a:avLst/>
          </a:prstGeom>
          <a:noFill/>
          <a:ln/>
        </p:spPr>
        <p:txBody>
          <a:bodyPr wrap="square" rtlCol="0" anchor="ctr"/>
          <a:lstStyle/>
          <a:p>
            <a:pPr indent="0" marL="0">
              <a:lnSpc>
                <a:spcPct val="110000"/>
              </a:lnSpc>
              <a:buNone/>
            </a:pPr>
            <a:r>
              <a:rPr lang="en-US" sz="1050" dirty="0">
                <a:solidFill>
                  <a:srgbClr val="9FC3D9"/>
                </a:solidFill>
                <a:latin typeface="Calibri" pitchFamily="34" charset="0"/>
                <a:ea typeface="Calibri" pitchFamily="34" charset="-122"/>
                <a:cs typeface="Calibri" pitchFamily="34" charset="-120"/>
              </a:rPr>
              <a:t>Token trees, logprobs, base vs. instruct in practice.</a:t>
            </a:r>
            <a:endParaRPr lang="en-US" sz="1050" dirty="0"/>
          </a:p>
        </p:txBody>
      </p:sp>
      <p:sp>
        <p:nvSpPr>
          <p:cNvPr id="14" name="Shape 12"/>
          <p:cNvSpPr/>
          <p:nvPr/>
        </p:nvSpPr>
        <p:spPr>
          <a:xfrm>
            <a:off x="640080" y="3090672"/>
            <a:ext cx="402336" cy="402336"/>
          </a:xfrm>
          <a:prstGeom prst="ellipse">
            <a:avLst/>
          </a:prstGeom>
          <a:solidFill>
            <a:srgbClr val="21295C"/>
          </a:solidFill>
          <a:ln w="12700">
            <a:solidFill>
              <a:srgbClr val="3F6E8C"/>
            </a:solidFill>
            <a:prstDash val="solid"/>
          </a:ln>
        </p:spPr>
      </p:sp>
      <p:sp>
        <p:nvSpPr>
          <p:cNvPr id="15" name="Text 13"/>
          <p:cNvSpPr/>
          <p:nvPr/>
        </p:nvSpPr>
        <p:spPr>
          <a:xfrm>
            <a:off x="640080" y="3090672"/>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Shape 14"/>
          <p:cNvSpPr/>
          <p:nvPr/>
        </p:nvSpPr>
        <p:spPr>
          <a:xfrm>
            <a:off x="1234440" y="3054096"/>
            <a:ext cx="10012680" cy="621792"/>
          </a:xfrm>
          <a:prstGeom prst="roundRect">
            <a:avLst>
              <a:gd name="adj" fmla="val 8824"/>
            </a:avLst>
          </a:prstGeom>
          <a:solidFill>
            <a:srgbClr val="21295C"/>
          </a:solidFill>
          <a:ln/>
        </p:spPr>
      </p:sp>
      <p:sp>
        <p:nvSpPr>
          <p:cNvPr id="17" name="Text 15"/>
          <p:cNvSpPr/>
          <p:nvPr/>
        </p:nvSpPr>
        <p:spPr>
          <a:xfrm>
            <a:off x="1463040" y="3108960"/>
            <a:ext cx="3840480" cy="512064"/>
          </a:xfrm>
          <a:prstGeom prst="rect">
            <a:avLst/>
          </a:prstGeom>
          <a:noFill/>
          <a:ln/>
        </p:spPr>
        <p:txBody>
          <a:bodyPr wrap="square" rtlCol="0" anchor="ctr"/>
          <a:lstStyle/>
          <a:p>
            <a:pPr indent="0" marL="0">
              <a:buNone/>
            </a:pPr>
            <a:r>
              <a:rPr lang="en-US" sz="1300" b="1" u="sng" dirty="0">
                <a:solidFill>
                  <a:srgbClr val="8FD4E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repeng</a:t>
            </a:r>
            <a:endParaRPr lang="en-US" sz="1300" dirty="0"/>
          </a:p>
        </p:txBody>
      </p:sp>
      <p:sp>
        <p:nvSpPr>
          <p:cNvPr id="18" name="Text 16"/>
          <p:cNvSpPr/>
          <p:nvPr/>
        </p:nvSpPr>
        <p:spPr>
          <a:xfrm>
            <a:off x="5349240" y="3108960"/>
            <a:ext cx="5715000" cy="512064"/>
          </a:xfrm>
          <a:prstGeom prst="rect">
            <a:avLst/>
          </a:prstGeom>
          <a:noFill/>
          <a:ln/>
        </p:spPr>
        <p:txBody>
          <a:bodyPr wrap="square" rtlCol="0" anchor="ctr"/>
          <a:lstStyle/>
          <a:p>
            <a:pPr indent="0" marL="0">
              <a:lnSpc>
                <a:spcPct val="110000"/>
              </a:lnSpc>
              <a:buNone/>
            </a:pPr>
            <a:r>
              <a:rPr lang="en-US" sz="1050" dirty="0">
                <a:solidFill>
                  <a:srgbClr val="9FC3D9"/>
                </a:solidFill>
                <a:latin typeface="Calibri" pitchFamily="34" charset="0"/>
                <a:ea typeface="Calibri" pitchFamily="34" charset="-122"/>
                <a:cs typeface="Calibri" pitchFamily="34" charset="-120"/>
              </a:rPr>
              <a:t>Representation engineering &amp; control vectors — building and applying steering directions.</a:t>
            </a:r>
            <a:endParaRPr lang="en-US" sz="1050" dirty="0"/>
          </a:p>
        </p:txBody>
      </p:sp>
      <p:sp>
        <p:nvSpPr>
          <p:cNvPr id="19" name="Shape 17"/>
          <p:cNvSpPr/>
          <p:nvPr/>
        </p:nvSpPr>
        <p:spPr>
          <a:xfrm>
            <a:off x="640080" y="3840480"/>
            <a:ext cx="402336" cy="402336"/>
          </a:xfrm>
          <a:prstGeom prst="ellipse">
            <a:avLst/>
          </a:prstGeom>
          <a:solidFill>
            <a:srgbClr val="21295C"/>
          </a:solidFill>
          <a:ln w="12700">
            <a:solidFill>
              <a:srgbClr val="3F6E8C"/>
            </a:solidFill>
            <a:prstDash val="solid"/>
          </a:ln>
        </p:spPr>
      </p:sp>
      <p:sp>
        <p:nvSpPr>
          <p:cNvPr id="20" name="Text 18"/>
          <p:cNvSpPr/>
          <p:nvPr/>
        </p:nvSpPr>
        <p:spPr>
          <a:xfrm>
            <a:off x="640080" y="3840480"/>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Shape 19"/>
          <p:cNvSpPr/>
          <p:nvPr/>
        </p:nvSpPr>
        <p:spPr>
          <a:xfrm>
            <a:off x="1234440" y="3803904"/>
            <a:ext cx="10012680" cy="621792"/>
          </a:xfrm>
          <a:prstGeom prst="roundRect">
            <a:avLst>
              <a:gd name="adj" fmla="val 8824"/>
            </a:avLst>
          </a:prstGeom>
          <a:solidFill>
            <a:srgbClr val="21295C"/>
          </a:solidFill>
          <a:ln/>
        </p:spPr>
      </p:sp>
      <p:sp>
        <p:nvSpPr>
          <p:cNvPr id="22" name="Text 20"/>
          <p:cNvSpPr/>
          <p:nvPr/>
        </p:nvSpPr>
        <p:spPr>
          <a:xfrm>
            <a:off x="1463040" y="3858768"/>
            <a:ext cx="3840480" cy="51206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Possible directions from here</a:t>
            </a:r>
            <a:endParaRPr lang="en-US" sz="1300" dirty="0"/>
          </a:p>
        </p:txBody>
      </p:sp>
      <p:sp>
        <p:nvSpPr>
          <p:cNvPr id="23" name="Text 21"/>
          <p:cNvSpPr/>
          <p:nvPr/>
        </p:nvSpPr>
        <p:spPr>
          <a:xfrm>
            <a:off x="5349240" y="3858768"/>
            <a:ext cx="5715000" cy="512064"/>
          </a:xfrm>
          <a:prstGeom prst="rect">
            <a:avLst/>
          </a:prstGeom>
          <a:noFill/>
          <a:ln/>
        </p:spPr>
        <p:txBody>
          <a:bodyPr wrap="square" rtlCol="0" anchor="ctr"/>
          <a:lstStyle/>
          <a:p>
            <a:pPr indent="0" marL="0">
              <a:lnSpc>
                <a:spcPct val="110000"/>
              </a:lnSpc>
              <a:buNone/>
            </a:pPr>
            <a:r>
              <a:rPr lang="en-US" sz="1050" dirty="0">
                <a:solidFill>
                  <a:srgbClr val="9FC3D9"/>
                </a:solidFill>
                <a:latin typeface="Calibri" pitchFamily="34" charset="0"/>
                <a:ea typeface="Calibri" pitchFamily="34" charset="-122"/>
                <a:cs typeface="Calibri" pitchFamily="34" charset="-120"/>
              </a:rPr>
              <a:t>Sparse autoencoders &amp; features, probing, activation patching — exact lineup still open.</a:t>
            </a:r>
            <a:endParaRPr lang="en-US" sz="1050" dirty="0"/>
          </a:p>
        </p:txBody>
      </p:sp>
      <p:sp>
        <p:nvSpPr>
          <p:cNvPr id="24" name="Text 22"/>
          <p:cNvSpPr/>
          <p:nvPr/>
        </p:nvSpPr>
        <p:spPr>
          <a:xfrm>
            <a:off x="548640" y="4645152"/>
            <a:ext cx="11064240" cy="502920"/>
          </a:xfrm>
          <a:prstGeom prst="rect">
            <a:avLst/>
          </a:prstGeom>
          <a:noFill/>
          <a:ln/>
        </p:spPr>
        <p:txBody>
          <a:bodyPr wrap="square" rtlCol="0" anchor="ctr"/>
          <a:lstStyle/>
          <a:p>
            <a:pPr indent="0" marL="0">
              <a:lnSpc>
                <a:spcPct val="115000"/>
              </a:lnSpc>
              <a:buNone/>
            </a:pPr>
            <a:r>
              <a:rPr lang="en-US" sz="1100" i="1" dirty="0">
                <a:solidFill>
                  <a:srgbClr val="8FA8C2"/>
                </a:solidFill>
                <a:latin typeface="Calibri" pitchFamily="34" charset="0"/>
                <a:ea typeface="Calibri" pitchFamily="34" charset="-122"/>
                <a:cs typeface="Calibri" pitchFamily="34" charset="-120"/>
              </a:rPr>
              <a:t>Exact order and topics past Lecture 3 may shift — the throughline stays the same: every tool we open up will read or edit some version of the residual stream you saw today.</a:t>
            </a:r>
            <a:endParaRPr lang="en-US" sz="1100" dirty="0"/>
          </a:p>
        </p:txBody>
      </p:sp>
      <p:sp>
        <p:nvSpPr>
          <p:cNvPr id="25" name="Text 23"/>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8FA8C2"/>
                </a:solidFill>
                <a:latin typeface="Calibri" pitchFamily="34" charset="0"/>
                <a:ea typeface="Calibri" pitchFamily="34" charset="-122"/>
                <a:cs typeface="Calibri" pitchFamily="34" charset="-120"/>
              </a:rPr>
              <a:t>AI TOOLING SEMINAR  ·  LECTURE 1: FOUNDATIONS</a:t>
            </a:r>
            <a:endParaRPr lang="en-US" sz="900" dirty="0"/>
          </a:p>
        </p:txBody>
      </p:sp>
      <p:sp>
        <p:nvSpPr>
          <p:cNvPr id="26" name="Text 24"/>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2942"/>
        </a:solidFill>
      </p:bgPr>
    </p:bg>
    <p:spTree>
      <p:nvGrpSpPr>
        <p:cNvPr id="1" name=""/>
        <p:cNvGrpSpPr/>
        <p:nvPr/>
      </p:nvGrpSpPr>
      <p:grpSpPr>
        <a:xfrm>
          <a:off x="0" y="0"/>
          <a:ext cx="0" cy="0"/>
          <a:chOff x="0" y="0"/>
          <a:chExt cx="0" cy="0"/>
        </a:xfrm>
      </p:grpSpPr>
      <p:sp>
        <p:nvSpPr>
          <p:cNvPr id="2" name="Shape 0"/>
          <p:cNvSpPr/>
          <p:nvPr/>
        </p:nvSpPr>
        <p:spPr>
          <a:xfrm>
            <a:off x="-1371600" y="4114800"/>
            <a:ext cx="4572000" cy="4572000"/>
          </a:xfrm>
          <a:prstGeom prst="ellipse">
            <a:avLst/>
          </a:prstGeom>
          <a:solidFill>
            <a:srgbClr val="21295C">
              <a:alpha val="55000"/>
            </a:srgbClr>
          </a:solidFill>
          <a:ln/>
        </p:spPr>
      </p:sp>
      <p:sp>
        <p:nvSpPr>
          <p:cNvPr id="3" name="Text 1"/>
          <p:cNvSpPr/>
          <p:nvPr/>
        </p:nvSpPr>
        <p:spPr>
          <a:xfrm>
            <a:off x="731520" y="822960"/>
            <a:ext cx="7315200" cy="365760"/>
          </a:xfrm>
          <a:prstGeom prst="rect">
            <a:avLst/>
          </a:prstGeom>
          <a:noFill/>
          <a:ln/>
        </p:spPr>
        <p:txBody>
          <a:bodyPr wrap="square" rtlCol="0" anchor="ctr"/>
          <a:lstStyle/>
          <a:p>
            <a:pPr indent="0" marL="0">
              <a:buNone/>
            </a:pPr>
            <a:r>
              <a:rPr lang="en-US" sz="1400" b="1" spc="300" kern="0" dirty="0">
                <a:solidFill>
                  <a:srgbClr val="7FB8D6"/>
                </a:solidFill>
                <a:latin typeface="Calibri" pitchFamily="34" charset="0"/>
                <a:ea typeface="Calibri" pitchFamily="34" charset="-122"/>
                <a:cs typeface="Calibri" pitchFamily="34" charset="-120"/>
              </a:rPr>
              <a:t>BEFORE NEXT LECTURE</a:t>
            </a:r>
            <a:endParaRPr lang="en-US" sz="1400" dirty="0"/>
          </a:p>
        </p:txBody>
      </p:sp>
      <p:sp>
        <p:nvSpPr>
          <p:cNvPr id="4" name="Text 2"/>
          <p:cNvSpPr/>
          <p:nvPr/>
        </p:nvSpPr>
        <p:spPr>
          <a:xfrm>
            <a:off x="685800" y="1188720"/>
            <a:ext cx="960120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Further Reading</a:t>
            </a:r>
            <a:endParaRPr lang="en-US" sz="3800" dirty="0"/>
          </a:p>
        </p:txBody>
      </p:sp>
      <p:sp>
        <p:nvSpPr>
          <p:cNvPr id="5" name="Shape 3"/>
          <p:cNvSpPr/>
          <p:nvPr/>
        </p:nvSpPr>
        <p:spPr>
          <a:xfrm>
            <a:off x="731520" y="2331720"/>
            <a:ext cx="457200" cy="457200"/>
          </a:xfrm>
          <a:prstGeom prst="ellipse">
            <a:avLst/>
          </a:prstGeom>
          <a:solidFill>
            <a:srgbClr val="065A82"/>
          </a:solidFill>
          <a:ln/>
        </p:spPr>
      </p:sp>
      <p:pic>
        <p:nvPicPr>
          <p:cNvPr id="6" name="Image 0" descr="/home/claude/icons/book.png">    </p:cNvPr>
          <p:cNvPicPr>
            <a:picLocks noChangeAspect="1"/>
          </p:cNvPicPr>
          <p:nvPr/>
        </p:nvPicPr>
        <p:blipFill>
          <a:blip r:embed="rId1"/>
          <a:stretch>
            <a:fillRect/>
          </a:stretch>
        </p:blipFill>
        <p:spPr>
          <a:xfrm>
            <a:off x="850392" y="2450592"/>
            <a:ext cx="219456" cy="219456"/>
          </a:xfrm>
          <a:prstGeom prst="rect">
            <a:avLst/>
          </a:prstGeom>
        </p:spPr>
      </p:pic>
      <p:sp>
        <p:nvSpPr>
          <p:cNvPr id="7" name="Text 4"/>
          <p:cNvSpPr/>
          <p:nvPr/>
        </p:nvSpPr>
        <p:spPr>
          <a:xfrm>
            <a:off x="1371600" y="2331720"/>
            <a:ext cx="1828800" cy="274320"/>
          </a:xfrm>
          <a:prstGeom prst="rect">
            <a:avLst/>
          </a:prstGeom>
          <a:noFill/>
          <a:ln/>
        </p:spPr>
        <p:txBody>
          <a:bodyPr wrap="square" rtlCol="0" anchor="ctr"/>
          <a:lstStyle/>
          <a:p>
            <a:pPr indent="0" marL="0">
              <a:buNone/>
            </a:pPr>
            <a:r>
              <a:rPr lang="en-US" sz="1100" dirty="0">
                <a:solidFill>
                  <a:srgbClr val="9FC3D9"/>
                </a:solidFill>
                <a:latin typeface="Calibri" pitchFamily="34" charset="0"/>
                <a:ea typeface="Calibri" pitchFamily="34" charset="-122"/>
                <a:cs typeface="Calibri" pitchFamily="34" charset="-120"/>
              </a:rPr>
              <a:t>Reading</a:t>
            </a:r>
            <a:endParaRPr lang="en-US" sz="1100" dirty="0"/>
          </a:p>
        </p:txBody>
      </p:sp>
      <p:sp>
        <p:nvSpPr>
          <p:cNvPr id="8" name="Text 5"/>
          <p:cNvSpPr/>
          <p:nvPr/>
        </p:nvSpPr>
        <p:spPr>
          <a:xfrm>
            <a:off x="1371600" y="2587752"/>
            <a:ext cx="9601200" cy="502920"/>
          </a:xfrm>
          <a:prstGeom prst="rect">
            <a:avLst/>
          </a:prstGeom>
          <a:noFill/>
          <a:ln/>
        </p:spPr>
        <p:txBody>
          <a:bodyPr wrap="square" rtlCol="0" anchor="ctr"/>
          <a:lstStyle/>
          <a:p>
            <a:pPr indent="0" marL="0">
              <a:lnSpc>
                <a:spcPct val="120000"/>
              </a:lnSpc>
              <a:buNone/>
            </a:pPr>
            <a:r>
              <a:rPr lang="en-US" sz="1200" dirty="0">
                <a:solidFill>
                  <a:srgbClr val="FFFFFF"/>
                </a:solidFill>
                <a:latin typeface="Calibri" pitchFamily="34" charset="0"/>
                <a:ea typeface="Calibri" pitchFamily="34" charset="-122"/>
                <a:cs typeface="Calibri" pitchFamily="34" charset="-120"/>
              </a:rPr>
              <a:t>“The Illustrated Transformer” (Jay Alammar) — the best visual walkthrough of everything in slides 5–9.</a:t>
            </a:r>
            <a:endParaRPr lang="en-US" sz="1200" dirty="0"/>
          </a:p>
        </p:txBody>
      </p:sp>
      <p:sp>
        <p:nvSpPr>
          <p:cNvPr id="9" name="Shape 6"/>
          <p:cNvSpPr/>
          <p:nvPr/>
        </p:nvSpPr>
        <p:spPr>
          <a:xfrm>
            <a:off x="731520" y="3108960"/>
            <a:ext cx="457200" cy="457200"/>
          </a:xfrm>
          <a:prstGeom prst="ellipse">
            <a:avLst/>
          </a:prstGeom>
          <a:solidFill>
            <a:srgbClr val="065A82"/>
          </a:solidFill>
          <a:ln/>
        </p:spPr>
      </p:sp>
      <p:pic>
        <p:nvPicPr>
          <p:cNvPr id="10" name="Image 1" descr="/home/claude/icons/microscope.png">    </p:cNvPr>
          <p:cNvPicPr>
            <a:picLocks noChangeAspect="1"/>
          </p:cNvPicPr>
          <p:nvPr/>
        </p:nvPicPr>
        <p:blipFill>
          <a:blip r:embed="rId2"/>
          <a:stretch>
            <a:fillRect/>
          </a:stretch>
        </p:blipFill>
        <p:spPr>
          <a:xfrm>
            <a:off x="850392" y="3227832"/>
            <a:ext cx="219456" cy="219456"/>
          </a:xfrm>
          <a:prstGeom prst="rect">
            <a:avLst/>
          </a:prstGeom>
        </p:spPr>
      </p:pic>
      <p:sp>
        <p:nvSpPr>
          <p:cNvPr id="11" name="Text 7"/>
          <p:cNvSpPr/>
          <p:nvPr/>
        </p:nvSpPr>
        <p:spPr>
          <a:xfrm>
            <a:off x="1371600" y="3108960"/>
            <a:ext cx="1828800" cy="274320"/>
          </a:xfrm>
          <a:prstGeom prst="rect">
            <a:avLst/>
          </a:prstGeom>
          <a:noFill/>
          <a:ln/>
        </p:spPr>
        <p:txBody>
          <a:bodyPr wrap="square" rtlCol="0" anchor="ctr"/>
          <a:lstStyle/>
          <a:p>
            <a:pPr indent="0" marL="0">
              <a:buNone/>
            </a:pPr>
            <a:r>
              <a:rPr lang="en-US" sz="1100" dirty="0">
                <a:solidFill>
                  <a:srgbClr val="9FC3D9"/>
                </a:solidFill>
                <a:latin typeface="Calibri" pitchFamily="34" charset="0"/>
                <a:ea typeface="Calibri" pitchFamily="34" charset="-122"/>
                <a:cs typeface="Calibri" pitchFamily="34" charset="-120"/>
              </a:rPr>
              <a:t>Reading</a:t>
            </a:r>
            <a:endParaRPr lang="en-US" sz="1100" dirty="0"/>
          </a:p>
        </p:txBody>
      </p:sp>
      <p:sp>
        <p:nvSpPr>
          <p:cNvPr id="12" name="Text 8"/>
          <p:cNvSpPr/>
          <p:nvPr/>
        </p:nvSpPr>
        <p:spPr>
          <a:xfrm>
            <a:off x="1371600" y="3364992"/>
            <a:ext cx="9601200" cy="502920"/>
          </a:xfrm>
          <a:prstGeom prst="rect">
            <a:avLst/>
          </a:prstGeom>
          <a:noFill/>
          <a:ln/>
        </p:spPr>
        <p:txBody>
          <a:bodyPr wrap="square" rtlCol="0" anchor="ctr"/>
          <a:lstStyle/>
          <a:p>
            <a:pPr indent="0" marL="0">
              <a:lnSpc>
                <a:spcPct val="120000"/>
              </a:lnSpc>
              <a:buNone/>
            </a:pPr>
            <a:r>
              <a:rPr lang="en-US" sz="1200" dirty="0">
                <a:solidFill>
                  <a:srgbClr val="FFFFFF"/>
                </a:solidFill>
                <a:latin typeface="Calibri" pitchFamily="34" charset="0"/>
                <a:ea typeface="Calibri" pitchFamily="34" charset="-122"/>
                <a:cs typeface="Calibri" pitchFamily="34" charset="-120"/>
              </a:rPr>
              <a:t>Anthropic's “A Mathematical Framework for Transformer Circuits” — the paper that popularized the residual-stream framing.</a:t>
            </a:r>
            <a:endParaRPr lang="en-US" sz="1200" dirty="0"/>
          </a:p>
        </p:txBody>
      </p:sp>
      <p:sp>
        <p:nvSpPr>
          <p:cNvPr id="13" name="Shape 9"/>
          <p:cNvSpPr/>
          <p:nvPr/>
        </p:nvSpPr>
        <p:spPr>
          <a:xfrm>
            <a:off x="731520" y="3886200"/>
            <a:ext cx="457200" cy="457200"/>
          </a:xfrm>
          <a:prstGeom prst="ellipse">
            <a:avLst/>
          </a:prstGeom>
          <a:solidFill>
            <a:srgbClr val="065A82"/>
          </a:solidFill>
          <a:ln/>
        </p:spPr>
      </p:sp>
      <p:pic>
        <p:nvPicPr>
          <p:cNvPr id="14" name="Image 2" descr="/home/claude/icons/terminal.png">    </p:cNvPr>
          <p:cNvPicPr>
            <a:picLocks noChangeAspect="1"/>
          </p:cNvPicPr>
          <p:nvPr/>
        </p:nvPicPr>
        <p:blipFill>
          <a:blip r:embed="rId3"/>
          <a:stretch>
            <a:fillRect/>
          </a:stretch>
        </p:blipFill>
        <p:spPr>
          <a:xfrm>
            <a:off x="850392" y="4005072"/>
            <a:ext cx="219456" cy="219456"/>
          </a:xfrm>
          <a:prstGeom prst="rect">
            <a:avLst/>
          </a:prstGeom>
        </p:spPr>
      </p:pic>
      <p:sp>
        <p:nvSpPr>
          <p:cNvPr id="15" name="Text 10"/>
          <p:cNvSpPr/>
          <p:nvPr/>
        </p:nvSpPr>
        <p:spPr>
          <a:xfrm>
            <a:off x="1371600" y="3886200"/>
            <a:ext cx="1828800" cy="274320"/>
          </a:xfrm>
          <a:prstGeom prst="rect">
            <a:avLst/>
          </a:prstGeom>
          <a:noFill/>
          <a:ln/>
        </p:spPr>
        <p:txBody>
          <a:bodyPr wrap="square" rtlCol="0" anchor="ctr"/>
          <a:lstStyle/>
          <a:p>
            <a:pPr indent="0" marL="0">
              <a:buNone/>
            </a:pPr>
            <a:r>
              <a:rPr lang="en-US" sz="1100" dirty="0">
                <a:solidFill>
                  <a:srgbClr val="9FC3D9"/>
                </a:solidFill>
                <a:latin typeface="Calibri" pitchFamily="34" charset="0"/>
                <a:ea typeface="Calibri" pitchFamily="34" charset="-122"/>
                <a:cs typeface="Calibri" pitchFamily="34" charset="-120"/>
              </a:rPr>
              <a:t>Reference</a:t>
            </a:r>
            <a:endParaRPr lang="en-US" sz="1100" dirty="0"/>
          </a:p>
        </p:txBody>
      </p:sp>
      <p:sp>
        <p:nvSpPr>
          <p:cNvPr id="16" name="Text 11"/>
          <p:cNvSpPr/>
          <p:nvPr/>
        </p:nvSpPr>
        <p:spPr>
          <a:xfrm>
            <a:off x="1371600" y="4142232"/>
            <a:ext cx="9601200" cy="502920"/>
          </a:xfrm>
          <a:prstGeom prst="rect">
            <a:avLst/>
          </a:prstGeom>
          <a:noFill/>
          <a:ln/>
        </p:spPr>
        <p:txBody>
          <a:bodyPr wrap="square" rtlCol="0" anchor="ctr"/>
          <a:lstStyle/>
          <a:p>
            <a:pPr indent="0" marL="0">
              <a:lnSpc>
                <a:spcPct val="120000"/>
              </a:lnSpc>
              <a:buNone/>
            </a:pPr>
            <a:r>
              <a:rPr lang="en-US" sz="1200" dirty="0">
                <a:solidFill>
                  <a:srgbClr val="FFFFFF"/>
                </a:solidFill>
                <a:latin typeface="Calibri" pitchFamily="34" charset="0"/>
                <a:ea typeface="Calibri" pitchFamily="34" charset="-122"/>
                <a:cs typeface="Calibri" pitchFamily="34" charset="-120"/>
              </a:rPr>
              <a:t>Neel Nanda's mechanistic interpretability glossary, and the TransformerLens documentation.</a:t>
            </a:r>
            <a:endParaRPr lang="en-US" sz="1200" dirty="0"/>
          </a:p>
        </p:txBody>
      </p:sp>
      <p:sp>
        <p:nvSpPr>
          <p:cNvPr id="17" name="Shape 12"/>
          <p:cNvSpPr/>
          <p:nvPr/>
        </p:nvSpPr>
        <p:spPr>
          <a:xfrm>
            <a:off x="731520" y="4709160"/>
            <a:ext cx="5486400" cy="0"/>
          </a:xfrm>
          <a:prstGeom prst="line">
            <a:avLst/>
          </a:prstGeom>
          <a:noFill/>
          <a:ln w="12700">
            <a:solidFill>
              <a:srgbClr val="1C7293"/>
            </a:solidFill>
            <a:prstDash val="solid"/>
          </a:ln>
        </p:spPr>
      </p:sp>
      <p:sp>
        <p:nvSpPr>
          <p:cNvPr id="18" name="Text 13"/>
          <p:cNvSpPr/>
          <p:nvPr/>
        </p:nvSpPr>
        <p:spPr>
          <a:xfrm>
            <a:off x="731520" y="4892040"/>
            <a:ext cx="7315200" cy="320040"/>
          </a:xfrm>
          <a:prstGeom prst="rect">
            <a:avLst/>
          </a:prstGeom>
          <a:noFill/>
          <a:ln/>
        </p:spPr>
        <p:txBody>
          <a:bodyPr wrap="square" rtlCol="0" anchor="ctr"/>
          <a:lstStyle/>
          <a:p>
            <a:pPr indent="0" marL="0">
              <a:buNone/>
            </a:pPr>
            <a:r>
              <a:rPr lang="en-US" sz="1300" b="1" dirty="0">
                <a:solidFill>
                  <a:srgbClr val="8FD4E8"/>
                </a:solidFill>
                <a:latin typeface="Calibri" pitchFamily="34" charset="0"/>
                <a:ea typeface="Calibri" pitchFamily="34" charset="-122"/>
                <a:cs typeface="Calibri" pitchFamily="34" charset="-120"/>
              </a:rPr>
              <a:t>A Question to Sit With</a:t>
            </a:r>
            <a:endParaRPr lang="en-US" sz="1300" dirty="0"/>
          </a:p>
        </p:txBody>
      </p:sp>
      <p:sp>
        <p:nvSpPr>
          <p:cNvPr id="19" name="Text 14"/>
          <p:cNvSpPr/>
          <p:nvPr/>
        </p:nvSpPr>
        <p:spPr>
          <a:xfrm>
            <a:off x="731520" y="5257800"/>
            <a:ext cx="8686800" cy="822960"/>
          </a:xfrm>
          <a:prstGeom prst="rect">
            <a:avLst/>
          </a:prstGeom>
          <a:noFill/>
          <a:ln/>
        </p:spPr>
        <p:txBody>
          <a:bodyPr wrap="square" rtlCol="0" anchor="ctr"/>
          <a:lstStyle/>
          <a:p>
            <a:pPr indent="0" marL="0">
              <a:lnSpc>
                <a:spcPct val="125000"/>
              </a:lnSpc>
              <a:buNone/>
            </a:pPr>
            <a:r>
              <a:rPr lang="en-US" sz="1300" i="1" dirty="0">
                <a:solidFill>
                  <a:srgbClr val="D7E9F2"/>
                </a:solidFill>
                <a:latin typeface="Calibri" pitchFamily="34" charset="0"/>
                <a:ea typeface="Calibri" pitchFamily="34" charset="-122"/>
                <a:cs typeface="Calibri" pitchFamily="34" charset="-120"/>
              </a:rPr>
              <a:t>The residual stream carries every layer's contribution, added together. What does that suggest about why a single neuron's activation might be hard to interpret in isolation?</a:t>
            </a:r>
            <a:endParaRPr lang="en-US" sz="1300" dirty="0"/>
          </a:p>
        </p:txBody>
      </p:sp>
      <p:sp>
        <p:nvSpPr>
          <p:cNvPr id="20" name="Text 15"/>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8FA8C2"/>
                </a:solidFill>
                <a:latin typeface="Calibri" pitchFamily="34" charset="0"/>
                <a:ea typeface="Calibri" pitchFamily="34" charset="-122"/>
                <a:cs typeface="Calibri" pitchFamily="34" charset="-120"/>
              </a:rPr>
              <a:t>AI TOOLING SEMINAR  ·  LECTURE 1: FOUNDATIONS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Foundations: How Transformer LLMs Work</dc:title>
  <dc:subject>PptxGenJS Presentation</dc:subject>
  <dc:creator>AI Seminar</dc:creator>
  <cp:lastModifiedBy>AI Seminar</cp:lastModifiedBy>
  <cp:revision>1</cp:revision>
  <dcterms:created xsi:type="dcterms:W3CDTF">2026-07-06T09:01:40Z</dcterms:created>
  <dcterms:modified xsi:type="dcterms:W3CDTF">2026-07-06T09:01:40Z</dcterms:modified>
</cp:coreProperties>
</file>