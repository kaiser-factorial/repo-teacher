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21295C">
              <a:alpha val="60000"/>
            </a:srgbClr>
          </a:solidFill>
          <a:ln/>
        </p:spPr>
      </p:sp>
      <p:sp>
        <p:nvSpPr>
          <p:cNvPr id="3" name="Shape 1"/>
          <p:cNvSpPr/>
          <p:nvPr/>
        </p:nvSpPr>
        <p:spPr>
          <a:xfrm>
            <a:off x="11155680" y="4206240"/>
            <a:ext cx="2926080" cy="2926080"/>
          </a:xfrm>
          <a:prstGeom prst="ellipse">
            <a:avLst/>
          </a:prstGeom>
          <a:solidFill>
            <a:srgbClr val="065A82">
              <a:alpha val="45000"/>
            </a:srgbClr>
          </a:solidFill>
          <a:ln/>
        </p:spPr>
      </p:sp>
      <p:sp>
        <p:nvSpPr>
          <p:cNvPr id="4" name="Shape 2"/>
          <p:cNvSpPr/>
          <p:nvPr/>
        </p:nvSpPr>
        <p:spPr>
          <a:xfrm flipV="1">
            <a:off x="9692640" y="914400"/>
            <a:ext cx="822960" cy="457200"/>
          </a:xfrm>
          <a:prstGeom prst="line">
            <a:avLst/>
          </a:prstGeom>
          <a:noFill/>
          <a:ln w="15875">
            <a:solidFill>
              <a:srgbClr val="5A8FB0">
                <a:alpha val="80000"/>
              </a:srgbClr>
            </a:solidFill>
            <a:prstDash val="solid"/>
          </a:ln>
        </p:spPr>
      </p:sp>
      <p:sp>
        <p:nvSpPr>
          <p:cNvPr id="5" name="Shape 3"/>
          <p:cNvSpPr/>
          <p:nvPr/>
        </p:nvSpPr>
        <p:spPr>
          <a:xfrm>
            <a:off x="9692640" y="1371600"/>
            <a:ext cx="822960" cy="457200"/>
          </a:xfrm>
          <a:prstGeom prst="line">
            <a:avLst/>
          </a:prstGeom>
          <a:noFill/>
          <a:ln w="15875">
            <a:solidFill>
              <a:srgbClr val="5A8FB0">
                <a:alpha val="80000"/>
              </a:srgbClr>
            </a:solidFill>
            <a:prstDash val="solid"/>
          </a:ln>
        </p:spPr>
      </p:sp>
      <p:sp>
        <p:nvSpPr>
          <p:cNvPr id="6" name="Shape 4"/>
          <p:cNvSpPr/>
          <p:nvPr/>
        </p:nvSpPr>
        <p:spPr>
          <a:xfrm flipV="1">
            <a:off x="10515600" y="548640"/>
            <a:ext cx="822960" cy="365760"/>
          </a:xfrm>
          <a:prstGeom prst="line">
            <a:avLst/>
          </a:prstGeom>
          <a:noFill/>
          <a:ln w="15875">
            <a:solidFill>
              <a:srgbClr val="5A8FB0">
                <a:alpha val="80000"/>
              </a:srgbClr>
            </a:solidFill>
            <a:prstDash val="solid"/>
          </a:ln>
        </p:spPr>
      </p:sp>
      <p:sp>
        <p:nvSpPr>
          <p:cNvPr id="7" name="Shape 5"/>
          <p:cNvSpPr/>
          <p:nvPr/>
        </p:nvSpPr>
        <p:spPr>
          <a:xfrm>
            <a:off x="10515600" y="914400"/>
            <a:ext cx="822960" cy="365760"/>
          </a:xfrm>
          <a:prstGeom prst="line">
            <a:avLst/>
          </a:prstGeom>
          <a:noFill/>
          <a:ln w="15875">
            <a:solidFill>
              <a:srgbClr val="5A8FB0">
                <a:alpha val="80000"/>
              </a:srgbClr>
            </a:solidFill>
            <a:prstDash val="solid"/>
          </a:ln>
        </p:spPr>
      </p:sp>
      <p:sp>
        <p:nvSpPr>
          <p:cNvPr id="8" name="Shape 6"/>
          <p:cNvSpPr/>
          <p:nvPr/>
        </p:nvSpPr>
        <p:spPr>
          <a:xfrm flipV="1">
            <a:off x="10515600" y="1737360"/>
            <a:ext cx="822960" cy="91440"/>
          </a:xfrm>
          <a:prstGeom prst="line">
            <a:avLst/>
          </a:prstGeom>
          <a:noFill/>
          <a:ln w="15875">
            <a:solidFill>
              <a:srgbClr val="5A8FB0">
                <a:alpha val="80000"/>
              </a:srgbClr>
            </a:solidFill>
            <a:prstDash val="solid"/>
          </a:ln>
        </p:spPr>
      </p:sp>
      <p:sp>
        <p:nvSpPr>
          <p:cNvPr id="9" name="Shape 7"/>
          <p:cNvSpPr/>
          <p:nvPr/>
        </p:nvSpPr>
        <p:spPr>
          <a:xfrm>
            <a:off x="10515600" y="1828800"/>
            <a:ext cx="822960" cy="457200"/>
          </a:xfrm>
          <a:prstGeom prst="line">
            <a:avLst/>
          </a:prstGeom>
          <a:noFill/>
          <a:ln w="15875">
            <a:solidFill>
              <a:srgbClr val="5A8FB0">
                <a:alpha val="80000"/>
              </a:srgbClr>
            </a:solidFill>
            <a:prstDash val="solid"/>
          </a:ln>
        </p:spPr>
      </p:sp>
      <p:sp>
        <p:nvSpPr>
          <p:cNvPr id="10" name="Shape 8"/>
          <p:cNvSpPr/>
          <p:nvPr/>
        </p:nvSpPr>
        <p:spPr>
          <a:xfrm>
            <a:off x="9637776" y="1316736"/>
            <a:ext cx="109728" cy="109728"/>
          </a:xfrm>
          <a:prstGeom prst="ellipse">
            <a:avLst/>
          </a:prstGeom>
          <a:solidFill>
            <a:srgbClr val="8FD4E8"/>
          </a:solidFill>
          <a:ln/>
        </p:spPr>
      </p:sp>
      <p:sp>
        <p:nvSpPr>
          <p:cNvPr id="11" name="Shape 9"/>
          <p:cNvSpPr/>
          <p:nvPr/>
        </p:nvSpPr>
        <p:spPr>
          <a:xfrm>
            <a:off x="10460736" y="859536"/>
            <a:ext cx="109728" cy="109728"/>
          </a:xfrm>
          <a:prstGeom prst="ellipse">
            <a:avLst/>
          </a:prstGeom>
          <a:solidFill>
            <a:srgbClr val="8FD4E8"/>
          </a:solidFill>
          <a:ln/>
        </p:spPr>
      </p:sp>
      <p:sp>
        <p:nvSpPr>
          <p:cNvPr id="12" name="Shape 10"/>
          <p:cNvSpPr/>
          <p:nvPr/>
        </p:nvSpPr>
        <p:spPr>
          <a:xfrm>
            <a:off x="10460736" y="1773936"/>
            <a:ext cx="109728" cy="109728"/>
          </a:xfrm>
          <a:prstGeom prst="ellipse">
            <a:avLst/>
          </a:prstGeom>
          <a:solidFill>
            <a:srgbClr val="8FD4E8"/>
          </a:solidFill>
          <a:ln/>
        </p:spPr>
      </p:sp>
      <p:sp>
        <p:nvSpPr>
          <p:cNvPr id="13" name="Shape 11"/>
          <p:cNvSpPr/>
          <p:nvPr/>
        </p:nvSpPr>
        <p:spPr>
          <a:xfrm>
            <a:off x="11283696" y="493776"/>
            <a:ext cx="109728" cy="109728"/>
          </a:xfrm>
          <a:prstGeom prst="ellipse">
            <a:avLst/>
          </a:prstGeom>
          <a:solidFill>
            <a:srgbClr val="8FD4E8"/>
          </a:solidFill>
          <a:ln/>
        </p:spPr>
      </p:sp>
      <p:sp>
        <p:nvSpPr>
          <p:cNvPr id="14" name="Shape 12"/>
          <p:cNvSpPr/>
          <p:nvPr/>
        </p:nvSpPr>
        <p:spPr>
          <a:xfrm>
            <a:off x="11283696" y="1225296"/>
            <a:ext cx="109728" cy="109728"/>
          </a:xfrm>
          <a:prstGeom prst="ellipse">
            <a:avLst/>
          </a:prstGeom>
          <a:solidFill>
            <a:srgbClr val="8FD4E8"/>
          </a:solidFill>
          <a:ln/>
        </p:spPr>
      </p:sp>
      <p:sp>
        <p:nvSpPr>
          <p:cNvPr id="15" name="Shape 13"/>
          <p:cNvSpPr/>
          <p:nvPr/>
        </p:nvSpPr>
        <p:spPr>
          <a:xfrm>
            <a:off x="11283696" y="1682496"/>
            <a:ext cx="109728" cy="109728"/>
          </a:xfrm>
          <a:prstGeom prst="ellipse">
            <a:avLst/>
          </a:prstGeom>
          <a:solidFill>
            <a:srgbClr val="8FD4E8"/>
          </a:solidFill>
          <a:ln/>
        </p:spPr>
      </p:sp>
      <p:sp>
        <p:nvSpPr>
          <p:cNvPr id="16" name="Shape 14"/>
          <p:cNvSpPr/>
          <p:nvPr/>
        </p:nvSpPr>
        <p:spPr>
          <a:xfrm>
            <a:off x="11283696" y="2231136"/>
            <a:ext cx="109728" cy="109728"/>
          </a:xfrm>
          <a:prstGeom prst="ellipse">
            <a:avLst/>
          </a:prstGeom>
          <a:solidFill>
            <a:srgbClr val="8FD4E8"/>
          </a:solidFill>
          <a:ln/>
        </p:spPr>
      </p:sp>
      <p:sp>
        <p:nvSpPr>
          <p:cNvPr id="17" name="Text 15"/>
          <p:cNvSpPr/>
          <p:nvPr/>
        </p:nvSpPr>
        <p:spPr>
          <a:xfrm>
            <a:off x="731520" y="141732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AI SEMINAR  ·  LECTURE 2</a:t>
            </a:r>
            <a:endParaRPr lang="en-US" sz="1400" dirty="0"/>
          </a:p>
        </p:txBody>
      </p:sp>
      <p:sp>
        <p:nvSpPr>
          <p:cNvPr id="18" name="Text 16"/>
          <p:cNvSpPr/>
          <p:nvPr/>
        </p:nvSpPr>
        <p:spPr>
          <a:xfrm>
            <a:off x="685800" y="1874520"/>
            <a:ext cx="9144000" cy="137160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LogitLoom</a:t>
            </a:r>
            <a:endParaRPr lang="en-US" sz="6400" dirty="0"/>
          </a:p>
        </p:txBody>
      </p:sp>
      <p:sp>
        <p:nvSpPr>
          <p:cNvPr id="19" name="Text 17"/>
          <p:cNvSpPr/>
          <p:nvPr/>
        </p:nvSpPr>
        <p:spPr>
          <a:xfrm>
            <a:off x="731520" y="3154680"/>
            <a:ext cx="8686800" cy="640080"/>
          </a:xfrm>
          <a:prstGeom prst="rect">
            <a:avLst/>
          </a:prstGeom>
          <a:noFill/>
          <a:ln/>
        </p:spPr>
        <p:txBody>
          <a:bodyPr wrap="square" rtlCol="0" anchor="ctr"/>
          <a:lstStyle/>
          <a:p>
            <a:pPr indent="0" marL="0">
              <a:buNone/>
            </a:pPr>
            <a:r>
              <a:rPr lang="en-US" sz="2000" dirty="0">
                <a:solidFill>
                  <a:srgbClr val="CFE8F0"/>
                </a:solidFill>
                <a:latin typeface="Calibri" pitchFamily="34" charset="0"/>
                <a:ea typeface="Calibri" pitchFamily="34" charset="-122"/>
                <a:cs typeface="Calibri" pitchFamily="34" charset="-120"/>
              </a:rPr>
              <a:t>Exploring Token Trajectory Trees in Base and Instruct Models</a:t>
            </a:r>
            <a:endParaRPr lang="en-US" sz="2000" dirty="0"/>
          </a:p>
        </p:txBody>
      </p:sp>
      <p:sp>
        <p:nvSpPr>
          <p:cNvPr id="20" name="Shape 18"/>
          <p:cNvSpPr/>
          <p:nvPr/>
        </p:nvSpPr>
        <p:spPr>
          <a:xfrm>
            <a:off x="731520" y="3977640"/>
            <a:ext cx="2926080" cy="0"/>
          </a:xfrm>
          <a:prstGeom prst="line">
            <a:avLst/>
          </a:prstGeom>
          <a:noFill/>
          <a:ln w="25400">
            <a:solidFill>
              <a:srgbClr val="1C7293"/>
            </a:solidFill>
            <a:prstDash val="solid"/>
          </a:ln>
        </p:spPr>
      </p:sp>
      <p:sp>
        <p:nvSpPr>
          <p:cNvPr id="21" name="Text 19"/>
          <p:cNvSpPr/>
          <p:nvPr/>
        </p:nvSpPr>
        <p:spPr>
          <a:xfrm>
            <a:off x="731520" y="4206240"/>
            <a:ext cx="7863840" cy="1188720"/>
          </a:xfrm>
          <a:prstGeom prst="rect">
            <a:avLst/>
          </a:prstGeom>
          <a:noFill/>
          <a:ln/>
        </p:spPr>
        <p:txBody>
          <a:bodyPr wrap="square" rtlCol="0" anchor="ctr"/>
          <a:lstStyle/>
          <a:p>
            <a:pPr indent="0" marL="0">
              <a:lnSpc>
                <a:spcPct val="125000"/>
              </a:lnSpc>
              <a:buNone/>
            </a:pPr>
            <a:r>
              <a:rPr lang="en-US" sz="1350" b="1" dirty="0">
                <a:solidFill>
                  <a:srgbClr val="BFE0EE"/>
                </a:solidFill>
                <a:latin typeface="Calibri" pitchFamily="34" charset="0"/>
                <a:ea typeface="Calibri" pitchFamily="34" charset="-122"/>
                <a:cs typeface="Calibri" pitchFamily="34" charset="-120"/>
              </a:rPr>
              <a:t>How we'll get there: </a:t>
            </a:r>
            <a:pPr indent="0" marL="0">
              <a:lnSpc>
                <a:spcPct val="125000"/>
              </a:lnSpc>
              <a:buNone/>
            </a:pPr>
            <a:r>
              <a:rPr lang="en-US" sz="1350" dirty="0">
                <a:solidFill>
                  <a:srgbClr val="9FC3D9"/>
                </a:solidFill>
                <a:latin typeface="Calibri" pitchFamily="34" charset="0"/>
                <a:ea typeface="Calibri" pitchFamily="34" charset="-122"/>
                <a:cs typeface="Calibri" pitchFamily="34" charset="-120"/>
              </a:rPr>
              <a:t>a quick preview of the tool, then a standalone background section on sampling and the “multiverse” idea behind loom-style tools, then back to LogitLoom for a full walkthrough of how it builds, prunes, and renders a live probability tree — plus where it's actually useful.</a:t>
            </a:r>
            <a:endParaRPr lang="en-US" sz="1350" dirty="0"/>
          </a:p>
        </p:txBody>
      </p:sp>
      <p:sp>
        <p:nvSpPr>
          <p:cNvPr id="22" name="Text 20"/>
          <p:cNvSpPr/>
          <p:nvPr/>
        </p:nvSpPr>
        <p:spPr>
          <a:xfrm>
            <a:off x="731520" y="6080760"/>
            <a:ext cx="7315200" cy="365760"/>
          </a:xfrm>
          <a:prstGeom prst="rect">
            <a:avLst/>
          </a:prstGeom>
          <a:noFill/>
          <a:ln/>
        </p:spPr>
        <p:txBody>
          <a:bodyPr wrap="square" rtlCol="0" anchor="ctr"/>
          <a:lstStyle/>
          <a:p>
            <a:pPr indent="0" marL="0">
              <a:buNone/>
            </a:pPr>
            <a:r>
              <a:rPr lang="en-US" sz="1200" dirty="0">
                <a:solidFill>
                  <a:srgbClr val="6FA0BE"/>
                </a:solidFill>
                <a:latin typeface="Courier New" pitchFamily="34" charset="0"/>
                <a:ea typeface="Courier New" pitchFamily="34" charset="-122"/>
                <a:cs typeface="Courier New" pitchFamily="34" charset="-120"/>
              </a:rPr>
              <a:t>github.com/vgel/logitloom   ·   vgel.me/logitloom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PREVIEW</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LogitLoom, in One Breath</a:t>
            </a:r>
            <a:endParaRPr lang="en-US" sz="3200" dirty="0"/>
          </a:p>
        </p:txBody>
      </p:sp>
      <p:sp>
        <p:nvSpPr>
          <p:cNvPr id="4" name="Shape 2"/>
          <p:cNvSpPr/>
          <p:nvPr/>
        </p:nvSpPr>
        <p:spPr>
          <a:xfrm>
            <a:off x="548640" y="1554480"/>
            <a:ext cx="6675120" cy="3566160"/>
          </a:xfrm>
          <a:prstGeom prst="roundRect">
            <a:avLst>
              <a:gd name="adj" fmla="val 2051"/>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68680" y="1828800"/>
            <a:ext cx="6217920" cy="1371600"/>
          </a:xfrm>
          <a:prstGeom prst="rect">
            <a:avLst/>
          </a:prstGeom>
          <a:noFill/>
          <a:ln/>
        </p:spPr>
        <p:txBody>
          <a:bodyPr wrap="square" rtlCol="0" anchor="ctr"/>
          <a:lstStyle/>
          <a:p>
            <a:pPr indent="0" marL="0">
              <a:lnSpc>
                <a:spcPct val="130000"/>
              </a:lnSpc>
              <a:buNone/>
            </a:pPr>
            <a:r>
              <a:rPr lang="en-US" sz="1600" b="1" dirty="0">
                <a:solidFill>
                  <a:srgbClr val="065A82"/>
                </a:solidFill>
                <a:latin typeface="Courier New" pitchFamily="34" charset="0"/>
                <a:ea typeface="Courier New" pitchFamily="34" charset="-122"/>
                <a:cs typeface="Courier New" pitchFamily="34" charset="-120"/>
              </a:rPr>
              <a:t>logitloom</a:t>
            </a:r>
            <a:pPr indent="0" marL="0">
              <a:lnSpc>
                <a:spcPct val="130000"/>
              </a:lnSpc>
              <a:buNone/>
            </a:pPr>
            <a:r>
              <a:rPr lang="en-US" sz="1600" dirty="0">
                <a:solidFill>
                  <a:srgbClr val="1B2733"/>
                </a:solidFill>
                <a:latin typeface="Calibri" pitchFamily="34" charset="0"/>
                <a:ea typeface="Calibri" pitchFamily="34" charset="-122"/>
                <a:cs typeface="Calibri" pitchFamily="34" charset="-120"/>
              </a:rPr>
              <a:t> is a small, open-source tool that lets you watch a language model's next-token predictions unfold as a branching </a:t>
            </a:r>
            <a:pPr indent="0" marL="0">
              <a:lnSpc>
                <a:spcPct val="130000"/>
              </a:lnSpc>
              <a:buNone/>
            </a:pPr>
            <a:r>
              <a:rPr lang="en-US" sz="1600" b="1" dirty="0">
                <a:solidFill>
                  <a:srgbClr val="1B2733"/>
                </a:solidFill>
                <a:latin typeface="Calibri" pitchFamily="34" charset="0"/>
                <a:ea typeface="Calibri" pitchFamily="34" charset="-122"/>
                <a:cs typeface="Calibri" pitchFamily="34" charset="-120"/>
              </a:rPr>
              <a:t>tree</a:t>
            </a:r>
            <a:pPr indent="0" marL="0">
              <a:lnSpc>
                <a:spcPct val="130000"/>
              </a:lnSpc>
              <a:buNone/>
            </a:pPr>
            <a:r>
              <a:rPr lang="en-US" sz="1600" dirty="0">
                <a:solidFill>
                  <a:srgbClr val="1B2733"/>
                </a:solidFill>
                <a:latin typeface="Calibri" pitchFamily="34" charset="0"/>
                <a:ea typeface="Calibri" pitchFamily="34" charset="-122"/>
                <a:cs typeface="Calibri" pitchFamily="34" charset="-120"/>
              </a:rPr>
              <a:t> — instead of the single reply a normal chat window shows you.</a:t>
            </a:r>
            <a:endParaRPr lang="en-US" sz="1600" dirty="0"/>
          </a:p>
        </p:txBody>
      </p:sp>
      <p:sp>
        <p:nvSpPr>
          <p:cNvPr id="6" name="Text 4"/>
          <p:cNvSpPr/>
          <p:nvPr/>
        </p:nvSpPr>
        <p:spPr>
          <a:xfrm>
            <a:off x="868680" y="3383280"/>
            <a:ext cx="6217920" cy="1554480"/>
          </a:xfrm>
          <a:prstGeom prst="rect">
            <a:avLst/>
          </a:prstGeom>
          <a:noFill/>
          <a:ln/>
        </p:spPr>
        <p:txBody>
          <a:bodyPr wrap="square" rtlCol="0" anchor="ctr"/>
          <a:lstStyle/>
          <a:p>
            <a:pPr indent="0" marL="0">
              <a:lnSpc>
                <a:spcPct val="130000"/>
              </a:lnSpc>
              <a:buNone/>
            </a:pPr>
            <a:r>
              <a:rPr lang="en-US" sz="1250" i="1" dirty="0">
                <a:solidFill>
                  <a:srgbClr val="5C7080"/>
                </a:solidFill>
                <a:latin typeface="Calibri" pitchFamily="34" charset="0"/>
                <a:ea typeface="Calibri" pitchFamily="34" charset="-122"/>
                <a:cs typeface="Calibri" pitchFamily="34" charset="-120"/>
              </a:rPr>
              <a:t>Every word in that sentence — “token,” “prediction,” “branching” — is doing real work. The next few slides build up exactly what each one means, with no reference to this tool at all. Then we come back and this sentence will fully click.</a:t>
            </a:r>
            <a:endParaRPr lang="en-US" sz="1250" dirty="0"/>
          </a:p>
        </p:txBody>
      </p:sp>
      <p:sp>
        <p:nvSpPr>
          <p:cNvPr id="7" name="Shape 5"/>
          <p:cNvSpPr/>
          <p:nvPr/>
        </p:nvSpPr>
        <p:spPr>
          <a:xfrm>
            <a:off x="7269480" y="1554480"/>
            <a:ext cx="4023360" cy="3566160"/>
          </a:xfrm>
          <a:prstGeom prst="roundRect">
            <a:avLst>
              <a:gd name="adj" fmla="val 2051"/>
            </a:avLst>
          </a:prstGeom>
          <a:solidFill>
            <a:srgbClr val="21295C"/>
          </a:solidFill>
          <a:ln/>
        </p:spPr>
      </p:sp>
      <p:sp>
        <p:nvSpPr>
          <p:cNvPr id="8" name="Shape 6"/>
          <p:cNvSpPr/>
          <p:nvPr/>
        </p:nvSpPr>
        <p:spPr>
          <a:xfrm flipV="1">
            <a:off x="7726680" y="2834640"/>
            <a:ext cx="914400" cy="640080"/>
          </a:xfrm>
          <a:prstGeom prst="line">
            <a:avLst/>
          </a:prstGeom>
          <a:noFill/>
          <a:ln w="19050">
            <a:solidFill>
              <a:srgbClr val="3F6E8C"/>
            </a:solidFill>
            <a:prstDash val="solid"/>
          </a:ln>
        </p:spPr>
      </p:sp>
      <p:sp>
        <p:nvSpPr>
          <p:cNvPr id="9" name="Shape 7"/>
          <p:cNvSpPr/>
          <p:nvPr/>
        </p:nvSpPr>
        <p:spPr>
          <a:xfrm>
            <a:off x="7726680" y="3474720"/>
            <a:ext cx="914400" cy="0"/>
          </a:xfrm>
          <a:prstGeom prst="line">
            <a:avLst/>
          </a:prstGeom>
          <a:noFill/>
          <a:ln w="19050">
            <a:solidFill>
              <a:srgbClr val="3F6E8C"/>
            </a:solidFill>
            <a:prstDash val="solid"/>
          </a:ln>
        </p:spPr>
      </p:sp>
      <p:sp>
        <p:nvSpPr>
          <p:cNvPr id="10" name="Shape 8"/>
          <p:cNvSpPr/>
          <p:nvPr/>
        </p:nvSpPr>
        <p:spPr>
          <a:xfrm>
            <a:off x="7726680" y="3474720"/>
            <a:ext cx="914400" cy="640080"/>
          </a:xfrm>
          <a:prstGeom prst="line">
            <a:avLst/>
          </a:prstGeom>
          <a:noFill/>
          <a:ln w="19050">
            <a:solidFill>
              <a:srgbClr val="3F6E8C"/>
            </a:solidFill>
            <a:prstDash val="solid"/>
          </a:ln>
        </p:spPr>
      </p:sp>
      <p:sp>
        <p:nvSpPr>
          <p:cNvPr id="11" name="Shape 9"/>
          <p:cNvSpPr/>
          <p:nvPr/>
        </p:nvSpPr>
        <p:spPr>
          <a:xfrm flipV="1">
            <a:off x="8641080" y="2651760"/>
            <a:ext cx="914400" cy="182880"/>
          </a:xfrm>
          <a:prstGeom prst="line">
            <a:avLst/>
          </a:prstGeom>
          <a:noFill/>
          <a:ln w="19050">
            <a:solidFill>
              <a:srgbClr val="3F6E8C"/>
            </a:solidFill>
            <a:prstDash val="solid"/>
          </a:ln>
        </p:spPr>
      </p:sp>
      <p:sp>
        <p:nvSpPr>
          <p:cNvPr id="12" name="Shape 10"/>
          <p:cNvSpPr/>
          <p:nvPr/>
        </p:nvSpPr>
        <p:spPr>
          <a:xfrm>
            <a:off x="8641080" y="2834640"/>
            <a:ext cx="914400" cy="228600"/>
          </a:xfrm>
          <a:prstGeom prst="line">
            <a:avLst/>
          </a:prstGeom>
          <a:noFill/>
          <a:ln w="19050">
            <a:solidFill>
              <a:srgbClr val="3F6E8C"/>
            </a:solidFill>
            <a:prstDash val="solid"/>
          </a:ln>
        </p:spPr>
      </p:sp>
      <p:sp>
        <p:nvSpPr>
          <p:cNvPr id="13" name="Shape 11"/>
          <p:cNvSpPr/>
          <p:nvPr/>
        </p:nvSpPr>
        <p:spPr>
          <a:xfrm>
            <a:off x="8641080" y="3474720"/>
            <a:ext cx="914400" cy="0"/>
          </a:xfrm>
          <a:prstGeom prst="line">
            <a:avLst/>
          </a:prstGeom>
          <a:noFill/>
          <a:ln w="19050">
            <a:solidFill>
              <a:srgbClr val="3F6E8C"/>
            </a:solidFill>
            <a:prstDash val="solid"/>
          </a:ln>
        </p:spPr>
      </p:sp>
      <p:sp>
        <p:nvSpPr>
          <p:cNvPr id="14" name="Shape 12"/>
          <p:cNvSpPr/>
          <p:nvPr/>
        </p:nvSpPr>
        <p:spPr>
          <a:xfrm flipV="1">
            <a:off x="8641080" y="3886200"/>
            <a:ext cx="914400" cy="228600"/>
          </a:xfrm>
          <a:prstGeom prst="line">
            <a:avLst/>
          </a:prstGeom>
          <a:noFill/>
          <a:ln w="19050">
            <a:solidFill>
              <a:srgbClr val="3F6E8C"/>
            </a:solidFill>
            <a:prstDash val="solid"/>
          </a:ln>
        </p:spPr>
      </p:sp>
      <p:sp>
        <p:nvSpPr>
          <p:cNvPr id="15" name="Shape 13"/>
          <p:cNvSpPr/>
          <p:nvPr/>
        </p:nvSpPr>
        <p:spPr>
          <a:xfrm>
            <a:off x="8641080" y="4114800"/>
            <a:ext cx="914400" cy="182880"/>
          </a:xfrm>
          <a:prstGeom prst="line">
            <a:avLst/>
          </a:prstGeom>
          <a:noFill/>
          <a:ln w="19050">
            <a:solidFill>
              <a:srgbClr val="3F6E8C"/>
            </a:solidFill>
            <a:prstDash val="solid"/>
          </a:ln>
        </p:spPr>
      </p:sp>
      <p:sp>
        <p:nvSpPr>
          <p:cNvPr id="16" name="Shape 14"/>
          <p:cNvSpPr/>
          <p:nvPr/>
        </p:nvSpPr>
        <p:spPr>
          <a:xfrm>
            <a:off x="7635240" y="3383280"/>
            <a:ext cx="182880" cy="182880"/>
          </a:xfrm>
          <a:prstGeom prst="ellipse">
            <a:avLst/>
          </a:prstGeom>
          <a:solidFill>
            <a:srgbClr val="8FD4E8"/>
          </a:solidFill>
          <a:ln/>
        </p:spPr>
      </p:sp>
      <p:sp>
        <p:nvSpPr>
          <p:cNvPr id="17" name="Shape 15"/>
          <p:cNvSpPr/>
          <p:nvPr/>
        </p:nvSpPr>
        <p:spPr>
          <a:xfrm>
            <a:off x="8549640" y="2743200"/>
            <a:ext cx="182880" cy="182880"/>
          </a:xfrm>
          <a:prstGeom prst="ellipse">
            <a:avLst/>
          </a:prstGeom>
          <a:solidFill>
            <a:srgbClr val="3F6E8C"/>
          </a:solidFill>
          <a:ln/>
        </p:spPr>
      </p:sp>
      <p:sp>
        <p:nvSpPr>
          <p:cNvPr id="18" name="Shape 16"/>
          <p:cNvSpPr/>
          <p:nvPr/>
        </p:nvSpPr>
        <p:spPr>
          <a:xfrm>
            <a:off x="8549640" y="3383280"/>
            <a:ext cx="182880" cy="182880"/>
          </a:xfrm>
          <a:prstGeom prst="ellipse">
            <a:avLst/>
          </a:prstGeom>
          <a:solidFill>
            <a:srgbClr val="8FD4E8"/>
          </a:solidFill>
          <a:ln/>
        </p:spPr>
      </p:sp>
      <p:sp>
        <p:nvSpPr>
          <p:cNvPr id="19" name="Shape 17"/>
          <p:cNvSpPr/>
          <p:nvPr/>
        </p:nvSpPr>
        <p:spPr>
          <a:xfrm>
            <a:off x="8549640" y="4023360"/>
            <a:ext cx="182880" cy="182880"/>
          </a:xfrm>
          <a:prstGeom prst="ellipse">
            <a:avLst/>
          </a:prstGeom>
          <a:solidFill>
            <a:srgbClr val="3F6E8C"/>
          </a:solidFill>
          <a:ln/>
        </p:spPr>
      </p:sp>
      <p:sp>
        <p:nvSpPr>
          <p:cNvPr id="20" name="Shape 18"/>
          <p:cNvSpPr/>
          <p:nvPr/>
        </p:nvSpPr>
        <p:spPr>
          <a:xfrm>
            <a:off x="9464040" y="2560320"/>
            <a:ext cx="182880" cy="182880"/>
          </a:xfrm>
          <a:prstGeom prst="ellipse">
            <a:avLst/>
          </a:prstGeom>
          <a:solidFill>
            <a:srgbClr val="3F6E8C"/>
          </a:solidFill>
          <a:ln/>
        </p:spPr>
      </p:sp>
      <p:sp>
        <p:nvSpPr>
          <p:cNvPr id="21" name="Shape 19"/>
          <p:cNvSpPr/>
          <p:nvPr/>
        </p:nvSpPr>
        <p:spPr>
          <a:xfrm>
            <a:off x="9464040" y="2971800"/>
            <a:ext cx="182880" cy="182880"/>
          </a:xfrm>
          <a:prstGeom prst="ellipse">
            <a:avLst/>
          </a:prstGeom>
          <a:solidFill>
            <a:srgbClr val="3F6E8C"/>
          </a:solidFill>
          <a:ln/>
        </p:spPr>
      </p:sp>
      <p:sp>
        <p:nvSpPr>
          <p:cNvPr id="22" name="Shape 20"/>
          <p:cNvSpPr/>
          <p:nvPr/>
        </p:nvSpPr>
        <p:spPr>
          <a:xfrm>
            <a:off x="9464040" y="3383280"/>
            <a:ext cx="182880" cy="182880"/>
          </a:xfrm>
          <a:prstGeom prst="ellipse">
            <a:avLst/>
          </a:prstGeom>
          <a:solidFill>
            <a:srgbClr val="8FD4E8"/>
          </a:solidFill>
          <a:ln/>
        </p:spPr>
      </p:sp>
      <p:sp>
        <p:nvSpPr>
          <p:cNvPr id="23" name="Shape 21"/>
          <p:cNvSpPr/>
          <p:nvPr/>
        </p:nvSpPr>
        <p:spPr>
          <a:xfrm>
            <a:off x="9464040" y="3794760"/>
            <a:ext cx="182880" cy="182880"/>
          </a:xfrm>
          <a:prstGeom prst="ellipse">
            <a:avLst/>
          </a:prstGeom>
          <a:solidFill>
            <a:srgbClr val="3F6E8C"/>
          </a:solidFill>
          <a:ln/>
        </p:spPr>
      </p:sp>
      <p:sp>
        <p:nvSpPr>
          <p:cNvPr id="24" name="Shape 22"/>
          <p:cNvSpPr/>
          <p:nvPr/>
        </p:nvSpPr>
        <p:spPr>
          <a:xfrm>
            <a:off x="9464040" y="4206240"/>
            <a:ext cx="182880" cy="182880"/>
          </a:xfrm>
          <a:prstGeom prst="ellipse">
            <a:avLst/>
          </a:prstGeom>
          <a:solidFill>
            <a:srgbClr val="3F6E8C"/>
          </a:solidFill>
          <a:ln/>
        </p:spPr>
      </p:sp>
      <p:sp>
        <p:nvSpPr>
          <p:cNvPr id="25" name="Text 23"/>
          <p:cNvSpPr/>
          <p:nvPr/>
        </p:nvSpPr>
        <p:spPr>
          <a:xfrm>
            <a:off x="7269480" y="4754880"/>
            <a:ext cx="4023360" cy="548640"/>
          </a:xfrm>
          <a:prstGeom prst="rect">
            <a:avLst/>
          </a:prstGeom>
          <a:noFill/>
          <a:ln/>
        </p:spPr>
        <p:txBody>
          <a:bodyPr wrap="square" rtlCol="0" anchor="ctr"/>
          <a:lstStyle/>
          <a:p>
            <a:pPr algn="ctr" indent="0" marL="0">
              <a:lnSpc>
                <a:spcPct val="120000"/>
              </a:lnSpc>
              <a:buNone/>
            </a:pPr>
            <a:r>
              <a:rPr lang="en-US" sz="1050" i="1" dirty="0">
                <a:solidFill>
                  <a:srgbClr val="9FC3D9"/>
                </a:solidFill>
                <a:latin typeface="Calibri" pitchFamily="34" charset="0"/>
                <a:ea typeface="Calibri" pitchFamily="34" charset="-122"/>
                <a:cs typeface="Calibri" pitchFamily="34" charset="-120"/>
              </a:rPr>
              <a:t>a token tree: one prompt, many possible next steps</a:t>
            </a:r>
            <a:endParaRPr lang="en-US" sz="1050" dirty="0"/>
          </a:p>
        </p:txBody>
      </p:sp>
      <p:sp>
        <p:nvSpPr>
          <p:cNvPr id="26" name="Text 24"/>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27"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How an LLM Actually Writes Text</a:t>
            </a:r>
            <a:endParaRPr lang="en-US" sz="3200" dirty="0"/>
          </a:p>
        </p:txBody>
      </p:sp>
      <p:sp>
        <p:nvSpPr>
          <p:cNvPr id="4" name="Text 2"/>
          <p:cNvSpPr/>
          <p:nvPr/>
        </p:nvSpPr>
        <p:spPr>
          <a:xfrm>
            <a:off x="548640" y="1417320"/>
            <a:ext cx="10789920" cy="457200"/>
          </a:xfrm>
          <a:prstGeom prst="rect">
            <a:avLst/>
          </a:prstGeom>
          <a:noFill/>
          <a:ln/>
        </p:spPr>
        <p:txBody>
          <a:bodyPr wrap="square"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This section stands on its own — no specific tool needed. It's the mechanical loop every language model runs, one token at a time.</a:t>
            </a:r>
            <a:endParaRPr lang="en-US" sz="1400" dirty="0"/>
          </a:p>
        </p:txBody>
      </p:sp>
      <p:sp>
        <p:nvSpPr>
          <p:cNvPr id="5" name="Shape 3"/>
          <p:cNvSpPr/>
          <p:nvPr/>
        </p:nvSpPr>
        <p:spPr>
          <a:xfrm>
            <a:off x="548640" y="2148840"/>
            <a:ext cx="2542032" cy="3383280"/>
          </a:xfrm>
          <a:prstGeom prst="roundRect">
            <a:avLst>
              <a:gd name="adj" fmla="val 2878"/>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749808" y="2331720"/>
            <a:ext cx="731520" cy="457200"/>
          </a:xfrm>
          <a:prstGeom prst="rect">
            <a:avLst/>
          </a:prstGeom>
          <a:noFill/>
          <a:ln/>
        </p:spPr>
        <p:txBody>
          <a:bodyPr wrap="square" rtlCol="0" anchor="ctr"/>
          <a:lstStyle/>
          <a:p>
            <a:pPr indent="0" marL="0">
              <a:buNone/>
            </a:pPr>
            <a:r>
              <a:rPr lang="en-US" sz="2600" b="1" dirty="0">
                <a:solidFill>
                  <a:srgbClr val="CFE8F0"/>
                </a:solidFill>
                <a:latin typeface="Cambria" pitchFamily="34" charset="0"/>
                <a:ea typeface="Cambria" pitchFamily="34" charset="-122"/>
                <a:cs typeface="Cambria" pitchFamily="34" charset="-120"/>
              </a:rPr>
              <a:t>1</a:t>
            </a:r>
            <a:endParaRPr lang="en-US" sz="2600" dirty="0"/>
          </a:p>
        </p:txBody>
      </p:sp>
      <p:sp>
        <p:nvSpPr>
          <p:cNvPr id="7" name="Shape 5"/>
          <p:cNvSpPr/>
          <p:nvPr/>
        </p:nvSpPr>
        <p:spPr>
          <a:xfrm>
            <a:off x="1453896" y="2834640"/>
            <a:ext cx="731520" cy="731520"/>
          </a:xfrm>
          <a:prstGeom prst="ellipse">
            <a:avLst/>
          </a:prstGeom>
          <a:solidFill>
            <a:srgbClr val="065A82"/>
          </a:solidFill>
          <a:ln/>
        </p:spPr>
      </p:sp>
      <p:pic>
        <p:nvPicPr>
          <p:cNvPr id="8" name="Image 0" descr="/home/claude/icons/layers.png">    </p:cNvPr>
          <p:cNvPicPr>
            <a:picLocks noChangeAspect="1"/>
          </p:cNvPicPr>
          <p:nvPr/>
        </p:nvPicPr>
        <p:blipFill>
          <a:blip r:embed="rId1"/>
          <a:stretch>
            <a:fillRect/>
          </a:stretch>
        </p:blipFill>
        <p:spPr>
          <a:xfrm>
            <a:off x="1644091" y="3024835"/>
            <a:ext cx="351130" cy="351130"/>
          </a:xfrm>
          <a:prstGeom prst="rect">
            <a:avLst/>
          </a:prstGeom>
        </p:spPr>
      </p:pic>
      <p:sp>
        <p:nvSpPr>
          <p:cNvPr id="9" name="Text 6"/>
          <p:cNvSpPr/>
          <p:nvPr/>
        </p:nvSpPr>
        <p:spPr>
          <a:xfrm>
            <a:off x="731520" y="3749040"/>
            <a:ext cx="2176272" cy="36576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Tokenize</a:t>
            </a:r>
            <a:endParaRPr lang="en-US" sz="1600" dirty="0"/>
          </a:p>
        </p:txBody>
      </p:sp>
      <p:sp>
        <p:nvSpPr>
          <p:cNvPr id="10" name="Text 7"/>
          <p:cNvSpPr/>
          <p:nvPr/>
        </p:nvSpPr>
        <p:spPr>
          <a:xfrm>
            <a:off x="749808" y="4160520"/>
            <a:ext cx="2139696" cy="1234440"/>
          </a:xfrm>
          <a:prstGeom prst="rect">
            <a:avLst/>
          </a:prstGeom>
          <a:noFill/>
          <a:ln/>
        </p:spPr>
        <p:txBody>
          <a:bodyPr wrap="square" rtlCol="0" anchor="ctr"/>
          <a:lstStyle/>
          <a:p>
            <a:pPr algn="ctr" indent="0" marL="0">
              <a:lnSpc>
                <a:spcPct val="115000"/>
              </a:lnSpc>
              <a:buNone/>
            </a:pPr>
            <a:r>
              <a:rPr lang="en-US" sz="1150" dirty="0">
                <a:solidFill>
                  <a:srgbClr val="5C7080"/>
                </a:solidFill>
                <a:latin typeface="Calibri" pitchFamily="34" charset="0"/>
                <a:ea typeface="Calibri" pitchFamily="34" charset="-122"/>
                <a:cs typeface="Calibri" pitchFamily="34" charset="-120"/>
              </a:rPr>
              <a:t>Input text is split into tokens — sub-word chunks, not words or characters.</a:t>
            </a:r>
            <a:endParaRPr lang="en-US" sz="1150" dirty="0"/>
          </a:p>
        </p:txBody>
      </p:sp>
      <p:sp>
        <p:nvSpPr>
          <p:cNvPr id="11" name="Shape 8"/>
          <p:cNvSpPr/>
          <p:nvPr/>
        </p:nvSpPr>
        <p:spPr>
          <a:xfrm>
            <a:off x="3291840" y="2148840"/>
            <a:ext cx="2542032" cy="3383280"/>
          </a:xfrm>
          <a:prstGeom prst="roundRect">
            <a:avLst>
              <a:gd name="adj" fmla="val 2878"/>
            </a:avLst>
          </a:prstGeom>
          <a:solidFill>
            <a:srgbClr val="F2F8FA"/>
          </a:solidFill>
          <a:ln/>
          <a:effectLst>
            <a:outerShdw sx="100000" sy="100000" kx="0" ky="0" algn="bl" rotWithShape="0" blurRad="101600" dist="25400" dir="5400000">
              <a:srgbClr val="1B2733">
                <a:alpha val="8000"/>
              </a:srgbClr>
            </a:outerShdw>
          </a:effectLst>
        </p:spPr>
      </p:sp>
      <p:sp>
        <p:nvSpPr>
          <p:cNvPr id="12" name="Text 9"/>
          <p:cNvSpPr/>
          <p:nvPr/>
        </p:nvSpPr>
        <p:spPr>
          <a:xfrm>
            <a:off x="3493008" y="2331720"/>
            <a:ext cx="731520" cy="457200"/>
          </a:xfrm>
          <a:prstGeom prst="rect">
            <a:avLst/>
          </a:prstGeom>
          <a:noFill/>
          <a:ln/>
        </p:spPr>
        <p:txBody>
          <a:bodyPr wrap="square" rtlCol="0" anchor="ctr"/>
          <a:lstStyle/>
          <a:p>
            <a:pPr indent="0" marL="0">
              <a:buNone/>
            </a:pPr>
            <a:r>
              <a:rPr lang="en-US" sz="2600" b="1" dirty="0">
                <a:solidFill>
                  <a:srgbClr val="CFE8F0"/>
                </a:solidFill>
                <a:latin typeface="Cambria" pitchFamily="34" charset="0"/>
                <a:ea typeface="Cambria" pitchFamily="34" charset="-122"/>
                <a:cs typeface="Cambria" pitchFamily="34" charset="-120"/>
              </a:rPr>
              <a:t>2</a:t>
            </a:r>
            <a:endParaRPr lang="en-US" sz="2600" dirty="0"/>
          </a:p>
        </p:txBody>
      </p:sp>
      <p:sp>
        <p:nvSpPr>
          <p:cNvPr id="13" name="Shape 10"/>
          <p:cNvSpPr/>
          <p:nvPr/>
        </p:nvSpPr>
        <p:spPr>
          <a:xfrm>
            <a:off x="4197096" y="2834640"/>
            <a:ext cx="731520" cy="731520"/>
          </a:xfrm>
          <a:prstGeom prst="ellipse">
            <a:avLst/>
          </a:prstGeom>
          <a:solidFill>
            <a:srgbClr val="065A82"/>
          </a:solidFill>
          <a:ln/>
        </p:spPr>
      </p:sp>
      <p:pic>
        <p:nvPicPr>
          <p:cNvPr id="14" name="Image 1" descr="/home/claude/icons/lightbulb_white.png">    </p:cNvPr>
          <p:cNvPicPr>
            <a:picLocks noChangeAspect="1"/>
          </p:cNvPicPr>
          <p:nvPr/>
        </p:nvPicPr>
        <p:blipFill>
          <a:blip r:embed="rId2"/>
          <a:stretch>
            <a:fillRect/>
          </a:stretch>
        </p:blipFill>
        <p:spPr>
          <a:xfrm>
            <a:off x="4387291" y="3024835"/>
            <a:ext cx="351130" cy="351130"/>
          </a:xfrm>
          <a:prstGeom prst="rect">
            <a:avLst/>
          </a:prstGeom>
        </p:spPr>
      </p:pic>
      <p:sp>
        <p:nvSpPr>
          <p:cNvPr id="15" name="Text 11"/>
          <p:cNvSpPr/>
          <p:nvPr/>
        </p:nvSpPr>
        <p:spPr>
          <a:xfrm>
            <a:off x="3474720" y="3749040"/>
            <a:ext cx="2176272" cy="36576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Predict</a:t>
            </a:r>
            <a:endParaRPr lang="en-US" sz="1600" dirty="0"/>
          </a:p>
        </p:txBody>
      </p:sp>
      <p:sp>
        <p:nvSpPr>
          <p:cNvPr id="16" name="Text 12"/>
          <p:cNvSpPr/>
          <p:nvPr/>
        </p:nvSpPr>
        <p:spPr>
          <a:xfrm>
            <a:off x="3493008" y="4160520"/>
            <a:ext cx="2139696" cy="1234440"/>
          </a:xfrm>
          <a:prstGeom prst="rect">
            <a:avLst/>
          </a:prstGeom>
          <a:noFill/>
          <a:ln/>
        </p:spPr>
        <p:txBody>
          <a:bodyPr wrap="square" rtlCol="0" anchor="ctr"/>
          <a:lstStyle/>
          <a:p>
            <a:pPr algn="ctr" indent="0" marL="0">
              <a:lnSpc>
                <a:spcPct val="115000"/>
              </a:lnSpc>
              <a:buNone/>
            </a:pPr>
            <a:r>
              <a:rPr lang="en-US" sz="1150" dirty="0">
                <a:solidFill>
                  <a:srgbClr val="5C7080"/>
                </a:solidFill>
                <a:latin typeface="Calibri" pitchFamily="34" charset="0"/>
                <a:ea typeface="Calibri" pitchFamily="34" charset="-122"/>
                <a:cs typeface="Calibri" pitchFamily="34" charset="-120"/>
              </a:rPr>
              <a:t>The model consumes the token sequence and outputs one score (a logit) per vocabulary token — tens of thousands of numbers.</a:t>
            </a:r>
            <a:endParaRPr lang="en-US" sz="1150" dirty="0"/>
          </a:p>
        </p:txBody>
      </p:sp>
      <p:sp>
        <p:nvSpPr>
          <p:cNvPr id="17" name="Shape 13"/>
          <p:cNvSpPr/>
          <p:nvPr/>
        </p:nvSpPr>
        <p:spPr>
          <a:xfrm>
            <a:off x="6035040" y="2148840"/>
            <a:ext cx="2542032" cy="3383280"/>
          </a:xfrm>
          <a:prstGeom prst="roundRect">
            <a:avLst>
              <a:gd name="adj" fmla="val 2878"/>
            </a:avLst>
          </a:prstGeom>
          <a:solidFill>
            <a:srgbClr val="F2F8FA"/>
          </a:solidFill>
          <a:ln/>
          <a:effectLst>
            <a:outerShdw sx="100000" sy="100000" kx="0" ky="0" algn="bl" rotWithShape="0" blurRad="101600" dist="25400" dir="5400000">
              <a:srgbClr val="1B2733">
                <a:alpha val="8000"/>
              </a:srgbClr>
            </a:outerShdw>
          </a:effectLst>
        </p:spPr>
      </p:sp>
      <p:sp>
        <p:nvSpPr>
          <p:cNvPr id="18" name="Text 14"/>
          <p:cNvSpPr/>
          <p:nvPr/>
        </p:nvSpPr>
        <p:spPr>
          <a:xfrm>
            <a:off x="6236208" y="2331720"/>
            <a:ext cx="731520" cy="457200"/>
          </a:xfrm>
          <a:prstGeom prst="rect">
            <a:avLst/>
          </a:prstGeom>
          <a:noFill/>
          <a:ln/>
        </p:spPr>
        <p:txBody>
          <a:bodyPr wrap="square" rtlCol="0" anchor="ctr"/>
          <a:lstStyle/>
          <a:p>
            <a:pPr indent="0" marL="0">
              <a:buNone/>
            </a:pPr>
            <a:r>
              <a:rPr lang="en-US" sz="2600" b="1" dirty="0">
                <a:solidFill>
                  <a:srgbClr val="CFE8F0"/>
                </a:solidFill>
                <a:latin typeface="Cambria" pitchFamily="34" charset="0"/>
                <a:ea typeface="Cambria" pitchFamily="34" charset="-122"/>
                <a:cs typeface="Cambria" pitchFamily="34" charset="-120"/>
              </a:rPr>
              <a:t>3</a:t>
            </a:r>
            <a:endParaRPr lang="en-US" sz="2600" dirty="0"/>
          </a:p>
        </p:txBody>
      </p:sp>
      <p:sp>
        <p:nvSpPr>
          <p:cNvPr id="19" name="Shape 15"/>
          <p:cNvSpPr/>
          <p:nvPr/>
        </p:nvSpPr>
        <p:spPr>
          <a:xfrm>
            <a:off x="6940296" y="2834640"/>
            <a:ext cx="731520" cy="731520"/>
          </a:xfrm>
          <a:prstGeom prst="ellipse">
            <a:avLst/>
          </a:prstGeom>
          <a:solidFill>
            <a:srgbClr val="065A82"/>
          </a:solidFill>
          <a:ln/>
        </p:spPr>
      </p:sp>
      <p:pic>
        <p:nvPicPr>
          <p:cNvPr id="20" name="Image 2" descr="/home/claude/icons/dice.png">    </p:cNvPr>
          <p:cNvPicPr>
            <a:picLocks noChangeAspect="1"/>
          </p:cNvPicPr>
          <p:nvPr/>
        </p:nvPicPr>
        <p:blipFill>
          <a:blip r:embed="rId3"/>
          <a:stretch>
            <a:fillRect/>
          </a:stretch>
        </p:blipFill>
        <p:spPr>
          <a:xfrm>
            <a:off x="7130491" y="3024835"/>
            <a:ext cx="351130" cy="351130"/>
          </a:xfrm>
          <a:prstGeom prst="rect">
            <a:avLst/>
          </a:prstGeom>
        </p:spPr>
      </p:pic>
      <p:sp>
        <p:nvSpPr>
          <p:cNvPr id="21" name="Text 16"/>
          <p:cNvSpPr/>
          <p:nvPr/>
        </p:nvSpPr>
        <p:spPr>
          <a:xfrm>
            <a:off x="6217920" y="3749040"/>
            <a:ext cx="2176272" cy="36576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Choose</a:t>
            </a:r>
            <a:endParaRPr lang="en-US" sz="1600" dirty="0"/>
          </a:p>
        </p:txBody>
      </p:sp>
      <p:sp>
        <p:nvSpPr>
          <p:cNvPr id="22" name="Text 17"/>
          <p:cNvSpPr/>
          <p:nvPr/>
        </p:nvSpPr>
        <p:spPr>
          <a:xfrm>
            <a:off x="6236208" y="4160520"/>
            <a:ext cx="2139696" cy="1234440"/>
          </a:xfrm>
          <a:prstGeom prst="rect">
            <a:avLst/>
          </a:prstGeom>
          <a:noFill/>
          <a:ln/>
        </p:spPr>
        <p:txBody>
          <a:bodyPr wrap="square" rtlCol="0" anchor="ctr"/>
          <a:lstStyle/>
          <a:p>
            <a:pPr algn="ctr" indent="0" marL="0">
              <a:lnSpc>
                <a:spcPct val="115000"/>
              </a:lnSpc>
              <a:buNone/>
            </a:pPr>
            <a:r>
              <a:rPr lang="en-US" sz="1150" dirty="0">
                <a:solidFill>
                  <a:srgbClr val="5C7080"/>
                </a:solidFill>
                <a:latin typeface="Calibri" pitchFamily="34" charset="0"/>
                <a:ea typeface="Calibri" pitchFamily="34" charset="-122"/>
                <a:cs typeface="Calibri" pitchFamily="34" charset="-120"/>
              </a:rPr>
              <a:t>Logits become a probability distribution; a sampling rule picks the next token.</a:t>
            </a:r>
            <a:endParaRPr lang="en-US" sz="1150" dirty="0"/>
          </a:p>
        </p:txBody>
      </p:sp>
      <p:sp>
        <p:nvSpPr>
          <p:cNvPr id="23" name="Shape 18"/>
          <p:cNvSpPr/>
          <p:nvPr/>
        </p:nvSpPr>
        <p:spPr>
          <a:xfrm>
            <a:off x="8778240" y="2148840"/>
            <a:ext cx="2542032" cy="3383280"/>
          </a:xfrm>
          <a:prstGeom prst="roundRect">
            <a:avLst>
              <a:gd name="adj" fmla="val 2878"/>
            </a:avLst>
          </a:prstGeom>
          <a:solidFill>
            <a:srgbClr val="F2F8FA"/>
          </a:solidFill>
          <a:ln/>
          <a:effectLst>
            <a:outerShdw sx="100000" sy="100000" kx="0" ky="0" algn="bl" rotWithShape="0" blurRad="101600" dist="25400" dir="5400000">
              <a:srgbClr val="1B2733">
                <a:alpha val="8000"/>
              </a:srgbClr>
            </a:outerShdw>
          </a:effectLst>
        </p:spPr>
      </p:sp>
      <p:sp>
        <p:nvSpPr>
          <p:cNvPr id="24" name="Text 19"/>
          <p:cNvSpPr/>
          <p:nvPr/>
        </p:nvSpPr>
        <p:spPr>
          <a:xfrm>
            <a:off x="8979408" y="2331720"/>
            <a:ext cx="731520" cy="457200"/>
          </a:xfrm>
          <a:prstGeom prst="rect">
            <a:avLst/>
          </a:prstGeom>
          <a:noFill/>
          <a:ln/>
        </p:spPr>
        <p:txBody>
          <a:bodyPr wrap="square" rtlCol="0" anchor="ctr"/>
          <a:lstStyle/>
          <a:p>
            <a:pPr indent="0" marL="0">
              <a:buNone/>
            </a:pPr>
            <a:r>
              <a:rPr lang="en-US" sz="2600" b="1" dirty="0">
                <a:solidFill>
                  <a:srgbClr val="CFE8F0"/>
                </a:solidFill>
                <a:latin typeface="Cambria" pitchFamily="34" charset="0"/>
                <a:ea typeface="Cambria" pitchFamily="34" charset="-122"/>
                <a:cs typeface="Cambria" pitchFamily="34" charset="-120"/>
              </a:rPr>
              <a:t>4</a:t>
            </a:r>
            <a:endParaRPr lang="en-US" sz="2600" dirty="0"/>
          </a:p>
        </p:txBody>
      </p:sp>
      <p:sp>
        <p:nvSpPr>
          <p:cNvPr id="25" name="Shape 20"/>
          <p:cNvSpPr/>
          <p:nvPr/>
        </p:nvSpPr>
        <p:spPr>
          <a:xfrm>
            <a:off x="9683496" y="2834640"/>
            <a:ext cx="731520" cy="731520"/>
          </a:xfrm>
          <a:prstGeom prst="ellipse">
            <a:avLst/>
          </a:prstGeom>
          <a:solidFill>
            <a:srgbClr val="065A82"/>
          </a:solidFill>
          <a:ln/>
        </p:spPr>
      </p:sp>
      <p:pic>
        <p:nvPicPr>
          <p:cNvPr id="26" name="Image 3" descr="/home/claude/icons/chevron.png">    </p:cNvPr>
          <p:cNvPicPr>
            <a:picLocks noChangeAspect="1"/>
          </p:cNvPicPr>
          <p:nvPr/>
        </p:nvPicPr>
        <p:blipFill>
          <a:blip r:embed="rId4"/>
          <a:stretch>
            <a:fillRect/>
          </a:stretch>
        </p:blipFill>
        <p:spPr>
          <a:xfrm>
            <a:off x="9873691" y="3024835"/>
            <a:ext cx="351130" cy="351130"/>
          </a:xfrm>
          <a:prstGeom prst="rect">
            <a:avLst/>
          </a:prstGeom>
        </p:spPr>
      </p:pic>
      <p:sp>
        <p:nvSpPr>
          <p:cNvPr id="27" name="Text 21"/>
          <p:cNvSpPr/>
          <p:nvPr/>
        </p:nvSpPr>
        <p:spPr>
          <a:xfrm>
            <a:off x="8961120" y="3749040"/>
            <a:ext cx="2176272" cy="365760"/>
          </a:xfrm>
          <a:prstGeom prst="rect">
            <a:avLst/>
          </a:prstGeom>
          <a:noFill/>
          <a:ln/>
        </p:spPr>
        <p:txBody>
          <a:bodyPr wrap="square" rtlCol="0" anchor="ctr"/>
          <a:lstStyle/>
          <a:p>
            <a:pPr algn="ctr" indent="0" marL="0">
              <a:buNone/>
            </a:pPr>
            <a:r>
              <a:rPr lang="en-US" sz="1600" b="1" dirty="0">
                <a:solidFill>
                  <a:srgbClr val="1B2733"/>
                </a:solidFill>
                <a:latin typeface="Calibri" pitchFamily="34" charset="0"/>
                <a:ea typeface="Calibri" pitchFamily="34" charset="-122"/>
                <a:cs typeface="Calibri" pitchFamily="34" charset="-120"/>
              </a:rPr>
              <a:t>Repeat</a:t>
            </a:r>
            <a:endParaRPr lang="en-US" sz="1600" dirty="0"/>
          </a:p>
        </p:txBody>
      </p:sp>
      <p:sp>
        <p:nvSpPr>
          <p:cNvPr id="28" name="Text 22"/>
          <p:cNvSpPr/>
          <p:nvPr/>
        </p:nvSpPr>
        <p:spPr>
          <a:xfrm>
            <a:off x="8979408" y="4160520"/>
            <a:ext cx="2139696" cy="1234440"/>
          </a:xfrm>
          <a:prstGeom prst="rect">
            <a:avLst/>
          </a:prstGeom>
          <a:noFill/>
          <a:ln/>
        </p:spPr>
        <p:txBody>
          <a:bodyPr wrap="square" rtlCol="0" anchor="ctr"/>
          <a:lstStyle/>
          <a:p>
            <a:pPr algn="ctr" indent="0" marL="0">
              <a:lnSpc>
                <a:spcPct val="115000"/>
              </a:lnSpc>
              <a:buNone/>
            </a:pPr>
            <a:r>
              <a:rPr lang="en-US" sz="1150" dirty="0">
                <a:solidFill>
                  <a:srgbClr val="5C7080"/>
                </a:solidFill>
                <a:latin typeface="Calibri" pitchFamily="34" charset="0"/>
                <a:ea typeface="Calibri" pitchFamily="34" charset="-122"/>
                <a:cs typeface="Calibri" pitchFamily="34" charset="-120"/>
              </a:rPr>
              <a:t>The chosen token is appended to the sequence, and the whole process runs again — one token at a time.</a:t>
            </a:r>
            <a:endParaRPr lang="en-US" sz="1150" dirty="0"/>
          </a:p>
        </p:txBody>
      </p:sp>
      <p:sp>
        <p:nvSpPr>
          <p:cNvPr id="29" name="Text 23"/>
          <p:cNvSpPr/>
          <p:nvPr/>
        </p:nvSpPr>
        <p:spPr>
          <a:xfrm>
            <a:off x="548640" y="5806440"/>
            <a:ext cx="11064240" cy="640080"/>
          </a:xfrm>
          <a:prstGeom prst="rect">
            <a:avLst/>
          </a:prstGeom>
          <a:noFill/>
          <a:ln/>
        </p:spPr>
        <p:txBody>
          <a:bodyPr wrap="square" rtlCol="0" anchor="ctr"/>
          <a:lstStyle/>
          <a:p>
            <a:pPr indent="0" marL="0">
              <a:lnSpc>
                <a:spcPct val="120000"/>
              </a:lnSpc>
              <a:buNone/>
            </a:pPr>
            <a:r>
              <a:rPr lang="en-US" sz="1300" b="1" dirty="0">
                <a:solidFill>
                  <a:srgbClr val="1B2733"/>
                </a:solidFill>
                <a:latin typeface="Calibri" pitchFamily="34" charset="0"/>
                <a:ea typeface="Calibri" pitchFamily="34" charset="-122"/>
                <a:cs typeface="Calibri" pitchFamily="34" charset="-120"/>
              </a:rPr>
              <a:t>Key point: </a:t>
            </a:r>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step 3 is not a single decision — at every position the model actually knows how likely dozens of alternative tokens were. Normal chat interfaces throw that information away and show you only the one path taken.</a:t>
            </a:r>
            <a:endParaRPr lang="en-US" sz="1300" dirty="0"/>
          </a:p>
        </p:txBody>
      </p:sp>
      <p:sp>
        <p:nvSpPr>
          <p:cNvPr id="30" name="Text 24"/>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31"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Logits, Logprobs, and Sampling Rules</a:t>
            </a:r>
            <a:endParaRPr lang="en-US" sz="3200" dirty="0"/>
          </a:p>
        </p:txBody>
      </p:sp>
      <p:sp>
        <p:nvSpPr>
          <p:cNvPr id="4" name="Shape 2"/>
          <p:cNvSpPr/>
          <p:nvPr/>
        </p:nvSpPr>
        <p:spPr>
          <a:xfrm>
            <a:off x="548640" y="1563624"/>
            <a:ext cx="109728" cy="109728"/>
          </a:xfrm>
          <a:prstGeom prst="ellipse">
            <a:avLst/>
          </a:prstGeom>
          <a:solidFill>
            <a:srgbClr val="1C7293"/>
          </a:solidFill>
          <a:ln/>
        </p:spPr>
      </p:sp>
      <p:sp>
        <p:nvSpPr>
          <p:cNvPr id="5" name="Text 3"/>
          <p:cNvSpPr/>
          <p:nvPr/>
        </p:nvSpPr>
        <p:spPr>
          <a:xfrm>
            <a:off x="777240" y="1399032"/>
            <a:ext cx="5120640" cy="3200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Logit</a:t>
            </a:r>
            <a:endParaRPr lang="en-US" sz="1500" dirty="0"/>
          </a:p>
        </p:txBody>
      </p:sp>
      <p:sp>
        <p:nvSpPr>
          <p:cNvPr id="6" name="Text 4"/>
          <p:cNvSpPr/>
          <p:nvPr/>
        </p:nvSpPr>
        <p:spPr>
          <a:xfrm>
            <a:off x="777240" y="1728216"/>
            <a:ext cx="5212080" cy="777240"/>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A raw, unnormalized score the model assigns to each vocabulary token at a given position. Higher = more likely.</a:t>
            </a:r>
            <a:endParaRPr lang="en-US" sz="1200" dirty="0"/>
          </a:p>
        </p:txBody>
      </p:sp>
      <p:sp>
        <p:nvSpPr>
          <p:cNvPr id="7" name="Shape 5"/>
          <p:cNvSpPr/>
          <p:nvPr/>
        </p:nvSpPr>
        <p:spPr>
          <a:xfrm>
            <a:off x="548640" y="2615184"/>
            <a:ext cx="109728" cy="109728"/>
          </a:xfrm>
          <a:prstGeom prst="ellipse">
            <a:avLst/>
          </a:prstGeom>
          <a:solidFill>
            <a:srgbClr val="1C7293"/>
          </a:solidFill>
          <a:ln/>
        </p:spPr>
      </p:sp>
      <p:sp>
        <p:nvSpPr>
          <p:cNvPr id="8" name="Text 6"/>
          <p:cNvSpPr/>
          <p:nvPr/>
        </p:nvSpPr>
        <p:spPr>
          <a:xfrm>
            <a:off x="777240" y="2450592"/>
            <a:ext cx="5120640" cy="3200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Softmax → probability</a:t>
            </a:r>
            <a:endParaRPr lang="en-US" sz="1500" dirty="0"/>
          </a:p>
        </p:txBody>
      </p:sp>
      <p:sp>
        <p:nvSpPr>
          <p:cNvPr id="9" name="Text 7"/>
          <p:cNvSpPr/>
          <p:nvPr/>
        </p:nvSpPr>
        <p:spPr>
          <a:xfrm>
            <a:off x="777240" y="2779776"/>
            <a:ext cx="5212080" cy="777240"/>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Logits are exponentiated and normalized so they sum to 1, giving each candidate token a probability.</a:t>
            </a:r>
            <a:endParaRPr lang="en-US" sz="1200" dirty="0"/>
          </a:p>
        </p:txBody>
      </p:sp>
      <p:sp>
        <p:nvSpPr>
          <p:cNvPr id="10" name="Shape 8"/>
          <p:cNvSpPr/>
          <p:nvPr/>
        </p:nvSpPr>
        <p:spPr>
          <a:xfrm>
            <a:off x="548640" y="3666744"/>
            <a:ext cx="109728" cy="109728"/>
          </a:xfrm>
          <a:prstGeom prst="ellipse">
            <a:avLst/>
          </a:prstGeom>
          <a:solidFill>
            <a:srgbClr val="1C7293"/>
          </a:solidFill>
          <a:ln/>
        </p:spPr>
      </p:sp>
      <p:sp>
        <p:nvSpPr>
          <p:cNvPr id="11" name="Text 9"/>
          <p:cNvSpPr/>
          <p:nvPr/>
        </p:nvSpPr>
        <p:spPr>
          <a:xfrm>
            <a:off x="777240" y="3502152"/>
            <a:ext cx="5120640" cy="32004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Logprob</a:t>
            </a:r>
            <a:endParaRPr lang="en-US" sz="1500" dirty="0"/>
          </a:p>
        </p:txBody>
      </p:sp>
      <p:sp>
        <p:nvSpPr>
          <p:cNvPr id="12" name="Text 10"/>
          <p:cNvSpPr/>
          <p:nvPr/>
        </p:nvSpPr>
        <p:spPr>
          <a:xfrm>
            <a:off x="777240" y="3831336"/>
            <a:ext cx="5212080" cy="777240"/>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The natural log of that probability. Convenient because they add instead of multiply, and APIs often return them directly alongside the generated text.</a:t>
            </a:r>
            <a:endParaRPr lang="en-US" sz="1200" dirty="0"/>
          </a:p>
        </p:txBody>
      </p:sp>
      <p:sp>
        <p:nvSpPr>
          <p:cNvPr id="13" name="Shape 11"/>
          <p:cNvSpPr/>
          <p:nvPr/>
        </p:nvSpPr>
        <p:spPr>
          <a:xfrm>
            <a:off x="6263640" y="1463040"/>
            <a:ext cx="5349240" cy="4709160"/>
          </a:xfrm>
          <a:prstGeom prst="roundRect">
            <a:avLst>
              <a:gd name="adj" fmla="val 1553"/>
            </a:avLst>
          </a:prstGeom>
          <a:solidFill>
            <a:srgbClr val="21295C"/>
          </a:solidFill>
          <a:ln/>
        </p:spPr>
      </p:sp>
      <p:sp>
        <p:nvSpPr>
          <p:cNvPr id="14" name="Text 12"/>
          <p:cNvSpPr/>
          <p:nvPr/>
        </p:nvSpPr>
        <p:spPr>
          <a:xfrm>
            <a:off x="6583680" y="1691640"/>
            <a:ext cx="470916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Sampling strategies</a:t>
            </a:r>
            <a:endParaRPr lang="en-US" sz="1600" dirty="0"/>
          </a:p>
        </p:txBody>
      </p:sp>
      <p:sp>
        <p:nvSpPr>
          <p:cNvPr id="15" name="Text 13"/>
          <p:cNvSpPr/>
          <p:nvPr/>
        </p:nvSpPr>
        <p:spPr>
          <a:xfrm>
            <a:off x="6583680" y="2194560"/>
            <a:ext cx="4709160" cy="960120"/>
          </a:xfrm>
          <a:prstGeom prst="rect">
            <a:avLst/>
          </a:prstGeom>
          <a:noFill/>
          <a:ln/>
        </p:spPr>
        <p:txBody>
          <a:bodyPr wrap="square" rtlCol="0" anchor="ctr"/>
          <a:lstStyle/>
          <a:p>
            <a:pPr indent="0" marL="0">
              <a:lnSpc>
                <a:spcPct val="120000"/>
              </a:lnSpc>
              <a:buNone/>
            </a:pPr>
            <a:r>
              <a:rPr lang="en-US" sz="1250" b="1" dirty="0">
                <a:solidFill>
                  <a:srgbClr val="8FD4E8"/>
                </a:solidFill>
                <a:latin typeface="Calibri" pitchFamily="34" charset="0"/>
                <a:ea typeface="Calibri" pitchFamily="34" charset="-122"/>
                <a:cs typeface="Calibri" pitchFamily="34" charset="-120"/>
              </a:rPr>
              <a:t>Greedy:  </a:t>
            </a:r>
            <a:pPr indent="0" marL="0">
              <a:lnSpc>
                <a:spcPct val="120000"/>
              </a:lnSpc>
              <a:buNone/>
            </a:pPr>
            <a:r>
              <a:rPr lang="en-US" sz="1250" dirty="0">
                <a:solidFill>
                  <a:srgbClr val="D7E9F2"/>
                </a:solidFill>
                <a:latin typeface="Calibri" pitchFamily="34" charset="0"/>
                <a:ea typeface="Calibri" pitchFamily="34" charset="-122"/>
                <a:cs typeface="Calibri" pitchFamily="34" charset="-120"/>
              </a:rPr>
              <a:t>Always take the single highest-probability token. Deterministic — the “chosen path” in a normal chat reply is exactly this, repeated.</a:t>
            </a:r>
            <a:endParaRPr lang="en-US" sz="1250" dirty="0"/>
          </a:p>
        </p:txBody>
      </p:sp>
      <p:sp>
        <p:nvSpPr>
          <p:cNvPr id="16" name="Text 14"/>
          <p:cNvSpPr/>
          <p:nvPr/>
        </p:nvSpPr>
        <p:spPr>
          <a:xfrm>
            <a:off x="6583680" y="3246120"/>
            <a:ext cx="4709160" cy="960120"/>
          </a:xfrm>
          <a:prstGeom prst="rect">
            <a:avLst/>
          </a:prstGeom>
          <a:noFill/>
          <a:ln/>
        </p:spPr>
        <p:txBody>
          <a:bodyPr wrap="square" rtlCol="0" anchor="ctr"/>
          <a:lstStyle/>
          <a:p>
            <a:pPr indent="0" marL="0">
              <a:lnSpc>
                <a:spcPct val="120000"/>
              </a:lnSpc>
              <a:buNone/>
            </a:pPr>
            <a:r>
              <a:rPr lang="en-US" sz="1250" b="1" dirty="0">
                <a:solidFill>
                  <a:srgbClr val="8FD4E8"/>
                </a:solidFill>
                <a:latin typeface="Calibri" pitchFamily="34" charset="0"/>
                <a:ea typeface="Calibri" pitchFamily="34" charset="-122"/>
                <a:cs typeface="Calibri" pitchFamily="34" charset="-120"/>
              </a:rPr>
              <a:t>Temperature:  </a:t>
            </a:r>
            <a:pPr indent="0" marL="0">
              <a:lnSpc>
                <a:spcPct val="120000"/>
              </a:lnSpc>
              <a:buNone/>
            </a:pPr>
            <a:r>
              <a:rPr lang="en-US" sz="1250" dirty="0">
                <a:solidFill>
                  <a:srgbClr val="D7E9F2"/>
                </a:solidFill>
                <a:latin typeface="Calibri" pitchFamily="34" charset="0"/>
                <a:ea typeface="Calibri" pitchFamily="34" charset="-122"/>
                <a:cs typeface="Calibri" pitchFamily="34" charset="-120"/>
              </a:rPr>
              <a:t>Rescales logits before softmax — lower = sharper / more confident, higher = flatter / more random.</a:t>
            </a:r>
            <a:endParaRPr lang="en-US" sz="1250" dirty="0"/>
          </a:p>
        </p:txBody>
      </p:sp>
      <p:sp>
        <p:nvSpPr>
          <p:cNvPr id="17" name="Text 15"/>
          <p:cNvSpPr/>
          <p:nvPr/>
        </p:nvSpPr>
        <p:spPr>
          <a:xfrm>
            <a:off x="6583680" y="4297680"/>
            <a:ext cx="4709160" cy="960120"/>
          </a:xfrm>
          <a:prstGeom prst="rect">
            <a:avLst/>
          </a:prstGeom>
          <a:noFill/>
          <a:ln/>
        </p:spPr>
        <p:txBody>
          <a:bodyPr wrap="square" rtlCol="0" anchor="ctr"/>
          <a:lstStyle/>
          <a:p>
            <a:pPr indent="0" marL="0">
              <a:lnSpc>
                <a:spcPct val="120000"/>
              </a:lnSpc>
              <a:buNone/>
            </a:pPr>
            <a:r>
              <a:rPr lang="en-US" sz="1250" b="1" dirty="0">
                <a:solidFill>
                  <a:srgbClr val="8FD4E8"/>
                </a:solidFill>
                <a:latin typeface="Calibri" pitchFamily="34" charset="0"/>
                <a:ea typeface="Calibri" pitchFamily="34" charset="-122"/>
                <a:cs typeface="Calibri" pitchFamily="34" charset="-120"/>
              </a:rPr>
              <a:t>Top-p (nucleus):  </a:t>
            </a:r>
            <a:pPr indent="0" marL="0">
              <a:lnSpc>
                <a:spcPct val="120000"/>
              </a:lnSpc>
              <a:buNone/>
            </a:pPr>
            <a:r>
              <a:rPr lang="en-US" sz="1250" dirty="0">
                <a:solidFill>
                  <a:srgbClr val="D7E9F2"/>
                </a:solidFill>
                <a:latin typeface="Calibri" pitchFamily="34" charset="0"/>
                <a:ea typeface="Calibri" pitchFamily="34" charset="-122"/>
                <a:cs typeface="Calibri" pitchFamily="34" charset="-120"/>
              </a:rPr>
              <a:t>Keep only the smallest set of top tokens whose cumulative probability exceeds p, then sample from that set — a way to cut off the unlikely long tail.</a:t>
            </a:r>
            <a:endParaRPr lang="en-US" sz="1250" dirty="0"/>
          </a:p>
        </p:txBody>
      </p:sp>
      <p:sp>
        <p:nvSpPr>
          <p:cNvPr id="18" name="Text 16"/>
          <p:cNvSpPr/>
          <p:nvPr/>
        </p:nvSpPr>
        <p:spPr>
          <a:xfrm>
            <a:off x="6583680" y="5349240"/>
            <a:ext cx="4709160" cy="685800"/>
          </a:xfrm>
          <a:prstGeom prst="rect">
            <a:avLst/>
          </a:prstGeom>
          <a:noFill/>
          <a:ln/>
        </p:spPr>
        <p:txBody>
          <a:bodyPr wrap="square" rtlCol="0" anchor="ctr"/>
          <a:lstStyle/>
          <a:p>
            <a:pPr indent="0" marL="0">
              <a:lnSpc>
                <a:spcPct val="120000"/>
              </a:lnSpc>
              <a:buNone/>
            </a:pPr>
            <a:r>
              <a:rPr lang="en-US" sz="1150" i="1" dirty="0">
                <a:solidFill>
                  <a:srgbClr val="BFDCE8"/>
                </a:solidFill>
                <a:latin typeface="Calibri" pitchFamily="34" charset="0"/>
                <a:ea typeface="Calibri" pitchFamily="34" charset="-122"/>
                <a:cs typeface="Calibri" pitchFamily="34" charset="-120"/>
              </a:rPr>
              <a:t>Most interfaces show you only the one sampled token. But an API that exposes logprobs lets you see the whole local neighborhood of alternatives the model weighed at that position — not just the one that won.</a:t>
            </a:r>
            <a:endParaRPr lang="en-US" sz="1150" dirty="0"/>
          </a:p>
        </p:txBody>
      </p:sp>
      <p:sp>
        <p:nvSpPr>
          <p:cNvPr id="19" name="Text 17"/>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20" name="Text 1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Base Models vs. Instruct (Chat) Models</a:t>
            </a:r>
            <a:endParaRPr lang="en-US" sz="3200" dirty="0"/>
          </a:p>
        </p:txBody>
      </p:sp>
      <p:sp>
        <p:nvSpPr>
          <p:cNvPr id="4" name="Text 2"/>
          <p:cNvSpPr/>
          <p:nvPr/>
        </p:nvSpPr>
        <p:spPr>
          <a:xfrm>
            <a:off x="548640" y="1417320"/>
            <a:ext cx="10972800" cy="457200"/>
          </a:xfrm>
          <a:prstGeom prst="rect">
            <a:avLst/>
          </a:prstGeom>
          <a:noFill/>
          <a:ln/>
        </p:spPr>
        <p:txBody>
          <a:bodyPr wrap="square"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The same architecture, trained two different ways, behaves very differently — this distinction shows up constantly once you start poking at real model internals.</a:t>
            </a:r>
            <a:endParaRPr lang="en-US" sz="1400" dirty="0"/>
          </a:p>
        </p:txBody>
      </p:sp>
      <p:sp>
        <p:nvSpPr>
          <p:cNvPr id="5" name="Shape 3"/>
          <p:cNvSpPr/>
          <p:nvPr/>
        </p:nvSpPr>
        <p:spPr>
          <a:xfrm>
            <a:off x="548640" y="2057400"/>
            <a:ext cx="5257800" cy="4114800"/>
          </a:xfrm>
          <a:prstGeom prst="roundRect">
            <a:avLst>
              <a:gd name="adj" fmla="val 1778"/>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331720"/>
            <a:ext cx="594360" cy="594360"/>
          </a:xfrm>
          <a:prstGeom prst="ellipse">
            <a:avLst/>
          </a:prstGeom>
          <a:solidFill>
            <a:srgbClr val="065A82"/>
          </a:solidFill>
          <a:ln/>
        </p:spPr>
      </p:sp>
      <p:pic>
        <p:nvPicPr>
          <p:cNvPr id="7" name="Image 0" descr="/home/claude/icons/book.png">    </p:cNvPr>
          <p:cNvPicPr>
            <a:picLocks noChangeAspect="1"/>
          </p:cNvPicPr>
          <p:nvPr/>
        </p:nvPicPr>
        <p:blipFill>
          <a:blip r:embed="rId1"/>
          <a:stretch>
            <a:fillRect/>
          </a:stretch>
        </p:blipFill>
        <p:spPr>
          <a:xfrm>
            <a:off x="977494" y="2486254"/>
            <a:ext cx="285293" cy="285293"/>
          </a:xfrm>
          <a:prstGeom prst="rect">
            <a:avLst/>
          </a:prstGeom>
        </p:spPr>
      </p:pic>
      <p:sp>
        <p:nvSpPr>
          <p:cNvPr id="8" name="Text 5"/>
          <p:cNvSpPr/>
          <p:nvPr/>
        </p:nvSpPr>
        <p:spPr>
          <a:xfrm>
            <a:off x="1554480" y="2377440"/>
            <a:ext cx="4069080" cy="502920"/>
          </a:xfrm>
          <a:prstGeom prst="rect">
            <a:avLst/>
          </a:prstGeom>
          <a:noFill/>
          <a:ln/>
        </p:spPr>
        <p:txBody>
          <a:bodyPr wrap="square"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Base model</a:t>
            </a:r>
            <a:endParaRPr lang="en-US" sz="1800" dirty="0"/>
          </a:p>
        </p:txBody>
      </p:sp>
      <p:sp>
        <p:nvSpPr>
          <p:cNvPr id="9" name="Text 6"/>
          <p:cNvSpPr/>
          <p:nvPr/>
        </p:nvSpPr>
        <p:spPr>
          <a:xfrm>
            <a:off x="868680" y="3108960"/>
            <a:ext cx="4617720" cy="2834640"/>
          </a:xfrm>
          <a:prstGeom prst="rect">
            <a:avLst/>
          </a:prstGeom>
          <a:noFill/>
          <a:ln/>
        </p:spPr>
        <p:txBody>
          <a:bodyPr wrap="square" rtlCol="0" anchor="ctr"/>
          <a:lstStyle/>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Trained only to predict the next token of raw text — no chat formatting, no notion of “assistant.”</a:t>
            </a:r>
            <a:endParaRPr lang="en-US" sz="1200" dirty="0"/>
          </a:p>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A prompt and its continuation are simply concatenated; the model just keeps writing.</a:t>
            </a:r>
            <a:endParaRPr lang="en-US" sz="1200" dirty="0"/>
          </a:p>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Tends to branch more at each step — many plausible continuations, higher diversity.</a:t>
            </a:r>
            <a:endParaRPr lang="en-US" sz="1200" dirty="0"/>
          </a:p>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Example: a freshly pretrained checkpoint like Llama 3 405B-base, before any instruction tuning.</a:t>
            </a:r>
            <a:endParaRPr lang="en-US" sz="1200" dirty="0"/>
          </a:p>
        </p:txBody>
      </p:sp>
      <p:sp>
        <p:nvSpPr>
          <p:cNvPr id="10" name="Shape 7"/>
          <p:cNvSpPr/>
          <p:nvPr/>
        </p:nvSpPr>
        <p:spPr>
          <a:xfrm>
            <a:off x="6355080" y="2057400"/>
            <a:ext cx="5257800" cy="4114800"/>
          </a:xfrm>
          <a:prstGeom prst="roundRect">
            <a:avLst>
              <a:gd name="adj" fmla="val 1778"/>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629400" y="2331720"/>
            <a:ext cx="594360" cy="594360"/>
          </a:xfrm>
          <a:prstGeom prst="ellipse">
            <a:avLst/>
          </a:prstGeom>
          <a:solidFill>
            <a:srgbClr val="1C7293"/>
          </a:solidFill>
          <a:ln/>
        </p:spPr>
      </p:sp>
      <p:pic>
        <p:nvPicPr>
          <p:cNvPr id="12" name="Image 1" descr="/home/claude/icons/robot.png">    </p:cNvPr>
          <p:cNvPicPr>
            <a:picLocks noChangeAspect="1"/>
          </p:cNvPicPr>
          <p:nvPr/>
        </p:nvPicPr>
        <p:blipFill>
          <a:blip r:embed="rId2"/>
          <a:stretch>
            <a:fillRect/>
          </a:stretch>
        </p:blipFill>
        <p:spPr>
          <a:xfrm>
            <a:off x="6783934" y="2486254"/>
            <a:ext cx="285293" cy="285293"/>
          </a:xfrm>
          <a:prstGeom prst="rect">
            <a:avLst/>
          </a:prstGeom>
        </p:spPr>
      </p:pic>
      <p:sp>
        <p:nvSpPr>
          <p:cNvPr id="13" name="Text 9"/>
          <p:cNvSpPr/>
          <p:nvPr/>
        </p:nvSpPr>
        <p:spPr>
          <a:xfrm>
            <a:off x="7360920" y="2377440"/>
            <a:ext cx="4069080" cy="502920"/>
          </a:xfrm>
          <a:prstGeom prst="rect">
            <a:avLst/>
          </a:prstGeom>
          <a:noFill/>
          <a:ln/>
        </p:spPr>
        <p:txBody>
          <a:bodyPr wrap="square"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Instruct / chat model</a:t>
            </a:r>
            <a:endParaRPr lang="en-US" sz="1800" dirty="0"/>
          </a:p>
        </p:txBody>
      </p:sp>
      <p:sp>
        <p:nvSpPr>
          <p:cNvPr id="14" name="Text 10"/>
          <p:cNvSpPr/>
          <p:nvPr/>
        </p:nvSpPr>
        <p:spPr>
          <a:xfrm>
            <a:off x="6675120" y="3108960"/>
            <a:ext cx="4617720" cy="2834640"/>
          </a:xfrm>
          <a:prstGeom prst="rect">
            <a:avLst/>
          </a:prstGeom>
          <a:noFill/>
          <a:ln/>
        </p:spPr>
        <p:txBody>
          <a:bodyPr wrap="square" rtlCol="0" anchor="ctr"/>
          <a:lstStyle/>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Fine-tuned (often with RLHF/instruction tuning) to follow a system/user/assistant turn structure.</a:t>
            </a:r>
            <a:endParaRPr lang="en-US" sz="1200" dirty="0"/>
          </a:p>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Needs a prompt template; the model has learned to treat “assistant” turns specially.</a:t>
            </a:r>
            <a:endParaRPr lang="en-US" sz="1200" dirty="0"/>
          </a:p>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Distributions are usually more peaked around a small set of “on-policy” continuations.</a:t>
            </a:r>
            <a:endParaRPr lang="en-US" sz="1200" dirty="0"/>
          </a:p>
          <a:p>
            <a:pPr marL="342900" indent="-342900">
              <a:lnSpc>
                <a:spcPct val="115000"/>
              </a:lnSpc>
              <a:spcAft>
                <a:spcPts val="1000"/>
              </a:spcAft>
              <a:buSzPct val="100000"/>
              <a:buChar char="•"/>
            </a:pPr>
            <a:r>
              <a:rPr lang="en-US" sz="1200" dirty="0">
                <a:solidFill>
                  <a:srgbClr val="5C7080"/>
                </a:solidFill>
                <a:latin typeface="Calibri" pitchFamily="34" charset="0"/>
                <a:ea typeface="Calibri" pitchFamily="34" charset="-122"/>
                <a:cs typeface="Calibri" pitchFamily="34" charset="-120"/>
              </a:rPr>
              <a:t>Example: the assistants behind ChatGPT, Claude, or any RLHF/DPO-tuned chat deployment.</a:t>
            </a:r>
            <a:endParaRPr lang="en-US" sz="1200" dirty="0"/>
          </a:p>
        </p:txBody>
      </p:sp>
      <p:sp>
        <p:nvSpPr>
          <p:cNvPr id="15" name="Text 11"/>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16" name="Text 1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BACKGROUND</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“Multiverse” View of Generation</a:t>
            </a:r>
            <a:endParaRPr lang="en-US" sz="3200" dirty="0"/>
          </a:p>
        </p:txBody>
      </p:sp>
      <p:sp>
        <p:nvSpPr>
          <p:cNvPr id="4" name="Text 2"/>
          <p:cNvSpPr/>
          <p:nvPr/>
        </p:nvSpPr>
        <p:spPr>
          <a:xfrm>
            <a:off x="548640" y="1463040"/>
            <a:ext cx="6675120" cy="914400"/>
          </a:xfrm>
          <a:prstGeom prst="rect">
            <a:avLst/>
          </a:prstGeom>
          <a:noFill/>
          <a:ln/>
        </p:spPr>
        <p:txBody>
          <a:bodyPr wrap="square" rtlCol="0" anchor="ctr"/>
          <a:lstStyle/>
          <a:p>
            <a:pPr indent="0" marL="0">
              <a:lnSpc>
                <a:spcPct val="125000"/>
              </a:lnSpc>
              <a:buNone/>
            </a:pPr>
            <a:r>
              <a:rPr lang="en-US" sz="1400" dirty="0">
                <a:solidFill>
                  <a:srgbClr val="BFDCE8"/>
                </a:solidFill>
                <a:latin typeface="Calibri" pitchFamily="34" charset="0"/>
                <a:ea typeface="Calibri" pitchFamily="34" charset="-122"/>
                <a:cs typeface="Calibri" pitchFamily="34" charset="-120"/>
              </a:rPr>
              <a:t>One more idea, and the background section is complete: at every step, a model doesn't produce one continuation — it defines a whole distribution over possible ones.</a:t>
            </a:r>
            <a:endParaRPr lang="en-US" sz="1400" dirty="0"/>
          </a:p>
        </p:txBody>
      </p:sp>
      <p:sp>
        <p:nvSpPr>
          <p:cNvPr id="5" name="Shape 3"/>
          <p:cNvSpPr/>
          <p:nvPr/>
        </p:nvSpPr>
        <p:spPr>
          <a:xfrm>
            <a:off x="7086600" y="1517904"/>
            <a:ext cx="109728" cy="109728"/>
          </a:xfrm>
          <a:prstGeom prst="ellipse">
            <a:avLst/>
          </a:prstGeom>
          <a:solidFill>
            <a:srgbClr val="8FD4E8"/>
          </a:solidFill>
          <a:ln/>
        </p:spPr>
      </p:sp>
      <p:sp>
        <p:nvSpPr>
          <p:cNvPr id="6" name="Text 4"/>
          <p:cNvSpPr/>
          <p:nvPr/>
        </p:nvSpPr>
        <p:spPr>
          <a:xfrm>
            <a:off x="7315200" y="1325880"/>
            <a:ext cx="4297680"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“Loom” / “looming”</a:t>
            </a:r>
            <a:endParaRPr lang="en-US" sz="1450" dirty="0"/>
          </a:p>
        </p:txBody>
      </p:sp>
      <p:sp>
        <p:nvSpPr>
          <p:cNvPr id="7" name="Text 5"/>
          <p:cNvSpPr/>
          <p:nvPr/>
        </p:nvSpPr>
        <p:spPr>
          <a:xfrm>
            <a:off x="7315200" y="1645920"/>
            <a:ext cx="4297680" cy="123444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Community term (associated with researchers like janus/repligate and the “cyborgism” community) for interfaces that generate, branch, and curate multiple completions from a model — treating text generation as navigating a tree of timelines rather than writing one line.</a:t>
            </a:r>
            <a:endParaRPr lang="en-US" sz="1100" dirty="0"/>
          </a:p>
        </p:txBody>
      </p:sp>
      <p:sp>
        <p:nvSpPr>
          <p:cNvPr id="8" name="Shape 6"/>
          <p:cNvSpPr/>
          <p:nvPr/>
        </p:nvSpPr>
        <p:spPr>
          <a:xfrm>
            <a:off x="7086600" y="3026664"/>
            <a:ext cx="109728" cy="109728"/>
          </a:xfrm>
          <a:prstGeom prst="ellipse">
            <a:avLst/>
          </a:prstGeom>
          <a:solidFill>
            <a:srgbClr val="8FD4E8"/>
          </a:solidFill>
          <a:ln/>
        </p:spPr>
      </p:sp>
      <p:sp>
        <p:nvSpPr>
          <p:cNvPr id="9" name="Text 7"/>
          <p:cNvSpPr/>
          <p:nvPr/>
        </p:nvSpPr>
        <p:spPr>
          <a:xfrm>
            <a:off x="7315200" y="2834640"/>
            <a:ext cx="4297680"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Simulator framing</a:t>
            </a:r>
            <a:endParaRPr lang="en-US" sz="1450" dirty="0"/>
          </a:p>
        </p:txBody>
      </p:sp>
      <p:sp>
        <p:nvSpPr>
          <p:cNvPr id="10" name="Text 8"/>
          <p:cNvSpPr/>
          <p:nvPr/>
        </p:nvSpPr>
        <p:spPr>
          <a:xfrm>
            <a:off x="7315200" y="3154680"/>
            <a:ext cx="4297680" cy="123444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Especially with base models, it's often useful to think of the model as simulating many possible “who could plausibly continue this text” rather than as a single fixed persona giving one answer.</a:t>
            </a:r>
            <a:endParaRPr lang="en-US" sz="1100" dirty="0"/>
          </a:p>
        </p:txBody>
      </p:sp>
      <p:sp>
        <p:nvSpPr>
          <p:cNvPr id="11" name="Shape 9"/>
          <p:cNvSpPr/>
          <p:nvPr/>
        </p:nvSpPr>
        <p:spPr>
          <a:xfrm>
            <a:off x="7086600" y="4535424"/>
            <a:ext cx="109728" cy="109728"/>
          </a:xfrm>
          <a:prstGeom prst="ellipse">
            <a:avLst/>
          </a:prstGeom>
          <a:solidFill>
            <a:srgbClr val="8FD4E8"/>
          </a:solidFill>
          <a:ln/>
        </p:spPr>
      </p:sp>
      <p:sp>
        <p:nvSpPr>
          <p:cNvPr id="12" name="Text 10"/>
          <p:cNvSpPr/>
          <p:nvPr/>
        </p:nvSpPr>
        <p:spPr>
          <a:xfrm>
            <a:off x="7315200" y="4343400"/>
            <a:ext cx="4297680" cy="3200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Prior art</a:t>
            </a:r>
            <a:endParaRPr lang="en-US" sz="1450" dirty="0"/>
          </a:p>
        </p:txBody>
      </p:sp>
      <p:sp>
        <p:nvSpPr>
          <p:cNvPr id="13" name="Text 11"/>
          <p:cNvSpPr/>
          <p:nvPr/>
        </p:nvSpPr>
        <p:spPr>
          <a:xfrm>
            <a:off x="7315200" y="4663440"/>
            <a:ext cx="4297680" cy="1234440"/>
          </a:xfrm>
          <a:prstGeom prst="rect">
            <a:avLst/>
          </a:prstGeom>
          <a:noFill/>
          <a:ln/>
        </p:spPr>
        <p:txBody>
          <a:bodyPr wrap="square" rtlCol="0" anchor="ctr"/>
          <a:lstStyle/>
          <a:p>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Tools like Loom and Exoloom pioneered branching, tree-curation interfaces for base-model “textual multiverse” exploration — letting people navigate, save, and filter these branches directly.</a:t>
            </a:r>
            <a:endParaRPr lang="en-US" sz="1100" dirty="0"/>
          </a:p>
        </p:txBody>
      </p:sp>
      <p:sp>
        <p:nvSpPr>
          <p:cNvPr id="14" name="Shape 12"/>
          <p:cNvSpPr/>
          <p:nvPr/>
        </p:nvSpPr>
        <p:spPr>
          <a:xfrm flipV="1">
            <a:off x="914400" y="3200400"/>
            <a:ext cx="1005840" cy="548640"/>
          </a:xfrm>
          <a:prstGeom prst="line">
            <a:avLst/>
          </a:prstGeom>
          <a:noFill/>
          <a:ln w="19050">
            <a:solidFill>
              <a:srgbClr val="3F6E8C"/>
            </a:solidFill>
            <a:prstDash val="solid"/>
          </a:ln>
        </p:spPr>
      </p:sp>
      <p:sp>
        <p:nvSpPr>
          <p:cNvPr id="15" name="Shape 13"/>
          <p:cNvSpPr/>
          <p:nvPr/>
        </p:nvSpPr>
        <p:spPr>
          <a:xfrm>
            <a:off x="914400" y="3749040"/>
            <a:ext cx="1005840" cy="0"/>
          </a:xfrm>
          <a:prstGeom prst="line">
            <a:avLst/>
          </a:prstGeom>
          <a:noFill/>
          <a:ln w="19050">
            <a:solidFill>
              <a:srgbClr val="3F6E8C"/>
            </a:solidFill>
            <a:prstDash val="solid"/>
          </a:ln>
        </p:spPr>
      </p:sp>
      <p:sp>
        <p:nvSpPr>
          <p:cNvPr id="16" name="Shape 14"/>
          <p:cNvSpPr/>
          <p:nvPr/>
        </p:nvSpPr>
        <p:spPr>
          <a:xfrm>
            <a:off x="914400" y="3749040"/>
            <a:ext cx="1005840" cy="548640"/>
          </a:xfrm>
          <a:prstGeom prst="line">
            <a:avLst/>
          </a:prstGeom>
          <a:noFill/>
          <a:ln w="19050">
            <a:solidFill>
              <a:srgbClr val="3F6E8C"/>
            </a:solidFill>
            <a:prstDash val="solid"/>
          </a:ln>
        </p:spPr>
      </p:sp>
      <p:sp>
        <p:nvSpPr>
          <p:cNvPr id="17" name="Shape 15"/>
          <p:cNvSpPr/>
          <p:nvPr/>
        </p:nvSpPr>
        <p:spPr>
          <a:xfrm flipV="1">
            <a:off x="1920240" y="2926080"/>
            <a:ext cx="1005840" cy="274320"/>
          </a:xfrm>
          <a:prstGeom prst="line">
            <a:avLst/>
          </a:prstGeom>
          <a:noFill/>
          <a:ln w="19050">
            <a:solidFill>
              <a:srgbClr val="3F6E8C"/>
            </a:solidFill>
            <a:prstDash val="solid"/>
          </a:ln>
        </p:spPr>
      </p:sp>
      <p:sp>
        <p:nvSpPr>
          <p:cNvPr id="18" name="Shape 16"/>
          <p:cNvSpPr/>
          <p:nvPr/>
        </p:nvSpPr>
        <p:spPr>
          <a:xfrm>
            <a:off x="1920240" y="3200400"/>
            <a:ext cx="1005840" cy="182880"/>
          </a:xfrm>
          <a:prstGeom prst="line">
            <a:avLst/>
          </a:prstGeom>
          <a:noFill/>
          <a:ln w="19050">
            <a:solidFill>
              <a:srgbClr val="3F6E8C"/>
            </a:solidFill>
            <a:prstDash val="solid"/>
          </a:ln>
        </p:spPr>
      </p:sp>
      <p:sp>
        <p:nvSpPr>
          <p:cNvPr id="19" name="Shape 17"/>
          <p:cNvSpPr/>
          <p:nvPr/>
        </p:nvSpPr>
        <p:spPr>
          <a:xfrm flipV="1">
            <a:off x="1920240" y="4069080"/>
            <a:ext cx="1005840" cy="228600"/>
          </a:xfrm>
          <a:prstGeom prst="line">
            <a:avLst/>
          </a:prstGeom>
          <a:noFill/>
          <a:ln w="19050">
            <a:solidFill>
              <a:srgbClr val="3F6E8C"/>
            </a:solidFill>
            <a:prstDash val="solid"/>
          </a:ln>
        </p:spPr>
      </p:sp>
      <p:sp>
        <p:nvSpPr>
          <p:cNvPr id="20" name="Shape 18"/>
          <p:cNvSpPr/>
          <p:nvPr/>
        </p:nvSpPr>
        <p:spPr>
          <a:xfrm>
            <a:off x="1920240" y="4297680"/>
            <a:ext cx="1005840" cy="228600"/>
          </a:xfrm>
          <a:prstGeom prst="line">
            <a:avLst/>
          </a:prstGeom>
          <a:noFill/>
          <a:ln w="19050">
            <a:solidFill>
              <a:srgbClr val="3F6E8C"/>
            </a:solidFill>
            <a:prstDash val="solid"/>
          </a:ln>
        </p:spPr>
      </p:sp>
      <p:sp>
        <p:nvSpPr>
          <p:cNvPr id="21" name="Shape 19"/>
          <p:cNvSpPr/>
          <p:nvPr/>
        </p:nvSpPr>
        <p:spPr>
          <a:xfrm>
            <a:off x="832104" y="3666744"/>
            <a:ext cx="164592" cy="164592"/>
          </a:xfrm>
          <a:prstGeom prst="ellipse">
            <a:avLst/>
          </a:prstGeom>
          <a:solidFill>
            <a:srgbClr val="8FD4E8"/>
          </a:solidFill>
          <a:ln/>
        </p:spPr>
      </p:sp>
      <p:sp>
        <p:nvSpPr>
          <p:cNvPr id="22" name="Shape 20"/>
          <p:cNvSpPr/>
          <p:nvPr/>
        </p:nvSpPr>
        <p:spPr>
          <a:xfrm>
            <a:off x="1837944" y="3118104"/>
            <a:ext cx="164592" cy="164592"/>
          </a:xfrm>
          <a:prstGeom prst="ellipse">
            <a:avLst/>
          </a:prstGeom>
          <a:solidFill>
            <a:srgbClr val="1C7293"/>
          </a:solidFill>
          <a:ln/>
        </p:spPr>
      </p:sp>
      <p:sp>
        <p:nvSpPr>
          <p:cNvPr id="23" name="Shape 21"/>
          <p:cNvSpPr/>
          <p:nvPr/>
        </p:nvSpPr>
        <p:spPr>
          <a:xfrm>
            <a:off x="1837944" y="3666744"/>
            <a:ext cx="164592" cy="164592"/>
          </a:xfrm>
          <a:prstGeom prst="ellipse">
            <a:avLst/>
          </a:prstGeom>
          <a:solidFill>
            <a:srgbClr val="1C7293"/>
          </a:solidFill>
          <a:ln/>
        </p:spPr>
      </p:sp>
      <p:sp>
        <p:nvSpPr>
          <p:cNvPr id="24" name="Shape 22"/>
          <p:cNvSpPr/>
          <p:nvPr/>
        </p:nvSpPr>
        <p:spPr>
          <a:xfrm>
            <a:off x="1837944" y="4215384"/>
            <a:ext cx="164592" cy="164592"/>
          </a:xfrm>
          <a:prstGeom prst="ellipse">
            <a:avLst/>
          </a:prstGeom>
          <a:solidFill>
            <a:srgbClr val="1C7293"/>
          </a:solidFill>
          <a:ln/>
        </p:spPr>
      </p:sp>
      <p:sp>
        <p:nvSpPr>
          <p:cNvPr id="25" name="Shape 23"/>
          <p:cNvSpPr/>
          <p:nvPr/>
        </p:nvSpPr>
        <p:spPr>
          <a:xfrm>
            <a:off x="2843784" y="2843784"/>
            <a:ext cx="164592" cy="164592"/>
          </a:xfrm>
          <a:prstGeom prst="ellipse">
            <a:avLst/>
          </a:prstGeom>
          <a:solidFill>
            <a:srgbClr val="1C7293"/>
          </a:solidFill>
          <a:ln/>
        </p:spPr>
      </p:sp>
      <p:sp>
        <p:nvSpPr>
          <p:cNvPr id="26" name="Shape 24"/>
          <p:cNvSpPr/>
          <p:nvPr/>
        </p:nvSpPr>
        <p:spPr>
          <a:xfrm>
            <a:off x="2843784" y="3300984"/>
            <a:ext cx="164592" cy="164592"/>
          </a:xfrm>
          <a:prstGeom prst="ellipse">
            <a:avLst/>
          </a:prstGeom>
          <a:solidFill>
            <a:srgbClr val="1C7293"/>
          </a:solidFill>
          <a:ln/>
        </p:spPr>
      </p:sp>
      <p:sp>
        <p:nvSpPr>
          <p:cNvPr id="27" name="Shape 25"/>
          <p:cNvSpPr/>
          <p:nvPr/>
        </p:nvSpPr>
        <p:spPr>
          <a:xfrm>
            <a:off x="2843784" y="3986784"/>
            <a:ext cx="164592" cy="164592"/>
          </a:xfrm>
          <a:prstGeom prst="ellipse">
            <a:avLst/>
          </a:prstGeom>
          <a:solidFill>
            <a:srgbClr val="1C7293"/>
          </a:solidFill>
          <a:ln/>
        </p:spPr>
      </p:sp>
      <p:sp>
        <p:nvSpPr>
          <p:cNvPr id="28" name="Shape 26"/>
          <p:cNvSpPr/>
          <p:nvPr/>
        </p:nvSpPr>
        <p:spPr>
          <a:xfrm>
            <a:off x="2843784" y="4443984"/>
            <a:ext cx="164592" cy="164592"/>
          </a:xfrm>
          <a:prstGeom prst="ellipse">
            <a:avLst/>
          </a:prstGeom>
          <a:solidFill>
            <a:srgbClr val="1C7293"/>
          </a:solidFill>
          <a:ln/>
        </p:spPr>
      </p:sp>
      <p:sp>
        <p:nvSpPr>
          <p:cNvPr id="29" name="Text 27"/>
          <p:cNvSpPr/>
          <p:nvPr/>
        </p:nvSpPr>
        <p:spPr>
          <a:xfrm>
            <a:off x="731520" y="4937760"/>
            <a:ext cx="3291840" cy="365760"/>
          </a:xfrm>
          <a:prstGeom prst="rect">
            <a:avLst/>
          </a:prstGeom>
          <a:noFill/>
          <a:ln/>
        </p:spPr>
        <p:txBody>
          <a:bodyPr wrap="square" rtlCol="0" anchor="ctr"/>
          <a:lstStyle/>
          <a:p>
            <a:pPr indent="0" marL="0">
              <a:buNone/>
            </a:pPr>
            <a:r>
              <a:rPr lang="en-US" sz="1100" i="1" dirty="0">
                <a:solidFill>
                  <a:srgbClr val="7FA9C4"/>
                </a:solidFill>
                <a:latin typeface="Calibri" pitchFamily="34" charset="0"/>
                <a:ea typeface="Calibri" pitchFamily="34" charset="-122"/>
                <a:cs typeface="Calibri" pitchFamily="34" charset="-120"/>
              </a:rPr>
              <a:t>one prompt → many plausible futures</a:t>
            </a:r>
            <a:endParaRPr lang="en-US" sz="1100" dirty="0"/>
          </a:p>
        </p:txBody>
      </p:sp>
      <p:sp>
        <p:nvSpPr>
          <p:cNvPr id="30" name="Text 28"/>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LOGITLOOM  ·  AI SEMINAR, LECTURE 2</a:t>
            </a:r>
            <a:endParaRPr lang="en-US" sz="900" dirty="0"/>
          </a:p>
        </p:txBody>
      </p:sp>
      <p:sp>
        <p:nvSpPr>
          <p:cNvPr id="31" name="Text 2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BRIDGE</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Now, Back to LogitLoom</a:t>
            </a:r>
            <a:endParaRPr lang="en-US" sz="32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Everything in the background section maps directly onto a specific part of the tool. Here's exactly where each idea shows up.</a:t>
            </a:r>
            <a:endParaRPr lang="en-US" sz="1350" dirty="0"/>
          </a:p>
        </p:txBody>
      </p:sp>
      <p:sp>
        <p:nvSpPr>
          <p:cNvPr id="5" name="Shape 3"/>
          <p:cNvSpPr/>
          <p:nvPr/>
        </p:nvSpPr>
        <p:spPr>
          <a:xfrm>
            <a:off x="548640" y="1965960"/>
            <a:ext cx="11064240" cy="777240"/>
          </a:xfrm>
          <a:prstGeom prst="roundRect">
            <a:avLst>
              <a:gd name="adj" fmla="val 7059"/>
            </a:avLst>
          </a:prstGeom>
          <a:solidFill>
            <a:srgbClr val="F2F8FA"/>
          </a:solidFill>
          <a:ln/>
        </p:spPr>
      </p:sp>
      <p:sp>
        <p:nvSpPr>
          <p:cNvPr id="6" name="Shape 4"/>
          <p:cNvSpPr/>
          <p:nvPr/>
        </p:nvSpPr>
        <p:spPr>
          <a:xfrm>
            <a:off x="777240" y="2171700"/>
            <a:ext cx="1051560" cy="365760"/>
          </a:xfrm>
          <a:prstGeom prst="roundRect">
            <a:avLst>
              <a:gd name="adj" fmla="val 50000"/>
            </a:avLst>
          </a:prstGeom>
          <a:solidFill>
            <a:srgbClr val="E9F1E6"/>
          </a:solidFill>
          <a:ln w="9525">
            <a:solidFill>
              <a:srgbClr val="8FB88F"/>
            </a:solidFill>
            <a:prstDash val="solid"/>
          </a:ln>
        </p:spPr>
      </p:sp>
      <p:sp>
        <p:nvSpPr>
          <p:cNvPr id="7" name="Text 5"/>
          <p:cNvSpPr/>
          <p:nvPr/>
        </p:nvSpPr>
        <p:spPr>
          <a:xfrm>
            <a:off x="777240" y="2171700"/>
            <a:ext cx="1051560" cy="365760"/>
          </a:xfrm>
          <a:prstGeom prst="rect">
            <a:avLst/>
          </a:prstGeom>
          <a:noFill/>
          <a:ln/>
        </p:spPr>
        <p:txBody>
          <a:bodyPr wrap="square" rtlCol="0" anchor="ctr"/>
          <a:lstStyle/>
          <a:p>
            <a:pPr algn="ctr" indent="0" marL="0">
              <a:buNone/>
            </a:pPr>
            <a:r>
              <a:rPr lang="en-US" sz="1050" b="1" i="1" dirty="0">
                <a:solidFill>
                  <a:srgbClr val="3D6B3D"/>
                </a:solidFill>
                <a:latin typeface="Calibri" pitchFamily="34" charset="0"/>
                <a:ea typeface="Calibri" pitchFamily="34" charset="-122"/>
                <a:cs typeface="Calibri" pitchFamily="34" charset="-120"/>
              </a:rPr>
              <a:t>Slide 3</a:t>
            </a:r>
            <a:endParaRPr lang="en-US" sz="1050" dirty="0"/>
          </a:p>
        </p:txBody>
      </p:sp>
      <p:sp>
        <p:nvSpPr>
          <p:cNvPr id="8" name="Text 6"/>
          <p:cNvSpPr/>
          <p:nvPr/>
        </p:nvSpPr>
        <p:spPr>
          <a:xfrm>
            <a:off x="2057400" y="2039112"/>
            <a:ext cx="2468880" cy="630936"/>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Tokens, logits, choosing</a:t>
            </a:r>
            <a:endParaRPr lang="en-US" sz="1350" dirty="0"/>
          </a:p>
        </p:txBody>
      </p:sp>
      <p:sp>
        <p:nvSpPr>
          <p:cNvPr id="9" name="Text 7"/>
          <p:cNvSpPr/>
          <p:nvPr/>
        </p:nvSpPr>
        <p:spPr>
          <a:xfrm>
            <a:off x="4617720" y="2039112"/>
            <a:ext cx="6812280" cy="630936"/>
          </a:xfrm>
          <a:prstGeom prst="rect">
            <a:avLst/>
          </a:prstGeom>
          <a:noFill/>
          <a:ln/>
        </p:spPr>
        <p:txBody>
          <a:bodyPr wrap="square" rtlCol="0" anchor="ctr"/>
          <a:lstStyle/>
          <a:p>
            <a:pPr indent="0" marL="0">
              <a:lnSpc>
                <a:spcPct val="112000"/>
              </a:lnSpc>
              <a:buNone/>
            </a:pPr>
            <a:r>
              <a:rPr lang="en-US" sz="1100" dirty="0">
                <a:solidFill>
                  <a:srgbClr val="5C7080"/>
                </a:solidFill>
                <a:latin typeface="Calibri" pitchFamily="34" charset="0"/>
                <a:ea typeface="Calibri" pitchFamily="34" charset="-122"/>
                <a:cs typeface="Calibri" pitchFamily="34" charset="-120"/>
              </a:rPr>
              <a:t>Every node in a LogitLoom tree is one token; its logprob/prob fields are exactly the quantities from that slide.</a:t>
            </a:r>
            <a:endParaRPr lang="en-US" sz="1100" dirty="0"/>
          </a:p>
        </p:txBody>
      </p:sp>
      <p:sp>
        <p:nvSpPr>
          <p:cNvPr id="10" name="Shape 8"/>
          <p:cNvSpPr/>
          <p:nvPr/>
        </p:nvSpPr>
        <p:spPr>
          <a:xfrm>
            <a:off x="548640" y="2862072"/>
            <a:ext cx="11064240" cy="777240"/>
          </a:xfrm>
          <a:prstGeom prst="roundRect">
            <a:avLst>
              <a:gd name="adj" fmla="val 7059"/>
            </a:avLst>
          </a:prstGeom>
          <a:solidFill>
            <a:srgbClr val="F2F8FA"/>
          </a:solidFill>
          <a:ln/>
        </p:spPr>
      </p:sp>
      <p:sp>
        <p:nvSpPr>
          <p:cNvPr id="11" name="Shape 9"/>
          <p:cNvSpPr/>
          <p:nvPr/>
        </p:nvSpPr>
        <p:spPr>
          <a:xfrm>
            <a:off x="777240" y="3067812"/>
            <a:ext cx="1051560" cy="365760"/>
          </a:xfrm>
          <a:prstGeom prst="roundRect">
            <a:avLst>
              <a:gd name="adj" fmla="val 50000"/>
            </a:avLst>
          </a:prstGeom>
          <a:solidFill>
            <a:srgbClr val="E9F1E6"/>
          </a:solidFill>
          <a:ln w="9525">
            <a:solidFill>
              <a:srgbClr val="8FB88F"/>
            </a:solidFill>
            <a:prstDash val="solid"/>
          </a:ln>
        </p:spPr>
      </p:sp>
      <p:sp>
        <p:nvSpPr>
          <p:cNvPr id="12" name="Text 10"/>
          <p:cNvSpPr/>
          <p:nvPr/>
        </p:nvSpPr>
        <p:spPr>
          <a:xfrm>
            <a:off x="777240" y="3067812"/>
            <a:ext cx="1051560" cy="365760"/>
          </a:xfrm>
          <a:prstGeom prst="rect">
            <a:avLst/>
          </a:prstGeom>
          <a:noFill/>
          <a:ln/>
        </p:spPr>
        <p:txBody>
          <a:bodyPr wrap="square" rtlCol="0" anchor="ctr"/>
          <a:lstStyle/>
          <a:p>
            <a:pPr algn="ctr" indent="0" marL="0">
              <a:buNone/>
            </a:pPr>
            <a:r>
              <a:rPr lang="en-US" sz="1050" b="1" i="1" dirty="0">
                <a:solidFill>
                  <a:srgbClr val="3D6B3D"/>
                </a:solidFill>
                <a:latin typeface="Calibri" pitchFamily="34" charset="0"/>
                <a:ea typeface="Calibri" pitchFamily="34" charset="-122"/>
                <a:cs typeface="Calibri" pitchFamily="34" charset="-120"/>
              </a:rPr>
              <a:t>Slide 4</a:t>
            </a:r>
            <a:endParaRPr lang="en-US" sz="1050" dirty="0"/>
          </a:p>
        </p:txBody>
      </p:sp>
      <p:sp>
        <p:nvSpPr>
          <p:cNvPr id="13" name="Text 11"/>
          <p:cNvSpPr/>
          <p:nvPr/>
        </p:nvSpPr>
        <p:spPr>
          <a:xfrm>
            <a:off x="2057400" y="2935224"/>
            <a:ext cx="2468880" cy="630936"/>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Logprobs &amp; sampling</a:t>
            </a:r>
            <a:endParaRPr lang="en-US" sz="1350" dirty="0"/>
          </a:p>
        </p:txBody>
      </p:sp>
      <p:sp>
        <p:nvSpPr>
          <p:cNvPr id="14" name="Text 12"/>
          <p:cNvSpPr/>
          <p:nvPr/>
        </p:nvSpPr>
        <p:spPr>
          <a:xfrm>
            <a:off x="4617720" y="2935224"/>
            <a:ext cx="6812280" cy="630936"/>
          </a:xfrm>
          <a:prstGeom prst="rect">
            <a:avLst/>
          </a:prstGeom>
          <a:noFill/>
          <a:ln/>
        </p:spPr>
        <p:txBody>
          <a:bodyPr wrap="square" rtlCol="0" anchor="ctr"/>
          <a:lstStyle/>
          <a:p>
            <a:pPr indent="0" marL="0">
              <a:lnSpc>
                <a:spcPct val="112000"/>
              </a:lnSpc>
              <a:buNone/>
            </a:pPr>
            <a:r>
              <a:rPr lang="en-US" sz="1100" dirty="0">
                <a:solidFill>
                  <a:srgbClr val="5C7080"/>
                </a:solidFill>
                <a:latin typeface="Calibri" pitchFamily="34" charset="0"/>
                <a:ea typeface="Calibri" pitchFamily="34" charset="-122"/>
                <a:cs typeface="Calibri" pitchFamily="34" charset="-120"/>
              </a:rPr>
              <a:t>LogitLoom's “Top P” control is literally the nucleus-sampling threshold from that slide, applied to pruning the tree instead of picking one token.</a:t>
            </a:r>
            <a:endParaRPr lang="en-US" sz="1100" dirty="0"/>
          </a:p>
        </p:txBody>
      </p:sp>
      <p:sp>
        <p:nvSpPr>
          <p:cNvPr id="15" name="Shape 13"/>
          <p:cNvSpPr/>
          <p:nvPr/>
        </p:nvSpPr>
        <p:spPr>
          <a:xfrm>
            <a:off x="548640" y="3758184"/>
            <a:ext cx="11064240" cy="777240"/>
          </a:xfrm>
          <a:prstGeom prst="roundRect">
            <a:avLst>
              <a:gd name="adj" fmla="val 7059"/>
            </a:avLst>
          </a:prstGeom>
          <a:solidFill>
            <a:srgbClr val="F2F8FA"/>
          </a:solidFill>
          <a:ln/>
        </p:spPr>
      </p:sp>
      <p:sp>
        <p:nvSpPr>
          <p:cNvPr id="16" name="Shape 14"/>
          <p:cNvSpPr/>
          <p:nvPr/>
        </p:nvSpPr>
        <p:spPr>
          <a:xfrm>
            <a:off x="777240" y="3963924"/>
            <a:ext cx="1051560" cy="365760"/>
          </a:xfrm>
          <a:prstGeom prst="roundRect">
            <a:avLst>
              <a:gd name="adj" fmla="val 50000"/>
            </a:avLst>
          </a:prstGeom>
          <a:solidFill>
            <a:srgbClr val="E9F1E6"/>
          </a:solidFill>
          <a:ln w="9525">
            <a:solidFill>
              <a:srgbClr val="8FB88F"/>
            </a:solidFill>
            <a:prstDash val="solid"/>
          </a:ln>
        </p:spPr>
      </p:sp>
      <p:sp>
        <p:nvSpPr>
          <p:cNvPr id="17" name="Text 15"/>
          <p:cNvSpPr/>
          <p:nvPr/>
        </p:nvSpPr>
        <p:spPr>
          <a:xfrm>
            <a:off x="777240" y="3963924"/>
            <a:ext cx="1051560" cy="365760"/>
          </a:xfrm>
          <a:prstGeom prst="rect">
            <a:avLst/>
          </a:prstGeom>
          <a:noFill/>
          <a:ln/>
        </p:spPr>
        <p:txBody>
          <a:bodyPr wrap="square" rtlCol="0" anchor="ctr"/>
          <a:lstStyle/>
          <a:p>
            <a:pPr algn="ctr" indent="0" marL="0">
              <a:buNone/>
            </a:pPr>
            <a:r>
              <a:rPr lang="en-US" sz="1050" b="1" i="1" dirty="0">
                <a:solidFill>
                  <a:srgbClr val="3D6B3D"/>
                </a:solidFill>
                <a:latin typeface="Calibri" pitchFamily="34" charset="0"/>
                <a:ea typeface="Calibri" pitchFamily="34" charset="-122"/>
                <a:cs typeface="Calibri" pitchFamily="34" charset="-120"/>
              </a:rPr>
              <a:t>Slide 5</a:t>
            </a:r>
            <a:endParaRPr lang="en-US" sz="1050" dirty="0"/>
          </a:p>
        </p:txBody>
      </p:sp>
      <p:sp>
        <p:nvSpPr>
          <p:cNvPr id="18" name="Text 16"/>
          <p:cNvSpPr/>
          <p:nvPr/>
        </p:nvSpPr>
        <p:spPr>
          <a:xfrm>
            <a:off x="2057400" y="3831336"/>
            <a:ext cx="2468880" cy="630936"/>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Base vs. instruct</a:t>
            </a:r>
            <a:endParaRPr lang="en-US" sz="1350" dirty="0"/>
          </a:p>
        </p:txBody>
      </p:sp>
      <p:sp>
        <p:nvSpPr>
          <p:cNvPr id="19" name="Text 17"/>
          <p:cNvSpPr/>
          <p:nvPr/>
        </p:nvSpPr>
        <p:spPr>
          <a:xfrm>
            <a:off x="4617720" y="3831336"/>
            <a:ext cx="6812280" cy="630936"/>
          </a:xfrm>
          <a:prstGeom prst="rect">
            <a:avLst/>
          </a:prstGeom>
          <a:noFill/>
          <a:ln/>
        </p:spPr>
        <p:txBody>
          <a:bodyPr wrap="square" rtlCol="0" anchor="ctr"/>
          <a:lstStyle/>
          <a:p>
            <a:pPr indent="0" marL="0">
              <a:lnSpc>
                <a:spcPct val="112000"/>
              </a:lnSpc>
              <a:buNone/>
            </a:pPr>
            <a:r>
              <a:rPr lang="en-US" sz="1100" dirty="0">
                <a:solidFill>
                  <a:srgbClr val="5C7080"/>
                </a:solidFill>
                <a:latin typeface="Calibri" pitchFamily="34" charset="0"/>
                <a:ea typeface="Calibri" pitchFamily="34" charset="-122"/>
                <a:cs typeface="Calibri" pitchFamily="34" charset="-120"/>
              </a:rPr>
              <a:t>LogitLoom has an explicit modelType switch for exactly this distinction — it changes both prompting and which backends will work.</a:t>
            </a:r>
            <a:endParaRPr lang="en-US" sz="1100" dirty="0"/>
          </a:p>
        </p:txBody>
      </p:sp>
      <p:sp>
        <p:nvSpPr>
          <p:cNvPr id="20" name="Shape 18"/>
          <p:cNvSpPr/>
          <p:nvPr/>
        </p:nvSpPr>
        <p:spPr>
          <a:xfrm>
            <a:off x="548640" y="4654296"/>
            <a:ext cx="11064240" cy="777240"/>
          </a:xfrm>
          <a:prstGeom prst="roundRect">
            <a:avLst>
              <a:gd name="adj" fmla="val 7059"/>
            </a:avLst>
          </a:prstGeom>
          <a:solidFill>
            <a:srgbClr val="F2F8FA"/>
          </a:solidFill>
          <a:ln/>
        </p:spPr>
      </p:sp>
      <p:sp>
        <p:nvSpPr>
          <p:cNvPr id="21" name="Shape 19"/>
          <p:cNvSpPr/>
          <p:nvPr/>
        </p:nvSpPr>
        <p:spPr>
          <a:xfrm>
            <a:off x="777240" y="4860036"/>
            <a:ext cx="1051560" cy="365760"/>
          </a:xfrm>
          <a:prstGeom prst="roundRect">
            <a:avLst>
              <a:gd name="adj" fmla="val 50000"/>
            </a:avLst>
          </a:prstGeom>
          <a:solidFill>
            <a:srgbClr val="E9F1E6"/>
          </a:solidFill>
          <a:ln w="9525">
            <a:solidFill>
              <a:srgbClr val="8FB88F"/>
            </a:solidFill>
            <a:prstDash val="solid"/>
          </a:ln>
        </p:spPr>
      </p:sp>
      <p:sp>
        <p:nvSpPr>
          <p:cNvPr id="22" name="Text 20"/>
          <p:cNvSpPr/>
          <p:nvPr/>
        </p:nvSpPr>
        <p:spPr>
          <a:xfrm>
            <a:off x="777240" y="4860036"/>
            <a:ext cx="1051560" cy="365760"/>
          </a:xfrm>
          <a:prstGeom prst="rect">
            <a:avLst/>
          </a:prstGeom>
          <a:noFill/>
          <a:ln/>
        </p:spPr>
        <p:txBody>
          <a:bodyPr wrap="square" rtlCol="0" anchor="ctr"/>
          <a:lstStyle/>
          <a:p>
            <a:pPr algn="ctr" indent="0" marL="0">
              <a:buNone/>
            </a:pPr>
            <a:r>
              <a:rPr lang="en-US" sz="1050" b="1" i="1" dirty="0">
                <a:solidFill>
                  <a:srgbClr val="3D6B3D"/>
                </a:solidFill>
                <a:latin typeface="Calibri" pitchFamily="34" charset="0"/>
                <a:ea typeface="Calibri" pitchFamily="34" charset="-122"/>
                <a:cs typeface="Calibri" pitchFamily="34" charset="-120"/>
              </a:rPr>
              <a:t>Slide 6</a:t>
            </a:r>
            <a:endParaRPr lang="en-US" sz="1050" dirty="0"/>
          </a:p>
        </p:txBody>
      </p:sp>
      <p:sp>
        <p:nvSpPr>
          <p:cNvPr id="23" name="Text 21"/>
          <p:cNvSpPr/>
          <p:nvPr/>
        </p:nvSpPr>
        <p:spPr>
          <a:xfrm>
            <a:off x="2057400" y="4727448"/>
            <a:ext cx="2468880" cy="630936"/>
          </a:xfrm>
          <a:prstGeom prst="rect">
            <a:avLst/>
          </a:prstGeom>
          <a:noFill/>
          <a:ln/>
        </p:spPr>
        <p:txBody>
          <a:bodyPr wrap="square"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The multiverse view</a:t>
            </a:r>
            <a:endParaRPr lang="en-US" sz="1350" dirty="0"/>
          </a:p>
        </p:txBody>
      </p:sp>
      <p:sp>
        <p:nvSpPr>
          <p:cNvPr id="24" name="Text 22"/>
          <p:cNvSpPr/>
          <p:nvPr/>
        </p:nvSpPr>
        <p:spPr>
          <a:xfrm>
            <a:off x="4617720" y="4727448"/>
            <a:ext cx="6812280" cy="630936"/>
          </a:xfrm>
          <a:prstGeom prst="rect">
            <a:avLst/>
          </a:prstGeom>
          <a:noFill/>
          <a:ln/>
        </p:spPr>
        <p:txBody>
          <a:bodyPr wrap="square" rtlCol="0" anchor="ctr"/>
          <a:lstStyle/>
          <a:p>
            <a:pPr indent="0" marL="0">
              <a:lnSpc>
                <a:spcPct val="112000"/>
              </a:lnSpc>
              <a:buNone/>
            </a:pPr>
            <a:r>
              <a:rPr lang="en-US" sz="1100" dirty="0">
                <a:solidFill>
                  <a:srgbClr val="5C7080"/>
                </a:solidFill>
                <a:latin typeface="Calibri" pitchFamily="34" charset="0"/>
                <a:ea typeface="Calibri" pitchFamily="34" charset="-122"/>
                <a:cs typeface="Calibri" pitchFamily="34" charset="-120"/>
              </a:rPr>
              <a:t>LogitLoom is a lightweight, focused implementation of that same idea, specifically for visualizing raw logprobs from a live API.</a:t>
            </a:r>
            <a:endParaRPr lang="en-US" sz="1100" dirty="0"/>
          </a:p>
        </p:txBody>
      </p:sp>
      <p:sp>
        <p:nvSpPr>
          <p:cNvPr id="25" name="Text 23"/>
          <p:cNvSpPr/>
          <p:nvPr/>
        </p:nvSpPr>
        <p:spPr>
          <a:xfrm>
            <a:off x="548640" y="5623560"/>
            <a:ext cx="11064240" cy="320040"/>
          </a:xfrm>
          <a:prstGeom prst="rect">
            <a:avLst/>
          </a:prstGeom>
          <a:noFill/>
          <a:ln/>
        </p:spPr>
        <p:txBody>
          <a:bodyPr wrap="square" rtlCol="0" anchor="ctr"/>
          <a:lstStyle/>
          <a:p>
            <a:pPr indent="0" marL="0">
              <a:buNone/>
            </a:pPr>
            <a:r>
              <a:rPr lang="en-US" sz="1050" i="1" dirty="0">
                <a:solidFill>
                  <a:srgbClr val="5C7080"/>
                </a:solidFill>
                <a:latin typeface="Calibri" pitchFamily="34" charset="0"/>
                <a:ea typeface="Calibri" pitchFamily="34" charset="-122"/>
                <a:cs typeface="Calibri" pitchFamily="34" charset="-120"/>
              </a:rPr>
              <a:t>From here on, every slide that leans on background material will carry a small tag pointing back to the relevant slide above.</a:t>
            </a:r>
            <a:endParaRPr lang="en-US" sz="1050" dirty="0"/>
          </a:p>
        </p:txBody>
      </p:sp>
      <p:sp>
        <p:nvSpPr>
          <p:cNvPr id="26" name="Text 24"/>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27"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What Is LogitLoom?</a:t>
            </a:r>
            <a:endParaRPr lang="en-US" sz="3200" dirty="0"/>
          </a:p>
        </p:txBody>
      </p:sp>
      <p:sp>
        <p:nvSpPr>
          <p:cNvPr id="4" name="Shape 2"/>
          <p:cNvSpPr/>
          <p:nvPr/>
        </p:nvSpPr>
        <p:spPr>
          <a:xfrm>
            <a:off x="548640" y="1554480"/>
            <a:ext cx="6492240" cy="4480560"/>
          </a:xfrm>
          <a:prstGeom prst="roundRect">
            <a:avLst>
              <a:gd name="adj" fmla="val 1633"/>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68680" y="1783080"/>
            <a:ext cx="5943600" cy="1188720"/>
          </a:xfrm>
          <a:prstGeom prst="rect">
            <a:avLst/>
          </a:prstGeom>
          <a:noFill/>
          <a:ln/>
        </p:spPr>
        <p:txBody>
          <a:bodyPr wrap="square" rtlCol="0" anchor="ctr"/>
          <a:lstStyle/>
          <a:p>
            <a:pPr indent="0" marL="0">
              <a:lnSpc>
                <a:spcPct val="125000"/>
              </a:lnSpc>
              <a:buNone/>
            </a:pPr>
            <a:r>
              <a:rPr lang="en-US" sz="1500" b="1" dirty="0">
                <a:solidFill>
                  <a:srgbClr val="065A82"/>
                </a:solidFill>
                <a:latin typeface="Courier New" pitchFamily="34" charset="0"/>
                <a:ea typeface="Courier New" pitchFamily="34" charset="-122"/>
                <a:cs typeface="Courier New" pitchFamily="34" charset="-120"/>
              </a:rPr>
              <a:t>logitloom</a:t>
            </a:r>
            <a:pPr indent="0" marL="0">
              <a:lnSpc>
                <a:spcPct val="125000"/>
              </a:lnSpc>
              <a:buNone/>
            </a:pPr>
            <a:r>
              <a:rPr lang="en-US" sz="1500" dirty="0">
                <a:solidFill>
                  <a:srgbClr val="1B2733"/>
                </a:solidFill>
                <a:latin typeface="Calibri" pitchFamily="34" charset="0"/>
                <a:ea typeface="Calibri" pitchFamily="34" charset="-122"/>
                <a:cs typeface="Calibri" pitchFamily="34" charset="-120"/>
              </a:rPr>
              <a:t> is a small, open-source, browser-based tool for exploring </a:t>
            </a:r>
            <a:pPr indent="0" marL="0">
              <a:lnSpc>
                <a:spcPct val="125000"/>
              </a:lnSpc>
              <a:buNone/>
            </a:pPr>
            <a:r>
              <a:rPr lang="en-US" sz="1500" b="1" dirty="0">
                <a:solidFill>
                  <a:srgbClr val="1B2733"/>
                </a:solidFill>
                <a:latin typeface="Calibri" pitchFamily="34" charset="0"/>
                <a:ea typeface="Calibri" pitchFamily="34" charset="-122"/>
                <a:cs typeface="Calibri" pitchFamily="34" charset="-120"/>
              </a:rPr>
              <a:t>token trajectory trees</a:t>
            </a:r>
            <a:pPr indent="0" marL="0">
              <a:lnSpc>
                <a:spcPct val="125000"/>
              </a:lnSpc>
              <a:buNone/>
            </a:pPr>
            <a:r>
              <a:rPr lang="en-US" sz="1500" dirty="0">
                <a:solidFill>
                  <a:srgbClr val="1B2733"/>
                </a:solidFill>
                <a:latin typeface="Calibri" pitchFamily="34" charset="0"/>
                <a:ea typeface="Calibri" pitchFamily="34" charset="-122"/>
                <a:cs typeface="Calibri" pitchFamily="34" charset="-120"/>
              </a:rPr>
              <a:t> — branching visualizations of what a language model could have generated at each step, not just what it did generate.</a:t>
            </a:r>
            <a:endParaRPr lang="en-US" sz="1500" dirty="0"/>
          </a:p>
        </p:txBody>
      </p:sp>
      <p:sp>
        <p:nvSpPr>
          <p:cNvPr id="6" name="Text 4"/>
          <p:cNvSpPr/>
          <p:nvPr/>
        </p:nvSpPr>
        <p:spPr>
          <a:xfrm>
            <a:off x="868680" y="3063240"/>
            <a:ext cx="5943600" cy="685800"/>
          </a:xfrm>
          <a:prstGeom prst="rect">
            <a:avLst/>
          </a:prstGeom>
          <a:noFill/>
          <a:ln/>
        </p:spPr>
        <p:txBody>
          <a:bodyPr wrap="square" rtlCol="0" anchor="ctr"/>
          <a:lstStyle/>
          <a:p>
            <a:pPr indent="0" marL="0">
              <a:lnSpc>
                <a:spcPct val="115000"/>
              </a:lnSpc>
              <a:buNone/>
            </a:pPr>
            <a:r>
              <a:rPr lang="en-US" sz="1150" b="1" dirty="0">
                <a:solidFill>
                  <a:srgbClr val="1B2733"/>
                </a:solidFill>
                <a:latin typeface="Calibri" pitchFamily="34" charset="0"/>
                <a:ea typeface="Calibri" pitchFamily="34" charset="-122"/>
                <a:cs typeface="Calibri" pitchFamily="34" charset="-120"/>
              </a:rPr>
              <a:t>Author:  </a:t>
            </a:r>
            <a:pPr indent="0" marL="0">
              <a:lnSpc>
                <a:spcPct val="115000"/>
              </a:lnSpc>
              <a:buNone/>
            </a:pPr>
            <a:r>
              <a:rPr lang="en-US" sz="1150" dirty="0">
                <a:solidFill>
                  <a:srgbClr val="5C7080"/>
                </a:solidFill>
                <a:latin typeface="Calibri" pitchFamily="34" charset="0"/>
                <a:ea typeface="Calibri" pitchFamily="34" charset="-122"/>
                <a:cs typeface="Calibri" pitchFamily="34" charset="-120"/>
              </a:rPr>
              <a:t>Built by Theia Vogel (github handle vgel), released as an open hobby project (currently unlicensed pending a formal license).</a:t>
            </a:r>
            <a:endParaRPr lang="en-US" sz="1150" dirty="0"/>
          </a:p>
        </p:txBody>
      </p:sp>
      <p:sp>
        <p:nvSpPr>
          <p:cNvPr id="7" name="Text 5"/>
          <p:cNvSpPr/>
          <p:nvPr/>
        </p:nvSpPr>
        <p:spPr>
          <a:xfrm>
            <a:off x="868680" y="3813048"/>
            <a:ext cx="5943600" cy="685800"/>
          </a:xfrm>
          <a:prstGeom prst="rect">
            <a:avLst/>
          </a:prstGeom>
          <a:noFill/>
          <a:ln/>
        </p:spPr>
        <p:txBody>
          <a:bodyPr wrap="square" rtlCol="0" anchor="ctr"/>
          <a:lstStyle/>
          <a:p>
            <a:pPr indent="0" marL="0">
              <a:lnSpc>
                <a:spcPct val="115000"/>
              </a:lnSpc>
              <a:buNone/>
            </a:pPr>
            <a:r>
              <a:rPr lang="en-US" sz="1150" b="1" dirty="0">
                <a:solidFill>
                  <a:srgbClr val="1B2733"/>
                </a:solidFill>
                <a:latin typeface="Calibri" pitchFamily="34" charset="0"/>
                <a:ea typeface="Calibri" pitchFamily="34" charset="-122"/>
                <a:cs typeface="Calibri" pitchFamily="34" charset="-120"/>
              </a:rPr>
              <a:t>What it is, technically:  </a:t>
            </a:r>
            <a:pPr indent="0" marL="0">
              <a:lnSpc>
                <a:spcPct val="115000"/>
              </a:lnSpc>
              <a:buNone/>
            </a:pPr>
            <a:r>
              <a:rPr lang="en-US" sz="1150" dirty="0">
                <a:solidFill>
                  <a:srgbClr val="5C7080"/>
                </a:solidFill>
                <a:latin typeface="Calibri" pitchFamily="34" charset="0"/>
                <a:ea typeface="Calibri" pitchFamily="34" charset="-122"/>
                <a:cs typeface="Calibri" pitchFamily="34" charset="-120"/>
              </a:rPr>
              <a:t>A single client-side web app (TypeScript + React-style UI, bundled with Bun) that talks directly to a model provider's API from your browser — no backend server, API keys stay local.</a:t>
            </a:r>
            <a:endParaRPr lang="en-US" sz="1150" dirty="0"/>
          </a:p>
        </p:txBody>
      </p:sp>
      <p:sp>
        <p:nvSpPr>
          <p:cNvPr id="8" name="Text 6"/>
          <p:cNvSpPr/>
          <p:nvPr/>
        </p:nvSpPr>
        <p:spPr>
          <a:xfrm>
            <a:off x="868680" y="4562856"/>
            <a:ext cx="5943600" cy="685800"/>
          </a:xfrm>
          <a:prstGeom prst="rect">
            <a:avLst/>
          </a:prstGeom>
          <a:noFill/>
          <a:ln/>
        </p:spPr>
        <p:txBody>
          <a:bodyPr wrap="square" rtlCol="0" anchor="ctr"/>
          <a:lstStyle/>
          <a:p>
            <a:pPr indent="0" marL="0">
              <a:lnSpc>
                <a:spcPct val="115000"/>
              </a:lnSpc>
              <a:buNone/>
            </a:pPr>
            <a:r>
              <a:rPr lang="en-US" sz="1150" b="1" dirty="0">
                <a:solidFill>
                  <a:srgbClr val="1B2733"/>
                </a:solidFill>
                <a:latin typeface="Calibri" pitchFamily="34" charset="0"/>
                <a:ea typeface="Calibri" pitchFamily="34" charset="-122"/>
                <a:cs typeface="Calibri" pitchFamily="34" charset="-120"/>
              </a:rPr>
              <a:t>Where to use it:  </a:t>
            </a:r>
            <a:pPr indent="0" marL="0">
              <a:lnSpc>
                <a:spcPct val="115000"/>
              </a:lnSpc>
              <a:buNone/>
            </a:pPr>
            <a:r>
              <a:rPr lang="en-US" sz="1150" dirty="0">
                <a:solidFill>
                  <a:srgbClr val="5C7080"/>
                </a:solidFill>
                <a:latin typeface="Calibri" pitchFamily="34" charset="0"/>
                <a:ea typeface="Calibri" pitchFamily="34" charset="-122"/>
                <a:cs typeface="Calibri" pitchFamily="34" charset="-120"/>
              </a:rPr>
              <a:t>Hosted build at vgel.me/logitloom, or run/build it yourself from the GitHub repo.</a:t>
            </a:r>
            <a:endParaRPr lang="en-US" sz="1150" dirty="0"/>
          </a:p>
        </p:txBody>
      </p:sp>
      <p:sp>
        <p:nvSpPr>
          <p:cNvPr id="9" name="Text 7"/>
          <p:cNvSpPr/>
          <p:nvPr/>
        </p:nvSpPr>
        <p:spPr>
          <a:xfrm>
            <a:off x="868680" y="5312664"/>
            <a:ext cx="5943600" cy="685800"/>
          </a:xfrm>
          <a:prstGeom prst="rect">
            <a:avLst/>
          </a:prstGeom>
          <a:noFill/>
          <a:ln/>
        </p:spPr>
        <p:txBody>
          <a:bodyPr wrap="square" rtlCol="0" anchor="ctr"/>
          <a:lstStyle/>
          <a:p>
            <a:pPr indent="0" marL="0">
              <a:lnSpc>
                <a:spcPct val="115000"/>
              </a:lnSpc>
              <a:buNone/>
            </a:pPr>
            <a:r>
              <a:rPr lang="en-US" sz="1150" b="1" dirty="0">
                <a:solidFill>
                  <a:srgbClr val="1B2733"/>
                </a:solidFill>
                <a:latin typeface="Calibri" pitchFamily="34" charset="0"/>
                <a:ea typeface="Calibri" pitchFamily="34" charset="-122"/>
                <a:cs typeface="Calibri" pitchFamily="34" charset="-120"/>
              </a:rPr>
              <a:t>Scale:  </a:t>
            </a:r>
            <a:pPr indent="0" marL="0">
              <a:lnSpc>
                <a:spcPct val="115000"/>
              </a:lnSpc>
              <a:buNone/>
            </a:pPr>
            <a:r>
              <a:rPr lang="en-US" sz="1150" dirty="0">
                <a:solidFill>
                  <a:srgbClr val="5C7080"/>
                </a:solidFill>
                <a:latin typeface="Calibri" pitchFamily="34" charset="0"/>
                <a:ea typeface="Calibri" pitchFamily="34" charset="-122"/>
                <a:cs typeface="Calibri" pitchFamily="34" charset="-120"/>
              </a:rPr>
              <a:t>Small, focused codebase (~a few hundred lines of core logic) — approachable to read end-to-end, which is part of why it's a good teaching example.</a:t>
            </a:r>
            <a:endParaRPr lang="en-US" sz="1150" dirty="0"/>
          </a:p>
        </p:txBody>
      </p:sp>
      <p:sp>
        <p:nvSpPr>
          <p:cNvPr id="10" name="Shape 8"/>
          <p:cNvSpPr/>
          <p:nvPr/>
        </p:nvSpPr>
        <p:spPr>
          <a:xfrm>
            <a:off x="7269480" y="1554480"/>
            <a:ext cx="4343400" cy="4480560"/>
          </a:xfrm>
          <a:prstGeom prst="roundRect">
            <a:avLst>
              <a:gd name="adj" fmla="val 1684"/>
            </a:avLst>
          </a:prstGeom>
          <a:solidFill>
            <a:srgbClr val="21295C"/>
          </a:solidFill>
          <a:ln/>
        </p:spPr>
      </p:sp>
      <p:sp>
        <p:nvSpPr>
          <p:cNvPr id="11" name="Shape 9"/>
          <p:cNvSpPr/>
          <p:nvPr/>
        </p:nvSpPr>
        <p:spPr>
          <a:xfrm>
            <a:off x="7589520" y="1828800"/>
            <a:ext cx="640080" cy="640080"/>
          </a:xfrm>
          <a:prstGeom prst="ellipse">
            <a:avLst/>
          </a:prstGeom>
          <a:solidFill>
            <a:srgbClr val="065A82"/>
          </a:solidFill>
          <a:ln/>
        </p:spPr>
      </p:sp>
      <p:pic>
        <p:nvPicPr>
          <p:cNvPr id="12" name="Image 0" descr="/home/claude/icons/diagram.png">    </p:cNvPr>
          <p:cNvPicPr>
            <a:picLocks noChangeAspect="1"/>
          </p:cNvPicPr>
          <p:nvPr/>
        </p:nvPicPr>
        <p:blipFill>
          <a:blip r:embed="rId1"/>
          <a:stretch>
            <a:fillRect/>
          </a:stretch>
        </p:blipFill>
        <p:spPr>
          <a:xfrm>
            <a:off x="7755941" y="1995221"/>
            <a:ext cx="307238" cy="307238"/>
          </a:xfrm>
          <a:prstGeom prst="rect">
            <a:avLst/>
          </a:prstGeom>
        </p:spPr>
      </p:pic>
      <p:sp>
        <p:nvSpPr>
          <p:cNvPr id="13" name="Text 10"/>
          <p:cNvSpPr/>
          <p:nvPr/>
        </p:nvSpPr>
        <p:spPr>
          <a:xfrm>
            <a:off x="8366760" y="1874520"/>
            <a:ext cx="301752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core shift</a:t>
            </a:r>
            <a:endParaRPr lang="en-US" sz="1600" dirty="0"/>
          </a:p>
        </p:txBody>
      </p:sp>
      <p:sp>
        <p:nvSpPr>
          <p:cNvPr id="14" name="Text 11"/>
          <p:cNvSpPr/>
          <p:nvPr/>
        </p:nvSpPr>
        <p:spPr>
          <a:xfrm>
            <a:off x="7589520" y="2606040"/>
            <a:ext cx="3703320" cy="1463040"/>
          </a:xfrm>
          <a:prstGeom prst="rect">
            <a:avLst/>
          </a:prstGeom>
          <a:noFill/>
          <a:ln/>
        </p:spPr>
        <p:txBody>
          <a:bodyPr wrap="square" rtlCol="0" anchor="ctr"/>
          <a:lstStyle/>
          <a:p>
            <a:pPr indent="0" marL="0">
              <a:lnSpc>
                <a:spcPct val="125000"/>
              </a:lnSpc>
              <a:buNone/>
            </a:pPr>
            <a:r>
              <a:rPr lang="en-US" sz="1250" dirty="0">
                <a:solidFill>
                  <a:srgbClr val="D7E9F2"/>
                </a:solidFill>
                <a:latin typeface="Calibri" pitchFamily="34" charset="0"/>
                <a:ea typeface="Calibri" pitchFamily="34" charset="-122"/>
                <a:cs typeface="Calibri" pitchFamily="34" charset="-120"/>
              </a:rPr>
              <a:t>Chat UIs show you the single sampled path. logitloom instead queries the model's top-k logprobs at every position and renders the resulting branching structure directly — turning an invisible, one-shot sampling decision into an object you can inspect, compare, and steer.</a:t>
            </a:r>
            <a:endParaRPr lang="en-US" sz="1250" dirty="0"/>
          </a:p>
        </p:txBody>
      </p:sp>
      <p:sp>
        <p:nvSpPr>
          <p:cNvPr id="15" name="Shape 12"/>
          <p:cNvSpPr/>
          <p:nvPr/>
        </p:nvSpPr>
        <p:spPr>
          <a:xfrm>
            <a:off x="7589520" y="4251960"/>
            <a:ext cx="3703320" cy="0"/>
          </a:xfrm>
          <a:prstGeom prst="line">
            <a:avLst/>
          </a:prstGeom>
          <a:noFill/>
          <a:ln w="12700">
            <a:solidFill>
              <a:srgbClr val="3F6E8C"/>
            </a:solidFill>
            <a:prstDash val="solid"/>
          </a:ln>
        </p:spPr>
      </p:sp>
      <p:sp>
        <p:nvSpPr>
          <p:cNvPr id="16" name="Shape 13"/>
          <p:cNvSpPr/>
          <p:nvPr/>
        </p:nvSpPr>
        <p:spPr>
          <a:xfrm>
            <a:off x="7589520" y="4434840"/>
            <a:ext cx="3703320" cy="310896"/>
          </a:xfrm>
          <a:prstGeom prst="roundRect">
            <a:avLst>
              <a:gd name="adj" fmla="val 50000"/>
            </a:avLst>
          </a:prstGeom>
          <a:solidFill>
            <a:srgbClr val="2A3F63"/>
          </a:solidFill>
          <a:ln w="9525">
            <a:solidFill>
              <a:srgbClr val="5A8FB0"/>
            </a:solidFill>
            <a:prstDash val="solid"/>
          </a:ln>
        </p:spPr>
      </p:sp>
      <p:sp>
        <p:nvSpPr>
          <p:cNvPr id="17" name="Text 14"/>
          <p:cNvSpPr/>
          <p:nvPr/>
        </p:nvSpPr>
        <p:spPr>
          <a:xfrm>
            <a:off x="7717536" y="4434840"/>
            <a:ext cx="3447288" cy="310896"/>
          </a:xfrm>
          <a:prstGeom prst="rect">
            <a:avLst/>
          </a:prstGeom>
          <a:noFill/>
          <a:ln/>
        </p:spPr>
        <p:txBody>
          <a:bodyPr wrap="square" lIns="0" tIns="0" rIns="0" bIns="0" rtlCol="0" anchor="ctr"/>
          <a:lstStyle/>
          <a:p>
            <a:pPr indent="0" marL="0">
              <a:buNone/>
            </a:pPr>
            <a:r>
              <a:rPr lang="en-US" sz="1000" i="1" dirty="0">
                <a:solidFill>
                  <a:srgbClr val="BFDCE8"/>
                </a:solidFill>
                <a:latin typeface="Calibri" pitchFamily="34" charset="0"/>
                <a:ea typeface="Calibri" pitchFamily="34" charset="-122"/>
                <a:cs typeface="Calibri" pitchFamily="34" charset="-120"/>
              </a:rPr>
              <a:t>↩  Background · Slide 6, The Multiverse View</a:t>
            </a:r>
            <a:endParaRPr lang="en-US" sz="1000" dirty="0"/>
          </a:p>
        </p:txBody>
      </p:sp>
      <p:sp>
        <p:nvSpPr>
          <p:cNvPr id="18" name="Text 15"/>
          <p:cNvSpPr/>
          <p:nvPr/>
        </p:nvSpPr>
        <p:spPr>
          <a:xfrm>
            <a:off x="7589520" y="4846320"/>
            <a:ext cx="3703320" cy="1097280"/>
          </a:xfrm>
          <a:prstGeom prst="rect">
            <a:avLst/>
          </a:prstGeom>
          <a:noFill/>
          <a:ln/>
        </p:spPr>
        <p:txBody>
          <a:bodyPr wrap="square" rtlCol="0" anchor="ctr"/>
          <a:lstStyle/>
          <a:p>
            <a:pPr indent="0" marL="0">
              <a:lnSpc>
                <a:spcPct val="125000"/>
              </a:lnSpc>
              <a:buNone/>
            </a:pPr>
            <a:r>
              <a:rPr lang="en-US" sz="1200" i="1" dirty="0">
                <a:solidFill>
                  <a:srgbClr val="9FC3D9"/>
                </a:solidFill>
                <a:latin typeface="Calibri" pitchFamily="34" charset="0"/>
                <a:ea typeface="Calibri" pitchFamily="34" charset="-122"/>
                <a:cs typeface="Calibri" pitchFamily="34" charset="-120"/>
              </a:rPr>
              <a:t>In short: it makes the probabilistic, tree-shaped nature of autoregressive generation something you can literally click through, rather than something you have to imagine.</a:t>
            </a:r>
            <a:endParaRPr lang="en-US" sz="1200" dirty="0"/>
          </a:p>
        </p:txBody>
      </p:sp>
      <p:sp>
        <p:nvSpPr>
          <p:cNvPr id="19" name="Text 16"/>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20" name="Text 1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Repository Structure</a:t>
            </a:r>
            <a:endParaRPr lang="en-US" sz="32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00" dirty="0">
                <a:solidFill>
                  <a:srgbClr val="9FC3D9"/>
                </a:solidFill>
                <a:latin typeface="Calibri" pitchFamily="34" charset="0"/>
                <a:ea typeface="Calibri" pitchFamily="34" charset="-122"/>
                <a:cs typeface="Calibri" pitchFamily="34" charset="-120"/>
              </a:rPr>
              <a:t>This is the actual file listing from github.com/vgel/logitloom — the highlighted files are the ones we'll walk through in detail.</a:t>
            </a:r>
            <a:endParaRPr lang="en-US" sz="1300" dirty="0"/>
          </a:p>
        </p:txBody>
      </p:sp>
      <p:sp>
        <p:nvSpPr>
          <p:cNvPr id="5" name="Shape 3"/>
          <p:cNvSpPr/>
          <p:nvPr/>
        </p:nvSpPr>
        <p:spPr>
          <a:xfrm>
            <a:off x="548640" y="1965960"/>
            <a:ext cx="6126480" cy="4480560"/>
          </a:xfrm>
          <a:prstGeom prst="roundRect">
            <a:avLst>
              <a:gd name="adj" fmla="val 1633"/>
            </a:avLst>
          </a:prstGeom>
          <a:solidFill>
            <a:srgbClr val="0F2036"/>
          </a:solidFill>
          <a:ln w="12700">
            <a:solidFill>
              <a:srgbClr val="3F6E8C"/>
            </a:solidFill>
            <a:prstDash val="solid"/>
          </a:ln>
        </p:spPr>
      </p:sp>
      <p:sp>
        <p:nvSpPr>
          <p:cNvPr id="6" name="Text 4"/>
          <p:cNvSpPr/>
          <p:nvPr/>
        </p:nvSpPr>
        <p:spPr>
          <a:xfrm>
            <a:off x="777240" y="2103120"/>
            <a:ext cx="5669280" cy="320040"/>
          </a:xfrm>
          <a:prstGeom prst="rect">
            <a:avLst/>
          </a:prstGeom>
          <a:noFill/>
          <a:ln/>
        </p:spPr>
        <p:txBody>
          <a:bodyPr wrap="square"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vgel/logitloom</a:t>
            </a:r>
            <a:endParaRPr lang="en-US" sz="1300" dirty="0"/>
          </a:p>
        </p:txBody>
      </p:sp>
      <p:sp>
        <p:nvSpPr>
          <p:cNvPr id="7" name="Text 5"/>
          <p:cNvSpPr/>
          <p:nvPr/>
        </p:nvSpPr>
        <p:spPr>
          <a:xfrm>
            <a:off x="777240" y="2487168"/>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7FA9C4"/>
                </a:solidFill>
                <a:latin typeface="Courier New" pitchFamily="34" charset="0"/>
                <a:ea typeface="Courier New" pitchFamily="34" charset="-122"/>
                <a:cs typeface="Courier New" pitchFamily="34" charset="-120"/>
              </a:rPr>
              <a:t>media/</a:t>
            </a:r>
            <a:endParaRPr lang="en-US" sz="1150" dirty="0"/>
          </a:p>
        </p:txBody>
      </p:sp>
      <p:sp>
        <p:nvSpPr>
          <p:cNvPr id="8" name="Text 6"/>
          <p:cNvSpPr/>
          <p:nvPr/>
        </p:nvSpPr>
        <p:spPr>
          <a:xfrm>
            <a:off x="777240" y="2711196"/>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7FA9C4"/>
                </a:solidFill>
                <a:latin typeface="Courier New" pitchFamily="34" charset="0"/>
                <a:ea typeface="Courier New" pitchFamily="34" charset="-122"/>
                <a:cs typeface="Courier New" pitchFamily="34" charset="-120"/>
              </a:rPr>
              <a:t>vendored/</a:t>
            </a:r>
            <a:endParaRPr lang="en-US" sz="1150" dirty="0"/>
          </a:p>
        </p:txBody>
      </p:sp>
      <p:sp>
        <p:nvSpPr>
          <p:cNvPr id="9" name="Text 7"/>
          <p:cNvSpPr/>
          <p:nvPr/>
        </p:nvSpPr>
        <p:spPr>
          <a:xfrm>
            <a:off x="777240" y="2935224"/>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.gitignore</a:t>
            </a:r>
            <a:endParaRPr lang="en-US" sz="1150" dirty="0"/>
          </a:p>
        </p:txBody>
      </p:sp>
      <p:sp>
        <p:nvSpPr>
          <p:cNvPr id="10" name="Text 8"/>
          <p:cNvSpPr/>
          <p:nvPr/>
        </p:nvSpPr>
        <p:spPr>
          <a:xfrm>
            <a:off x="777240" y="3159252"/>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README.md</a:t>
            </a:r>
            <a:endParaRPr lang="en-US" sz="1150" dirty="0"/>
          </a:p>
        </p:txBody>
      </p:sp>
      <p:sp>
        <p:nvSpPr>
          <p:cNvPr id="11" name="Shape 9"/>
          <p:cNvSpPr/>
          <p:nvPr/>
        </p:nvSpPr>
        <p:spPr>
          <a:xfrm>
            <a:off x="658368" y="3374136"/>
            <a:ext cx="5870448" cy="224028"/>
          </a:xfrm>
          <a:prstGeom prst="rect">
            <a:avLst/>
          </a:prstGeom>
          <a:solidFill>
            <a:srgbClr val="1C3A57"/>
          </a:solidFill>
          <a:ln/>
        </p:spPr>
      </p:sp>
      <p:sp>
        <p:nvSpPr>
          <p:cNvPr id="12" name="Text 10"/>
          <p:cNvSpPr/>
          <p:nvPr/>
        </p:nvSpPr>
        <p:spPr>
          <a:xfrm>
            <a:off x="777240" y="3383280"/>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b="1" dirty="0">
                <a:solidFill>
                  <a:srgbClr val="8FD4E8"/>
                </a:solidFill>
                <a:latin typeface="Courier New" pitchFamily="34" charset="0"/>
                <a:ea typeface="Courier New" pitchFamily="34" charset="-122"/>
                <a:cs typeface="Courier New" pitchFamily="34" charset="-120"/>
              </a:rPr>
              <a:t>api-sniffer.ts</a:t>
            </a:r>
            <a:endParaRPr lang="en-US" sz="1150" dirty="0"/>
          </a:p>
        </p:txBody>
      </p:sp>
      <p:sp>
        <p:nvSpPr>
          <p:cNvPr id="13" name="Text 11"/>
          <p:cNvSpPr/>
          <p:nvPr/>
        </p:nvSpPr>
        <p:spPr>
          <a:xfrm>
            <a:off x="777240" y="3607308"/>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build-for-website-and-copy.sh</a:t>
            </a:r>
            <a:endParaRPr lang="en-US" sz="1150" dirty="0"/>
          </a:p>
        </p:txBody>
      </p:sp>
      <p:sp>
        <p:nvSpPr>
          <p:cNvPr id="14" name="Text 12"/>
          <p:cNvSpPr/>
          <p:nvPr/>
        </p:nvSpPr>
        <p:spPr>
          <a:xfrm>
            <a:off x="777240" y="3831336"/>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bun.lock</a:t>
            </a:r>
            <a:endParaRPr lang="en-US" sz="1150" dirty="0"/>
          </a:p>
        </p:txBody>
      </p:sp>
      <p:sp>
        <p:nvSpPr>
          <p:cNvPr id="15" name="Text 13"/>
          <p:cNvSpPr/>
          <p:nvPr/>
        </p:nvSpPr>
        <p:spPr>
          <a:xfrm>
            <a:off x="777240" y="4055364"/>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D7E9F2"/>
                </a:solidFill>
                <a:latin typeface="Courier New" pitchFamily="34" charset="0"/>
                <a:ea typeface="Courier New" pitchFamily="34" charset="-122"/>
                <a:cs typeface="Courier New" pitchFamily="34" charset="-120"/>
              </a:rPr>
              <a:t>index.html</a:t>
            </a:r>
            <a:endParaRPr lang="en-US" sz="1150" dirty="0"/>
          </a:p>
        </p:txBody>
      </p:sp>
      <p:sp>
        <p:nvSpPr>
          <p:cNvPr id="16" name="Text 14"/>
          <p:cNvSpPr/>
          <p:nvPr/>
        </p:nvSpPr>
        <p:spPr>
          <a:xfrm>
            <a:off x="777240" y="4279392"/>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D7E9F2"/>
                </a:solidFill>
                <a:latin typeface="Courier New" pitchFamily="34" charset="0"/>
                <a:ea typeface="Courier New" pitchFamily="34" charset="-122"/>
                <a:cs typeface="Courier New" pitchFamily="34" charset="-120"/>
              </a:rPr>
              <a:t>index.tsx</a:t>
            </a:r>
            <a:endParaRPr lang="en-US" sz="1150" dirty="0"/>
          </a:p>
        </p:txBody>
      </p:sp>
      <p:sp>
        <p:nvSpPr>
          <p:cNvPr id="17" name="Shape 15"/>
          <p:cNvSpPr/>
          <p:nvPr/>
        </p:nvSpPr>
        <p:spPr>
          <a:xfrm>
            <a:off x="658368" y="4494276"/>
            <a:ext cx="5870448" cy="224028"/>
          </a:xfrm>
          <a:prstGeom prst="rect">
            <a:avLst/>
          </a:prstGeom>
          <a:solidFill>
            <a:srgbClr val="1C3A57"/>
          </a:solidFill>
          <a:ln/>
        </p:spPr>
      </p:sp>
      <p:sp>
        <p:nvSpPr>
          <p:cNvPr id="18" name="Text 16"/>
          <p:cNvSpPr/>
          <p:nvPr/>
        </p:nvSpPr>
        <p:spPr>
          <a:xfrm>
            <a:off x="777240" y="4503420"/>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b="1" dirty="0">
                <a:solidFill>
                  <a:srgbClr val="8FD4E8"/>
                </a:solidFill>
                <a:latin typeface="Courier New" pitchFamily="34" charset="0"/>
                <a:ea typeface="Courier New" pitchFamily="34" charset="-122"/>
                <a:cs typeface="Courier New" pitchFamily="34" charset="-120"/>
              </a:rPr>
              <a:t>logit-loom.ts</a:t>
            </a:r>
            <a:endParaRPr lang="en-US" sz="1150" dirty="0"/>
          </a:p>
        </p:txBody>
      </p:sp>
      <p:sp>
        <p:nvSpPr>
          <p:cNvPr id="19" name="Text 17"/>
          <p:cNvSpPr/>
          <p:nvPr/>
        </p:nvSpPr>
        <p:spPr>
          <a:xfrm>
            <a:off x="777240" y="4727448"/>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D7E9F2"/>
                </a:solidFill>
                <a:latin typeface="Courier New" pitchFamily="34" charset="0"/>
                <a:ea typeface="Courier New" pitchFamily="34" charset="-122"/>
                <a:cs typeface="Courier New" pitchFamily="34" charset="-120"/>
              </a:rPr>
              <a:t>openai.ts</a:t>
            </a:r>
            <a:endParaRPr lang="en-US" sz="1150" dirty="0"/>
          </a:p>
        </p:txBody>
      </p:sp>
      <p:sp>
        <p:nvSpPr>
          <p:cNvPr id="20" name="Text 18"/>
          <p:cNvSpPr/>
          <p:nvPr/>
        </p:nvSpPr>
        <p:spPr>
          <a:xfrm>
            <a:off x="777240" y="4951476"/>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package.json</a:t>
            </a:r>
            <a:endParaRPr lang="en-US" sz="1150" dirty="0"/>
          </a:p>
        </p:txBody>
      </p:sp>
      <p:sp>
        <p:nvSpPr>
          <p:cNvPr id="21" name="Shape 19"/>
          <p:cNvSpPr/>
          <p:nvPr/>
        </p:nvSpPr>
        <p:spPr>
          <a:xfrm>
            <a:off x="658368" y="5166360"/>
            <a:ext cx="5870448" cy="224028"/>
          </a:xfrm>
          <a:prstGeom prst="rect">
            <a:avLst/>
          </a:prstGeom>
          <a:solidFill>
            <a:srgbClr val="1C3A57"/>
          </a:solidFill>
          <a:ln/>
        </p:spPr>
      </p:sp>
      <p:sp>
        <p:nvSpPr>
          <p:cNvPr id="22" name="Text 20"/>
          <p:cNvSpPr/>
          <p:nvPr/>
        </p:nvSpPr>
        <p:spPr>
          <a:xfrm>
            <a:off x="777240" y="5175504"/>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b="1" dirty="0">
                <a:solidFill>
                  <a:srgbClr val="8FD4E8"/>
                </a:solidFill>
                <a:latin typeface="Courier New" pitchFamily="34" charset="0"/>
                <a:ea typeface="Courier New" pitchFamily="34" charset="-122"/>
                <a:cs typeface="Courier New" pitchFamily="34" charset="-120"/>
              </a:rPr>
              <a:t>save-load.ts</a:t>
            </a:r>
            <a:endParaRPr lang="en-US" sz="1150" dirty="0"/>
          </a:p>
        </p:txBody>
      </p:sp>
      <p:sp>
        <p:nvSpPr>
          <p:cNvPr id="23" name="Shape 21"/>
          <p:cNvSpPr/>
          <p:nvPr/>
        </p:nvSpPr>
        <p:spPr>
          <a:xfrm>
            <a:off x="658368" y="5390388"/>
            <a:ext cx="5870448" cy="224028"/>
          </a:xfrm>
          <a:prstGeom prst="rect">
            <a:avLst/>
          </a:prstGeom>
          <a:solidFill>
            <a:srgbClr val="1C3A57"/>
          </a:solidFill>
          <a:ln/>
        </p:spPr>
      </p:sp>
      <p:sp>
        <p:nvSpPr>
          <p:cNvPr id="24" name="Text 22"/>
          <p:cNvSpPr/>
          <p:nvPr/>
        </p:nvSpPr>
        <p:spPr>
          <a:xfrm>
            <a:off x="777240" y="5399532"/>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b="1" dirty="0">
                <a:solidFill>
                  <a:srgbClr val="8FD4E8"/>
                </a:solidFill>
                <a:latin typeface="Courier New" pitchFamily="34" charset="0"/>
                <a:ea typeface="Courier New" pitchFamily="34" charset="-122"/>
                <a:cs typeface="Courier New" pitchFamily="34" charset="-120"/>
              </a:rPr>
              <a:t>tree-store.ts</a:t>
            </a:r>
            <a:endParaRPr lang="en-US" sz="1150" dirty="0"/>
          </a:p>
        </p:txBody>
      </p:sp>
      <p:sp>
        <p:nvSpPr>
          <p:cNvPr id="25" name="Text 23"/>
          <p:cNvSpPr/>
          <p:nvPr/>
        </p:nvSpPr>
        <p:spPr>
          <a:xfrm>
            <a:off x="777240" y="5623560"/>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tsconfig.json</a:t>
            </a:r>
            <a:endParaRPr lang="en-US" sz="1150" dirty="0"/>
          </a:p>
        </p:txBody>
      </p:sp>
      <p:sp>
        <p:nvSpPr>
          <p:cNvPr id="26" name="Text 24"/>
          <p:cNvSpPr/>
          <p:nvPr/>
        </p:nvSpPr>
        <p:spPr>
          <a:xfrm>
            <a:off x="777240" y="5847588"/>
            <a:ext cx="5577840" cy="224028"/>
          </a:xfrm>
          <a:prstGeom prst="rect">
            <a:avLst/>
          </a:prstGeom>
          <a:noFill/>
          <a:ln/>
        </p:spPr>
        <p:txBody>
          <a:bodyPr wrap="square" lIns="0" tIns="0" rIns="0" bIns="0" rtlCol="0" anchor="ctr"/>
          <a:lstStyle/>
          <a:p>
            <a:pPr indent="0" marL="0">
              <a:buNone/>
            </a:pPr>
            <a:r>
              <a:rPr lang="en-US" sz="1150" dirty="0">
                <a:solidFill>
                  <a:srgbClr val="3F6E8C"/>
                </a:solidFill>
                <a:latin typeface="Courier New" pitchFamily="34" charset="0"/>
                <a:ea typeface="Courier New" pitchFamily="34" charset="-122"/>
                <a:cs typeface="Courier New" pitchFamily="34" charset="-120"/>
              </a:rPr>
              <a:t>└── </a:t>
            </a:r>
            <a:pPr indent="0" marL="0">
              <a:buNone/>
            </a:pPr>
            <a:r>
              <a:rPr lang="en-US" sz="1150" dirty="0">
                <a:solidFill>
                  <a:srgbClr val="6B87A3"/>
                </a:solidFill>
                <a:latin typeface="Courier New" pitchFamily="34" charset="0"/>
                <a:ea typeface="Courier New" pitchFamily="34" charset="-122"/>
                <a:cs typeface="Courier New" pitchFamily="34" charset="-120"/>
              </a:rPr>
              <a:t>vendor-openai.sh</a:t>
            </a:r>
            <a:endParaRPr lang="en-US" sz="1150" dirty="0"/>
          </a:p>
        </p:txBody>
      </p:sp>
      <p:sp>
        <p:nvSpPr>
          <p:cNvPr id="27" name="Text 25"/>
          <p:cNvSpPr/>
          <p:nvPr/>
        </p:nvSpPr>
        <p:spPr>
          <a:xfrm>
            <a:off x="6949440" y="1965960"/>
            <a:ext cx="4663440" cy="320040"/>
          </a:xfrm>
          <a:prstGeom prst="rect">
            <a:avLst/>
          </a:prstGeom>
          <a:noFill/>
          <a:ln/>
        </p:spPr>
        <p:txBody>
          <a:bodyPr wrap="square" rtlCol="0" anchor="ctr"/>
          <a:lstStyle/>
          <a:p>
            <a:pPr indent="0" marL="0">
              <a:buNone/>
            </a:pPr>
            <a:r>
              <a:rPr lang="en-US" sz="1200" b="1" dirty="0">
                <a:solidFill>
                  <a:srgbClr val="8FD4E8"/>
                </a:solidFill>
                <a:latin typeface="Calibri" pitchFamily="34" charset="0"/>
                <a:ea typeface="Calibri" pitchFamily="34" charset="-122"/>
                <a:cs typeface="Calibri" pitchFamily="34" charset="-120"/>
              </a:rPr>
              <a:t>Highlighted = core algorithm &amp; state files</a:t>
            </a:r>
            <a:endParaRPr lang="en-US" sz="1200" dirty="0"/>
          </a:p>
        </p:txBody>
      </p:sp>
      <p:sp>
        <p:nvSpPr>
          <p:cNvPr id="28" name="Text 26"/>
          <p:cNvSpPr/>
          <p:nvPr/>
        </p:nvSpPr>
        <p:spPr>
          <a:xfrm>
            <a:off x="6949440" y="2377440"/>
            <a:ext cx="4663440" cy="274320"/>
          </a:xfrm>
          <a:prstGeom prst="rect">
            <a:avLst/>
          </a:prstGeom>
          <a:noFill/>
          <a:ln/>
        </p:spPr>
        <p:txBody>
          <a:bodyPr wrap="square"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logit-loom.ts</a:t>
            </a:r>
            <a:endParaRPr lang="en-US" sz="1150" dirty="0"/>
          </a:p>
        </p:txBody>
      </p:sp>
      <p:sp>
        <p:nvSpPr>
          <p:cNvPr id="29" name="Text 27"/>
          <p:cNvSpPr/>
          <p:nvPr/>
        </p:nvSpPr>
        <p:spPr>
          <a:xfrm>
            <a:off x="6949440" y="2651760"/>
            <a:ext cx="4663440" cy="457200"/>
          </a:xfrm>
          <a:prstGeom prst="rect">
            <a:avLst/>
          </a:prstGeom>
          <a:noFill/>
          <a:ln/>
        </p:spPr>
        <p:txBody>
          <a:bodyPr wrap="square" rtlCol="0" anchor="ctr"/>
          <a:lstStyle/>
          <a:p>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The algorithm itself: Token type, buildTree(), expandTree(), query().</a:t>
            </a:r>
            <a:endParaRPr lang="en-US" sz="1050" dirty="0"/>
          </a:p>
        </p:txBody>
      </p:sp>
      <p:sp>
        <p:nvSpPr>
          <p:cNvPr id="30" name="Text 28"/>
          <p:cNvSpPr/>
          <p:nvPr/>
        </p:nvSpPr>
        <p:spPr>
          <a:xfrm>
            <a:off x="6949440" y="3246120"/>
            <a:ext cx="4663440" cy="274320"/>
          </a:xfrm>
          <a:prstGeom prst="rect">
            <a:avLst/>
          </a:prstGeom>
          <a:noFill/>
          <a:ln/>
        </p:spPr>
        <p:txBody>
          <a:bodyPr wrap="square"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api-sniffer.ts</a:t>
            </a:r>
            <a:endParaRPr lang="en-US" sz="1150" dirty="0"/>
          </a:p>
        </p:txBody>
      </p:sp>
      <p:sp>
        <p:nvSpPr>
          <p:cNvPr id="31" name="Text 29"/>
          <p:cNvSpPr/>
          <p:nvPr/>
        </p:nvSpPr>
        <p:spPr>
          <a:xfrm>
            <a:off x="6949440" y="3520440"/>
            <a:ext cx="4663440" cy="457200"/>
          </a:xfrm>
          <a:prstGeom prst="rect">
            <a:avLst/>
          </a:prstGeom>
          <a:noFill/>
          <a:ln/>
        </p:spPr>
        <p:txBody>
          <a:bodyPr wrap="square" rtlCol="0" anchor="ctr"/>
          <a:lstStyle/>
          <a:p>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sniffApi() detects what a given backend API supports.</a:t>
            </a:r>
            <a:endParaRPr lang="en-US" sz="1050" dirty="0"/>
          </a:p>
        </p:txBody>
      </p:sp>
      <p:sp>
        <p:nvSpPr>
          <p:cNvPr id="32" name="Text 30"/>
          <p:cNvSpPr/>
          <p:nvPr/>
        </p:nvSpPr>
        <p:spPr>
          <a:xfrm>
            <a:off x="6949440" y="4114800"/>
            <a:ext cx="4663440" cy="274320"/>
          </a:xfrm>
          <a:prstGeom prst="rect">
            <a:avLst/>
          </a:prstGeom>
          <a:noFill/>
          <a:ln/>
        </p:spPr>
        <p:txBody>
          <a:bodyPr wrap="square"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tree-store.ts</a:t>
            </a:r>
            <a:endParaRPr lang="en-US" sz="1150" dirty="0"/>
          </a:p>
        </p:txBody>
      </p:sp>
      <p:sp>
        <p:nvSpPr>
          <p:cNvPr id="33" name="Text 31"/>
          <p:cNvSpPr/>
          <p:nvPr/>
        </p:nvSpPr>
        <p:spPr>
          <a:xfrm>
            <a:off x="6949440" y="4389120"/>
            <a:ext cx="4663440" cy="457200"/>
          </a:xfrm>
          <a:prstGeom prst="rect">
            <a:avLst/>
          </a:prstGeom>
          <a:noFill/>
          <a:ln/>
        </p:spPr>
        <p:txBody>
          <a:bodyPr wrap="square" rtlCol="0" anchor="ctr"/>
          <a:lstStyle/>
          <a:p>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React state layer wiring the UI to the algorithm above.</a:t>
            </a:r>
            <a:endParaRPr lang="en-US" sz="1050" dirty="0"/>
          </a:p>
        </p:txBody>
      </p:sp>
      <p:sp>
        <p:nvSpPr>
          <p:cNvPr id="34" name="Text 32"/>
          <p:cNvSpPr/>
          <p:nvPr/>
        </p:nvSpPr>
        <p:spPr>
          <a:xfrm>
            <a:off x="6949440" y="4983480"/>
            <a:ext cx="4663440" cy="274320"/>
          </a:xfrm>
          <a:prstGeom prst="rect">
            <a:avLst/>
          </a:prstGeom>
          <a:noFill/>
          <a:ln/>
        </p:spPr>
        <p:txBody>
          <a:bodyPr wrap="square"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save-load.ts</a:t>
            </a:r>
            <a:endParaRPr lang="en-US" sz="1150" dirty="0"/>
          </a:p>
        </p:txBody>
      </p:sp>
      <p:sp>
        <p:nvSpPr>
          <p:cNvPr id="35" name="Text 33"/>
          <p:cNvSpPr/>
          <p:nvPr/>
        </p:nvSpPr>
        <p:spPr>
          <a:xfrm>
            <a:off x="6949440" y="5257800"/>
            <a:ext cx="4663440" cy="457200"/>
          </a:xfrm>
          <a:prstGeom prst="rect">
            <a:avLst/>
          </a:prstGeom>
          <a:noFill/>
          <a:ln/>
        </p:spPr>
        <p:txBody>
          <a:bodyPr wrap="square" rtlCol="0" anchor="ctr"/>
          <a:lstStyle/>
          <a:p>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Import/export a tree + settings as JSON.</a:t>
            </a:r>
            <a:endParaRPr lang="en-US" sz="1050" dirty="0"/>
          </a:p>
        </p:txBody>
      </p:sp>
      <p:sp>
        <p:nvSpPr>
          <p:cNvPr id="36" name="Text 34"/>
          <p:cNvSpPr/>
          <p:nvPr/>
        </p:nvSpPr>
        <p:spPr>
          <a:xfrm>
            <a:off x="6949440" y="5897880"/>
            <a:ext cx="4663440" cy="822960"/>
          </a:xfrm>
          <a:prstGeom prst="rect">
            <a:avLst/>
          </a:prstGeom>
          <a:noFill/>
          <a:ln/>
        </p:spPr>
        <p:txBody>
          <a:bodyPr wrap="square" rtlCol="0" anchor="ctr"/>
          <a:lstStyle/>
          <a:p>
            <a:pPr indent="0" marL="0">
              <a:lnSpc>
                <a:spcPct val="120000"/>
              </a:lnSpc>
              <a:buNone/>
            </a:pPr>
            <a:r>
              <a:rPr lang="en-US" sz="1000" i="1" dirty="0">
                <a:solidFill>
                  <a:srgbClr val="5C7080"/>
                </a:solidFill>
                <a:latin typeface="Calibri" pitchFamily="34" charset="0"/>
                <a:ea typeface="Calibri" pitchFamily="34" charset="-122"/>
                <a:cs typeface="Calibri" pitchFamily="34" charset="-120"/>
              </a:rPr>
              <a:t>Everything else is app shell and build tooling — index.tsx/index.html render the UI, openai.ts is a vendored API client, and the rest is Bun/TypeScript config.</a:t>
            </a:r>
            <a:endParaRPr lang="en-US" sz="1000" dirty="0"/>
          </a:p>
        </p:txBody>
      </p:sp>
      <p:sp>
        <p:nvSpPr>
          <p:cNvPr id="37" name="Text 35"/>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LOGITLOOM  ·  AI SEMINAR, LECTURE 2</a:t>
            </a:r>
            <a:endParaRPr lang="en-US" sz="900" dirty="0"/>
          </a:p>
        </p:txBody>
      </p:sp>
      <p:sp>
        <p:nvSpPr>
          <p:cNvPr id="38" name="Text 3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Repository Map: Where Things Live</a:t>
            </a:r>
            <a:endParaRPr lang="en-US" sz="3200" dirty="0"/>
          </a:p>
        </p:txBody>
      </p:sp>
      <p:sp>
        <p:nvSpPr>
          <p:cNvPr id="4" name="Text 2"/>
          <p:cNvSpPr/>
          <p:nvPr/>
        </p:nvSpPr>
        <p:spPr>
          <a:xfrm>
            <a:off x="548640" y="1417320"/>
            <a:ext cx="1106424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Same files as the tree you just saw, now grouped by what they actually do. We'll cite the exact path as we go.</a:t>
            </a:r>
            <a:endParaRPr lang="en-US" sz="1350" dirty="0"/>
          </a:p>
        </p:txBody>
      </p:sp>
      <p:sp>
        <p:nvSpPr>
          <p:cNvPr id="5" name="Text 3"/>
          <p:cNvSpPr/>
          <p:nvPr/>
        </p:nvSpPr>
        <p:spPr>
          <a:xfrm>
            <a:off x="548640" y="2011680"/>
            <a:ext cx="5349240" cy="320040"/>
          </a:xfrm>
          <a:prstGeom prst="rect">
            <a:avLst/>
          </a:prstGeom>
          <a:noFill/>
          <a:ln/>
        </p:spPr>
        <p:txBody>
          <a:bodyPr wrap="square" rtlCol="0" anchor="ctr"/>
          <a:lstStyle/>
          <a:p>
            <a:pPr indent="0" marL="0">
              <a:buNone/>
            </a:pPr>
            <a:r>
              <a:rPr lang="en-US" sz="1300" b="1" spc="100" kern="0" dirty="0">
                <a:solidFill>
                  <a:srgbClr val="065A82"/>
                </a:solidFill>
                <a:latin typeface="Calibri" pitchFamily="34" charset="0"/>
                <a:ea typeface="Calibri" pitchFamily="34" charset="-122"/>
                <a:cs typeface="Calibri" pitchFamily="34" charset="-120"/>
              </a:rPr>
              <a:t>Core algorithm</a:t>
            </a:r>
            <a:endParaRPr lang="en-US" sz="1300" dirty="0"/>
          </a:p>
        </p:txBody>
      </p:sp>
      <p:sp>
        <p:nvSpPr>
          <p:cNvPr id="6" name="Shape 4"/>
          <p:cNvSpPr/>
          <p:nvPr/>
        </p:nvSpPr>
        <p:spPr>
          <a:xfrm>
            <a:off x="548640" y="2423160"/>
            <a:ext cx="5349240" cy="896112"/>
          </a:xfrm>
          <a:prstGeom prst="roundRect">
            <a:avLst>
              <a:gd name="adj" fmla="val 6122"/>
            </a:avLst>
          </a:prstGeom>
          <a:solidFill>
            <a:srgbClr val="F2F8FA"/>
          </a:solidFill>
          <a:ln/>
        </p:spPr>
      </p:sp>
      <p:sp>
        <p:nvSpPr>
          <p:cNvPr id="7" name="Text 5"/>
          <p:cNvSpPr/>
          <p:nvPr/>
        </p:nvSpPr>
        <p:spPr>
          <a:xfrm>
            <a:off x="731520" y="2514600"/>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logit-loom.ts</a:t>
            </a:r>
            <a:endParaRPr lang="en-US" sz="1250" dirty="0"/>
          </a:p>
        </p:txBody>
      </p:sp>
      <p:sp>
        <p:nvSpPr>
          <p:cNvPr id="8" name="Text 6"/>
          <p:cNvSpPr/>
          <p:nvPr/>
        </p:nvSpPr>
        <p:spPr>
          <a:xfrm>
            <a:off x="731520" y="2807208"/>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Token type, buildTree(), expandTree(), query(), appendTokens(), getContinuablePrefix() — the algorithmic heart of the tool.</a:t>
            </a:r>
            <a:endParaRPr lang="en-US" sz="1000" dirty="0"/>
          </a:p>
        </p:txBody>
      </p:sp>
      <p:sp>
        <p:nvSpPr>
          <p:cNvPr id="9" name="Shape 7"/>
          <p:cNvSpPr/>
          <p:nvPr/>
        </p:nvSpPr>
        <p:spPr>
          <a:xfrm>
            <a:off x="548640" y="3410712"/>
            <a:ext cx="5349240" cy="896112"/>
          </a:xfrm>
          <a:prstGeom prst="roundRect">
            <a:avLst>
              <a:gd name="adj" fmla="val 6122"/>
            </a:avLst>
          </a:prstGeom>
          <a:solidFill>
            <a:srgbClr val="F2F8FA"/>
          </a:solidFill>
          <a:ln/>
        </p:spPr>
      </p:sp>
      <p:sp>
        <p:nvSpPr>
          <p:cNvPr id="10" name="Text 8"/>
          <p:cNvSpPr/>
          <p:nvPr/>
        </p:nvSpPr>
        <p:spPr>
          <a:xfrm>
            <a:off x="731520" y="3502152"/>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api-sniffer.ts</a:t>
            </a:r>
            <a:endParaRPr lang="en-US" sz="1250" dirty="0"/>
          </a:p>
        </p:txBody>
      </p:sp>
      <p:sp>
        <p:nvSpPr>
          <p:cNvPr id="11" name="Text 9"/>
          <p:cNvSpPr/>
          <p:nvPr/>
        </p:nvSpPr>
        <p:spPr>
          <a:xfrm>
            <a:off x="731520" y="3794760"/>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sniffApi() probes a provider's /models endpoint to auto-detect logprob &amp; prefill support (OpenAI, Anthropic, DeepSeek, Hyperbolic, vLLM, KoboldCpp, llama-server, Nous...).</a:t>
            </a:r>
            <a:endParaRPr lang="en-US" sz="1000" dirty="0"/>
          </a:p>
        </p:txBody>
      </p:sp>
      <p:sp>
        <p:nvSpPr>
          <p:cNvPr id="12" name="Shape 10"/>
          <p:cNvSpPr/>
          <p:nvPr/>
        </p:nvSpPr>
        <p:spPr>
          <a:xfrm>
            <a:off x="548640" y="4398264"/>
            <a:ext cx="5349240" cy="896112"/>
          </a:xfrm>
          <a:prstGeom prst="roundRect">
            <a:avLst>
              <a:gd name="adj" fmla="val 6122"/>
            </a:avLst>
          </a:prstGeom>
          <a:solidFill>
            <a:srgbClr val="F2F8FA"/>
          </a:solidFill>
          <a:ln/>
        </p:spPr>
      </p:sp>
      <p:sp>
        <p:nvSpPr>
          <p:cNvPr id="13" name="Text 11"/>
          <p:cNvSpPr/>
          <p:nvPr/>
        </p:nvSpPr>
        <p:spPr>
          <a:xfrm>
            <a:off x="731520" y="4489704"/>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tree-store.ts</a:t>
            </a:r>
            <a:endParaRPr lang="en-US" sz="1250" dirty="0"/>
          </a:p>
        </p:txBody>
      </p:sp>
      <p:sp>
        <p:nvSpPr>
          <p:cNvPr id="14" name="Text 12"/>
          <p:cNvSpPr/>
          <p:nvPr/>
        </p:nvSpPr>
        <p:spPr>
          <a:xfrm>
            <a:off x="731520" y="4782312"/>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React state layer (useTreeStore / run()) that wires UI actions to buildTree/expandTree and persists the tree to localStorage.</a:t>
            </a:r>
            <a:endParaRPr lang="en-US" sz="1000" dirty="0"/>
          </a:p>
        </p:txBody>
      </p:sp>
      <p:sp>
        <p:nvSpPr>
          <p:cNvPr id="15" name="Shape 13"/>
          <p:cNvSpPr/>
          <p:nvPr/>
        </p:nvSpPr>
        <p:spPr>
          <a:xfrm>
            <a:off x="548640" y="5385816"/>
            <a:ext cx="5349240" cy="896112"/>
          </a:xfrm>
          <a:prstGeom prst="roundRect">
            <a:avLst>
              <a:gd name="adj" fmla="val 6122"/>
            </a:avLst>
          </a:prstGeom>
          <a:solidFill>
            <a:srgbClr val="F2F8FA"/>
          </a:solidFill>
          <a:ln/>
        </p:spPr>
      </p:sp>
      <p:sp>
        <p:nvSpPr>
          <p:cNvPr id="16" name="Text 14"/>
          <p:cNvSpPr/>
          <p:nvPr/>
        </p:nvSpPr>
        <p:spPr>
          <a:xfrm>
            <a:off x="731520" y="5477256"/>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save-load.ts</a:t>
            </a:r>
            <a:endParaRPr lang="en-US" sz="1250" dirty="0"/>
          </a:p>
        </p:txBody>
      </p:sp>
      <p:sp>
        <p:nvSpPr>
          <p:cNvPr id="17" name="Text 15"/>
          <p:cNvSpPr/>
          <p:nvPr/>
        </p:nvSpPr>
        <p:spPr>
          <a:xfrm>
            <a:off x="731520" y="5769864"/>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Serializes/deserializes a full tree + model settings as JSON so a session can be exported and reloaded.</a:t>
            </a:r>
            <a:endParaRPr lang="en-US" sz="1000" dirty="0"/>
          </a:p>
        </p:txBody>
      </p:sp>
      <p:sp>
        <p:nvSpPr>
          <p:cNvPr id="18" name="Text 16"/>
          <p:cNvSpPr/>
          <p:nvPr/>
        </p:nvSpPr>
        <p:spPr>
          <a:xfrm>
            <a:off x="6263640" y="2011680"/>
            <a:ext cx="5349240" cy="320040"/>
          </a:xfrm>
          <a:prstGeom prst="rect">
            <a:avLst/>
          </a:prstGeom>
          <a:noFill/>
          <a:ln/>
        </p:spPr>
        <p:txBody>
          <a:bodyPr wrap="square"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App shell &amp; tooling</a:t>
            </a:r>
            <a:endParaRPr lang="en-US" sz="1300" dirty="0"/>
          </a:p>
        </p:txBody>
      </p:sp>
      <p:sp>
        <p:nvSpPr>
          <p:cNvPr id="19" name="Shape 17"/>
          <p:cNvSpPr/>
          <p:nvPr/>
        </p:nvSpPr>
        <p:spPr>
          <a:xfrm>
            <a:off x="6263640" y="2423160"/>
            <a:ext cx="5349240" cy="896112"/>
          </a:xfrm>
          <a:prstGeom prst="roundRect">
            <a:avLst>
              <a:gd name="adj" fmla="val 6122"/>
            </a:avLst>
          </a:prstGeom>
          <a:solidFill>
            <a:srgbClr val="F2F8FA"/>
          </a:solidFill>
          <a:ln/>
        </p:spPr>
      </p:sp>
      <p:sp>
        <p:nvSpPr>
          <p:cNvPr id="20" name="Text 18"/>
          <p:cNvSpPr/>
          <p:nvPr/>
        </p:nvSpPr>
        <p:spPr>
          <a:xfrm>
            <a:off x="6446520" y="2514600"/>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index.tsx / index.html</a:t>
            </a:r>
            <a:endParaRPr lang="en-US" sz="1250" dirty="0"/>
          </a:p>
        </p:txBody>
      </p:sp>
      <p:sp>
        <p:nvSpPr>
          <p:cNvPr id="21" name="Text 19"/>
          <p:cNvSpPr/>
          <p:nvPr/>
        </p:nvSpPr>
        <p:spPr>
          <a:xfrm>
            <a:off x="6446520" y="2807208"/>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UI entry point — renders the tree view, the depth/max-children/top-p settings panel, and the prompt/prefill controls.</a:t>
            </a:r>
            <a:endParaRPr lang="en-US" sz="1000" dirty="0"/>
          </a:p>
        </p:txBody>
      </p:sp>
      <p:sp>
        <p:nvSpPr>
          <p:cNvPr id="22" name="Shape 20"/>
          <p:cNvSpPr/>
          <p:nvPr/>
        </p:nvSpPr>
        <p:spPr>
          <a:xfrm>
            <a:off x="6263640" y="3410712"/>
            <a:ext cx="5349240" cy="896112"/>
          </a:xfrm>
          <a:prstGeom prst="roundRect">
            <a:avLst>
              <a:gd name="adj" fmla="val 6122"/>
            </a:avLst>
          </a:prstGeom>
          <a:solidFill>
            <a:srgbClr val="F2F8FA"/>
          </a:solidFill>
          <a:ln/>
        </p:spPr>
      </p:sp>
      <p:sp>
        <p:nvSpPr>
          <p:cNvPr id="23" name="Text 21"/>
          <p:cNvSpPr/>
          <p:nvPr/>
        </p:nvSpPr>
        <p:spPr>
          <a:xfrm>
            <a:off x="6446520" y="3502152"/>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openai.ts</a:t>
            </a:r>
            <a:endParaRPr lang="en-US" sz="1250" dirty="0"/>
          </a:p>
        </p:txBody>
      </p:sp>
      <p:sp>
        <p:nvSpPr>
          <p:cNvPr id="24" name="Text 22"/>
          <p:cNvSpPr/>
          <p:nvPr/>
        </p:nvSpPr>
        <p:spPr>
          <a:xfrm>
            <a:off x="6446520" y="3794760"/>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A vendored copy of the OpenAI client, kept local to sidestep a Bun browser-bundling issue (see vendor-openai.sh).</a:t>
            </a:r>
            <a:endParaRPr lang="en-US" sz="1000" dirty="0"/>
          </a:p>
        </p:txBody>
      </p:sp>
      <p:sp>
        <p:nvSpPr>
          <p:cNvPr id="25" name="Shape 23"/>
          <p:cNvSpPr/>
          <p:nvPr/>
        </p:nvSpPr>
        <p:spPr>
          <a:xfrm>
            <a:off x="6263640" y="4398264"/>
            <a:ext cx="5349240" cy="896112"/>
          </a:xfrm>
          <a:prstGeom prst="roundRect">
            <a:avLst>
              <a:gd name="adj" fmla="val 6122"/>
            </a:avLst>
          </a:prstGeom>
          <a:solidFill>
            <a:srgbClr val="F2F8FA"/>
          </a:solidFill>
          <a:ln/>
        </p:spPr>
      </p:sp>
      <p:sp>
        <p:nvSpPr>
          <p:cNvPr id="26" name="Text 24"/>
          <p:cNvSpPr/>
          <p:nvPr/>
        </p:nvSpPr>
        <p:spPr>
          <a:xfrm>
            <a:off x="6446520" y="4489704"/>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vendored/</a:t>
            </a:r>
            <a:endParaRPr lang="en-US" sz="1250" dirty="0"/>
          </a:p>
        </p:txBody>
      </p:sp>
      <p:sp>
        <p:nvSpPr>
          <p:cNvPr id="27" name="Text 25"/>
          <p:cNvSpPr/>
          <p:nvPr/>
        </p:nvSpPr>
        <p:spPr>
          <a:xfrm>
            <a:off x="6446520" y="4782312"/>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Other third-party dependencies bundled directly into the app rather than fetched at build time.</a:t>
            </a:r>
            <a:endParaRPr lang="en-US" sz="1000" dirty="0"/>
          </a:p>
        </p:txBody>
      </p:sp>
      <p:sp>
        <p:nvSpPr>
          <p:cNvPr id="28" name="Shape 26"/>
          <p:cNvSpPr/>
          <p:nvPr/>
        </p:nvSpPr>
        <p:spPr>
          <a:xfrm>
            <a:off x="6263640" y="5385816"/>
            <a:ext cx="5349240" cy="896112"/>
          </a:xfrm>
          <a:prstGeom prst="roundRect">
            <a:avLst>
              <a:gd name="adj" fmla="val 6122"/>
            </a:avLst>
          </a:prstGeom>
          <a:solidFill>
            <a:srgbClr val="F2F8FA"/>
          </a:solidFill>
          <a:ln/>
        </p:spPr>
      </p:sp>
      <p:sp>
        <p:nvSpPr>
          <p:cNvPr id="29" name="Text 27"/>
          <p:cNvSpPr/>
          <p:nvPr/>
        </p:nvSpPr>
        <p:spPr>
          <a:xfrm>
            <a:off x="6446520" y="5477256"/>
            <a:ext cx="4983480" cy="274320"/>
          </a:xfrm>
          <a:prstGeom prst="rect">
            <a:avLst/>
          </a:prstGeom>
          <a:noFill/>
          <a:ln/>
        </p:spPr>
        <p:txBody>
          <a:bodyPr wrap="square" rtlCol="0" anchor="ctr"/>
          <a:lstStyle/>
          <a:p>
            <a:pPr indent="0" marL="0">
              <a:buNone/>
            </a:pPr>
            <a:r>
              <a:rPr lang="en-US" sz="1250" b="1" dirty="0">
                <a:solidFill>
                  <a:srgbClr val="1B2733"/>
                </a:solidFill>
                <a:latin typeface="Courier New" pitchFamily="34" charset="0"/>
                <a:ea typeface="Courier New" pitchFamily="34" charset="-122"/>
                <a:cs typeface="Courier New" pitchFamily="34" charset="-120"/>
              </a:rPr>
              <a:t>package.json, build-for-website-and-copy.sh</a:t>
            </a:r>
            <a:endParaRPr lang="en-US" sz="1250" dirty="0"/>
          </a:p>
        </p:txBody>
      </p:sp>
      <p:sp>
        <p:nvSpPr>
          <p:cNvPr id="30" name="Text 28"/>
          <p:cNvSpPr/>
          <p:nvPr/>
        </p:nvSpPr>
        <p:spPr>
          <a:xfrm>
            <a:off x="6446520" y="5769864"/>
            <a:ext cx="4983480" cy="438912"/>
          </a:xfrm>
          <a:prstGeom prst="rect">
            <a:avLst/>
          </a:prstGeom>
          <a:noFill/>
          <a:ln/>
        </p:spPr>
        <p:txBody>
          <a:bodyPr wrap="square" rtlCol="0" anchor="ctr"/>
          <a:lstStyle/>
          <a:p>
            <a:pPr indent="0" marL="0">
              <a:lnSpc>
                <a:spcPct val="112000"/>
              </a:lnSpc>
              <a:buNone/>
            </a:pPr>
            <a:r>
              <a:rPr lang="en-US" sz="1000" dirty="0">
                <a:solidFill>
                  <a:srgbClr val="5C7080"/>
                </a:solidFill>
                <a:latin typeface="Calibri" pitchFamily="34" charset="0"/>
                <a:ea typeface="Calibri" pitchFamily="34" charset="-122"/>
                <a:cs typeface="Calibri" pitchFamily="34" charset="-120"/>
              </a:rPr>
              <a:t>Bun-based dev/build tooling — bun --hot index.html for local dev; the shell script produces the vgel.me/logitloom build.</a:t>
            </a:r>
            <a:endParaRPr lang="en-US" sz="1000" dirty="0"/>
          </a:p>
        </p:txBody>
      </p:sp>
      <p:sp>
        <p:nvSpPr>
          <p:cNvPr id="31" name="Text 29"/>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32" name="Text 3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The Core Data Structure: a Token Tree</a:t>
            </a:r>
            <a:endParaRPr lang="en-US" sz="3200" dirty="0"/>
          </a:p>
        </p:txBody>
      </p:sp>
      <p:sp>
        <p:nvSpPr>
          <p:cNvPr id="4" name="Shape 2"/>
          <p:cNvSpPr/>
          <p:nvPr/>
        </p:nvSpPr>
        <p:spPr>
          <a:xfrm>
            <a:off x="8092440" y="457200"/>
            <a:ext cx="35204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8183880" y="457200"/>
            <a:ext cx="33375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logit-loom.ts — interface Token</a:t>
            </a:r>
            <a:endParaRPr lang="en-US" sz="1050" dirty="0"/>
          </a:p>
        </p:txBody>
      </p:sp>
      <p:sp>
        <p:nvSpPr>
          <p:cNvPr id="6" name="Text 4"/>
          <p:cNvSpPr/>
          <p:nvPr/>
        </p:nvSpPr>
        <p:spPr>
          <a:xfrm>
            <a:off x="548640" y="1417320"/>
            <a:ext cx="1097280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Internally, everything logitloom does revolves around one recursive shape: a Token node with a piece of text, its probability, and a list of child Tokens.</a:t>
            </a:r>
            <a:endParaRPr lang="en-US" sz="1350" dirty="0"/>
          </a:p>
        </p:txBody>
      </p:sp>
      <p:sp>
        <p:nvSpPr>
          <p:cNvPr id="7" name="Shape 5"/>
          <p:cNvSpPr/>
          <p:nvPr/>
        </p:nvSpPr>
        <p:spPr>
          <a:xfrm>
            <a:off x="548640" y="2011680"/>
            <a:ext cx="5029200" cy="4023360"/>
          </a:xfrm>
          <a:prstGeom prst="roundRect">
            <a:avLst>
              <a:gd name="adj" fmla="val 1818"/>
            </a:avLst>
          </a:prstGeom>
          <a:solidFill>
            <a:srgbClr val="21295C"/>
          </a:solidFill>
          <a:ln/>
        </p:spPr>
      </p:sp>
      <p:sp>
        <p:nvSpPr>
          <p:cNvPr id="8" name="Text 6"/>
          <p:cNvSpPr/>
          <p:nvPr/>
        </p:nvSpPr>
        <p:spPr>
          <a:xfrm>
            <a:off x="868680" y="2194560"/>
            <a:ext cx="2743200" cy="365760"/>
          </a:xfrm>
          <a:prstGeom prst="rect">
            <a:avLst/>
          </a:prstGeom>
          <a:noFill/>
          <a:ln/>
        </p:spPr>
        <p:txBody>
          <a:bodyPr wrap="square" rtlCol="0" anchor="ctr"/>
          <a:lstStyle/>
          <a:p>
            <a:pPr indent="0" marL="0">
              <a:buNone/>
            </a:pPr>
            <a:r>
              <a:rPr lang="en-US" sz="1500" b="1" dirty="0">
                <a:solidFill>
                  <a:srgbClr val="8FD4E8"/>
                </a:solidFill>
                <a:latin typeface="Courier New" pitchFamily="34" charset="0"/>
                <a:ea typeface="Courier New" pitchFamily="34" charset="-122"/>
                <a:cs typeface="Courier New" pitchFamily="34" charset="-120"/>
              </a:rPr>
              <a:t>Token</a:t>
            </a:r>
            <a:endParaRPr lang="en-US" sz="1500" dirty="0"/>
          </a:p>
        </p:txBody>
      </p:sp>
      <p:sp>
        <p:nvSpPr>
          <p:cNvPr id="9" name="Text 7"/>
          <p:cNvSpPr/>
          <p:nvPr/>
        </p:nvSpPr>
        <p:spPr>
          <a:xfrm>
            <a:off x="914400" y="2651760"/>
            <a:ext cx="4343400" cy="502920"/>
          </a:xfrm>
          <a:prstGeom prst="rect">
            <a:avLst/>
          </a:prstGeom>
          <a:noFill/>
          <a:ln/>
        </p:spPr>
        <p:txBody>
          <a:bodyPr wrap="square" rtlCol="0" anchor="ctr"/>
          <a:lstStyle/>
          <a:p>
            <a:pPr indent="0" marL="0">
              <a:buNone/>
            </a:pPr>
            <a:r>
              <a:rPr lang="en-US" sz="1200" b="1" dirty="0">
                <a:solidFill>
                  <a:srgbClr val="FFD782"/>
                </a:solidFill>
                <a:latin typeface="Courier New" pitchFamily="34" charset="0"/>
                <a:ea typeface="Courier New" pitchFamily="34" charset="-122"/>
                <a:cs typeface="Courier New" pitchFamily="34" charset="-120"/>
              </a:rPr>
              <a:t>text</a:t>
            </a:r>
            <a:pPr indent="0" marL="0">
              <a:buNone/>
            </a:pPr>
            <a:r>
              <a:rPr lang="en-US" sz="1200" dirty="0">
                <a:solidFill>
                  <a:srgbClr val="D7E9F2"/>
                </a:solidFill>
                <a:latin typeface="Calibri" pitchFamily="34" charset="0"/>
                <a:ea typeface="Calibri" pitchFamily="34" charset="-122"/>
                <a:cs typeface="Calibri" pitchFamily="34" charset="-120"/>
              </a:rPr>
              <a:t>  —  the token string, e.g. "the"</a:t>
            </a:r>
            <a:endParaRPr lang="en-US" sz="1200" dirty="0"/>
          </a:p>
        </p:txBody>
      </p:sp>
      <p:sp>
        <p:nvSpPr>
          <p:cNvPr id="10" name="Text 8"/>
          <p:cNvSpPr/>
          <p:nvPr/>
        </p:nvSpPr>
        <p:spPr>
          <a:xfrm>
            <a:off x="914400" y="3218688"/>
            <a:ext cx="4343400" cy="502920"/>
          </a:xfrm>
          <a:prstGeom prst="rect">
            <a:avLst/>
          </a:prstGeom>
          <a:noFill/>
          <a:ln/>
        </p:spPr>
        <p:txBody>
          <a:bodyPr wrap="square" rtlCol="0" anchor="ctr"/>
          <a:lstStyle/>
          <a:p>
            <a:pPr indent="0" marL="0">
              <a:buNone/>
            </a:pPr>
            <a:r>
              <a:rPr lang="en-US" sz="1200" b="1" dirty="0">
                <a:solidFill>
                  <a:srgbClr val="FFD782"/>
                </a:solidFill>
                <a:latin typeface="Courier New" pitchFamily="34" charset="0"/>
                <a:ea typeface="Courier New" pitchFamily="34" charset="-122"/>
                <a:cs typeface="Courier New" pitchFamily="34" charset="-120"/>
              </a:rPr>
              <a:t>logprob / prob</a:t>
            </a:r>
            <a:pPr indent="0" marL="0">
              <a:buNone/>
            </a:pPr>
            <a:r>
              <a:rPr lang="en-US" sz="1200" dirty="0">
                <a:solidFill>
                  <a:srgbClr val="D7E9F2"/>
                </a:solidFill>
                <a:latin typeface="Calibri" pitchFamily="34" charset="0"/>
                <a:ea typeface="Calibri" pitchFamily="34" charset="-122"/>
                <a:cs typeface="Calibri" pitchFamily="34" charset="-120"/>
              </a:rPr>
              <a:t>  —  log-probability and probability at this position</a:t>
            </a:r>
            <a:endParaRPr lang="en-US" sz="1200" dirty="0"/>
          </a:p>
        </p:txBody>
      </p:sp>
      <p:sp>
        <p:nvSpPr>
          <p:cNvPr id="11" name="Text 9"/>
          <p:cNvSpPr/>
          <p:nvPr/>
        </p:nvSpPr>
        <p:spPr>
          <a:xfrm>
            <a:off x="914400" y="3785616"/>
            <a:ext cx="4343400" cy="502920"/>
          </a:xfrm>
          <a:prstGeom prst="rect">
            <a:avLst/>
          </a:prstGeom>
          <a:noFill/>
          <a:ln/>
        </p:spPr>
        <p:txBody>
          <a:bodyPr wrap="square" rtlCol="0" anchor="ctr"/>
          <a:lstStyle/>
          <a:p>
            <a:pPr indent="0" marL="0">
              <a:buNone/>
            </a:pPr>
            <a:r>
              <a:rPr lang="en-US" sz="1200" b="1" dirty="0">
                <a:solidFill>
                  <a:srgbClr val="FFD782"/>
                </a:solidFill>
                <a:latin typeface="Courier New" pitchFamily="34" charset="0"/>
                <a:ea typeface="Courier New" pitchFamily="34" charset="-122"/>
                <a:cs typeface="Courier New" pitchFamily="34" charset="-120"/>
              </a:rPr>
              <a:t>branchFinished</a:t>
            </a:r>
            <a:pPr indent="0" marL="0">
              <a:buNone/>
            </a:pPr>
            <a:r>
              <a:rPr lang="en-US" sz="1200" dirty="0">
                <a:solidFill>
                  <a:srgbClr val="D7E9F2"/>
                </a:solidFill>
                <a:latin typeface="Calibri" pitchFamily="34" charset="0"/>
                <a:ea typeface="Calibri" pitchFamily="34" charset="-122"/>
                <a:cs typeface="Calibri" pitchFamily="34" charset="-120"/>
              </a:rPr>
              <a:t>  —  non-null once this branch has hit a stop condition</a:t>
            </a:r>
            <a:endParaRPr lang="en-US" sz="1200" dirty="0"/>
          </a:p>
        </p:txBody>
      </p:sp>
      <p:sp>
        <p:nvSpPr>
          <p:cNvPr id="12" name="Text 10"/>
          <p:cNvSpPr/>
          <p:nvPr/>
        </p:nvSpPr>
        <p:spPr>
          <a:xfrm>
            <a:off x="914400" y="4352544"/>
            <a:ext cx="4343400" cy="502920"/>
          </a:xfrm>
          <a:prstGeom prst="rect">
            <a:avLst/>
          </a:prstGeom>
          <a:noFill/>
          <a:ln/>
        </p:spPr>
        <p:txBody>
          <a:bodyPr wrap="square" rtlCol="0" anchor="ctr"/>
          <a:lstStyle/>
          <a:p>
            <a:pPr indent="0" marL="0">
              <a:buNone/>
            </a:pPr>
            <a:r>
              <a:rPr lang="en-US" sz="1200" b="1" dirty="0">
                <a:solidFill>
                  <a:srgbClr val="FFD782"/>
                </a:solidFill>
                <a:latin typeface="Courier New" pitchFamily="34" charset="0"/>
                <a:ea typeface="Courier New" pitchFamily="34" charset="-122"/>
                <a:cs typeface="Courier New" pitchFamily="34" charset="-120"/>
              </a:rPr>
              <a:t>children</a:t>
            </a:r>
            <a:pPr indent="0" marL="0">
              <a:buNone/>
            </a:pPr>
            <a:r>
              <a:rPr lang="en-US" sz="1200" dirty="0">
                <a:solidFill>
                  <a:srgbClr val="D7E9F2"/>
                </a:solidFill>
                <a:latin typeface="Calibri" pitchFamily="34" charset="0"/>
                <a:ea typeface="Calibri" pitchFamily="34" charset="-122"/>
                <a:cs typeface="Calibri" pitchFamily="34" charset="-120"/>
              </a:rPr>
              <a:t>  —  the Token nodes that could follow this one</a:t>
            </a:r>
            <a:endParaRPr lang="en-US" sz="1200" dirty="0"/>
          </a:p>
        </p:txBody>
      </p:sp>
      <p:sp>
        <p:nvSpPr>
          <p:cNvPr id="13" name="Shape 11"/>
          <p:cNvSpPr/>
          <p:nvPr/>
        </p:nvSpPr>
        <p:spPr>
          <a:xfrm>
            <a:off x="914400" y="4937760"/>
            <a:ext cx="4343400" cy="310896"/>
          </a:xfrm>
          <a:prstGeom prst="roundRect">
            <a:avLst>
              <a:gd name="adj" fmla="val 50000"/>
            </a:avLst>
          </a:prstGeom>
          <a:solidFill>
            <a:srgbClr val="2A3F63"/>
          </a:solidFill>
          <a:ln w="9525">
            <a:solidFill>
              <a:srgbClr val="5A8FB0"/>
            </a:solidFill>
            <a:prstDash val="solid"/>
          </a:ln>
        </p:spPr>
      </p:sp>
      <p:sp>
        <p:nvSpPr>
          <p:cNvPr id="14" name="Text 12"/>
          <p:cNvSpPr/>
          <p:nvPr/>
        </p:nvSpPr>
        <p:spPr>
          <a:xfrm>
            <a:off x="1042416" y="4937760"/>
            <a:ext cx="4087368" cy="310896"/>
          </a:xfrm>
          <a:prstGeom prst="rect">
            <a:avLst/>
          </a:prstGeom>
          <a:noFill/>
          <a:ln/>
        </p:spPr>
        <p:txBody>
          <a:bodyPr wrap="square" lIns="0" tIns="0" rIns="0" bIns="0" rtlCol="0" anchor="ctr"/>
          <a:lstStyle/>
          <a:p>
            <a:pPr indent="0" marL="0">
              <a:buNone/>
            </a:pPr>
            <a:r>
              <a:rPr lang="en-US" sz="1000" i="1" dirty="0">
                <a:solidFill>
                  <a:srgbClr val="BFDCE8"/>
                </a:solidFill>
                <a:latin typeface="Calibri" pitchFamily="34" charset="0"/>
                <a:ea typeface="Calibri" pitchFamily="34" charset="-122"/>
                <a:cs typeface="Calibri" pitchFamily="34" charset="-120"/>
              </a:rPr>
              <a:t>↩  Background · Slide 3, Tokens &amp; Logits</a:t>
            </a:r>
            <a:endParaRPr lang="en-US" sz="1000" dirty="0"/>
          </a:p>
        </p:txBody>
      </p:sp>
      <p:sp>
        <p:nvSpPr>
          <p:cNvPr id="15" name="Text 13"/>
          <p:cNvSpPr/>
          <p:nvPr/>
        </p:nvSpPr>
        <p:spPr>
          <a:xfrm>
            <a:off x="914400" y="5303520"/>
            <a:ext cx="4343400" cy="640080"/>
          </a:xfrm>
          <a:prstGeom prst="rect">
            <a:avLst/>
          </a:prstGeom>
          <a:noFill/>
          <a:ln/>
        </p:spPr>
        <p:txBody>
          <a:bodyPr wrap="square" rtlCol="0" anchor="ctr"/>
          <a:lstStyle/>
          <a:p>
            <a:pPr indent="0" marL="0">
              <a:lnSpc>
                <a:spcPct val="115000"/>
              </a:lnSpc>
              <a:buNone/>
            </a:pPr>
            <a:r>
              <a:rPr lang="en-US" sz="1100" i="1" dirty="0">
                <a:solidFill>
                  <a:srgbClr val="9FC3D9"/>
                </a:solidFill>
                <a:latin typeface="Calibri" pitchFamily="34" charset="0"/>
                <a:ea typeface="Calibri" pitchFamily="34" charset="-122"/>
                <a:cs typeface="Calibri" pitchFamily="34" charset="-120"/>
              </a:rPr>
              <a:t>Building a tree = repeatedly finding an unfinished, unexpanded leaf, querying the API for the continuation from that point, and attaching the returned tokens as children.</a:t>
            </a:r>
            <a:endParaRPr lang="en-US" sz="1100" dirty="0"/>
          </a:p>
        </p:txBody>
      </p:sp>
      <p:sp>
        <p:nvSpPr>
          <p:cNvPr id="16" name="Shape 14"/>
          <p:cNvSpPr/>
          <p:nvPr/>
        </p:nvSpPr>
        <p:spPr>
          <a:xfrm flipV="1">
            <a:off x="6675120" y="2834640"/>
            <a:ext cx="1554480" cy="914400"/>
          </a:xfrm>
          <a:prstGeom prst="line">
            <a:avLst/>
          </a:prstGeom>
          <a:noFill/>
          <a:ln w="19050">
            <a:solidFill>
              <a:srgbClr val="AEC7D6"/>
            </a:solidFill>
            <a:prstDash val="solid"/>
          </a:ln>
        </p:spPr>
      </p:sp>
      <p:sp>
        <p:nvSpPr>
          <p:cNvPr id="17" name="Shape 15"/>
          <p:cNvSpPr/>
          <p:nvPr/>
        </p:nvSpPr>
        <p:spPr>
          <a:xfrm>
            <a:off x="6675120" y="3749040"/>
            <a:ext cx="1554480" cy="0"/>
          </a:xfrm>
          <a:prstGeom prst="line">
            <a:avLst/>
          </a:prstGeom>
          <a:noFill/>
          <a:ln w="19050">
            <a:solidFill>
              <a:srgbClr val="AEC7D6"/>
            </a:solidFill>
            <a:prstDash val="solid"/>
          </a:ln>
        </p:spPr>
      </p:sp>
      <p:sp>
        <p:nvSpPr>
          <p:cNvPr id="18" name="Shape 16"/>
          <p:cNvSpPr/>
          <p:nvPr/>
        </p:nvSpPr>
        <p:spPr>
          <a:xfrm>
            <a:off x="6675120" y="3749040"/>
            <a:ext cx="1554480" cy="914400"/>
          </a:xfrm>
          <a:prstGeom prst="line">
            <a:avLst/>
          </a:prstGeom>
          <a:noFill/>
          <a:ln w="19050">
            <a:solidFill>
              <a:srgbClr val="AEC7D6"/>
            </a:solidFill>
            <a:prstDash val="solid"/>
          </a:ln>
        </p:spPr>
      </p:sp>
      <p:sp>
        <p:nvSpPr>
          <p:cNvPr id="19" name="Shape 17"/>
          <p:cNvSpPr/>
          <p:nvPr/>
        </p:nvSpPr>
        <p:spPr>
          <a:xfrm flipV="1">
            <a:off x="8229600" y="2560320"/>
            <a:ext cx="1554480" cy="274320"/>
          </a:xfrm>
          <a:prstGeom prst="line">
            <a:avLst/>
          </a:prstGeom>
          <a:noFill/>
          <a:ln w="19050">
            <a:solidFill>
              <a:srgbClr val="AEC7D6"/>
            </a:solidFill>
            <a:prstDash val="solid"/>
          </a:ln>
        </p:spPr>
      </p:sp>
      <p:sp>
        <p:nvSpPr>
          <p:cNvPr id="20" name="Shape 18"/>
          <p:cNvSpPr/>
          <p:nvPr/>
        </p:nvSpPr>
        <p:spPr>
          <a:xfrm>
            <a:off x="8229600" y="2834640"/>
            <a:ext cx="1554480" cy="274320"/>
          </a:xfrm>
          <a:prstGeom prst="line">
            <a:avLst/>
          </a:prstGeom>
          <a:noFill/>
          <a:ln w="19050">
            <a:solidFill>
              <a:srgbClr val="AEC7D6"/>
            </a:solidFill>
            <a:prstDash val="solid"/>
          </a:ln>
        </p:spPr>
      </p:sp>
      <p:sp>
        <p:nvSpPr>
          <p:cNvPr id="21" name="Shape 19"/>
          <p:cNvSpPr/>
          <p:nvPr/>
        </p:nvSpPr>
        <p:spPr>
          <a:xfrm>
            <a:off x="8229600" y="3749040"/>
            <a:ext cx="1554480" cy="0"/>
          </a:xfrm>
          <a:prstGeom prst="line">
            <a:avLst/>
          </a:prstGeom>
          <a:noFill/>
          <a:ln w="19050">
            <a:solidFill>
              <a:srgbClr val="AEC7D6"/>
            </a:solidFill>
            <a:prstDash val="solid"/>
          </a:ln>
        </p:spPr>
      </p:sp>
      <p:sp>
        <p:nvSpPr>
          <p:cNvPr id="22" name="Shape 20"/>
          <p:cNvSpPr/>
          <p:nvPr/>
        </p:nvSpPr>
        <p:spPr>
          <a:xfrm flipV="1">
            <a:off x="8229600" y="4389120"/>
            <a:ext cx="1554480" cy="274320"/>
          </a:xfrm>
          <a:prstGeom prst="line">
            <a:avLst/>
          </a:prstGeom>
          <a:noFill/>
          <a:ln w="19050">
            <a:solidFill>
              <a:srgbClr val="AEC7D6"/>
            </a:solidFill>
            <a:prstDash val="solid"/>
          </a:ln>
        </p:spPr>
      </p:sp>
      <p:sp>
        <p:nvSpPr>
          <p:cNvPr id="23" name="Shape 21"/>
          <p:cNvSpPr/>
          <p:nvPr/>
        </p:nvSpPr>
        <p:spPr>
          <a:xfrm>
            <a:off x="8229600" y="4663440"/>
            <a:ext cx="1554480" cy="274320"/>
          </a:xfrm>
          <a:prstGeom prst="line">
            <a:avLst/>
          </a:prstGeom>
          <a:noFill/>
          <a:ln w="19050">
            <a:solidFill>
              <a:srgbClr val="AEC7D6"/>
            </a:solidFill>
            <a:prstDash val="solid"/>
          </a:ln>
        </p:spPr>
      </p:sp>
      <p:sp>
        <p:nvSpPr>
          <p:cNvPr id="24" name="Shape 22"/>
          <p:cNvSpPr/>
          <p:nvPr/>
        </p:nvSpPr>
        <p:spPr>
          <a:xfrm>
            <a:off x="6556248" y="3630168"/>
            <a:ext cx="237744" cy="237744"/>
          </a:xfrm>
          <a:prstGeom prst="ellipse">
            <a:avLst/>
          </a:prstGeom>
          <a:solidFill>
            <a:srgbClr val="065A82"/>
          </a:solidFill>
          <a:ln w="12700">
            <a:solidFill>
              <a:srgbClr val="065A82"/>
            </a:solidFill>
            <a:prstDash val="solid"/>
          </a:ln>
        </p:spPr>
      </p:sp>
      <p:sp>
        <p:nvSpPr>
          <p:cNvPr id="25" name="Shape 23"/>
          <p:cNvSpPr/>
          <p:nvPr/>
        </p:nvSpPr>
        <p:spPr>
          <a:xfrm>
            <a:off x="8110728" y="2715768"/>
            <a:ext cx="237744" cy="237744"/>
          </a:xfrm>
          <a:prstGeom prst="ellipse">
            <a:avLst/>
          </a:prstGeom>
          <a:solidFill>
            <a:srgbClr val="CFE8F0"/>
          </a:solidFill>
          <a:ln w="12700">
            <a:solidFill>
              <a:srgbClr val="AEC7D6"/>
            </a:solidFill>
            <a:prstDash val="solid"/>
          </a:ln>
        </p:spPr>
      </p:sp>
      <p:sp>
        <p:nvSpPr>
          <p:cNvPr id="26" name="Shape 24"/>
          <p:cNvSpPr/>
          <p:nvPr/>
        </p:nvSpPr>
        <p:spPr>
          <a:xfrm>
            <a:off x="8110728" y="3630168"/>
            <a:ext cx="237744" cy="237744"/>
          </a:xfrm>
          <a:prstGeom prst="ellipse">
            <a:avLst/>
          </a:prstGeom>
          <a:solidFill>
            <a:srgbClr val="065A82"/>
          </a:solidFill>
          <a:ln w="12700">
            <a:solidFill>
              <a:srgbClr val="065A82"/>
            </a:solidFill>
            <a:prstDash val="solid"/>
          </a:ln>
        </p:spPr>
      </p:sp>
      <p:sp>
        <p:nvSpPr>
          <p:cNvPr id="27" name="Shape 25"/>
          <p:cNvSpPr/>
          <p:nvPr/>
        </p:nvSpPr>
        <p:spPr>
          <a:xfrm>
            <a:off x="8110728" y="4544568"/>
            <a:ext cx="237744" cy="237744"/>
          </a:xfrm>
          <a:prstGeom prst="ellipse">
            <a:avLst/>
          </a:prstGeom>
          <a:solidFill>
            <a:srgbClr val="CFE8F0"/>
          </a:solidFill>
          <a:ln w="12700">
            <a:solidFill>
              <a:srgbClr val="AEC7D6"/>
            </a:solidFill>
            <a:prstDash val="solid"/>
          </a:ln>
        </p:spPr>
      </p:sp>
      <p:sp>
        <p:nvSpPr>
          <p:cNvPr id="28" name="Shape 26"/>
          <p:cNvSpPr/>
          <p:nvPr/>
        </p:nvSpPr>
        <p:spPr>
          <a:xfrm>
            <a:off x="9665208" y="2441448"/>
            <a:ext cx="237744" cy="237744"/>
          </a:xfrm>
          <a:prstGeom prst="ellipse">
            <a:avLst/>
          </a:prstGeom>
          <a:solidFill>
            <a:srgbClr val="CFE8F0"/>
          </a:solidFill>
          <a:ln w="12700">
            <a:solidFill>
              <a:srgbClr val="AEC7D6"/>
            </a:solidFill>
            <a:prstDash val="solid"/>
          </a:ln>
        </p:spPr>
      </p:sp>
      <p:sp>
        <p:nvSpPr>
          <p:cNvPr id="29" name="Shape 27"/>
          <p:cNvSpPr/>
          <p:nvPr/>
        </p:nvSpPr>
        <p:spPr>
          <a:xfrm>
            <a:off x="9665208" y="2990088"/>
            <a:ext cx="237744" cy="237744"/>
          </a:xfrm>
          <a:prstGeom prst="ellipse">
            <a:avLst/>
          </a:prstGeom>
          <a:solidFill>
            <a:srgbClr val="CFE8F0"/>
          </a:solidFill>
          <a:ln w="12700">
            <a:solidFill>
              <a:srgbClr val="AEC7D6"/>
            </a:solidFill>
            <a:prstDash val="solid"/>
          </a:ln>
        </p:spPr>
      </p:sp>
      <p:sp>
        <p:nvSpPr>
          <p:cNvPr id="30" name="Shape 28"/>
          <p:cNvSpPr/>
          <p:nvPr/>
        </p:nvSpPr>
        <p:spPr>
          <a:xfrm>
            <a:off x="9665208" y="3630168"/>
            <a:ext cx="237744" cy="237744"/>
          </a:xfrm>
          <a:prstGeom prst="ellipse">
            <a:avLst/>
          </a:prstGeom>
          <a:solidFill>
            <a:srgbClr val="065A82"/>
          </a:solidFill>
          <a:ln w="12700">
            <a:solidFill>
              <a:srgbClr val="065A82"/>
            </a:solidFill>
            <a:prstDash val="solid"/>
          </a:ln>
        </p:spPr>
      </p:sp>
      <p:sp>
        <p:nvSpPr>
          <p:cNvPr id="31" name="Shape 29"/>
          <p:cNvSpPr/>
          <p:nvPr/>
        </p:nvSpPr>
        <p:spPr>
          <a:xfrm>
            <a:off x="9665208" y="4270248"/>
            <a:ext cx="237744" cy="237744"/>
          </a:xfrm>
          <a:prstGeom prst="ellipse">
            <a:avLst/>
          </a:prstGeom>
          <a:solidFill>
            <a:srgbClr val="CFE8F0"/>
          </a:solidFill>
          <a:ln w="12700">
            <a:solidFill>
              <a:srgbClr val="AEC7D6"/>
            </a:solidFill>
            <a:prstDash val="solid"/>
          </a:ln>
        </p:spPr>
      </p:sp>
      <p:sp>
        <p:nvSpPr>
          <p:cNvPr id="32" name="Shape 30"/>
          <p:cNvSpPr/>
          <p:nvPr/>
        </p:nvSpPr>
        <p:spPr>
          <a:xfrm>
            <a:off x="9665208" y="4818888"/>
            <a:ext cx="237744" cy="237744"/>
          </a:xfrm>
          <a:prstGeom prst="ellipse">
            <a:avLst/>
          </a:prstGeom>
          <a:solidFill>
            <a:srgbClr val="CFE8F0"/>
          </a:solidFill>
          <a:ln w="12700">
            <a:solidFill>
              <a:srgbClr val="AEC7D6"/>
            </a:solidFill>
            <a:prstDash val="solid"/>
          </a:ln>
        </p:spPr>
      </p:sp>
      <p:sp>
        <p:nvSpPr>
          <p:cNvPr id="33" name="Text 31"/>
          <p:cNvSpPr/>
          <p:nvPr/>
        </p:nvSpPr>
        <p:spPr>
          <a:xfrm>
            <a:off x="6583680" y="5303520"/>
            <a:ext cx="5120640" cy="365760"/>
          </a:xfrm>
          <a:prstGeom prst="rect">
            <a:avLst/>
          </a:prstGeom>
          <a:noFill/>
          <a:ln/>
        </p:spPr>
        <p:txBody>
          <a:bodyPr wrap="square" rtlCol="0" anchor="ctr"/>
          <a:lstStyle/>
          <a:p>
            <a:pPr indent="0" marL="0">
              <a:buNone/>
            </a:pPr>
            <a:r>
              <a:rPr lang="en-US" sz="1100" i="1" dirty="0">
                <a:solidFill>
                  <a:srgbClr val="5C7080"/>
                </a:solidFill>
                <a:latin typeface="Calibri" pitchFamily="34" charset="0"/>
                <a:ea typeface="Calibri" pitchFamily="34" charset="-122"/>
                <a:cs typeface="Calibri" pitchFamily="34" charset="-120"/>
              </a:rPr>
              <a:t>darker nodes = the token the model actually chose at each step</a:t>
            </a:r>
            <a:endParaRPr lang="en-US" sz="1100" dirty="0"/>
          </a:p>
        </p:txBody>
      </p:sp>
      <p:sp>
        <p:nvSpPr>
          <p:cNvPr id="34" name="Text 32"/>
          <p:cNvSpPr/>
          <p:nvPr/>
        </p:nvSpPr>
        <p:spPr>
          <a:xfrm>
            <a:off x="6583680" y="5623560"/>
            <a:ext cx="5212080" cy="365760"/>
          </a:xfrm>
          <a:prstGeom prst="rect">
            <a:avLst/>
          </a:prstGeom>
          <a:noFill/>
          <a:ln/>
        </p:spPr>
        <p:txBody>
          <a:bodyPr wrap="square" rtlCol="0" anchor="ctr"/>
          <a:lstStyle/>
          <a:p>
            <a:pPr indent="0" marL="0">
              <a:buNone/>
            </a:pPr>
            <a:r>
              <a:rPr lang="en-US" sz="1100" i="1" dirty="0">
                <a:solidFill>
                  <a:srgbClr val="5C7080"/>
                </a:solidFill>
                <a:latin typeface="Calibri" pitchFamily="34" charset="0"/>
                <a:ea typeface="Calibri" pitchFamily="34" charset="-122"/>
                <a:cs typeface="Calibri" pitchFamily="34" charset="-120"/>
              </a:rPr>
              <a:t>lighter nodes = alternative tokens the API also reported (via top-k logprobs)</a:t>
            </a:r>
            <a:endParaRPr lang="en-US" sz="1100" dirty="0"/>
          </a:p>
        </p:txBody>
      </p:sp>
      <p:sp>
        <p:nvSpPr>
          <p:cNvPr id="35" name="Text 33"/>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36" name="Text 3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How the Tree Actually Gets Built</a:t>
            </a:r>
            <a:endParaRPr lang="en-US" sz="3200" dirty="0"/>
          </a:p>
        </p:txBody>
      </p:sp>
      <p:sp>
        <p:nvSpPr>
          <p:cNvPr id="4" name="Shape 2"/>
          <p:cNvSpPr/>
          <p:nvPr/>
        </p:nvSpPr>
        <p:spPr>
          <a:xfrm>
            <a:off x="10378440" y="457200"/>
            <a:ext cx="12344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10469880" y="457200"/>
            <a:ext cx="10515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logit-loom.ts</a:t>
            </a:r>
            <a:endParaRPr lang="en-US" sz="1050" dirty="0"/>
          </a:p>
        </p:txBody>
      </p:sp>
      <p:sp>
        <p:nvSpPr>
          <p:cNvPr id="6" name="Shape 4"/>
          <p:cNvSpPr/>
          <p:nvPr/>
        </p:nvSpPr>
        <p:spPr>
          <a:xfrm>
            <a:off x="548640" y="1609344"/>
            <a:ext cx="384048" cy="384048"/>
          </a:xfrm>
          <a:prstGeom prst="ellipse">
            <a:avLst/>
          </a:prstGeom>
          <a:solidFill>
            <a:srgbClr val="065A82"/>
          </a:solidFill>
          <a:ln/>
        </p:spPr>
      </p:sp>
      <p:sp>
        <p:nvSpPr>
          <p:cNvPr id="7" name="Text 5"/>
          <p:cNvSpPr/>
          <p:nvPr/>
        </p:nvSpPr>
        <p:spPr>
          <a:xfrm>
            <a:off x="548640" y="1609344"/>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97280" y="1536192"/>
            <a:ext cx="1920240" cy="804672"/>
          </a:xfrm>
          <a:prstGeom prst="rect">
            <a:avLst/>
          </a:prstGeom>
          <a:noFill/>
          <a:ln/>
        </p:spPr>
        <p:txBody>
          <a:bodyPr wrap="square"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Query</a:t>
            </a:r>
            <a:endParaRPr lang="en-US" sz="1400" dirty="0"/>
          </a:p>
        </p:txBody>
      </p:sp>
      <p:sp>
        <p:nvSpPr>
          <p:cNvPr id="9" name="Text 7"/>
          <p:cNvSpPr/>
          <p:nvPr/>
        </p:nvSpPr>
        <p:spPr>
          <a:xfrm>
            <a:off x="3063240" y="1536192"/>
            <a:ext cx="7315200" cy="530352"/>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Send the current prefix (prompt + prefill + tokens-so-far) to the model's completions/chat endpoint, requesting logprobs and the top-k alternatives per position.</a:t>
            </a:r>
            <a:endParaRPr lang="en-US" sz="1200" dirty="0"/>
          </a:p>
        </p:txBody>
      </p:sp>
      <p:sp>
        <p:nvSpPr>
          <p:cNvPr id="10" name="Text 8"/>
          <p:cNvSpPr/>
          <p:nvPr/>
        </p:nvSpPr>
        <p:spPr>
          <a:xfrm>
            <a:off x="3063240" y="2103120"/>
            <a:ext cx="7315200" cy="274320"/>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query()</a:t>
            </a:r>
            <a:endParaRPr lang="en-US" sz="1050" dirty="0"/>
          </a:p>
        </p:txBody>
      </p:sp>
      <p:sp>
        <p:nvSpPr>
          <p:cNvPr id="11" name="Shape 9"/>
          <p:cNvSpPr/>
          <p:nvPr/>
        </p:nvSpPr>
        <p:spPr>
          <a:xfrm>
            <a:off x="548640" y="2395728"/>
            <a:ext cx="11064240" cy="0"/>
          </a:xfrm>
          <a:prstGeom prst="line">
            <a:avLst/>
          </a:prstGeom>
          <a:noFill/>
          <a:ln w="12700">
            <a:solidFill>
              <a:srgbClr val="E4EDF1"/>
            </a:solidFill>
            <a:prstDash val="solid"/>
          </a:ln>
        </p:spPr>
      </p:sp>
      <p:sp>
        <p:nvSpPr>
          <p:cNvPr id="12" name="Shape 10"/>
          <p:cNvSpPr/>
          <p:nvPr/>
        </p:nvSpPr>
        <p:spPr>
          <a:xfrm>
            <a:off x="548640" y="2505456"/>
            <a:ext cx="384048" cy="384048"/>
          </a:xfrm>
          <a:prstGeom prst="ellipse">
            <a:avLst/>
          </a:prstGeom>
          <a:solidFill>
            <a:srgbClr val="1C7293"/>
          </a:solidFill>
          <a:ln/>
        </p:spPr>
      </p:sp>
      <p:sp>
        <p:nvSpPr>
          <p:cNvPr id="13" name="Text 11"/>
          <p:cNvSpPr/>
          <p:nvPr/>
        </p:nvSpPr>
        <p:spPr>
          <a:xfrm>
            <a:off x="548640" y="2505456"/>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1097280" y="2432304"/>
            <a:ext cx="1920240" cy="804672"/>
          </a:xfrm>
          <a:prstGeom prst="rect">
            <a:avLst/>
          </a:prstGeom>
          <a:noFill/>
          <a:ln/>
        </p:spPr>
        <p:txBody>
          <a:bodyPr wrap="square"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Attach</a:t>
            </a:r>
            <a:endParaRPr lang="en-US" sz="1400" dirty="0"/>
          </a:p>
        </p:txBody>
      </p:sp>
      <p:sp>
        <p:nvSpPr>
          <p:cNvPr id="15" name="Text 13"/>
          <p:cNvSpPr/>
          <p:nvPr/>
        </p:nvSpPr>
        <p:spPr>
          <a:xfrm>
            <a:off x="3063240" y="2432304"/>
            <a:ext cx="7315200" cy="530352"/>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For the returned position(s), push every reported token as a child node; follow the model's actually-chosen token down into its own children slot for the next query.</a:t>
            </a:r>
            <a:endParaRPr lang="en-US" sz="1200" dirty="0"/>
          </a:p>
        </p:txBody>
      </p:sp>
      <p:sp>
        <p:nvSpPr>
          <p:cNvPr id="16" name="Text 14"/>
          <p:cNvSpPr/>
          <p:nvPr/>
        </p:nvSpPr>
        <p:spPr>
          <a:xfrm>
            <a:off x="3063240" y="2999232"/>
            <a:ext cx="7315200" cy="274320"/>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appendTokens()</a:t>
            </a:r>
            <a:endParaRPr lang="en-US" sz="1050" dirty="0"/>
          </a:p>
        </p:txBody>
      </p:sp>
      <p:sp>
        <p:nvSpPr>
          <p:cNvPr id="17" name="Shape 15"/>
          <p:cNvSpPr/>
          <p:nvPr/>
        </p:nvSpPr>
        <p:spPr>
          <a:xfrm>
            <a:off x="548640" y="3291840"/>
            <a:ext cx="11064240" cy="0"/>
          </a:xfrm>
          <a:prstGeom prst="line">
            <a:avLst/>
          </a:prstGeom>
          <a:noFill/>
          <a:ln w="12700">
            <a:solidFill>
              <a:srgbClr val="E4EDF1"/>
            </a:solidFill>
            <a:prstDash val="solid"/>
          </a:ln>
        </p:spPr>
      </p:sp>
      <p:sp>
        <p:nvSpPr>
          <p:cNvPr id="18" name="Shape 16"/>
          <p:cNvSpPr/>
          <p:nvPr/>
        </p:nvSpPr>
        <p:spPr>
          <a:xfrm>
            <a:off x="548640" y="3401568"/>
            <a:ext cx="384048" cy="384048"/>
          </a:xfrm>
          <a:prstGeom prst="ellipse">
            <a:avLst/>
          </a:prstGeom>
          <a:solidFill>
            <a:srgbClr val="065A82"/>
          </a:solidFill>
          <a:ln/>
        </p:spPr>
      </p:sp>
      <p:sp>
        <p:nvSpPr>
          <p:cNvPr id="19" name="Text 17"/>
          <p:cNvSpPr/>
          <p:nvPr/>
        </p:nvSpPr>
        <p:spPr>
          <a:xfrm>
            <a:off x="548640" y="3401568"/>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1097280" y="3328416"/>
            <a:ext cx="1920240" cy="804672"/>
          </a:xfrm>
          <a:prstGeom prst="rect">
            <a:avLst/>
          </a:prstGeom>
          <a:noFill/>
          <a:ln/>
        </p:spPr>
        <p:txBody>
          <a:bodyPr wrap="square"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Find next leaf</a:t>
            </a:r>
            <a:endParaRPr lang="en-US" sz="1400" dirty="0"/>
          </a:p>
        </p:txBody>
      </p:sp>
      <p:sp>
        <p:nvSpPr>
          <p:cNvPr id="21" name="Text 19"/>
          <p:cNvSpPr/>
          <p:nvPr/>
        </p:nvSpPr>
        <p:spPr>
          <a:xfrm>
            <a:off x="3063240" y="3328416"/>
            <a:ext cx="7315200" cy="530352"/>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Walk all root-to-leaf paths (a depth-first traversal) to find the first unfinished, unexpanded leaf shallower than the target depth.</a:t>
            </a:r>
            <a:endParaRPr lang="en-US" sz="1200" dirty="0"/>
          </a:p>
        </p:txBody>
      </p:sp>
      <p:sp>
        <p:nvSpPr>
          <p:cNvPr id="22" name="Text 20"/>
          <p:cNvSpPr/>
          <p:nvPr/>
        </p:nvSpPr>
        <p:spPr>
          <a:xfrm>
            <a:off x="3063240" y="3895344"/>
            <a:ext cx="7315200" cy="274320"/>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getContinuablePrefix() / _treeTraversals()</a:t>
            </a:r>
            <a:endParaRPr lang="en-US" sz="1050" dirty="0"/>
          </a:p>
        </p:txBody>
      </p:sp>
      <p:sp>
        <p:nvSpPr>
          <p:cNvPr id="23" name="Shape 21"/>
          <p:cNvSpPr/>
          <p:nvPr/>
        </p:nvSpPr>
        <p:spPr>
          <a:xfrm>
            <a:off x="548640" y="4187952"/>
            <a:ext cx="11064240" cy="0"/>
          </a:xfrm>
          <a:prstGeom prst="line">
            <a:avLst/>
          </a:prstGeom>
          <a:noFill/>
          <a:ln w="12700">
            <a:solidFill>
              <a:srgbClr val="E4EDF1"/>
            </a:solidFill>
            <a:prstDash val="solid"/>
          </a:ln>
        </p:spPr>
      </p:sp>
      <p:sp>
        <p:nvSpPr>
          <p:cNvPr id="24" name="Shape 22"/>
          <p:cNvSpPr/>
          <p:nvPr/>
        </p:nvSpPr>
        <p:spPr>
          <a:xfrm>
            <a:off x="548640" y="4297680"/>
            <a:ext cx="384048" cy="384048"/>
          </a:xfrm>
          <a:prstGeom prst="ellipse">
            <a:avLst/>
          </a:prstGeom>
          <a:solidFill>
            <a:srgbClr val="1C7293"/>
          </a:solidFill>
          <a:ln/>
        </p:spPr>
      </p:sp>
      <p:sp>
        <p:nvSpPr>
          <p:cNvPr id="25" name="Text 23"/>
          <p:cNvSpPr/>
          <p:nvPr/>
        </p:nvSpPr>
        <p:spPr>
          <a:xfrm>
            <a:off x="548640" y="429768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1097280" y="4224528"/>
            <a:ext cx="1920240" cy="804672"/>
          </a:xfrm>
          <a:prstGeom prst="rect">
            <a:avLst/>
          </a:prstGeom>
          <a:noFill/>
          <a:ln/>
        </p:spPr>
        <p:txBody>
          <a:bodyPr wrap="square"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Repeat until done</a:t>
            </a:r>
            <a:endParaRPr lang="en-US" sz="1400" dirty="0"/>
          </a:p>
        </p:txBody>
      </p:sp>
      <p:sp>
        <p:nvSpPr>
          <p:cNvPr id="27" name="Text 25"/>
          <p:cNvSpPr/>
          <p:nvPr/>
        </p:nvSpPr>
        <p:spPr>
          <a:xfrm>
            <a:off x="3063240" y="4224528"/>
            <a:ext cx="7315200" cy="530352"/>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Loop: query → attach → find next leaf, until no continuable leaf remains or the requested depth is reached.</a:t>
            </a:r>
            <a:endParaRPr lang="en-US" sz="1200" dirty="0"/>
          </a:p>
        </p:txBody>
      </p:sp>
      <p:sp>
        <p:nvSpPr>
          <p:cNvPr id="28" name="Text 26"/>
          <p:cNvSpPr/>
          <p:nvPr/>
        </p:nvSpPr>
        <p:spPr>
          <a:xfrm>
            <a:off x="3063240" y="4791456"/>
            <a:ext cx="7315200" cy="274320"/>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buildTree()</a:t>
            </a:r>
            <a:endParaRPr lang="en-US" sz="1050" dirty="0"/>
          </a:p>
        </p:txBody>
      </p:sp>
      <p:sp>
        <p:nvSpPr>
          <p:cNvPr id="29" name="Shape 27"/>
          <p:cNvSpPr/>
          <p:nvPr/>
        </p:nvSpPr>
        <p:spPr>
          <a:xfrm>
            <a:off x="548640" y="5084064"/>
            <a:ext cx="11064240" cy="0"/>
          </a:xfrm>
          <a:prstGeom prst="line">
            <a:avLst/>
          </a:prstGeom>
          <a:noFill/>
          <a:ln w="12700">
            <a:solidFill>
              <a:srgbClr val="E4EDF1"/>
            </a:solidFill>
            <a:prstDash val="solid"/>
          </a:ln>
        </p:spPr>
      </p:sp>
      <p:sp>
        <p:nvSpPr>
          <p:cNvPr id="30" name="Shape 28"/>
          <p:cNvSpPr/>
          <p:nvPr/>
        </p:nvSpPr>
        <p:spPr>
          <a:xfrm>
            <a:off x="548640" y="5193792"/>
            <a:ext cx="384048" cy="384048"/>
          </a:xfrm>
          <a:prstGeom prst="ellipse">
            <a:avLst/>
          </a:prstGeom>
          <a:solidFill>
            <a:srgbClr val="065A82"/>
          </a:solidFill>
          <a:ln/>
        </p:spPr>
      </p:sp>
      <p:sp>
        <p:nvSpPr>
          <p:cNvPr id="31" name="Text 29"/>
          <p:cNvSpPr/>
          <p:nvPr/>
        </p:nvSpPr>
        <p:spPr>
          <a:xfrm>
            <a:off x="548640" y="5193792"/>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p:nvPr/>
        </p:nvSpPr>
        <p:spPr>
          <a:xfrm>
            <a:off x="1097280" y="5120640"/>
            <a:ext cx="1920240" cy="804672"/>
          </a:xfrm>
          <a:prstGeom prst="rect">
            <a:avLst/>
          </a:prstGeom>
          <a:noFill/>
          <a:ln/>
        </p:spPr>
        <p:txBody>
          <a:bodyPr wrap="square"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Expand on demand</a:t>
            </a:r>
            <a:endParaRPr lang="en-US" sz="1400" dirty="0"/>
          </a:p>
        </p:txBody>
      </p:sp>
      <p:sp>
        <p:nvSpPr>
          <p:cNvPr id="33" name="Text 31"/>
          <p:cNvSpPr/>
          <p:nvPr/>
        </p:nvSpPr>
        <p:spPr>
          <a:xfrm>
            <a:off x="3063240" y="5120640"/>
            <a:ext cx="7315200" cy="530352"/>
          </a:xfrm>
          <a:prstGeom prst="rect">
            <a:avLst/>
          </a:prstGeom>
          <a:noFill/>
          <a:ln/>
        </p:spPr>
        <p:txBody>
          <a:bodyPr wrap="square" rtlCol="0" anchor="ctr"/>
          <a:lstStyle/>
          <a:p>
            <a:pPr indent="0" marL="0">
              <a:lnSpc>
                <a:spcPct val="120000"/>
              </a:lnSpc>
              <a:buNone/>
            </a:pPr>
            <a:r>
              <a:rPr lang="en-US" sz="1200" dirty="0">
                <a:solidFill>
                  <a:srgbClr val="5C7080"/>
                </a:solidFill>
                <a:latin typeface="Calibri" pitchFamily="34" charset="0"/>
                <a:ea typeface="Calibri" pitchFamily="34" charset="-122"/>
                <a:cs typeface="Calibri" pitchFamily="34" charset="-120"/>
              </a:rPr>
              <a:t>“Expand from here” re-runs the same loop rooted at one clicked node, one level deeper — so you drill into a single branch without rebuilding the whole tree.</a:t>
            </a:r>
            <a:endParaRPr lang="en-US" sz="1200" dirty="0"/>
          </a:p>
        </p:txBody>
      </p:sp>
      <p:sp>
        <p:nvSpPr>
          <p:cNvPr id="34" name="Text 32"/>
          <p:cNvSpPr/>
          <p:nvPr/>
        </p:nvSpPr>
        <p:spPr>
          <a:xfrm>
            <a:off x="3063240" y="5687568"/>
            <a:ext cx="7315200" cy="274320"/>
          </a:xfrm>
          <a:prstGeom prst="rect">
            <a:avLst/>
          </a:prstGeom>
          <a:noFill/>
          <a:ln/>
        </p:spPr>
        <p:txBody>
          <a:bodyPr wrap="square"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expandTree()</a:t>
            </a:r>
            <a:endParaRPr lang="en-US" sz="1050" dirty="0"/>
          </a:p>
        </p:txBody>
      </p:sp>
      <p:sp>
        <p:nvSpPr>
          <p:cNvPr id="35" name="Text 33"/>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36" name="Text 3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Three Dials Shape Every Tree</a:t>
            </a:r>
            <a:endParaRPr lang="en-US" sz="3200" dirty="0"/>
          </a:p>
        </p:txBody>
      </p:sp>
      <p:sp>
        <p:nvSpPr>
          <p:cNvPr id="4" name="Shape 2"/>
          <p:cNvSpPr/>
          <p:nvPr/>
        </p:nvSpPr>
        <p:spPr>
          <a:xfrm>
            <a:off x="8549640" y="457200"/>
            <a:ext cx="30632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8641080" y="457200"/>
            <a:ext cx="28803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logit-loom.ts — TreeOptions</a:t>
            </a:r>
            <a:endParaRPr lang="en-US" sz="1050" dirty="0"/>
          </a:p>
        </p:txBody>
      </p:sp>
      <p:sp>
        <p:nvSpPr>
          <p:cNvPr id="6" name="Text 4"/>
          <p:cNvSpPr/>
          <p:nvPr/>
        </p:nvSpPr>
        <p:spPr>
          <a:xfrm>
            <a:off x="548640" y="1417320"/>
            <a:ext cx="10972800" cy="457200"/>
          </a:xfrm>
          <a:prstGeom prst="rect">
            <a:avLst/>
          </a:prstGeom>
          <a:noFill/>
          <a:ln/>
        </p:spPr>
        <p:txBody>
          <a:bodyPr wrap="square" rtlCol="0" anchor="ctr"/>
          <a:lstStyle/>
          <a:p>
            <a:pPr indent="0" marL="0">
              <a:buNone/>
            </a:pPr>
            <a:r>
              <a:rPr lang="en-US" sz="1350" dirty="0">
                <a:solidFill>
                  <a:srgbClr val="5C7080"/>
                </a:solidFill>
                <a:latin typeface="Calibri" pitchFamily="34" charset="0"/>
                <a:ea typeface="Calibri" pitchFamily="34" charset="-122"/>
                <a:cs typeface="Calibri" pitchFamily="34" charset="-120"/>
              </a:rPr>
              <a:t>These map directly onto the sampling concepts from the background section — they control how deep and how wide the tree grows, and where the long tail gets cut off.</a:t>
            </a:r>
            <a:endParaRPr lang="en-US" sz="1350" dirty="0"/>
          </a:p>
        </p:txBody>
      </p:sp>
      <p:sp>
        <p:nvSpPr>
          <p:cNvPr id="7" name="Shape 5"/>
          <p:cNvSpPr/>
          <p:nvPr/>
        </p:nvSpPr>
        <p:spPr>
          <a:xfrm>
            <a:off x="548640" y="2103120"/>
            <a:ext cx="3520440" cy="393192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8" name="Shape 6"/>
          <p:cNvSpPr/>
          <p:nvPr/>
        </p:nvSpPr>
        <p:spPr>
          <a:xfrm>
            <a:off x="1943100" y="2423160"/>
            <a:ext cx="731520" cy="731520"/>
          </a:xfrm>
          <a:prstGeom prst="ellipse">
            <a:avLst/>
          </a:prstGeom>
          <a:solidFill>
            <a:srgbClr val="065A82"/>
          </a:solidFill>
          <a:ln/>
        </p:spPr>
      </p:sp>
      <p:pic>
        <p:nvPicPr>
          <p:cNvPr id="9" name="Image 0" descr="/home/claude/icons/sliders.png">    </p:cNvPr>
          <p:cNvPicPr>
            <a:picLocks noChangeAspect="1"/>
          </p:cNvPicPr>
          <p:nvPr/>
        </p:nvPicPr>
        <p:blipFill>
          <a:blip r:embed="rId1"/>
          <a:stretch>
            <a:fillRect/>
          </a:stretch>
        </p:blipFill>
        <p:spPr>
          <a:xfrm>
            <a:off x="2133295" y="2613355"/>
            <a:ext cx="351130" cy="351130"/>
          </a:xfrm>
          <a:prstGeom prst="rect">
            <a:avLst/>
          </a:prstGeom>
        </p:spPr>
      </p:pic>
      <p:sp>
        <p:nvSpPr>
          <p:cNvPr id="10" name="Text 7"/>
          <p:cNvSpPr/>
          <p:nvPr/>
        </p:nvSpPr>
        <p:spPr>
          <a:xfrm>
            <a:off x="777240" y="3337560"/>
            <a:ext cx="3063240" cy="411480"/>
          </a:xfrm>
          <a:prstGeom prst="rect">
            <a:avLst/>
          </a:prstGeom>
          <a:noFill/>
          <a:ln/>
        </p:spPr>
        <p:txBody>
          <a:bodyPr wrap="square" rtlCol="0" anchor="ctr"/>
          <a:lstStyle/>
          <a:p>
            <a:pPr algn="ctr" indent="0" marL="0">
              <a:buNone/>
            </a:pPr>
            <a:r>
              <a:rPr lang="en-US" sz="1800" b="1" dirty="0">
                <a:solidFill>
                  <a:srgbClr val="1B2733"/>
                </a:solidFill>
                <a:latin typeface="Calibri" pitchFamily="34" charset="0"/>
                <a:ea typeface="Calibri" pitchFamily="34" charset="-122"/>
                <a:cs typeface="Calibri" pitchFamily="34" charset="-120"/>
              </a:rPr>
              <a:t>Depth</a:t>
            </a:r>
            <a:endParaRPr lang="en-US" sz="1800" dirty="0"/>
          </a:p>
        </p:txBody>
      </p:sp>
      <p:sp>
        <p:nvSpPr>
          <p:cNvPr id="11" name="Text 8"/>
          <p:cNvSpPr/>
          <p:nvPr/>
        </p:nvSpPr>
        <p:spPr>
          <a:xfrm>
            <a:off x="822960" y="3840480"/>
            <a:ext cx="2971800" cy="1600200"/>
          </a:xfrm>
          <a:prstGeom prst="rect">
            <a:avLst/>
          </a:prstGeom>
          <a:noFill/>
          <a:ln/>
        </p:spPr>
        <p:txBody>
          <a:bodyPr wrap="square" rtlCol="0" anchor="ctr"/>
          <a:lstStyle/>
          <a:p>
            <a:pPr algn="ctr" indent="0" marL="0">
              <a:lnSpc>
                <a:spcPct val="118000"/>
              </a:lnSpc>
              <a:buNone/>
            </a:pPr>
            <a:r>
              <a:rPr lang="en-US" sz="1150" dirty="0">
                <a:solidFill>
                  <a:srgbClr val="5C7080"/>
                </a:solidFill>
                <a:latin typeface="Calibri" pitchFamily="34" charset="0"/>
                <a:ea typeface="Calibri" pitchFamily="34" charset="-122"/>
                <a:cs typeface="Calibri" pitchFamily="34" charset="-120"/>
              </a:rPr>
              <a:t>How many tokens deep to expand the tree. Larger depth = longer trajectories, but the number of leaves can grow fast.</a:t>
            </a:r>
            <a:endParaRPr lang="en-US" sz="1150" dirty="0"/>
          </a:p>
        </p:txBody>
      </p:sp>
      <p:sp>
        <p:nvSpPr>
          <p:cNvPr id="12" name="Text 9"/>
          <p:cNvSpPr/>
          <p:nvPr/>
        </p:nvSpPr>
        <p:spPr>
          <a:xfrm>
            <a:off x="822960" y="5669280"/>
            <a:ext cx="2971800" cy="274320"/>
          </a:xfrm>
          <a:prstGeom prst="rect">
            <a:avLst/>
          </a:prstGeom>
          <a:noFill/>
          <a:ln/>
        </p:spPr>
        <p:txBody>
          <a:bodyPr wrap="square" rtlCol="0" anchor="ctr"/>
          <a:lstStyle/>
          <a:p>
            <a:pPr algn="ctr" indent="0" marL="0">
              <a:buNone/>
            </a:pPr>
            <a:r>
              <a:rPr lang="en-US" sz="1100" b="1" dirty="0">
                <a:solidFill>
                  <a:srgbClr val="065A82"/>
                </a:solidFill>
                <a:latin typeface="Courier New" pitchFamily="34" charset="0"/>
                <a:ea typeface="Courier New" pitchFamily="34" charset="-122"/>
                <a:cs typeface="Courier New" pitchFamily="34" charset="-120"/>
              </a:rPr>
              <a:t>depth</a:t>
            </a:r>
            <a:endParaRPr lang="en-US" sz="1100" dirty="0"/>
          </a:p>
        </p:txBody>
      </p:sp>
      <p:sp>
        <p:nvSpPr>
          <p:cNvPr id="13" name="Shape 10"/>
          <p:cNvSpPr/>
          <p:nvPr/>
        </p:nvSpPr>
        <p:spPr>
          <a:xfrm>
            <a:off x="4325112" y="2103120"/>
            <a:ext cx="3520440" cy="393192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14" name="Shape 11"/>
          <p:cNvSpPr/>
          <p:nvPr/>
        </p:nvSpPr>
        <p:spPr>
          <a:xfrm>
            <a:off x="5719572" y="2423160"/>
            <a:ext cx="731520" cy="731520"/>
          </a:xfrm>
          <a:prstGeom prst="ellipse">
            <a:avLst/>
          </a:prstGeom>
          <a:solidFill>
            <a:srgbClr val="1C7293"/>
          </a:solidFill>
          <a:ln/>
        </p:spPr>
      </p:sp>
      <p:pic>
        <p:nvPicPr>
          <p:cNvPr id="15" name="Image 1" descr="/home/claude/icons/branch.png">    </p:cNvPr>
          <p:cNvPicPr>
            <a:picLocks noChangeAspect="1"/>
          </p:cNvPicPr>
          <p:nvPr/>
        </p:nvPicPr>
        <p:blipFill>
          <a:blip r:embed="rId2"/>
          <a:stretch>
            <a:fillRect/>
          </a:stretch>
        </p:blipFill>
        <p:spPr>
          <a:xfrm>
            <a:off x="5909767" y="2613355"/>
            <a:ext cx="351130" cy="351130"/>
          </a:xfrm>
          <a:prstGeom prst="rect">
            <a:avLst/>
          </a:prstGeom>
        </p:spPr>
      </p:pic>
      <p:sp>
        <p:nvSpPr>
          <p:cNvPr id="16" name="Text 12"/>
          <p:cNvSpPr/>
          <p:nvPr/>
        </p:nvSpPr>
        <p:spPr>
          <a:xfrm>
            <a:off x="4553712" y="3337560"/>
            <a:ext cx="3063240" cy="411480"/>
          </a:xfrm>
          <a:prstGeom prst="rect">
            <a:avLst/>
          </a:prstGeom>
          <a:noFill/>
          <a:ln/>
        </p:spPr>
        <p:txBody>
          <a:bodyPr wrap="square" rtlCol="0" anchor="ctr"/>
          <a:lstStyle/>
          <a:p>
            <a:pPr algn="ctr" indent="0" marL="0">
              <a:buNone/>
            </a:pPr>
            <a:r>
              <a:rPr lang="en-US" sz="1800" b="1" dirty="0">
                <a:solidFill>
                  <a:srgbClr val="1B2733"/>
                </a:solidFill>
                <a:latin typeface="Calibri" pitchFamily="34" charset="0"/>
                <a:ea typeface="Calibri" pitchFamily="34" charset="-122"/>
                <a:cs typeface="Calibri" pitchFamily="34" charset="-120"/>
              </a:rPr>
              <a:t>Max Children</a:t>
            </a:r>
            <a:endParaRPr lang="en-US" sz="1800" dirty="0"/>
          </a:p>
        </p:txBody>
      </p:sp>
      <p:sp>
        <p:nvSpPr>
          <p:cNvPr id="17" name="Text 13"/>
          <p:cNvSpPr/>
          <p:nvPr/>
        </p:nvSpPr>
        <p:spPr>
          <a:xfrm>
            <a:off x="4599432" y="3840480"/>
            <a:ext cx="2971800" cy="1600200"/>
          </a:xfrm>
          <a:prstGeom prst="rect">
            <a:avLst/>
          </a:prstGeom>
          <a:noFill/>
          <a:ln/>
        </p:spPr>
        <p:txBody>
          <a:bodyPr wrap="square" rtlCol="0" anchor="ctr"/>
          <a:lstStyle/>
          <a:p>
            <a:pPr algn="ctr" indent="0" marL="0">
              <a:lnSpc>
                <a:spcPct val="118000"/>
              </a:lnSpc>
              <a:buNone/>
            </a:pPr>
            <a:r>
              <a:rPr lang="en-US" sz="1150" dirty="0">
                <a:solidFill>
                  <a:srgbClr val="5C7080"/>
                </a:solidFill>
                <a:latin typeface="Calibri" pitchFamily="34" charset="0"/>
                <a:ea typeface="Calibri" pitchFamily="34" charset="-122"/>
                <a:cs typeface="Calibri" pitchFamily="34" charset="-120"/>
              </a:rPr>
              <a:t>How many alternative next-tokens to keep at each node. Capped by how many top-logprobs the API is willing to return.</a:t>
            </a:r>
            <a:endParaRPr lang="en-US" sz="1150" dirty="0"/>
          </a:p>
        </p:txBody>
      </p:sp>
      <p:sp>
        <p:nvSpPr>
          <p:cNvPr id="18" name="Text 14"/>
          <p:cNvSpPr/>
          <p:nvPr/>
        </p:nvSpPr>
        <p:spPr>
          <a:xfrm>
            <a:off x="4599432" y="5669280"/>
            <a:ext cx="2971800" cy="274320"/>
          </a:xfrm>
          <a:prstGeom prst="rect">
            <a:avLst/>
          </a:prstGeom>
          <a:noFill/>
          <a:ln/>
        </p:spPr>
        <p:txBody>
          <a:bodyPr wrap="square" rtlCol="0" anchor="ctr"/>
          <a:lstStyle/>
          <a:p>
            <a:pPr algn="ctr" indent="0" marL="0">
              <a:buNone/>
            </a:pPr>
            <a:r>
              <a:rPr lang="en-US" sz="1100" b="1" dirty="0">
                <a:solidFill>
                  <a:srgbClr val="1C7293"/>
                </a:solidFill>
                <a:latin typeface="Courier New" pitchFamily="34" charset="0"/>
                <a:ea typeface="Courier New" pitchFamily="34" charset="-122"/>
                <a:cs typeface="Courier New" pitchFamily="34" charset="-120"/>
              </a:rPr>
              <a:t>maxWidth</a:t>
            </a:r>
            <a:endParaRPr lang="en-US" sz="1100" dirty="0"/>
          </a:p>
        </p:txBody>
      </p:sp>
      <p:sp>
        <p:nvSpPr>
          <p:cNvPr id="19" name="Shape 15"/>
          <p:cNvSpPr/>
          <p:nvPr/>
        </p:nvSpPr>
        <p:spPr>
          <a:xfrm>
            <a:off x="8101584" y="2103120"/>
            <a:ext cx="3520440" cy="393192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20" name="Shape 16"/>
          <p:cNvSpPr/>
          <p:nvPr/>
        </p:nvSpPr>
        <p:spPr>
          <a:xfrm>
            <a:off x="9496044" y="2423160"/>
            <a:ext cx="731520" cy="731520"/>
          </a:xfrm>
          <a:prstGeom prst="ellipse">
            <a:avLst/>
          </a:prstGeom>
          <a:solidFill>
            <a:srgbClr val="21295C"/>
          </a:solidFill>
          <a:ln/>
        </p:spPr>
      </p:sp>
      <p:pic>
        <p:nvPicPr>
          <p:cNvPr id="21" name="Image 2" descr="/home/claude/icons/dice.png">    </p:cNvPr>
          <p:cNvPicPr>
            <a:picLocks noChangeAspect="1"/>
          </p:cNvPicPr>
          <p:nvPr/>
        </p:nvPicPr>
        <p:blipFill>
          <a:blip r:embed="rId3"/>
          <a:stretch>
            <a:fillRect/>
          </a:stretch>
        </p:blipFill>
        <p:spPr>
          <a:xfrm>
            <a:off x="9686239" y="2613355"/>
            <a:ext cx="351130" cy="351130"/>
          </a:xfrm>
          <a:prstGeom prst="rect">
            <a:avLst/>
          </a:prstGeom>
        </p:spPr>
      </p:pic>
      <p:sp>
        <p:nvSpPr>
          <p:cNvPr id="22" name="Text 17"/>
          <p:cNvSpPr/>
          <p:nvPr/>
        </p:nvSpPr>
        <p:spPr>
          <a:xfrm>
            <a:off x="8330184" y="3337560"/>
            <a:ext cx="3063240" cy="411480"/>
          </a:xfrm>
          <a:prstGeom prst="rect">
            <a:avLst/>
          </a:prstGeom>
          <a:noFill/>
          <a:ln/>
        </p:spPr>
        <p:txBody>
          <a:bodyPr wrap="square" rtlCol="0" anchor="ctr"/>
          <a:lstStyle/>
          <a:p>
            <a:pPr algn="ctr" indent="0" marL="0">
              <a:buNone/>
            </a:pPr>
            <a:r>
              <a:rPr lang="en-US" sz="1800" b="1" dirty="0">
                <a:solidFill>
                  <a:srgbClr val="1B2733"/>
                </a:solidFill>
                <a:latin typeface="Calibri" pitchFamily="34" charset="0"/>
                <a:ea typeface="Calibri" pitchFamily="34" charset="-122"/>
                <a:cs typeface="Calibri" pitchFamily="34" charset="-120"/>
              </a:rPr>
              <a:t>Top P</a:t>
            </a:r>
            <a:endParaRPr lang="en-US" sz="1800" dirty="0"/>
          </a:p>
        </p:txBody>
      </p:sp>
      <p:sp>
        <p:nvSpPr>
          <p:cNvPr id="23" name="Text 18"/>
          <p:cNvSpPr/>
          <p:nvPr/>
        </p:nvSpPr>
        <p:spPr>
          <a:xfrm>
            <a:off x="8375904" y="3840480"/>
            <a:ext cx="2971800" cy="1600200"/>
          </a:xfrm>
          <a:prstGeom prst="rect">
            <a:avLst/>
          </a:prstGeom>
          <a:noFill/>
          <a:ln/>
        </p:spPr>
        <p:txBody>
          <a:bodyPr wrap="square" rtlCol="0" anchor="ctr"/>
          <a:lstStyle/>
          <a:p>
            <a:pPr algn="ctr" indent="0" marL="0">
              <a:lnSpc>
                <a:spcPct val="118000"/>
              </a:lnSpc>
              <a:buNone/>
            </a:pPr>
            <a:r>
              <a:rPr lang="en-US" sz="1150" dirty="0">
                <a:solidFill>
                  <a:srgbClr val="5C7080"/>
                </a:solidFill>
                <a:latin typeface="Calibri" pitchFamily="34" charset="0"/>
                <a:ea typeface="Calibri" pitchFamily="34" charset="-122"/>
                <a:cs typeface="Calibri" pitchFamily="34" charset="-120"/>
              </a:rPr>
              <a:t>A coverage threshold: keep only the smallest, highest-probability set of children whose cumulative probability passes P. Set to 100 to disable; base models typically need a lower value since they branch more.</a:t>
            </a:r>
            <a:endParaRPr lang="en-US" sz="1150" dirty="0"/>
          </a:p>
        </p:txBody>
      </p:sp>
      <p:sp>
        <p:nvSpPr>
          <p:cNvPr id="24" name="Shape 19"/>
          <p:cNvSpPr/>
          <p:nvPr/>
        </p:nvSpPr>
        <p:spPr>
          <a:xfrm>
            <a:off x="8330184" y="5257800"/>
            <a:ext cx="3063240" cy="310896"/>
          </a:xfrm>
          <a:prstGeom prst="roundRect">
            <a:avLst>
              <a:gd name="adj" fmla="val 50000"/>
            </a:avLst>
          </a:prstGeom>
          <a:solidFill>
            <a:srgbClr val="E9F1E6"/>
          </a:solidFill>
          <a:ln w="9525">
            <a:solidFill>
              <a:srgbClr val="8FB88F"/>
            </a:solidFill>
            <a:prstDash val="solid"/>
          </a:ln>
        </p:spPr>
      </p:sp>
      <p:sp>
        <p:nvSpPr>
          <p:cNvPr id="25" name="Text 20"/>
          <p:cNvSpPr/>
          <p:nvPr/>
        </p:nvSpPr>
        <p:spPr>
          <a:xfrm>
            <a:off x="8458200" y="5257800"/>
            <a:ext cx="280720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4, Sampling</a:t>
            </a:r>
            <a:endParaRPr lang="en-US" sz="1000" dirty="0"/>
          </a:p>
        </p:txBody>
      </p:sp>
      <p:sp>
        <p:nvSpPr>
          <p:cNvPr id="26" name="Text 21"/>
          <p:cNvSpPr/>
          <p:nvPr/>
        </p:nvSpPr>
        <p:spPr>
          <a:xfrm>
            <a:off x="8375904" y="5669280"/>
            <a:ext cx="2971800" cy="274320"/>
          </a:xfrm>
          <a:prstGeom prst="rect">
            <a:avLst/>
          </a:prstGeom>
          <a:noFill/>
          <a:ln/>
        </p:spPr>
        <p:txBody>
          <a:bodyPr wrap="square" rtlCol="0" anchor="ctr"/>
          <a:lstStyle/>
          <a:p>
            <a:pPr algn="ctr" indent="0" marL="0">
              <a:buNone/>
            </a:pPr>
            <a:r>
              <a:rPr lang="en-US" sz="1100" b="1" dirty="0">
                <a:solidFill>
                  <a:srgbClr val="21295C"/>
                </a:solidFill>
                <a:latin typeface="Courier New" pitchFamily="34" charset="0"/>
                <a:ea typeface="Courier New" pitchFamily="34" charset="-122"/>
                <a:cs typeface="Courier New" pitchFamily="34" charset="-120"/>
              </a:rPr>
              <a:t>coverProb</a:t>
            </a:r>
            <a:endParaRPr lang="en-US" sz="1100" dirty="0"/>
          </a:p>
        </p:txBody>
      </p:sp>
      <p:sp>
        <p:nvSpPr>
          <p:cNvPr id="27" name="Text 22"/>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28" name="Text 2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What You Can Do With Any Node</a:t>
            </a:r>
            <a:endParaRPr lang="en-US" sz="3200" dirty="0"/>
          </a:p>
        </p:txBody>
      </p:sp>
      <p:sp>
        <p:nvSpPr>
          <p:cNvPr id="4" name="Shape 2"/>
          <p:cNvSpPr/>
          <p:nvPr/>
        </p:nvSpPr>
        <p:spPr>
          <a:xfrm>
            <a:off x="8549640" y="457200"/>
            <a:ext cx="30632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8641080" y="457200"/>
            <a:ext cx="28803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tree-store.ts · index.tsx</a:t>
            </a:r>
            <a:endParaRPr lang="en-US" sz="1050" dirty="0"/>
          </a:p>
        </p:txBody>
      </p:sp>
      <p:sp>
        <p:nvSpPr>
          <p:cNvPr id="6" name="Shape 4"/>
          <p:cNvSpPr/>
          <p:nvPr/>
        </p:nvSpPr>
        <p:spPr>
          <a:xfrm>
            <a:off x="548640" y="1600200"/>
            <a:ext cx="548640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7" name="Shape 5"/>
          <p:cNvSpPr/>
          <p:nvPr/>
        </p:nvSpPr>
        <p:spPr>
          <a:xfrm>
            <a:off x="804672" y="1856232"/>
            <a:ext cx="502920" cy="502920"/>
          </a:xfrm>
          <a:prstGeom prst="ellipse">
            <a:avLst/>
          </a:prstGeom>
          <a:solidFill>
            <a:srgbClr val="065A82"/>
          </a:solidFill>
          <a:ln/>
        </p:spPr>
      </p:sp>
      <p:pic>
        <p:nvPicPr>
          <p:cNvPr id="8" name="Image 0" descr="/home/claude/icons/commentdots_white.png">    </p:cNvPr>
          <p:cNvPicPr>
            <a:picLocks noChangeAspect="1"/>
          </p:cNvPicPr>
          <p:nvPr/>
        </p:nvPicPr>
        <p:blipFill>
          <a:blip r:embed="rId1"/>
          <a:stretch>
            <a:fillRect/>
          </a:stretch>
        </p:blipFill>
        <p:spPr>
          <a:xfrm>
            <a:off x="935431" y="1986991"/>
            <a:ext cx="241402" cy="241402"/>
          </a:xfrm>
          <a:prstGeom prst="rect">
            <a:avLst/>
          </a:prstGeom>
        </p:spPr>
      </p:pic>
      <p:sp>
        <p:nvSpPr>
          <p:cNvPr id="9" name="Text 6"/>
          <p:cNvSpPr/>
          <p:nvPr/>
        </p:nvSpPr>
        <p:spPr>
          <a:xfrm>
            <a:off x="1463040" y="1856232"/>
            <a:ext cx="429768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Token &amp; probability</a:t>
            </a:r>
            <a:endParaRPr lang="en-US" sz="1500" dirty="0"/>
          </a:p>
        </p:txBody>
      </p:sp>
      <p:sp>
        <p:nvSpPr>
          <p:cNvPr id="10" name="Text 7"/>
          <p:cNvSpPr/>
          <p:nvPr/>
        </p:nvSpPr>
        <p:spPr>
          <a:xfrm>
            <a:off x="822960" y="2468880"/>
            <a:ext cx="4937760" cy="640080"/>
          </a:xfrm>
          <a:prstGeom prst="rect">
            <a:avLst/>
          </a:prstGeom>
          <a:noFill/>
          <a:ln/>
        </p:spPr>
        <p:txBody>
          <a:bodyPr wrap="square" rtlCol="0" anchor="ctr"/>
          <a:lstStyle/>
          <a:p>
            <a:pPr indent="0" marL="0">
              <a:lnSpc>
                <a:spcPct val="118000"/>
              </a:lnSpc>
              <a:buNone/>
            </a:pPr>
            <a:r>
              <a:rPr lang="en-US" sz="1150" dirty="0">
                <a:solidFill>
                  <a:srgbClr val="5C7080"/>
                </a:solidFill>
                <a:latin typeface="Calibri" pitchFamily="34" charset="0"/>
                <a:ea typeface="Calibri" pitchFamily="34" charset="-122"/>
                <a:cs typeface="Calibri" pitchFamily="34" charset="-120"/>
              </a:rPr>
              <a:t>Every node shows its literal token text (spaces/newlines rendered visibly) plus its probability and raw logprob — the exact quantities from the background section, now attached to a specific branch.</a:t>
            </a:r>
            <a:endParaRPr lang="en-US" sz="1150" dirty="0"/>
          </a:p>
        </p:txBody>
      </p:sp>
      <p:sp>
        <p:nvSpPr>
          <p:cNvPr id="11" name="Text 8"/>
          <p:cNvSpPr/>
          <p:nvPr/>
        </p:nvSpPr>
        <p:spPr>
          <a:xfrm>
            <a:off x="822960" y="3182112"/>
            <a:ext cx="4937760" cy="274320"/>
          </a:xfrm>
          <a:prstGeom prst="rect">
            <a:avLst/>
          </a:prstGeom>
          <a:noFill/>
          <a:ln/>
        </p:spPr>
        <p:txBody>
          <a:bodyPr wrap="square"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Token.text / .prob / .logprob — logit-loom.ts</a:t>
            </a:r>
            <a:endParaRPr lang="en-US" sz="950" dirty="0"/>
          </a:p>
        </p:txBody>
      </p:sp>
      <p:sp>
        <p:nvSpPr>
          <p:cNvPr id="12" name="Shape 9"/>
          <p:cNvSpPr/>
          <p:nvPr/>
        </p:nvSpPr>
        <p:spPr>
          <a:xfrm>
            <a:off x="6035040" y="1600200"/>
            <a:ext cx="548640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13" name="Shape 10"/>
          <p:cNvSpPr/>
          <p:nvPr/>
        </p:nvSpPr>
        <p:spPr>
          <a:xfrm>
            <a:off x="6291072" y="1856232"/>
            <a:ext cx="502920" cy="502920"/>
          </a:xfrm>
          <a:prstGeom prst="ellipse">
            <a:avLst/>
          </a:prstGeom>
          <a:solidFill>
            <a:srgbClr val="065A82"/>
          </a:solidFill>
          <a:ln/>
        </p:spPr>
      </p:sp>
      <p:pic>
        <p:nvPicPr>
          <p:cNvPr id="14" name="Image 1" descr="/home/claude/icons/chevron.png">    </p:cNvPr>
          <p:cNvPicPr>
            <a:picLocks noChangeAspect="1"/>
          </p:cNvPicPr>
          <p:nvPr/>
        </p:nvPicPr>
        <p:blipFill>
          <a:blip r:embed="rId2"/>
          <a:stretch>
            <a:fillRect/>
          </a:stretch>
        </p:blipFill>
        <p:spPr>
          <a:xfrm>
            <a:off x="6421831" y="1986991"/>
            <a:ext cx="241402" cy="241402"/>
          </a:xfrm>
          <a:prstGeom prst="rect">
            <a:avLst/>
          </a:prstGeom>
        </p:spPr>
      </p:pic>
      <p:sp>
        <p:nvSpPr>
          <p:cNvPr id="15" name="Text 11"/>
          <p:cNvSpPr/>
          <p:nvPr/>
        </p:nvSpPr>
        <p:spPr>
          <a:xfrm>
            <a:off x="6949440" y="1856232"/>
            <a:ext cx="429768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Add to prefill</a:t>
            </a:r>
            <a:endParaRPr lang="en-US" sz="1500" dirty="0"/>
          </a:p>
        </p:txBody>
      </p:sp>
      <p:sp>
        <p:nvSpPr>
          <p:cNvPr id="16" name="Text 12"/>
          <p:cNvSpPr/>
          <p:nvPr/>
        </p:nvSpPr>
        <p:spPr>
          <a:xfrm>
            <a:off x="6309360" y="2468880"/>
            <a:ext cx="4937760" cy="640080"/>
          </a:xfrm>
          <a:prstGeom prst="rect">
            <a:avLst/>
          </a:prstGeom>
          <a:noFill/>
          <a:ln/>
        </p:spPr>
        <p:txBody>
          <a:bodyPr wrap="square" rtlCol="0" anchor="ctr"/>
          <a:lstStyle/>
          <a:p>
            <a:pPr indent="0" marL="0">
              <a:lnSpc>
                <a:spcPct val="118000"/>
              </a:lnSpc>
              <a:buNone/>
            </a:pPr>
            <a:r>
              <a:rPr lang="en-US" sz="1150" dirty="0">
                <a:solidFill>
                  <a:srgbClr val="5C7080"/>
                </a:solidFill>
                <a:latin typeface="Calibri" pitchFamily="34" charset="0"/>
                <a:ea typeface="Calibri" pitchFamily="34" charset="-122"/>
                <a:cs typeface="Calibri" pitchFamily="34" charset="-120"/>
              </a:rPr>
              <a:t>Appends this token — and everything leading up to it — to the prefill box, so the next “Run” continues generation from exactly this point. Effectively: commit to a branch.</a:t>
            </a:r>
            <a:endParaRPr lang="en-US" sz="1150" dirty="0"/>
          </a:p>
        </p:txBody>
      </p:sp>
      <p:sp>
        <p:nvSpPr>
          <p:cNvPr id="17" name="Text 13"/>
          <p:cNvSpPr/>
          <p:nvPr/>
        </p:nvSpPr>
        <p:spPr>
          <a:xfrm>
            <a:off x="6309360" y="3182112"/>
            <a:ext cx="4937760" cy="274320"/>
          </a:xfrm>
          <a:prstGeom prst="rect">
            <a:avLst/>
          </a:prstGeom>
          <a:noFill/>
          <a:ln/>
        </p:spPr>
        <p:txBody>
          <a:bodyPr wrap="square"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getTokenAndPrefix() — tree-store.ts</a:t>
            </a:r>
            <a:endParaRPr lang="en-US" sz="950" dirty="0"/>
          </a:p>
        </p:txBody>
      </p:sp>
      <p:sp>
        <p:nvSpPr>
          <p:cNvPr id="18" name="Shape 14"/>
          <p:cNvSpPr/>
          <p:nvPr/>
        </p:nvSpPr>
        <p:spPr>
          <a:xfrm>
            <a:off x="548640" y="3794760"/>
            <a:ext cx="548640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19" name="Shape 15"/>
          <p:cNvSpPr/>
          <p:nvPr/>
        </p:nvSpPr>
        <p:spPr>
          <a:xfrm>
            <a:off x="804672" y="4050792"/>
            <a:ext cx="502920" cy="502920"/>
          </a:xfrm>
          <a:prstGeom prst="ellipse">
            <a:avLst/>
          </a:prstGeom>
          <a:solidFill>
            <a:srgbClr val="065A82"/>
          </a:solidFill>
          <a:ln/>
        </p:spPr>
      </p:sp>
      <p:pic>
        <p:nvPicPr>
          <p:cNvPr id="20" name="Image 2" descr="/home/claude/icons/search.png">    </p:cNvPr>
          <p:cNvPicPr>
            <a:picLocks noChangeAspect="1"/>
          </p:cNvPicPr>
          <p:nvPr/>
        </p:nvPicPr>
        <p:blipFill>
          <a:blip r:embed="rId3"/>
          <a:stretch>
            <a:fillRect/>
          </a:stretch>
        </p:blipFill>
        <p:spPr>
          <a:xfrm>
            <a:off x="935431" y="4181551"/>
            <a:ext cx="241402" cy="241402"/>
          </a:xfrm>
          <a:prstGeom prst="rect">
            <a:avLst/>
          </a:prstGeom>
        </p:spPr>
      </p:pic>
      <p:sp>
        <p:nvSpPr>
          <p:cNvPr id="21" name="Text 16"/>
          <p:cNvSpPr/>
          <p:nvPr/>
        </p:nvSpPr>
        <p:spPr>
          <a:xfrm>
            <a:off x="1463040" y="4050792"/>
            <a:ext cx="429768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Expand from here</a:t>
            </a:r>
            <a:endParaRPr lang="en-US" sz="1500" dirty="0"/>
          </a:p>
        </p:txBody>
      </p:sp>
      <p:sp>
        <p:nvSpPr>
          <p:cNvPr id="22" name="Text 17"/>
          <p:cNvSpPr/>
          <p:nvPr/>
        </p:nvSpPr>
        <p:spPr>
          <a:xfrm>
            <a:off x="822960" y="4663440"/>
            <a:ext cx="4937760" cy="640080"/>
          </a:xfrm>
          <a:prstGeom prst="rect">
            <a:avLst/>
          </a:prstGeom>
          <a:noFill/>
          <a:ln/>
        </p:spPr>
        <p:txBody>
          <a:bodyPr wrap="square" rtlCol="0" anchor="ctr"/>
          <a:lstStyle/>
          <a:p>
            <a:pPr indent="0" marL="0">
              <a:lnSpc>
                <a:spcPct val="118000"/>
              </a:lnSpc>
              <a:buNone/>
            </a:pPr>
            <a:r>
              <a:rPr lang="en-US" sz="1150" dirty="0">
                <a:solidFill>
                  <a:srgbClr val="5C7080"/>
                </a:solidFill>
                <a:latin typeface="Calibri" pitchFamily="34" charset="0"/>
                <a:ea typeface="Calibri" pitchFamily="34" charset="-122"/>
                <a:cs typeface="Calibri" pitchFamily="34" charset="-120"/>
              </a:rPr>
              <a:t>Runs the build loop rooted at this node only, going one level deeper without touching the rest of the tree — useful for chasing one interesting branch.</a:t>
            </a:r>
            <a:endParaRPr lang="en-US" sz="1150" dirty="0"/>
          </a:p>
        </p:txBody>
      </p:sp>
      <p:sp>
        <p:nvSpPr>
          <p:cNvPr id="23" name="Text 18"/>
          <p:cNvSpPr/>
          <p:nvPr/>
        </p:nvSpPr>
        <p:spPr>
          <a:xfrm>
            <a:off x="822960" y="5376672"/>
            <a:ext cx="4937760" cy="274320"/>
          </a:xfrm>
          <a:prstGeom prst="rect">
            <a:avLst/>
          </a:prstGeom>
          <a:noFill/>
          <a:ln/>
        </p:spPr>
        <p:txBody>
          <a:bodyPr wrap="square"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run({ fromNodeId }) → expandTree() — tree-store.ts</a:t>
            </a:r>
            <a:endParaRPr lang="en-US" sz="950" dirty="0"/>
          </a:p>
        </p:txBody>
      </p:sp>
      <p:sp>
        <p:nvSpPr>
          <p:cNvPr id="24" name="Shape 19"/>
          <p:cNvSpPr/>
          <p:nvPr/>
        </p:nvSpPr>
        <p:spPr>
          <a:xfrm>
            <a:off x="6035040" y="3794760"/>
            <a:ext cx="5486400" cy="1965960"/>
          </a:xfrm>
          <a:prstGeom prst="roundRect">
            <a:avLst>
              <a:gd name="adj" fmla="val 3721"/>
            </a:avLst>
          </a:prstGeom>
          <a:solidFill>
            <a:srgbClr val="F2F8FA"/>
          </a:solidFill>
          <a:ln/>
          <a:effectLst>
            <a:outerShdw sx="100000" sy="100000" kx="0" ky="0" algn="bl" rotWithShape="0" blurRad="101600" dist="25400" dir="5400000">
              <a:srgbClr val="1B2733">
                <a:alpha val="8000"/>
              </a:srgbClr>
            </a:outerShdw>
          </a:effectLst>
        </p:spPr>
      </p:sp>
      <p:sp>
        <p:nvSpPr>
          <p:cNvPr id="25" name="Shape 20"/>
          <p:cNvSpPr/>
          <p:nvPr/>
        </p:nvSpPr>
        <p:spPr>
          <a:xfrm>
            <a:off x="6291072" y="4050792"/>
            <a:ext cx="502920" cy="502920"/>
          </a:xfrm>
          <a:prstGeom prst="ellipse">
            <a:avLst/>
          </a:prstGeom>
          <a:solidFill>
            <a:srgbClr val="B85042"/>
          </a:solidFill>
          <a:ln/>
        </p:spPr>
      </p:sp>
      <p:pic>
        <p:nvPicPr>
          <p:cNvPr id="26" name="Image 3" descr="/home/claude/icons/warning.png">    </p:cNvPr>
          <p:cNvPicPr>
            <a:picLocks noChangeAspect="1"/>
          </p:cNvPicPr>
          <p:nvPr/>
        </p:nvPicPr>
        <p:blipFill>
          <a:blip r:embed="rId4"/>
          <a:stretch>
            <a:fillRect/>
          </a:stretch>
        </p:blipFill>
        <p:spPr>
          <a:xfrm>
            <a:off x="6421831" y="4181551"/>
            <a:ext cx="241402" cy="241402"/>
          </a:xfrm>
          <a:prstGeom prst="rect">
            <a:avLst/>
          </a:prstGeom>
        </p:spPr>
      </p:pic>
      <p:sp>
        <p:nvSpPr>
          <p:cNvPr id="27" name="Text 21"/>
          <p:cNvSpPr/>
          <p:nvPr/>
        </p:nvSpPr>
        <p:spPr>
          <a:xfrm>
            <a:off x="6949440" y="4050792"/>
            <a:ext cx="4297680" cy="502920"/>
          </a:xfrm>
          <a:prstGeom prst="rect">
            <a:avLst/>
          </a:prstGeom>
          <a:noFill/>
          <a:ln/>
        </p:spPr>
        <p:txBody>
          <a:bodyPr wrap="square"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UTF-8 repair</a:t>
            </a:r>
            <a:endParaRPr lang="en-US" sz="1500" dirty="0"/>
          </a:p>
        </p:txBody>
      </p:sp>
      <p:sp>
        <p:nvSpPr>
          <p:cNvPr id="28" name="Text 22"/>
          <p:cNvSpPr/>
          <p:nvPr/>
        </p:nvSpPr>
        <p:spPr>
          <a:xfrm>
            <a:off x="6309360" y="4663440"/>
            <a:ext cx="4937760" cy="640080"/>
          </a:xfrm>
          <a:prstGeom prst="rect">
            <a:avLst/>
          </a:prstGeom>
          <a:noFill/>
          <a:ln/>
        </p:spPr>
        <p:txBody>
          <a:bodyPr wrap="square" rtlCol="0" anchor="ctr"/>
          <a:lstStyle/>
          <a:p>
            <a:pPr indent="0" marL="0">
              <a:lnSpc>
                <a:spcPct val="118000"/>
              </a:lnSpc>
              <a:buNone/>
            </a:pPr>
            <a:r>
              <a:rPr lang="en-US" sz="1150" dirty="0">
                <a:solidFill>
                  <a:srgbClr val="5C7080"/>
                </a:solidFill>
                <a:latin typeface="Calibri" pitchFamily="34" charset="0"/>
                <a:ea typeface="Calibri" pitchFamily="34" charset="-122"/>
                <a:cs typeface="Calibri" pitchFamily="34" charset="-120"/>
              </a:rPr>
              <a:t>Best-effort fix-up so multi-byte Unicode characters split across several tokens render as the correct character instead of garbled bytes (a known rough edge — see limitations).</a:t>
            </a:r>
            <a:endParaRPr lang="en-US" sz="1150" dirty="0"/>
          </a:p>
        </p:txBody>
      </p:sp>
      <p:sp>
        <p:nvSpPr>
          <p:cNvPr id="29" name="Text 23"/>
          <p:cNvSpPr/>
          <p:nvPr/>
        </p:nvSpPr>
        <p:spPr>
          <a:xfrm>
            <a:off x="6309360" y="5376672"/>
            <a:ext cx="4937760" cy="274320"/>
          </a:xfrm>
          <a:prstGeom prst="rect">
            <a:avLst/>
          </a:prstGeom>
          <a:noFill/>
          <a:ln/>
        </p:spPr>
        <p:txBody>
          <a:bodyPr wrap="square" rtlCol="0" anchor="ctr"/>
          <a:lstStyle/>
          <a:p>
            <a:pPr indent="0" marL="0">
              <a:buNone/>
            </a:pPr>
            <a:r>
              <a:rPr lang="en-US" sz="950" b="1" dirty="0">
                <a:solidFill>
                  <a:srgbClr val="065A82"/>
                </a:solidFill>
                <a:latin typeface="Courier New" pitchFamily="34" charset="0"/>
                <a:ea typeface="Courier New" pitchFamily="34" charset="-122"/>
                <a:cs typeface="Courier New" pitchFamily="34" charset="-120"/>
              </a:rPr>
              <a:t>see the byte-escaping comment in query() — logit-loom.ts</a:t>
            </a:r>
            <a:endParaRPr lang="en-US" sz="950" dirty="0"/>
          </a:p>
        </p:txBody>
      </p:sp>
      <p:sp>
        <p:nvSpPr>
          <p:cNvPr id="30" name="Text 24"/>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31"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TODAY'S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Not Every API Can Run This</a:t>
            </a:r>
            <a:endParaRPr lang="en-US" sz="3200" dirty="0"/>
          </a:p>
        </p:txBody>
      </p:sp>
      <p:sp>
        <p:nvSpPr>
          <p:cNvPr id="4" name="Shape 2"/>
          <p:cNvSpPr/>
          <p:nvPr/>
        </p:nvSpPr>
        <p:spPr>
          <a:xfrm>
            <a:off x="8549640" y="457200"/>
            <a:ext cx="30632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8641080" y="457200"/>
            <a:ext cx="28803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api-sniffer.ts — sniffApi()</a:t>
            </a:r>
            <a:endParaRPr lang="en-US" sz="1050" dirty="0"/>
          </a:p>
        </p:txBody>
      </p:sp>
      <p:sp>
        <p:nvSpPr>
          <p:cNvPr id="6" name="Text 4"/>
          <p:cNvSpPr/>
          <p:nvPr/>
        </p:nvSpPr>
        <p:spPr>
          <a:xfrm>
            <a:off x="548640" y="1417320"/>
            <a:ext cx="1097280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logitloom needs two things most default chat APIs don't guarantee together: fine-grained logprobs, and (for chat models) assistant-message prefill support. That constrains which backends work.</a:t>
            </a:r>
            <a:endParaRPr lang="en-US" sz="1350" dirty="0"/>
          </a:p>
        </p:txBody>
      </p:sp>
      <p:sp>
        <p:nvSpPr>
          <p:cNvPr id="7" name="Shape 5"/>
          <p:cNvSpPr/>
          <p:nvPr/>
        </p:nvSpPr>
        <p:spPr>
          <a:xfrm>
            <a:off x="548640" y="1938528"/>
            <a:ext cx="3291840" cy="310896"/>
          </a:xfrm>
          <a:prstGeom prst="roundRect">
            <a:avLst>
              <a:gd name="adj" fmla="val 50000"/>
            </a:avLst>
          </a:prstGeom>
          <a:solidFill>
            <a:srgbClr val="E9F1E6"/>
          </a:solidFill>
          <a:ln w="9525">
            <a:solidFill>
              <a:srgbClr val="8FB88F"/>
            </a:solidFill>
            <a:prstDash val="solid"/>
          </a:ln>
        </p:spPr>
      </p:sp>
      <p:sp>
        <p:nvSpPr>
          <p:cNvPr id="8" name="Text 6"/>
          <p:cNvSpPr/>
          <p:nvPr/>
        </p:nvSpPr>
        <p:spPr>
          <a:xfrm>
            <a:off x="676656" y="1938528"/>
            <a:ext cx="303580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5, Base vs. Instruct</a:t>
            </a:r>
            <a:endParaRPr lang="en-US" sz="1000" dirty="0"/>
          </a:p>
        </p:txBody>
      </p:sp>
      <p:sp>
        <p:nvSpPr>
          <p:cNvPr id="9" name="Shape 7"/>
          <p:cNvSpPr/>
          <p:nvPr/>
        </p:nvSpPr>
        <p:spPr>
          <a:xfrm>
            <a:off x="548640" y="2377440"/>
            <a:ext cx="5257800" cy="3291840"/>
          </a:xfrm>
          <a:prstGeom prst="roundRect">
            <a:avLst>
              <a:gd name="adj" fmla="val 2222"/>
            </a:avLst>
          </a:prstGeom>
          <a:solidFill>
            <a:srgbClr val="F2F8FA"/>
          </a:solidFill>
          <a:ln/>
          <a:effectLst>
            <a:outerShdw sx="100000" sy="100000" kx="0" ky="0" algn="bl" rotWithShape="0" blurRad="101600" dist="25400" dir="5400000">
              <a:srgbClr val="1B2733">
                <a:alpha val="8000"/>
              </a:srgbClr>
            </a:outerShdw>
          </a:effectLst>
        </p:spPr>
      </p:sp>
      <p:sp>
        <p:nvSpPr>
          <p:cNvPr id="10" name="Shape 8"/>
          <p:cNvSpPr/>
          <p:nvPr/>
        </p:nvSpPr>
        <p:spPr>
          <a:xfrm>
            <a:off x="548640" y="2377440"/>
            <a:ext cx="5257800" cy="548640"/>
          </a:xfrm>
          <a:prstGeom prst="rect">
            <a:avLst/>
          </a:prstGeom>
          <a:solidFill>
            <a:srgbClr val="1C7293"/>
          </a:solidFill>
          <a:ln/>
        </p:spPr>
      </p:sp>
      <p:sp>
        <p:nvSpPr>
          <p:cNvPr id="11" name="Text 9"/>
          <p:cNvSpPr/>
          <p:nvPr/>
        </p:nvSpPr>
        <p:spPr>
          <a:xfrm>
            <a:off x="822960" y="2377440"/>
            <a:ext cx="47091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Chat / instruct setup</a:t>
            </a:r>
            <a:endParaRPr lang="en-US" sz="1500" dirty="0"/>
          </a:p>
        </p:txBody>
      </p:sp>
      <p:sp>
        <p:nvSpPr>
          <p:cNvPr id="12" name="Text 10"/>
          <p:cNvSpPr/>
          <p:nvPr/>
        </p:nvSpPr>
        <p:spPr>
          <a:xfrm>
            <a:off x="822960" y="3127248"/>
            <a:ext cx="4709160" cy="256032"/>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Base URL</a:t>
            </a:r>
            <a:endParaRPr lang="en-US" sz="1100" dirty="0"/>
          </a:p>
        </p:txBody>
      </p:sp>
      <p:sp>
        <p:nvSpPr>
          <p:cNvPr id="13" name="Text 11"/>
          <p:cNvSpPr/>
          <p:nvPr/>
        </p:nvSpPr>
        <p:spPr>
          <a:xfrm>
            <a:off x="822960" y="3383280"/>
            <a:ext cx="4709160" cy="347472"/>
          </a:xfrm>
          <a:prstGeom prst="rect">
            <a:avLst/>
          </a:prstGeom>
          <a:noFill/>
          <a:ln/>
        </p:spPr>
        <p:txBody>
          <a:bodyPr wrap="square" rtlCol="0" anchor="ctr"/>
          <a:lstStyle/>
          <a:p>
            <a:pPr indent="0" marL="0">
              <a:lnSpc>
                <a:spcPct val="112000"/>
              </a:lnSpc>
              <a:buNone/>
            </a:pPr>
            <a:r>
              <a:rPr lang="en-US" sz="1300" dirty="0">
                <a:solidFill>
                  <a:srgbClr val="1B2733"/>
                </a:solidFill>
                <a:latin typeface="Courier New" pitchFamily="34" charset="0"/>
                <a:ea typeface="Courier New" pitchFamily="34" charset="-122"/>
                <a:cs typeface="Courier New" pitchFamily="34" charset="-120"/>
              </a:rPr>
              <a:t>api.deepseek.com/beta</a:t>
            </a:r>
            <a:endParaRPr lang="en-US" sz="1300" dirty="0"/>
          </a:p>
        </p:txBody>
      </p:sp>
      <p:sp>
        <p:nvSpPr>
          <p:cNvPr id="14" name="Text 12"/>
          <p:cNvSpPr/>
          <p:nvPr/>
        </p:nvSpPr>
        <p:spPr>
          <a:xfrm>
            <a:off x="822960" y="3767328"/>
            <a:ext cx="4709160" cy="256032"/>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Model</a:t>
            </a:r>
            <a:endParaRPr lang="en-US" sz="1100" dirty="0"/>
          </a:p>
        </p:txBody>
      </p:sp>
      <p:sp>
        <p:nvSpPr>
          <p:cNvPr id="15" name="Text 13"/>
          <p:cNvSpPr/>
          <p:nvPr/>
        </p:nvSpPr>
        <p:spPr>
          <a:xfrm>
            <a:off x="822960" y="4023360"/>
            <a:ext cx="4709160" cy="347472"/>
          </a:xfrm>
          <a:prstGeom prst="rect">
            <a:avLst/>
          </a:prstGeom>
          <a:noFill/>
          <a:ln/>
        </p:spPr>
        <p:txBody>
          <a:bodyPr wrap="square" rtlCol="0" anchor="ctr"/>
          <a:lstStyle/>
          <a:p>
            <a:pPr indent="0" marL="0">
              <a:lnSpc>
                <a:spcPct val="112000"/>
              </a:lnSpc>
              <a:buNone/>
            </a:pPr>
            <a:r>
              <a:rPr lang="en-US" sz="1300" dirty="0">
                <a:solidFill>
                  <a:srgbClr val="1B2733"/>
                </a:solidFill>
                <a:latin typeface="Courier New" pitchFamily="34" charset="0"/>
                <a:ea typeface="Courier New" pitchFamily="34" charset="-122"/>
                <a:cs typeface="Courier New" pitchFamily="34" charset="-120"/>
              </a:rPr>
              <a:t>deepseek-chat</a:t>
            </a:r>
            <a:endParaRPr lang="en-US" sz="1300" dirty="0"/>
          </a:p>
        </p:txBody>
      </p:sp>
      <p:sp>
        <p:nvSpPr>
          <p:cNvPr id="16" name="Text 14"/>
          <p:cNvSpPr/>
          <p:nvPr/>
        </p:nvSpPr>
        <p:spPr>
          <a:xfrm>
            <a:off x="822960" y="4407408"/>
            <a:ext cx="4709160" cy="256032"/>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Why this one</a:t>
            </a:r>
            <a:endParaRPr lang="en-US" sz="1100" dirty="0"/>
          </a:p>
        </p:txBody>
      </p:sp>
      <p:sp>
        <p:nvSpPr>
          <p:cNvPr id="17" name="Text 15"/>
          <p:cNvSpPr/>
          <p:nvPr/>
        </p:nvSpPr>
        <p:spPr>
          <a:xfrm>
            <a:off x="822960" y="4663440"/>
            <a:ext cx="4709160" cy="960120"/>
          </a:xfrm>
          <a:prstGeom prst="rect">
            <a:avLst/>
          </a:prstGeom>
          <a:noFill/>
          <a:ln/>
        </p:spPr>
        <p:txBody>
          <a:bodyPr wrap="square" rtlCol="0" anchor="ctr"/>
          <a:lstStyle/>
          <a:p>
            <a:pPr indent="0" marL="0">
              <a:lnSpc>
                <a:spcPct val="112000"/>
              </a:lnSpc>
              <a:buNone/>
            </a:pPr>
            <a:r>
              <a:rPr lang="en-US" sz="1050" dirty="0">
                <a:solidFill>
                  <a:srgbClr val="5C7080"/>
                </a:solidFill>
                <a:latin typeface="Calibri" pitchFamily="34" charset="0"/>
                <a:ea typeface="Calibri" pitchFamily="34" charset="-122"/>
                <a:cs typeface="Calibri" pitchFamily="34" charset="-120"/>
              </a:rPr>
              <a:t>Supports both logprobs and assistant prefill on chat completions — needed to expand non-chosen branches. (Not deepseek-r1: no logprobs support.)</a:t>
            </a:r>
            <a:endParaRPr lang="en-US" sz="1050" dirty="0"/>
          </a:p>
        </p:txBody>
      </p:sp>
      <p:sp>
        <p:nvSpPr>
          <p:cNvPr id="18" name="Shape 16"/>
          <p:cNvSpPr/>
          <p:nvPr/>
        </p:nvSpPr>
        <p:spPr>
          <a:xfrm>
            <a:off x="6355080" y="2377440"/>
            <a:ext cx="5257800" cy="3291840"/>
          </a:xfrm>
          <a:prstGeom prst="roundRect">
            <a:avLst>
              <a:gd name="adj" fmla="val 2222"/>
            </a:avLst>
          </a:prstGeom>
          <a:solidFill>
            <a:srgbClr val="F2F8FA"/>
          </a:solidFill>
          <a:ln/>
          <a:effectLst>
            <a:outerShdw sx="100000" sy="100000" kx="0" ky="0" algn="bl" rotWithShape="0" blurRad="101600" dist="25400" dir="5400000">
              <a:srgbClr val="1B2733">
                <a:alpha val="8000"/>
              </a:srgbClr>
            </a:outerShdw>
          </a:effectLst>
        </p:spPr>
      </p:sp>
      <p:sp>
        <p:nvSpPr>
          <p:cNvPr id="19" name="Shape 17"/>
          <p:cNvSpPr/>
          <p:nvPr/>
        </p:nvSpPr>
        <p:spPr>
          <a:xfrm>
            <a:off x="6355080" y="2377440"/>
            <a:ext cx="5257800" cy="548640"/>
          </a:xfrm>
          <a:prstGeom prst="rect">
            <a:avLst/>
          </a:prstGeom>
          <a:solidFill>
            <a:srgbClr val="065A82"/>
          </a:solidFill>
          <a:ln/>
        </p:spPr>
      </p:sp>
      <p:sp>
        <p:nvSpPr>
          <p:cNvPr id="20" name="Text 18"/>
          <p:cNvSpPr/>
          <p:nvPr/>
        </p:nvSpPr>
        <p:spPr>
          <a:xfrm>
            <a:off x="6629400" y="2377440"/>
            <a:ext cx="47091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Base model setup</a:t>
            </a:r>
            <a:endParaRPr lang="en-US" sz="1500" dirty="0"/>
          </a:p>
        </p:txBody>
      </p:sp>
      <p:sp>
        <p:nvSpPr>
          <p:cNvPr id="21" name="Text 19"/>
          <p:cNvSpPr/>
          <p:nvPr/>
        </p:nvSpPr>
        <p:spPr>
          <a:xfrm>
            <a:off x="6629400" y="3127248"/>
            <a:ext cx="4709160" cy="256032"/>
          </a:xfrm>
          <a:prstGeom prst="rect">
            <a:avLst/>
          </a:prstGeom>
          <a:noFill/>
          <a:ln/>
        </p:spPr>
        <p:txBody>
          <a:bodyPr wrap="square"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Base URL</a:t>
            </a:r>
            <a:endParaRPr lang="en-US" sz="1100" dirty="0"/>
          </a:p>
        </p:txBody>
      </p:sp>
      <p:sp>
        <p:nvSpPr>
          <p:cNvPr id="22" name="Text 20"/>
          <p:cNvSpPr/>
          <p:nvPr/>
        </p:nvSpPr>
        <p:spPr>
          <a:xfrm>
            <a:off x="6629400" y="3383280"/>
            <a:ext cx="4709160" cy="347472"/>
          </a:xfrm>
          <a:prstGeom prst="rect">
            <a:avLst/>
          </a:prstGeom>
          <a:noFill/>
          <a:ln/>
        </p:spPr>
        <p:txBody>
          <a:bodyPr wrap="square" rtlCol="0" anchor="ctr"/>
          <a:lstStyle/>
          <a:p>
            <a:pPr indent="0" marL="0">
              <a:lnSpc>
                <a:spcPct val="112000"/>
              </a:lnSpc>
              <a:buNone/>
            </a:pPr>
            <a:r>
              <a:rPr lang="en-US" sz="1300" dirty="0">
                <a:solidFill>
                  <a:srgbClr val="1B2733"/>
                </a:solidFill>
                <a:latin typeface="Courier New" pitchFamily="34" charset="0"/>
                <a:ea typeface="Courier New" pitchFamily="34" charset="-122"/>
                <a:cs typeface="Courier New" pitchFamily="34" charset="-120"/>
              </a:rPr>
              <a:t>api.hyperbolic.xyz/v1</a:t>
            </a:r>
            <a:endParaRPr lang="en-US" sz="1300" dirty="0"/>
          </a:p>
        </p:txBody>
      </p:sp>
      <p:sp>
        <p:nvSpPr>
          <p:cNvPr id="23" name="Text 21"/>
          <p:cNvSpPr/>
          <p:nvPr/>
        </p:nvSpPr>
        <p:spPr>
          <a:xfrm>
            <a:off x="6629400" y="3767328"/>
            <a:ext cx="4709160" cy="256032"/>
          </a:xfrm>
          <a:prstGeom prst="rect">
            <a:avLst/>
          </a:prstGeom>
          <a:noFill/>
          <a:ln/>
        </p:spPr>
        <p:txBody>
          <a:bodyPr wrap="square"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Model</a:t>
            </a:r>
            <a:endParaRPr lang="en-US" sz="1100" dirty="0"/>
          </a:p>
        </p:txBody>
      </p:sp>
      <p:sp>
        <p:nvSpPr>
          <p:cNvPr id="24" name="Text 22"/>
          <p:cNvSpPr/>
          <p:nvPr/>
        </p:nvSpPr>
        <p:spPr>
          <a:xfrm>
            <a:off x="6629400" y="4023360"/>
            <a:ext cx="4709160" cy="347472"/>
          </a:xfrm>
          <a:prstGeom prst="rect">
            <a:avLst/>
          </a:prstGeom>
          <a:noFill/>
          <a:ln/>
        </p:spPr>
        <p:txBody>
          <a:bodyPr wrap="square" rtlCol="0" anchor="ctr"/>
          <a:lstStyle/>
          <a:p>
            <a:pPr indent="0" marL="0">
              <a:lnSpc>
                <a:spcPct val="112000"/>
              </a:lnSpc>
              <a:buNone/>
            </a:pPr>
            <a:r>
              <a:rPr lang="en-US" sz="1300" dirty="0">
                <a:solidFill>
                  <a:srgbClr val="1B2733"/>
                </a:solidFill>
                <a:latin typeface="Courier New" pitchFamily="34" charset="0"/>
                <a:ea typeface="Courier New" pitchFamily="34" charset="-122"/>
                <a:cs typeface="Courier New" pitchFamily="34" charset="-120"/>
              </a:rPr>
              <a:t>meta-llama/Meta-Llama-3.1-405B</a:t>
            </a:r>
            <a:endParaRPr lang="en-US" sz="1300" dirty="0"/>
          </a:p>
        </p:txBody>
      </p:sp>
      <p:sp>
        <p:nvSpPr>
          <p:cNvPr id="25" name="Text 23"/>
          <p:cNvSpPr/>
          <p:nvPr/>
        </p:nvSpPr>
        <p:spPr>
          <a:xfrm>
            <a:off x="6629400" y="4407408"/>
            <a:ext cx="4709160" cy="256032"/>
          </a:xfrm>
          <a:prstGeom prst="rect">
            <a:avLst/>
          </a:prstGeom>
          <a:noFill/>
          <a:ln/>
        </p:spPr>
        <p:txBody>
          <a:bodyPr wrap="square"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Why this one</a:t>
            </a:r>
            <a:endParaRPr lang="en-US" sz="1100" dirty="0"/>
          </a:p>
        </p:txBody>
      </p:sp>
      <p:sp>
        <p:nvSpPr>
          <p:cNvPr id="26" name="Text 24"/>
          <p:cNvSpPr/>
          <p:nvPr/>
        </p:nvSpPr>
        <p:spPr>
          <a:xfrm>
            <a:off x="6629400" y="4663440"/>
            <a:ext cx="4709160" cy="960120"/>
          </a:xfrm>
          <a:prstGeom prst="rect">
            <a:avLst/>
          </a:prstGeom>
          <a:noFill/>
          <a:ln/>
        </p:spPr>
        <p:txBody>
          <a:bodyPr wrap="square" rtlCol="0" anchor="ctr"/>
          <a:lstStyle/>
          <a:p>
            <a:pPr indent="0" marL="0">
              <a:lnSpc>
                <a:spcPct val="112000"/>
              </a:lnSpc>
              <a:buNone/>
            </a:pPr>
            <a:r>
              <a:rPr lang="en-US" sz="1050" dirty="0">
                <a:solidFill>
                  <a:srgbClr val="5C7080"/>
                </a:solidFill>
                <a:latin typeface="Calibri" pitchFamily="34" charset="0"/>
                <a:ea typeface="Calibri" pitchFamily="34" charset="-122"/>
                <a:cs typeface="Calibri" pitchFamily="34" charset="-120"/>
              </a:rPr>
              <a:t>A raw completions API with solid logprob support; recommended directly over OpenRouter, which can introduce issues for this use case.</a:t>
            </a:r>
            <a:endParaRPr lang="en-US" sz="1050" dirty="0"/>
          </a:p>
        </p:txBody>
      </p:sp>
      <p:sp>
        <p:nvSpPr>
          <p:cNvPr id="27" name="Text 25"/>
          <p:cNvSpPr/>
          <p:nvPr/>
        </p:nvSpPr>
        <p:spPr>
          <a:xfrm>
            <a:off x="548640" y="5806440"/>
            <a:ext cx="11064240" cy="566928"/>
          </a:xfrm>
          <a:prstGeom prst="rect">
            <a:avLst/>
          </a:prstGeom>
          <a:noFill/>
          <a:ln/>
        </p:spPr>
        <p:txBody>
          <a:bodyPr wrap="square" rtlCol="0" anchor="ctr"/>
          <a:lstStyle/>
          <a:p>
            <a:pPr indent="0" marL="0">
              <a:lnSpc>
                <a:spcPct val="115000"/>
              </a:lnSpc>
              <a:buNone/>
            </a:pPr>
            <a:r>
              <a:rPr lang="en-US" sz="1050" b="1" dirty="0">
                <a:solidFill>
                  <a:srgbClr val="1B2733"/>
                </a:solidFill>
                <a:latin typeface="Calibri" pitchFamily="34" charset="0"/>
                <a:ea typeface="Calibri" pitchFamily="34" charset="-122"/>
                <a:cs typeface="Calibri" pitchFamily="34" charset="-120"/>
              </a:rPr>
              <a:t>Auto-detection: </a:t>
            </a:r>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before running, logitloom's sniffApi() hits {baseUrl}/models and matches the response against known providers, returning an ApiInfo object (supportsLogprobs, supportsPrefill, prefillStyle) — e.g. it recognizes DeepSeek, Hyperbolic, vLLM, KoboldCpp, llama-server, and Nous automatically. </a:t>
            </a:r>
            <a:pPr indent="0" marL="0">
              <a:lnSpc>
                <a:spcPct val="115000"/>
              </a:lnSpc>
              <a:buNone/>
            </a:pPr>
            <a:r>
              <a:rPr lang="en-US" sz="1050" b="1" dirty="0">
                <a:solidFill>
                  <a:srgbClr val="1B2733"/>
                </a:solidFill>
                <a:latin typeface="Calibri" pitchFamily="34" charset="0"/>
                <a:ea typeface="Calibri" pitchFamily="34" charset="-122"/>
                <a:cs typeface="Calibri" pitchFamily="34" charset="-120"/>
              </a:rPr>
              <a:t>API keys never leave your browser</a:t>
            </a:r>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 — there's no backend server; keys are stored and used locally only.</a:t>
            </a:r>
            <a:endParaRPr lang="en-US" sz="1050" dirty="0"/>
          </a:p>
        </p:txBody>
      </p:sp>
      <p:sp>
        <p:nvSpPr>
          <p:cNvPr id="28" name="Text 26"/>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29" name="Text 2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APPLICATIONS</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You'd Actually Reach for This</a:t>
            </a:r>
            <a:endParaRPr lang="en-US" sz="3200" dirty="0"/>
          </a:p>
        </p:txBody>
      </p:sp>
      <p:sp>
        <p:nvSpPr>
          <p:cNvPr id="4" name="Shape 2"/>
          <p:cNvSpPr/>
          <p:nvPr/>
        </p:nvSpPr>
        <p:spPr>
          <a:xfrm>
            <a:off x="548640" y="1965960"/>
            <a:ext cx="3566160" cy="2148840"/>
          </a:xfrm>
          <a:prstGeom prst="roundRect">
            <a:avLst>
              <a:gd name="adj" fmla="val 3404"/>
            </a:avLst>
          </a:prstGeom>
          <a:solidFill>
            <a:srgbClr val="21295C"/>
          </a:solidFill>
          <a:ln/>
        </p:spPr>
      </p:sp>
      <p:sp>
        <p:nvSpPr>
          <p:cNvPr id="5" name="Shape 3"/>
          <p:cNvSpPr/>
          <p:nvPr/>
        </p:nvSpPr>
        <p:spPr>
          <a:xfrm>
            <a:off x="777240" y="2194560"/>
            <a:ext cx="502920" cy="502920"/>
          </a:xfrm>
          <a:prstGeom prst="ellipse">
            <a:avLst/>
          </a:prstGeom>
          <a:solidFill>
            <a:srgbClr val="065A82"/>
          </a:solidFill>
          <a:ln/>
        </p:spPr>
      </p:sp>
      <p:pic>
        <p:nvPicPr>
          <p:cNvPr id="6" name="Image 0" descr="/home/claude/icons/microscope.png">    </p:cNvPr>
          <p:cNvPicPr>
            <a:picLocks noChangeAspect="1"/>
          </p:cNvPicPr>
          <p:nvPr/>
        </p:nvPicPr>
        <p:blipFill>
          <a:blip r:embed="rId1"/>
          <a:stretch>
            <a:fillRect/>
          </a:stretch>
        </p:blipFill>
        <p:spPr>
          <a:xfrm>
            <a:off x="907999" y="2325319"/>
            <a:ext cx="241402" cy="241402"/>
          </a:xfrm>
          <a:prstGeom prst="rect">
            <a:avLst/>
          </a:prstGeom>
        </p:spPr>
      </p:pic>
      <p:sp>
        <p:nvSpPr>
          <p:cNvPr id="7" name="Text 4"/>
          <p:cNvSpPr/>
          <p:nvPr/>
        </p:nvSpPr>
        <p:spPr>
          <a:xfrm>
            <a:off x="777240" y="2834640"/>
            <a:ext cx="3108960" cy="502920"/>
          </a:xfrm>
          <a:prstGeom prst="rect">
            <a:avLst/>
          </a:prstGeom>
          <a:noFill/>
          <a:ln/>
        </p:spPr>
        <p:txBody>
          <a:bodyPr wrap="square"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Interpretability &amp; behavior research</a:t>
            </a:r>
            <a:endParaRPr lang="en-US" sz="1350" dirty="0"/>
          </a:p>
        </p:txBody>
      </p:sp>
      <p:sp>
        <p:nvSpPr>
          <p:cNvPr id="8" name="Text 5"/>
          <p:cNvSpPr/>
          <p:nvPr/>
        </p:nvSpPr>
        <p:spPr>
          <a:xfrm>
            <a:off x="777240" y="3337560"/>
            <a:ext cx="3108960" cy="731520"/>
          </a:xfrm>
          <a:prstGeom prst="rect">
            <a:avLst/>
          </a:prstGeom>
          <a:noFill/>
          <a:ln/>
        </p:spPr>
        <p:txBody>
          <a:bodyPr wrap="square" rtlCol="0" anchor="ctr"/>
          <a:lstStyle/>
          <a:p>
            <a:pPr indent="0" marL="0">
              <a:lnSpc>
                <a:spcPct val="115000"/>
              </a:lnSpc>
              <a:buNone/>
            </a:pPr>
            <a:r>
              <a:rPr lang="en-US" sz="1050" dirty="0">
                <a:solidFill>
                  <a:srgbClr val="AECBDD"/>
                </a:solidFill>
                <a:latin typeface="Calibri" pitchFamily="34" charset="0"/>
                <a:ea typeface="Calibri" pitchFamily="34" charset="-122"/>
                <a:cs typeface="Calibri" pitchFamily="34" charset="-120"/>
              </a:rPr>
              <a:t>See the model's real uncertainty at a position — was a refusal, a fact, or a stylistic choice a near-certainty or a coin flip against strong alternatives?</a:t>
            </a:r>
            <a:endParaRPr lang="en-US" sz="1050" dirty="0"/>
          </a:p>
        </p:txBody>
      </p:sp>
      <p:sp>
        <p:nvSpPr>
          <p:cNvPr id="9" name="Shape 6"/>
          <p:cNvSpPr/>
          <p:nvPr/>
        </p:nvSpPr>
        <p:spPr>
          <a:xfrm>
            <a:off x="4297680" y="1965960"/>
            <a:ext cx="3566160" cy="2148840"/>
          </a:xfrm>
          <a:prstGeom prst="roundRect">
            <a:avLst>
              <a:gd name="adj" fmla="val 3404"/>
            </a:avLst>
          </a:prstGeom>
          <a:solidFill>
            <a:srgbClr val="21295C"/>
          </a:solidFill>
          <a:ln/>
        </p:spPr>
      </p:sp>
      <p:sp>
        <p:nvSpPr>
          <p:cNvPr id="10" name="Shape 7"/>
          <p:cNvSpPr/>
          <p:nvPr/>
        </p:nvSpPr>
        <p:spPr>
          <a:xfrm>
            <a:off x="4526280" y="2194560"/>
            <a:ext cx="502920" cy="502920"/>
          </a:xfrm>
          <a:prstGeom prst="ellipse">
            <a:avLst/>
          </a:prstGeom>
          <a:solidFill>
            <a:srgbClr val="065A82"/>
          </a:solidFill>
          <a:ln/>
        </p:spPr>
      </p:sp>
      <p:pic>
        <p:nvPicPr>
          <p:cNvPr id="11" name="Image 1" descr="/home/claude/icons/search.png">    </p:cNvPr>
          <p:cNvPicPr>
            <a:picLocks noChangeAspect="1"/>
          </p:cNvPicPr>
          <p:nvPr/>
        </p:nvPicPr>
        <p:blipFill>
          <a:blip r:embed="rId2"/>
          <a:stretch>
            <a:fillRect/>
          </a:stretch>
        </p:blipFill>
        <p:spPr>
          <a:xfrm>
            <a:off x="4657039" y="2325319"/>
            <a:ext cx="241402" cy="241402"/>
          </a:xfrm>
          <a:prstGeom prst="rect">
            <a:avLst/>
          </a:prstGeom>
        </p:spPr>
      </p:pic>
      <p:sp>
        <p:nvSpPr>
          <p:cNvPr id="12" name="Text 8"/>
          <p:cNvSpPr/>
          <p:nvPr/>
        </p:nvSpPr>
        <p:spPr>
          <a:xfrm>
            <a:off x="4526280" y="2834640"/>
            <a:ext cx="3108960" cy="502920"/>
          </a:xfrm>
          <a:prstGeom prst="rect">
            <a:avLst/>
          </a:prstGeom>
          <a:noFill/>
          <a:ln/>
        </p:spPr>
        <p:txBody>
          <a:bodyPr wrap="square"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Prompt debugging</a:t>
            </a:r>
            <a:endParaRPr lang="en-US" sz="1350" dirty="0"/>
          </a:p>
        </p:txBody>
      </p:sp>
      <p:sp>
        <p:nvSpPr>
          <p:cNvPr id="13" name="Text 9"/>
          <p:cNvSpPr/>
          <p:nvPr/>
        </p:nvSpPr>
        <p:spPr>
          <a:xfrm>
            <a:off x="4526280" y="3337560"/>
            <a:ext cx="3108960" cy="731520"/>
          </a:xfrm>
          <a:prstGeom prst="rect">
            <a:avLst/>
          </a:prstGeom>
          <a:noFill/>
          <a:ln/>
        </p:spPr>
        <p:txBody>
          <a:bodyPr wrap="square" rtlCol="0" anchor="ctr"/>
          <a:lstStyle/>
          <a:p>
            <a:pPr indent="0" marL="0">
              <a:lnSpc>
                <a:spcPct val="115000"/>
              </a:lnSpc>
              <a:buNone/>
            </a:pPr>
            <a:r>
              <a:rPr lang="en-US" sz="1050" dirty="0">
                <a:solidFill>
                  <a:srgbClr val="AECBDD"/>
                </a:solidFill>
                <a:latin typeface="Calibri" pitchFamily="34" charset="0"/>
                <a:ea typeface="Calibri" pitchFamily="34" charset="-122"/>
                <a:cs typeface="Calibri" pitchFamily="34" charset="-120"/>
              </a:rPr>
              <a:t>Directly inspect why the model produced token X instead of the Y you expected, instead of guessing from black-box outputs.</a:t>
            </a:r>
            <a:endParaRPr lang="en-US" sz="1050" dirty="0"/>
          </a:p>
        </p:txBody>
      </p:sp>
      <p:sp>
        <p:nvSpPr>
          <p:cNvPr id="14" name="Shape 10"/>
          <p:cNvSpPr/>
          <p:nvPr/>
        </p:nvSpPr>
        <p:spPr>
          <a:xfrm>
            <a:off x="8046720" y="1965960"/>
            <a:ext cx="3566160" cy="2148840"/>
          </a:xfrm>
          <a:prstGeom prst="roundRect">
            <a:avLst>
              <a:gd name="adj" fmla="val 3404"/>
            </a:avLst>
          </a:prstGeom>
          <a:solidFill>
            <a:srgbClr val="21295C"/>
          </a:solidFill>
          <a:ln/>
        </p:spPr>
      </p:sp>
      <p:sp>
        <p:nvSpPr>
          <p:cNvPr id="15" name="Shape 11"/>
          <p:cNvSpPr/>
          <p:nvPr/>
        </p:nvSpPr>
        <p:spPr>
          <a:xfrm>
            <a:off x="8275320" y="2194560"/>
            <a:ext cx="502920" cy="502920"/>
          </a:xfrm>
          <a:prstGeom prst="ellipse">
            <a:avLst/>
          </a:prstGeom>
          <a:solidFill>
            <a:srgbClr val="065A82"/>
          </a:solidFill>
          <a:ln/>
        </p:spPr>
      </p:sp>
      <p:pic>
        <p:nvPicPr>
          <p:cNvPr id="16" name="Image 2" descr="/home/claude/icons/shield.png">    </p:cNvPr>
          <p:cNvPicPr>
            <a:picLocks noChangeAspect="1"/>
          </p:cNvPicPr>
          <p:nvPr/>
        </p:nvPicPr>
        <p:blipFill>
          <a:blip r:embed="rId3"/>
          <a:stretch>
            <a:fillRect/>
          </a:stretch>
        </p:blipFill>
        <p:spPr>
          <a:xfrm>
            <a:off x="8406079" y="2325319"/>
            <a:ext cx="241402" cy="241402"/>
          </a:xfrm>
          <a:prstGeom prst="rect">
            <a:avLst/>
          </a:prstGeom>
        </p:spPr>
      </p:pic>
      <p:sp>
        <p:nvSpPr>
          <p:cNvPr id="17" name="Text 12"/>
          <p:cNvSpPr/>
          <p:nvPr/>
        </p:nvSpPr>
        <p:spPr>
          <a:xfrm>
            <a:off x="8275320" y="2834640"/>
            <a:ext cx="3108960" cy="502920"/>
          </a:xfrm>
          <a:prstGeom prst="rect">
            <a:avLst/>
          </a:prstGeom>
          <a:noFill/>
          <a:ln/>
        </p:spPr>
        <p:txBody>
          <a:bodyPr wrap="square"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Alignment &amp; safety analysis</a:t>
            </a:r>
            <a:endParaRPr lang="en-US" sz="1350" dirty="0"/>
          </a:p>
        </p:txBody>
      </p:sp>
      <p:sp>
        <p:nvSpPr>
          <p:cNvPr id="18" name="Text 13"/>
          <p:cNvSpPr/>
          <p:nvPr/>
        </p:nvSpPr>
        <p:spPr>
          <a:xfrm>
            <a:off x="8275320" y="3337560"/>
            <a:ext cx="3108960" cy="731520"/>
          </a:xfrm>
          <a:prstGeom prst="rect">
            <a:avLst/>
          </a:prstGeom>
          <a:noFill/>
          <a:ln/>
        </p:spPr>
        <p:txBody>
          <a:bodyPr wrap="square" rtlCol="0" anchor="ctr"/>
          <a:lstStyle/>
          <a:p>
            <a:pPr indent="0" marL="0">
              <a:lnSpc>
                <a:spcPct val="115000"/>
              </a:lnSpc>
              <a:buNone/>
            </a:pPr>
            <a:r>
              <a:rPr lang="en-US" sz="1050" dirty="0">
                <a:solidFill>
                  <a:srgbClr val="AECBDD"/>
                </a:solidFill>
                <a:latin typeface="Calibri" pitchFamily="34" charset="0"/>
                <a:ea typeface="Calibri" pitchFamily="34" charset="-122"/>
                <a:cs typeface="Calibri" pitchFamily="34" charset="-120"/>
              </a:rPr>
              <a:t>Explore near-miss completions around refusal boundaries or jailbreak-adjacent prompts — what was the model close to saying?</a:t>
            </a:r>
            <a:endParaRPr lang="en-US" sz="1050" dirty="0"/>
          </a:p>
        </p:txBody>
      </p:sp>
      <p:sp>
        <p:nvSpPr>
          <p:cNvPr id="19" name="Shape 14"/>
          <p:cNvSpPr/>
          <p:nvPr/>
        </p:nvSpPr>
        <p:spPr>
          <a:xfrm>
            <a:off x="548640" y="4343400"/>
            <a:ext cx="3566160" cy="2148840"/>
          </a:xfrm>
          <a:prstGeom prst="roundRect">
            <a:avLst>
              <a:gd name="adj" fmla="val 3404"/>
            </a:avLst>
          </a:prstGeom>
          <a:solidFill>
            <a:srgbClr val="21295C"/>
          </a:solidFill>
          <a:ln/>
        </p:spPr>
      </p:sp>
      <p:sp>
        <p:nvSpPr>
          <p:cNvPr id="20" name="Shape 15"/>
          <p:cNvSpPr/>
          <p:nvPr/>
        </p:nvSpPr>
        <p:spPr>
          <a:xfrm>
            <a:off x="777240" y="4572000"/>
            <a:ext cx="502920" cy="502920"/>
          </a:xfrm>
          <a:prstGeom prst="ellipse">
            <a:avLst/>
          </a:prstGeom>
          <a:solidFill>
            <a:srgbClr val="065A82"/>
          </a:solidFill>
          <a:ln/>
        </p:spPr>
      </p:sp>
      <p:pic>
        <p:nvPicPr>
          <p:cNvPr id="21" name="Image 3" descr="/home/claude/icons/feather.png">    </p:cNvPr>
          <p:cNvPicPr>
            <a:picLocks noChangeAspect="1"/>
          </p:cNvPicPr>
          <p:nvPr/>
        </p:nvPicPr>
        <p:blipFill>
          <a:blip r:embed="rId4"/>
          <a:stretch>
            <a:fillRect/>
          </a:stretch>
        </p:blipFill>
        <p:spPr>
          <a:xfrm>
            <a:off x="907999" y="4702759"/>
            <a:ext cx="241402" cy="241402"/>
          </a:xfrm>
          <a:prstGeom prst="rect">
            <a:avLst/>
          </a:prstGeom>
        </p:spPr>
      </p:pic>
      <p:sp>
        <p:nvSpPr>
          <p:cNvPr id="22" name="Text 16"/>
          <p:cNvSpPr/>
          <p:nvPr/>
        </p:nvSpPr>
        <p:spPr>
          <a:xfrm>
            <a:off x="777240" y="5212080"/>
            <a:ext cx="3108960" cy="502920"/>
          </a:xfrm>
          <a:prstGeom prst="rect">
            <a:avLst/>
          </a:prstGeom>
          <a:noFill/>
          <a:ln/>
        </p:spPr>
        <p:txBody>
          <a:bodyPr wrap="square"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Creative / branching writing</a:t>
            </a:r>
            <a:endParaRPr lang="en-US" sz="1350" dirty="0"/>
          </a:p>
        </p:txBody>
      </p:sp>
      <p:sp>
        <p:nvSpPr>
          <p:cNvPr id="23" name="Text 17"/>
          <p:cNvSpPr/>
          <p:nvPr/>
        </p:nvSpPr>
        <p:spPr>
          <a:xfrm>
            <a:off x="777240" y="5715000"/>
            <a:ext cx="3108960" cy="731520"/>
          </a:xfrm>
          <a:prstGeom prst="rect">
            <a:avLst/>
          </a:prstGeom>
          <a:noFill/>
          <a:ln/>
        </p:spPr>
        <p:txBody>
          <a:bodyPr wrap="square" rtlCol="0" anchor="ctr"/>
          <a:lstStyle/>
          <a:p>
            <a:pPr indent="0" marL="0">
              <a:lnSpc>
                <a:spcPct val="115000"/>
              </a:lnSpc>
              <a:buNone/>
            </a:pPr>
            <a:r>
              <a:rPr lang="en-US" sz="1050" dirty="0">
                <a:solidFill>
                  <a:srgbClr val="AECBDD"/>
                </a:solidFill>
                <a:latin typeface="Calibri" pitchFamily="34" charset="0"/>
                <a:ea typeface="Calibri" pitchFamily="34" charset="-122"/>
                <a:cs typeface="Calibri" pitchFamily="34" charset="-120"/>
              </a:rPr>
              <a:t>Treat generation as a tree of possible continuations to curate from — the “looming” workflow, useful for base-model creative exploration.</a:t>
            </a:r>
            <a:endParaRPr lang="en-US" sz="1050" dirty="0"/>
          </a:p>
        </p:txBody>
      </p:sp>
      <p:sp>
        <p:nvSpPr>
          <p:cNvPr id="24" name="Shape 18"/>
          <p:cNvSpPr/>
          <p:nvPr/>
        </p:nvSpPr>
        <p:spPr>
          <a:xfrm>
            <a:off x="4297680" y="4343400"/>
            <a:ext cx="3566160" cy="2148840"/>
          </a:xfrm>
          <a:prstGeom prst="roundRect">
            <a:avLst>
              <a:gd name="adj" fmla="val 3404"/>
            </a:avLst>
          </a:prstGeom>
          <a:solidFill>
            <a:srgbClr val="21295C"/>
          </a:solidFill>
          <a:ln/>
        </p:spPr>
      </p:sp>
      <p:sp>
        <p:nvSpPr>
          <p:cNvPr id="25" name="Shape 19"/>
          <p:cNvSpPr/>
          <p:nvPr/>
        </p:nvSpPr>
        <p:spPr>
          <a:xfrm>
            <a:off x="4526280" y="4572000"/>
            <a:ext cx="502920" cy="502920"/>
          </a:xfrm>
          <a:prstGeom prst="ellipse">
            <a:avLst/>
          </a:prstGeom>
          <a:solidFill>
            <a:srgbClr val="065A82"/>
          </a:solidFill>
          <a:ln/>
        </p:spPr>
      </p:sp>
      <p:pic>
        <p:nvPicPr>
          <p:cNvPr id="26" name="Image 4" descr="/home/claude/icons/teacher.png">    </p:cNvPr>
          <p:cNvPicPr>
            <a:picLocks noChangeAspect="1"/>
          </p:cNvPicPr>
          <p:nvPr/>
        </p:nvPicPr>
        <p:blipFill>
          <a:blip r:embed="rId5"/>
          <a:stretch>
            <a:fillRect/>
          </a:stretch>
        </p:blipFill>
        <p:spPr>
          <a:xfrm>
            <a:off x="4657039" y="4702759"/>
            <a:ext cx="241402" cy="241402"/>
          </a:xfrm>
          <a:prstGeom prst="rect">
            <a:avLst/>
          </a:prstGeom>
        </p:spPr>
      </p:pic>
      <p:sp>
        <p:nvSpPr>
          <p:cNvPr id="27" name="Text 20"/>
          <p:cNvSpPr/>
          <p:nvPr/>
        </p:nvSpPr>
        <p:spPr>
          <a:xfrm>
            <a:off x="4526280" y="5212080"/>
            <a:ext cx="3108960" cy="502920"/>
          </a:xfrm>
          <a:prstGeom prst="rect">
            <a:avLst/>
          </a:prstGeom>
          <a:noFill/>
          <a:ln/>
        </p:spPr>
        <p:txBody>
          <a:bodyPr wrap="square"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Teaching sampling &amp; tokenization</a:t>
            </a:r>
            <a:endParaRPr lang="en-US" sz="1350" dirty="0"/>
          </a:p>
        </p:txBody>
      </p:sp>
      <p:sp>
        <p:nvSpPr>
          <p:cNvPr id="28" name="Text 21"/>
          <p:cNvSpPr/>
          <p:nvPr/>
        </p:nvSpPr>
        <p:spPr>
          <a:xfrm>
            <a:off x="4526280" y="5715000"/>
            <a:ext cx="3108960" cy="731520"/>
          </a:xfrm>
          <a:prstGeom prst="rect">
            <a:avLst/>
          </a:prstGeom>
          <a:noFill/>
          <a:ln/>
        </p:spPr>
        <p:txBody>
          <a:bodyPr wrap="square" rtlCol="0" anchor="ctr"/>
          <a:lstStyle/>
          <a:p>
            <a:pPr indent="0" marL="0">
              <a:lnSpc>
                <a:spcPct val="115000"/>
              </a:lnSpc>
              <a:buNone/>
            </a:pPr>
            <a:r>
              <a:rPr lang="en-US" sz="1050" dirty="0">
                <a:solidFill>
                  <a:srgbClr val="AECBDD"/>
                </a:solidFill>
                <a:latin typeface="Calibri" pitchFamily="34" charset="0"/>
                <a:ea typeface="Calibri" pitchFamily="34" charset="-122"/>
                <a:cs typeface="Calibri" pitchFamily="34" charset="-120"/>
              </a:rPr>
              <a:t>A concrete, visual way to show students what logits/logprobs/top-p actually do to a real model's output distribution.</a:t>
            </a:r>
            <a:endParaRPr lang="en-US" sz="1050" dirty="0"/>
          </a:p>
        </p:txBody>
      </p:sp>
      <p:sp>
        <p:nvSpPr>
          <p:cNvPr id="29" name="Shape 22"/>
          <p:cNvSpPr/>
          <p:nvPr/>
        </p:nvSpPr>
        <p:spPr>
          <a:xfrm>
            <a:off x="8046720" y="4343400"/>
            <a:ext cx="3566160" cy="2148840"/>
          </a:xfrm>
          <a:prstGeom prst="roundRect">
            <a:avLst>
              <a:gd name="adj" fmla="val 3404"/>
            </a:avLst>
          </a:prstGeom>
          <a:solidFill>
            <a:srgbClr val="21295C"/>
          </a:solidFill>
          <a:ln/>
        </p:spPr>
      </p:sp>
      <p:sp>
        <p:nvSpPr>
          <p:cNvPr id="30" name="Shape 23"/>
          <p:cNvSpPr/>
          <p:nvPr/>
        </p:nvSpPr>
        <p:spPr>
          <a:xfrm>
            <a:off x="8275320" y="4572000"/>
            <a:ext cx="502920" cy="502920"/>
          </a:xfrm>
          <a:prstGeom prst="ellipse">
            <a:avLst/>
          </a:prstGeom>
          <a:solidFill>
            <a:srgbClr val="065A82"/>
          </a:solidFill>
          <a:ln/>
        </p:spPr>
      </p:sp>
      <p:pic>
        <p:nvPicPr>
          <p:cNvPr id="31" name="Image 5" descr="/home/claude/icons/flask.png">    </p:cNvPr>
          <p:cNvPicPr>
            <a:picLocks noChangeAspect="1"/>
          </p:cNvPicPr>
          <p:nvPr/>
        </p:nvPicPr>
        <p:blipFill>
          <a:blip r:embed="rId6"/>
          <a:stretch>
            <a:fillRect/>
          </a:stretch>
        </p:blipFill>
        <p:spPr>
          <a:xfrm>
            <a:off x="8406079" y="4702759"/>
            <a:ext cx="241402" cy="241402"/>
          </a:xfrm>
          <a:prstGeom prst="rect">
            <a:avLst/>
          </a:prstGeom>
        </p:spPr>
      </p:pic>
      <p:sp>
        <p:nvSpPr>
          <p:cNvPr id="32" name="Text 24"/>
          <p:cNvSpPr/>
          <p:nvPr/>
        </p:nvSpPr>
        <p:spPr>
          <a:xfrm>
            <a:off x="8275320" y="5212080"/>
            <a:ext cx="3108960" cy="502920"/>
          </a:xfrm>
          <a:prstGeom prst="rect">
            <a:avLst/>
          </a:prstGeom>
          <a:noFill/>
          <a:ln/>
        </p:spPr>
        <p:txBody>
          <a:bodyPr wrap="square"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Base vs. instruct comparison</a:t>
            </a:r>
            <a:endParaRPr lang="en-US" sz="1350" dirty="0"/>
          </a:p>
        </p:txBody>
      </p:sp>
      <p:sp>
        <p:nvSpPr>
          <p:cNvPr id="33" name="Text 25"/>
          <p:cNvSpPr/>
          <p:nvPr/>
        </p:nvSpPr>
        <p:spPr>
          <a:xfrm>
            <a:off x="8275320" y="5715000"/>
            <a:ext cx="3108960" cy="731520"/>
          </a:xfrm>
          <a:prstGeom prst="rect">
            <a:avLst/>
          </a:prstGeom>
          <a:noFill/>
          <a:ln/>
        </p:spPr>
        <p:txBody>
          <a:bodyPr wrap="square" rtlCol="0" anchor="ctr"/>
          <a:lstStyle/>
          <a:p>
            <a:pPr indent="0" marL="0">
              <a:lnSpc>
                <a:spcPct val="115000"/>
              </a:lnSpc>
              <a:buNone/>
            </a:pPr>
            <a:r>
              <a:rPr lang="en-US" sz="1050" dirty="0">
                <a:solidFill>
                  <a:srgbClr val="AECBDD"/>
                </a:solidFill>
                <a:latin typeface="Calibri" pitchFamily="34" charset="0"/>
                <a:ea typeface="Calibri" pitchFamily="34" charset="-122"/>
                <a:cs typeface="Calibri" pitchFamily="34" charset="-120"/>
              </a:rPr>
              <a:t>Run the same prompt against a base and an instruct model to see concretely how fine-tuning reshapes the output distribution.</a:t>
            </a:r>
            <a:endParaRPr lang="en-US" sz="1050" dirty="0"/>
          </a:p>
        </p:txBody>
      </p:sp>
      <p:sp>
        <p:nvSpPr>
          <p:cNvPr id="34" name="Text 26"/>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LOGITLOOM  ·  AI SEMINAR, LECTURE 2</a:t>
            </a:r>
            <a:endParaRPr lang="en-US" sz="900" dirty="0"/>
          </a:p>
        </p:txBody>
      </p:sp>
      <p:sp>
        <p:nvSpPr>
          <p:cNvPr id="35" name="Text 2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KEEPING IT HONEST</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Limitations &amp; Open Issues</a:t>
            </a:r>
            <a:endParaRPr lang="en-US" sz="3200" dirty="0"/>
          </a:p>
        </p:txBody>
      </p:sp>
      <p:sp>
        <p:nvSpPr>
          <p:cNvPr id="4" name="Shape 2"/>
          <p:cNvSpPr/>
          <p:nvPr/>
        </p:nvSpPr>
        <p:spPr>
          <a:xfrm>
            <a:off x="8549640" y="457200"/>
            <a:ext cx="30632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8641080" y="457200"/>
            <a:ext cx="28803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logit-loom.ts — query()</a:t>
            </a:r>
            <a:endParaRPr lang="en-US" sz="1050" dirty="0"/>
          </a:p>
        </p:txBody>
      </p:sp>
      <p:sp>
        <p:nvSpPr>
          <p:cNvPr id="6" name="Shape 4"/>
          <p:cNvSpPr/>
          <p:nvPr/>
        </p:nvSpPr>
        <p:spPr>
          <a:xfrm>
            <a:off x="548640" y="1554480"/>
            <a:ext cx="365760" cy="365760"/>
          </a:xfrm>
          <a:prstGeom prst="ellipse">
            <a:avLst/>
          </a:prstGeom>
          <a:solidFill>
            <a:srgbClr val="B85042"/>
          </a:solidFill>
          <a:ln/>
        </p:spPr>
      </p:sp>
      <p:pic>
        <p:nvPicPr>
          <p:cNvPr id="7" name="Image 0" descr="/home/claude/icons/warning.png">    </p:cNvPr>
          <p:cNvPicPr>
            <a:picLocks noChangeAspect="1"/>
          </p:cNvPicPr>
          <p:nvPr/>
        </p:nvPicPr>
        <p:blipFill>
          <a:blip r:embed="rId1"/>
          <a:stretch>
            <a:fillRect/>
          </a:stretch>
        </p:blipFill>
        <p:spPr>
          <a:xfrm>
            <a:off x="643738" y="1649578"/>
            <a:ext cx="175565" cy="175565"/>
          </a:xfrm>
          <a:prstGeom prst="rect">
            <a:avLst/>
          </a:prstGeom>
        </p:spPr>
      </p:pic>
      <p:sp>
        <p:nvSpPr>
          <p:cNvPr id="8" name="Text 5"/>
          <p:cNvSpPr/>
          <p:nvPr/>
        </p:nvSpPr>
        <p:spPr>
          <a:xfrm>
            <a:off x="1097280" y="1536192"/>
            <a:ext cx="2651760" cy="685800"/>
          </a:xfrm>
          <a:prstGeom prst="rect">
            <a:avLst/>
          </a:prstGeom>
          <a:noFill/>
          <a:ln/>
        </p:spPr>
        <p:txBody>
          <a:bodyPr wrap="square" rtlCol="0" anchor="ctr"/>
          <a:lstStyle/>
          <a:p>
            <a:pPr indent="0" marL="0">
              <a:lnSpc>
                <a:spcPct val="115000"/>
              </a:lnSpc>
              <a:buNone/>
            </a:pPr>
            <a:r>
              <a:rPr lang="en-US" sz="1300" b="1" dirty="0">
                <a:solidFill>
                  <a:srgbClr val="1B2733"/>
                </a:solidFill>
                <a:latin typeface="Calibri" pitchFamily="34" charset="0"/>
                <a:ea typeface="Calibri" pitchFamily="34" charset="-122"/>
                <a:cs typeface="Calibri" pitchFamily="34" charset="-120"/>
              </a:rPr>
              <a:t>Byte-split Unicode tokens</a:t>
            </a:r>
            <a:endParaRPr lang="en-US" sz="1300" dirty="0"/>
          </a:p>
        </p:txBody>
      </p:sp>
      <p:sp>
        <p:nvSpPr>
          <p:cNvPr id="9" name="Text 6"/>
          <p:cNvSpPr/>
          <p:nvPr/>
        </p:nvSpPr>
        <p:spPr>
          <a:xfrm>
            <a:off x="3886200" y="1536192"/>
            <a:ext cx="7726680" cy="822960"/>
          </a:xfrm>
          <a:prstGeom prst="rect">
            <a:avLst/>
          </a:prstGeom>
          <a:noFill/>
          <a:ln/>
        </p:spPr>
        <p:txBody>
          <a:bodyPr wrap="square"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Some Unicode characters are split across multiple tokens as raw byte-escapes; re-feeding escaped text into the model can cause it to generate further garbled escape sequences. Documented directly in a comment atop query() in logit-loom.ts, closing with the maintainer's own framing: “tokenization continuing to suck in new and profound ways.” A real, unresolved BPE edge case, not a logitloom-specific bug.</a:t>
            </a:r>
            <a:endParaRPr lang="en-US" sz="1100" dirty="0"/>
          </a:p>
        </p:txBody>
      </p:sp>
      <p:sp>
        <p:nvSpPr>
          <p:cNvPr id="10" name="Shape 7"/>
          <p:cNvSpPr/>
          <p:nvPr/>
        </p:nvSpPr>
        <p:spPr>
          <a:xfrm>
            <a:off x="548640" y="2395728"/>
            <a:ext cx="11064240" cy="0"/>
          </a:xfrm>
          <a:prstGeom prst="line">
            <a:avLst/>
          </a:prstGeom>
          <a:noFill/>
          <a:ln w="12700">
            <a:solidFill>
              <a:srgbClr val="E4EDF1"/>
            </a:solidFill>
            <a:prstDash val="solid"/>
          </a:ln>
        </p:spPr>
      </p:sp>
      <p:sp>
        <p:nvSpPr>
          <p:cNvPr id="11" name="Shape 8"/>
          <p:cNvSpPr/>
          <p:nvPr/>
        </p:nvSpPr>
        <p:spPr>
          <a:xfrm>
            <a:off x="548640" y="2468880"/>
            <a:ext cx="365760" cy="365760"/>
          </a:xfrm>
          <a:prstGeom prst="ellipse">
            <a:avLst/>
          </a:prstGeom>
          <a:solidFill>
            <a:srgbClr val="B85042"/>
          </a:solidFill>
          <a:ln/>
        </p:spPr>
      </p:sp>
      <p:pic>
        <p:nvPicPr>
          <p:cNvPr id="12" name="Image 1" descr="/home/claude/icons/warning.png">    </p:cNvPr>
          <p:cNvPicPr>
            <a:picLocks noChangeAspect="1"/>
          </p:cNvPicPr>
          <p:nvPr/>
        </p:nvPicPr>
        <p:blipFill>
          <a:blip r:embed="rId2"/>
          <a:stretch>
            <a:fillRect/>
          </a:stretch>
        </p:blipFill>
        <p:spPr>
          <a:xfrm>
            <a:off x="643738" y="2563978"/>
            <a:ext cx="175565" cy="175565"/>
          </a:xfrm>
          <a:prstGeom prst="rect">
            <a:avLst/>
          </a:prstGeom>
        </p:spPr>
      </p:pic>
      <p:sp>
        <p:nvSpPr>
          <p:cNvPr id="13" name="Text 9"/>
          <p:cNvSpPr/>
          <p:nvPr/>
        </p:nvSpPr>
        <p:spPr>
          <a:xfrm>
            <a:off x="1097280" y="2450592"/>
            <a:ext cx="2651760" cy="685800"/>
          </a:xfrm>
          <a:prstGeom prst="rect">
            <a:avLst/>
          </a:prstGeom>
          <a:noFill/>
          <a:ln/>
        </p:spPr>
        <p:txBody>
          <a:bodyPr wrap="square" rtlCol="0" anchor="ctr"/>
          <a:lstStyle/>
          <a:p>
            <a:pPr indent="0" marL="0">
              <a:lnSpc>
                <a:spcPct val="115000"/>
              </a:lnSpc>
              <a:buNone/>
            </a:pPr>
            <a:r>
              <a:rPr lang="en-US" sz="1300" b="1" dirty="0">
                <a:solidFill>
                  <a:srgbClr val="1B2733"/>
                </a:solidFill>
                <a:latin typeface="Calibri" pitchFamily="34" charset="0"/>
                <a:ea typeface="Calibri" pitchFamily="34" charset="-122"/>
                <a:cs typeface="Calibri" pitchFamily="34" charset="-120"/>
              </a:rPr>
              <a:t>Combinatorial growth</a:t>
            </a:r>
            <a:endParaRPr lang="en-US" sz="1300" dirty="0"/>
          </a:p>
        </p:txBody>
      </p:sp>
      <p:sp>
        <p:nvSpPr>
          <p:cNvPr id="14" name="Text 10"/>
          <p:cNvSpPr/>
          <p:nvPr/>
        </p:nvSpPr>
        <p:spPr>
          <a:xfrm>
            <a:off x="3886200" y="2450592"/>
            <a:ext cx="7726680" cy="822960"/>
          </a:xfrm>
          <a:prstGeom prst="rect">
            <a:avLst/>
          </a:prstGeom>
          <a:noFill/>
          <a:ln/>
        </p:spPr>
        <p:txBody>
          <a:bodyPr wrap="square"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Tree size grows roughly as (max children)^(depth) in the worst case — wide, deep trees get expensive and visually dense fast.</a:t>
            </a:r>
            <a:endParaRPr lang="en-US" sz="1100" dirty="0"/>
          </a:p>
        </p:txBody>
      </p:sp>
      <p:sp>
        <p:nvSpPr>
          <p:cNvPr id="15" name="Shape 11"/>
          <p:cNvSpPr/>
          <p:nvPr/>
        </p:nvSpPr>
        <p:spPr>
          <a:xfrm>
            <a:off x="548640" y="3310128"/>
            <a:ext cx="11064240" cy="0"/>
          </a:xfrm>
          <a:prstGeom prst="line">
            <a:avLst/>
          </a:prstGeom>
          <a:noFill/>
          <a:ln w="12700">
            <a:solidFill>
              <a:srgbClr val="E4EDF1"/>
            </a:solidFill>
            <a:prstDash val="solid"/>
          </a:ln>
        </p:spPr>
      </p:sp>
      <p:sp>
        <p:nvSpPr>
          <p:cNvPr id="16" name="Shape 12"/>
          <p:cNvSpPr/>
          <p:nvPr/>
        </p:nvSpPr>
        <p:spPr>
          <a:xfrm>
            <a:off x="548640" y="3383280"/>
            <a:ext cx="365760" cy="365760"/>
          </a:xfrm>
          <a:prstGeom prst="ellipse">
            <a:avLst/>
          </a:prstGeom>
          <a:solidFill>
            <a:srgbClr val="B85042"/>
          </a:solidFill>
          <a:ln/>
        </p:spPr>
      </p:sp>
      <p:pic>
        <p:nvPicPr>
          <p:cNvPr id="17" name="Image 2" descr="/home/claude/icons/warning.png">    </p:cNvPr>
          <p:cNvPicPr>
            <a:picLocks noChangeAspect="1"/>
          </p:cNvPicPr>
          <p:nvPr/>
        </p:nvPicPr>
        <p:blipFill>
          <a:blip r:embed="rId3"/>
          <a:stretch>
            <a:fillRect/>
          </a:stretch>
        </p:blipFill>
        <p:spPr>
          <a:xfrm>
            <a:off x="643738" y="3478378"/>
            <a:ext cx="175565" cy="175565"/>
          </a:xfrm>
          <a:prstGeom prst="rect">
            <a:avLst/>
          </a:prstGeom>
        </p:spPr>
      </p:pic>
      <p:sp>
        <p:nvSpPr>
          <p:cNvPr id="18" name="Text 13"/>
          <p:cNvSpPr/>
          <p:nvPr/>
        </p:nvSpPr>
        <p:spPr>
          <a:xfrm>
            <a:off x="1097280" y="3364992"/>
            <a:ext cx="2651760" cy="685800"/>
          </a:xfrm>
          <a:prstGeom prst="rect">
            <a:avLst/>
          </a:prstGeom>
          <a:noFill/>
          <a:ln/>
        </p:spPr>
        <p:txBody>
          <a:bodyPr wrap="square" rtlCol="0" anchor="ctr"/>
          <a:lstStyle/>
          <a:p>
            <a:pPr indent="0" marL="0">
              <a:lnSpc>
                <a:spcPct val="115000"/>
              </a:lnSpc>
              <a:buNone/>
            </a:pPr>
            <a:r>
              <a:rPr lang="en-US" sz="1300" b="1" dirty="0">
                <a:solidFill>
                  <a:srgbClr val="1B2733"/>
                </a:solidFill>
                <a:latin typeface="Calibri" pitchFamily="34" charset="0"/>
                <a:ea typeface="Calibri" pitchFamily="34" charset="-122"/>
                <a:cs typeface="Calibri" pitchFamily="34" charset="-120"/>
              </a:rPr>
              <a:t>Narrow backend support</a:t>
            </a:r>
            <a:endParaRPr lang="en-US" sz="1300" dirty="0"/>
          </a:p>
        </p:txBody>
      </p:sp>
      <p:sp>
        <p:nvSpPr>
          <p:cNvPr id="19" name="Text 14"/>
          <p:cNvSpPr/>
          <p:nvPr/>
        </p:nvSpPr>
        <p:spPr>
          <a:xfrm>
            <a:off x="3886200" y="3364992"/>
            <a:ext cx="7726680" cy="822960"/>
          </a:xfrm>
          <a:prstGeom prst="rect">
            <a:avLst/>
          </a:prstGeom>
          <a:noFill/>
          <a:ln/>
        </p:spPr>
        <p:txBody>
          <a:bodyPr wrap="square"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Requires an API that returns sufficiently detailed logprobs and, for chat models, supports assistant-message prefill — many mainstream hosted chat APIs support neither well (see api-sniffer.ts).</a:t>
            </a:r>
            <a:endParaRPr lang="en-US" sz="1100" dirty="0"/>
          </a:p>
        </p:txBody>
      </p:sp>
      <p:sp>
        <p:nvSpPr>
          <p:cNvPr id="20" name="Shape 15"/>
          <p:cNvSpPr/>
          <p:nvPr/>
        </p:nvSpPr>
        <p:spPr>
          <a:xfrm>
            <a:off x="548640" y="4224528"/>
            <a:ext cx="11064240" cy="0"/>
          </a:xfrm>
          <a:prstGeom prst="line">
            <a:avLst/>
          </a:prstGeom>
          <a:noFill/>
          <a:ln w="12700">
            <a:solidFill>
              <a:srgbClr val="E4EDF1"/>
            </a:solidFill>
            <a:prstDash val="solid"/>
          </a:ln>
        </p:spPr>
      </p:sp>
      <p:sp>
        <p:nvSpPr>
          <p:cNvPr id="21" name="Shape 16"/>
          <p:cNvSpPr/>
          <p:nvPr/>
        </p:nvSpPr>
        <p:spPr>
          <a:xfrm>
            <a:off x="548640" y="4297680"/>
            <a:ext cx="365760" cy="365760"/>
          </a:xfrm>
          <a:prstGeom prst="ellipse">
            <a:avLst/>
          </a:prstGeom>
          <a:solidFill>
            <a:srgbClr val="B85042"/>
          </a:solidFill>
          <a:ln/>
        </p:spPr>
      </p:sp>
      <p:pic>
        <p:nvPicPr>
          <p:cNvPr id="22" name="Image 3" descr="/home/claude/icons/warning.png">    </p:cNvPr>
          <p:cNvPicPr>
            <a:picLocks noChangeAspect="1"/>
          </p:cNvPicPr>
          <p:nvPr/>
        </p:nvPicPr>
        <p:blipFill>
          <a:blip r:embed="rId4"/>
          <a:stretch>
            <a:fillRect/>
          </a:stretch>
        </p:blipFill>
        <p:spPr>
          <a:xfrm>
            <a:off x="643738" y="4392778"/>
            <a:ext cx="175565" cy="175565"/>
          </a:xfrm>
          <a:prstGeom prst="rect">
            <a:avLst/>
          </a:prstGeom>
        </p:spPr>
      </p:pic>
      <p:sp>
        <p:nvSpPr>
          <p:cNvPr id="23" name="Text 17"/>
          <p:cNvSpPr/>
          <p:nvPr/>
        </p:nvSpPr>
        <p:spPr>
          <a:xfrm>
            <a:off x="1097280" y="4279392"/>
            <a:ext cx="2651760" cy="685800"/>
          </a:xfrm>
          <a:prstGeom prst="rect">
            <a:avLst/>
          </a:prstGeom>
          <a:noFill/>
          <a:ln/>
        </p:spPr>
        <p:txBody>
          <a:bodyPr wrap="square" rtlCol="0" anchor="ctr"/>
          <a:lstStyle/>
          <a:p>
            <a:pPr indent="0" marL="0">
              <a:lnSpc>
                <a:spcPct val="115000"/>
              </a:lnSpc>
              <a:buNone/>
            </a:pPr>
            <a:r>
              <a:rPr lang="en-US" sz="1300" b="1" dirty="0">
                <a:solidFill>
                  <a:srgbClr val="1B2733"/>
                </a:solidFill>
                <a:latin typeface="Calibri" pitchFamily="34" charset="0"/>
                <a:ea typeface="Calibri" pitchFamily="34" charset="-122"/>
                <a:cs typeface="Calibri" pitchFamily="34" charset="-120"/>
              </a:rPr>
              <a:t>No backend, local-only keys</a:t>
            </a:r>
            <a:endParaRPr lang="en-US" sz="1300" dirty="0"/>
          </a:p>
        </p:txBody>
      </p:sp>
      <p:sp>
        <p:nvSpPr>
          <p:cNvPr id="24" name="Text 18"/>
          <p:cNvSpPr/>
          <p:nvPr/>
        </p:nvSpPr>
        <p:spPr>
          <a:xfrm>
            <a:off x="3886200" y="4279392"/>
            <a:ext cx="7726680" cy="822960"/>
          </a:xfrm>
          <a:prstGeom prst="rect">
            <a:avLst/>
          </a:prstGeom>
          <a:noFill/>
          <a:ln/>
        </p:spPr>
        <p:txBody>
          <a:bodyPr wrap="square"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A feature for privacy, but it also means no shared/team history, rate-limit smoothing, or server-side caching.</a:t>
            </a:r>
            <a:endParaRPr lang="en-US" sz="1100" dirty="0"/>
          </a:p>
        </p:txBody>
      </p:sp>
      <p:sp>
        <p:nvSpPr>
          <p:cNvPr id="25" name="Shape 19"/>
          <p:cNvSpPr/>
          <p:nvPr/>
        </p:nvSpPr>
        <p:spPr>
          <a:xfrm>
            <a:off x="548640" y="5138928"/>
            <a:ext cx="11064240" cy="0"/>
          </a:xfrm>
          <a:prstGeom prst="line">
            <a:avLst/>
          </a:prstGeom>
          <a:noFill/>
          <a:ln w="12700">
            <a:solidFill>
              <a:srgbClr val="E4EDF1"/>
            </a:solidFill>
            <a:prstDash val="solid"/>
          </a:ln>
        </p:spPr>
      </p:sp>
      <p:sp>
        <p:nvSpPr>
          <p:cNvPr id="26" name="Shape 20"/>
          <p:cNvSpPr/>
          <p:nvPr/>
        </p:nvSpPr>
        <p:spPr>
          <a:xfrm>
            <a:off x="548640" y="5212080"/>
            <a:ext cx="365760" cy="365760"/>
          </a:xfrm>
          <a:prstGeom prst="ellipse">
            <a:avLst/>
          </a:prstGeom>
          <a:solidFill>
            <a:srgbClr val="B85042"/>
          </a:solidFill>
          <a:ln/>
        </p:spPr>
      </p:sp>
      <p:pic>
        <p:nvPicPr>
          <p:cNvPr id="27" name="Image 4" descr="/home/claude/icons/warning.png">    </p:cNvPr>
          <p:cNvPicPr>
            <a:picLocks noChangeAspect="1"/>
          </p:cNvPicPr>
          <p:nvPr/>
        </p:nvPicPr>
        <p:blipFill>
          <a:blip r:embed="rId5"/>
          <a:stretch>
            <a:fillRect/>
          </a:stretch>
        </p:blipFill>
        <p:spPr>
          <a:xfrm>
            <a:off x="643738" y="5307178"/>
            <a:ext cx="175565" cy="175565"/>
          </a:xfrm>
          <a:prstGeom prst="rect">
            <a:avLst/>
          </a:prstGeom>
        </p:spPr>
      </p:pic>
      <p:sp>
        <p:nvSpPr>
          <p:cNvPr id="28" name="Text 21"/>
          <p:cNvSpPr/>
          <p:nvPr/>
        </p:nvSpPr>
        <p:spPr>
          <a:xfrm>
            <a:off x="1097280" y="5193792"/>
            <a:ext cx="2651760" cy="685800"/>
          </a:xfrm>
          <a:prstGeom prst="rect">
            <a:avLst/>
          </a:prstGeom>
          <a:noFill/>
          <a:ln/>
        </p:spPr>
        <p:txBody>
          <a:bodyPr wrap="square" rtlCol="0" anchor="ctr"/>
          <a:lstStyle/>
          <a:p>
            <a:pPr indent="0" marL="0">
              <a:lnSpc>
                <a:spcPct val="115000"/>
              </a:lnSpc>
              <a:buNone/>
            </a:pPr>
            <a:r>
              <a:rPr lang="en-US" sz="1300" b="1" dirty="0">
                <a:solidFill>
                  <a:srgbClr val="1B2733"/>
                </a:solidFill>
                <a:latin typeface="Calibri" pitchFamily="34" charset="0"/>
                <a:ea typeface="Calibri" pitchFamily="34" charset="-122"/>
                <a:cs typeface="Calibri" pitchFamily="34" charset="-120"/>
              </a:rPr>
              <a:t>Project maturity</a:t>
            </a:r>
            <a:endParaRPr lang="en-US" sz="1300" dirty="0"/>
          </a:p>
        </p:txBody>
      </p:sp>
      <p:sp>
        <p:nvSpPr>
          <p:cNvPr id="29" name="Text 22"/>
          <p:cNvSpPr/>
          <p:nvPr/>
        </p:nvSpPr>
        <p:spPr>
          <a:xfrm>
            <a:off x="3886200" y="5193792"/>
            <a:ext cx="7726680" cy="822960"/>
          </a:xfrm>
          <a:prstGeom prst="rect">
            <a:avLst/>
          </a:prstGeom>
          <a:noFill/>
          <a:ln/>
        </p:spPr>
        <p:txBody>
          <a:bodyPr wrap="square"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Small hobby-scale open-source project (single maintainer, currently unlicensed) — expect rough edges rather than production polish.</a:t>
            </a:r>
            <a:endParaRPr lang="en-US" sz="1100" dirty="0"/>
          </a:p>
        </p:txBody>
      </p:sp>
      <p:sp>
        <p:nvSpPr>
          <p:cNvPr id="30" name="Text 23"/>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LOGITLOOM  ·  AI SEMINAR, LECTURE 2</a:t>
            </a:r>
            <a:endParaRPr lang="en-US" sz="900" dirty="0"/>
          </a:p>
        </p:txBody>
      </p:sp>
      <p:sp>
        <p:nvSpPr>
          <p:cNvPr id="31" name="Text 2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1371600" y="4114800"/>
            <a:ext cx="4572000" cy="4572000"/>
          </a:xfrm>
          <a:prstGeom prst="ellipse">
            <a:avLst/>
          </a:prstGeom>
          <a:solidFill>
            <a:srgbClr val="21295C">
              <a:alpha val="55000"/>
            </a:srgbClr>
          </a:solidFill>
          <a:ln/>
        </p:spPr>
      </p:sp>
      <p:sp>
        <p:nvSpPr>
          <p:cNvPr id="3" name="Text 1"/>
          <p:cNvSpPr/>
          <p:nvPr/>
        </p:nvSpPr>
        <p:spPr>
          <a:xfrm>
            <a:off x="731520" y="91440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TRY IT YOURSELF</a:t>
            </a:r>
            <a:endParaRPr lang="en-US" sz="1400" dirty="0"/>
          </a:p>
        </p:txBody>
      </p:sp>
      <p:sp>
        <p:nvSpPr>
          <p:cNvPr id="4" name="Text 2"/>
          <p:cNvSpPr/>
          <p:nvPr/>
        </p:nvSpPr>
        <p:spPr>
          <a:xfrm>
            <a:off x="685800" y="1280160"/>
            <a:ext cx="91440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Go Loom Something</a:t>
            </a:r>
            <a:endParaRPr lang="en-US" sz="4400" dirty="0"/>
          </a:p>
        </p:txBody>
      </p:sp>
      <p:sp>
        <p:nvSpPr>
          <p:cNvPr id="5" name="Shape 3"/>
          <p:cNvSpPr/>
          <p:nvPr/>
        </p:nvSpPr>
        <p:spPr>
          <a:xfrm>
            <a:off x="731520" y="2606040"/>
            <a:ext cx="502920" cy="502920"/>
          </a:xfrm>
          <a:prstGeom prst="ellipse">
            <a:avLst/>
          </a:prstGeom>
          <a:solidFill>
            <a:srgbClr val="065A82"/>
          </a:solidFill>
          <a:ln/>
        </p:spPr>
      </p:sp>
      <p:pic>
        <p:nvPicPr>
          <p:cNvPr id="6" name="Image 0" descr="/home/claude/icons/link.png">    </p:cNvPr>
          <p:cNvPicPr>
            <a:picLocks noChangeAspect="1"/>
          </p:cNvPicPr>
          <p:nvPr/>
        </p:nvPicPr>
        <p:blipFill>
          <a:blip r:embed="rId1"/>
          <a:stretch>
            <a:fillRect/>
          </a:stretch>
        </p:blipFill>
        <p:spPr>
          <a:xfrm>
            <a:off x="862279" y="2736799"/>
            <a:ext cx="241402" cy="241402"/>
          </a:xfrm>
          <a:prstGeom prst="rect">
            <a:avLst/>
          </a:prstGeom>
        </p:spPr>
      </p:pic>
      <p:sp>
        <p:nvSpPr>
          <p:cNvPr id="7" name="Text 4"/>
          <p:cNvSpPr/>
          <p:nvPr/>
        </p:nvSpPr>
        <p:spPr>
          <a:xfrm>
            <a:off x="1417320" y="2606040"/>
            <a:ext cx="2743200" cy="274320"/>
          </a:xfrm>
          <a:prstGeom prst="rect">
            <a:avLst/>
          </a:prstGeom>
          <a:noFill/>
          <a:ln/>
        </p:spPr>
        <p:txBody>
          <a:bodyPr wrap="square" rtlCol="0" anchor="ctr"/>
          <a:lstStyle/>
          <a:p>
            <a:pPr indent="0" marL="0">
              <a:buNone/>
            </a:pPr>
            <a:r>
              <a:rPr lang="en-US" sz="1200" dirty="0">
                <a:solidFill>
                  <a:srgbClr val="9FC3D9"/>
                </a:solidFill>
                <a:latin typeface="Calibri" pitchFamily="34" charset="0"/>
                <a:ea typeface="Calibri" pitchFamily="34" charset="-122"/>
                <a:cs typeface="Calibri" pitchFamily="34" charset="-120"/>
              </a:rPr>
              <a:t>Live tool</a:t>
            </a:r>
            <a:endParaRPr lang="en-US" sz="1200" dirty="0"/>
          </a:p>
        </p:txBody>
      </p:sp>
      <p:sp>
        <p:nvSpPr>
          <p:cNvPr id="8" name="Text 5"/>
          <p:cNvSpPr/>
          <p:nvPr/>
        </p:nvSpPr>
        <p:spPr>
          <a:xfrm>
            <a:off x="1417320" y="2862072"/>
            <a:ext cx="5486400" cy="32004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vgel.me/logitloom</a:t>
            </a:r>
            <a:endParaRPr lang="en-US" sz="1500" dirty="0"/>
          </a:p>
        </p:txBody>
      </p:sp>
      <p:sp>
        <p:nvSpPr>
          <p:cNvPr id="9" name="Shape 6"/>
          <p:cNvSpPr/>
          <p:nvPr/>
        </p:nvSpPr>
        <p:spPr>
          <a:xfrm>
            <a:off x="731520" y="3474720"/>
            <a:ext cx="502920" cy="502920"/>
          </a:xfrm>
          <a:prstGeom prst="ellipse">
            <a:avLst/>
          </a:prstGeom>
          <a:solidFill>
            <a:srgbClr val="065A82"/>
          </a:solidFill>
          <a:ln/>
        </p:spPr>
      </p:sp>
      <p:pic>
        <p:nvPicPr>
          <p:cNvPr id="10" name="Image 1" descr="/home/claude/icons/terminal.png">    </p:cNvPr>
          <p:cNvPicPr>
            <a:picLocks noChangeAspect="1"/>
          </p:cNvPicPr>
          <p:nvPr/>
        </p:nvPicPr>
        <p:blipFill>
          <a:blip r:embed="rId2"/>
          <a:stretch>
            <a:fillRect/>
          </a:stretch>
        </p:blipFill>
        <p:spPr>
          <a:xfrm>
            <a:off x="862279" y="3605479"/>
            <a:ext cx="241402" cy="241402"/>
          </a:xfrm>
          <a:prstGeom prst="rect">
            <a:avLst/>
          </a:prstGeom>
        </p:spPr>
      </p:pic>
      <p:sp>
        <p:nvSpPr>
          <p:cNvPr id="11" name="Text 7"/>
          <p:cNvSpPr/>
          <p:nvPr/>
        </p:nvSpPr>
        <p:spPr>
          <a:xfrm>
            <a:off x="1417320" y="3474720"/>
            <a:ext cx="2743200" cy="274320"/>
          </a:xfrm>
          <a:prstGeom prst="rect">
            <a:avLst/>
          </a:prstGeom>
          <a:noFill/>
          <a:ln/>
        </p:spPr>
        <p:txBody>
          <a:bodyPr wrap="square" rtlCol="0" anchor="ctr"/>
          <a:lstStyle/>
          <a:p>
            <a:pPr indent="0" marL="0">
              <a:buNone/>
            </a:pPr>
            <a:r>
              <a:rPr lang="en-US" sz="1200" dirty="0">
                <a:solidFill>
                  <a:srgbClr val="9FC3D9"/>
                </a:solidFill>
                <a:latin typeface="Calibri" pitchFamily="34" charset="0"/>
                <a:ea typeface="Calibri" pitchFamily="34" charset="-122"/>
                <a:cs typeface="Calibri" pitchFamily="34" charset="-120"/>
              </a:rPr>
              <a:t>Source code</a:t>
            </a:r>
            <a:endParaRPr lang="en-US" sz="1200" dirty="0"/>
          </a:p>
        </p:txBody>
      </p:sp>
      <p:sp>
        <p:nvSpPr>
          <p:cNvPr id="12" name="Text 8"/>
          <p:cNvSpPr/>
          <p:nvPr/>
        </p:nvSpPr>
        <p:spPr>
          <a:xfrm>
            <a:off x="1417320" y="3730752"/>
            <a:ext cx="5486400" cy="32004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github.com/vgel/logitloom</a:t>
            </a:r>
            <a:endParaRPr lang="en-US" sz="1500" dirty="0"/>
          </a:p>
        </p:txBody>
      </p:sp>
      <p:sp>
        <p:nvSpPr>
          <p:cNvPr id="13" name="Shape 9"/>
          <p:cNvSpPr/>
          <p:nvPr/>
        </p:nvSpPr>
        <p:spPr>
          <a:xfrm>
            <a:off x="731520" y="4572000"/>
            <a:ext cx="5486400" cy="0"/>
          </a:xfrm>
          <a:prstGeom prst="line">
            <a:avLst/>
          </a:prstGeom>
          <a:noFill/>
          <a:ln w="12700">
            <a:solidFill>
              <a:srgbClr val="1C7293"/>
            </a:solidFill>
            <a:prstDash val="solid"/>
          </a:ln>
        </p:spPr>
      </p:sp>
      <p:sp>
        <p:nvSpPr>
          <p:cNvPr id="14" name="Text 10"/>
          <p:cNvSpPr/>
          <p:nvPr/>
        </p:nvSpPr>
        <p:spPr>
          <a:xfrm>
            <a:off x="731520" y="4754880"/>
            <a:ext cx="7315200" cy="320040"/>
          </a:xfrm>
          <a:prstGeom prst="rect">
            <a:avLst/>
          </a:prstGeom>
          <a:noFill/>
          <a:ln/>
        </p:spPr>
        <p:txBody>
          <a:bodyPr wrap="square" rtlCol="0" anchor="ctr"/>
          <a:lstStyle/>
          <a:p>
            <a:pPr indent="0" marL="0">
              <a:buNone/>
            </a:pPr>
            <a:r>
              <a:rPr lang="en-US" sz="1300" b="1" dirty="0">
                <a:solidFill>
                  <a:srgbClr val="8FD4E8"/>
                </a:solidFill>
                <a:latin typeface="Calibri" pitchFamily="34" charset="0"/>
                <a:ea typeface="Calibri" pitchFamily="34" charset="-122"/>
                <a:cs typeface="Calibri" pitchFamily="34" charset="-120"/>
              </a:rPr>
              <a:t>Discussion for next time</a:t>
            </a:r>
            <a:endParaRPr lang="en-US" sz="1300" dirty="0"/>
          </a:p>
        </p:txBody>
      </p:sp>
      <p:sp>
        <p:nvSpPr>
          <p:cNvPr id="15" name="Text 11"/>
          <p:cNvSpPr/>
          <p:nvPr/>
        </p:nvSpPr>
        <p:spPr>
          <a:xfrm>
            <a:off x="731520" y="5120640"/>
            <a:ext cx="7589520" cy="822960"/>
          </a:xfrm>
          <a:prstGeom prst="rect">
            <a:avLst/>
          </a:prstGeom>
          <a:noFill/>
          <a:ln/>
        </p:spPr>
        <p:txBody>
          <a:bodyPr wrap="square" rtlCol="0" anchor="ctr"/>
          <a:lstStyle/>
          <a:p>
            <a:pPr indent="0" marL="0">
              <a:lnSpc>
                <a:spcPct val="125000"/>
              </a:lnSpc>
              <a:buNone/>
            </a:pPr>
            <a:r>
              <a:rPr lang="en-US" sz="1300" i="1" dirty="0">
                <a:solidFill>
                  <a:srgbClr val="D7E9F2"/>
                </a:solidFill>
                <a:latin typeface="Calibri" pitchFamily="34" charset="0"/>
                <a:ea typeface="Calibri" pitchFamily="34" charset="-122"/>
                <a:cs typeface="Calibri" pitchFamily="34" charset="-120"/>
              </a:rPr>
              <a:t>If a chat model's “chosen” token was only 8% more likely than its runner-up, what should we conclude about how confident the model actually was in its answer?</a:t>
            </a:r>
            <a:endParaRPr lang="en-US" sz="1300" dirty="0"/>
          </a:p>
        </p:txBody>
      </p:sp>
      <p:sp>
        <p:nvSpPr>
          <p:cNvPr id="16" name="Text 12"/>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LOGITLOOM  ·  AI SEMINAR, LECTURE 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LogitLoom: Exploring Token Trajectory Trees</dc:title>
  <dc:subject>PptxGenJS Presentation</dc:subject>
  <dc:creator>AI Seminar</dc:creator>
  <cp:lastModifiedBy>AI Seminar</cp:lastModifiedBy>
  <cp:revision>1</cp:revision>
  <dcterms:created xsi:type="dcterms:W3CDTF">2026-07-05T23:59:16Z</dcterms:created>
  <dcterms:modified xsi:type="dcterms:W3CDTF">2026-07-05T23:59:16Z</dcterms:modified>
</cp:coreProperties>
</file>