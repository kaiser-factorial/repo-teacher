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1f3ba5bc3b49e4" /><Relationship Type="http://schemas.openxmlformats.org/officeDocument/2006/relationships/extended-properties" Target="/docProps/app.xml" Id="R8d1e88561bac47c9" /><Relationship Type="http://schemas.openxmlformats.org/officeDocument/2006/relationships/officeDocument" Target="/ppt/presentation.xml" Id="Re1fcc9e48f09404e" /></Relationships>
</file>

<file path=ppt/presentation.xml><?xml version="1.0" encoding="utf-8"?>
<p:presentation xmlns:p="http://schemas.openxmlformats.org/presentationml/2006/main">
  <p:sldMasterIdLst>
    <p:sldMasterId xmlns:r="http://schemas.openxmlformats.org/officeDocument/2006/relationships" id="2147483648" r:id="Rc07b7a34931a48db"/>
  </p:sldMasterIdLst>
  <p:notesMasterIdLst>
    <p:notesMasterId xmlns:r="http://schemas.openxmlformats.org/officeDocument/2006/relationships" r:id="R9df9113ad63e4139"/>
  </p:notesMasterIdLst>
  <p:sldIdLst>
    <p:sldId xmlns:r="http://schemas.openxmlformats.org/officeDocument/2006/relationships" id="256" r:id="R2a84de8a26674704"/>
    <p:sldId xmlns:r="http://schemas.openxmlformats.org/officeDocument/2006/relationships" id="257" r:id="R49b2060ed4d841e8"/>
    <p:sldId xmlns:r="http://schemas.openxmlformats.org/officeDocument/2006/relationships" id="258" r:id="Rae340a1965e94e5a"/>
    <p:sldId xmlns:r="http://schemas.openxmlformats.org/officeDocument/2006/relationships" id="259" r:id="Rfd6e07a9fa17445d"/>
    <p:sldId xmlns:r="http://schemas.openxmlformats.org/officeDocument/2006/relationships" id="260" r:id="Rb630ad19b5ca4986"/>
    <p:sldId xmlns:r="http://schemas.openxmlformats.org/officeDocument/2006/relationships" id="261" r:id="R879feef62a164cbe"/>
    <p:sldId xmlns:r="http://schemas.openxmlformats.org/officeDocument/2006/relationships" id="262" r:id="R685214d7e8b54cde"/>
    <p:sldId xmlns:r="http://schemas.openxmlformats.org/officeDocument/2006/relationships" id="263" r:id="Rdf6a6ebd7bc5424d"/>
    <p:sldId xmlns:r="http://schemas.openxmlformats.org/officeDocument/2006/relationships" id="264" r:id="R9778fb97f096408a"/>
    <p:sldId xmlns:r="http://schemas.openxmlformats.org/officeDocument/2006/relationships" id="265" r:id="Rf1b65a1766254e6a"/>
    <p:sldId xmlns:r="http://schemas.openxmlformats.org/officeDocument/2006/relationships" id="266" r:id="Rc55b63f5da7b49f7"/>
    <p:sldId xmlns:r="http://schemas.openxmlformats.org/officeDocument/2006/relationships" id="267" r:id="Raf20edc905194ae6"/>
    <p:sldId xmlns:r="http://schemas.openxmlformats.org/officeDocument/2006/relationships" id="268" r:id="R23cfca2b64ef45b7"/>
    <p:sldId xmlns:r="http://schemas.openxmlformats.org/officeDocument/2006/relationships" id="269" r:id="R4e15319655b04012"/>
    <p:sldId xmlns:r="http://schemas.openxmlformats.org/officeDocument/2006/relationships" id="270" r:id="Re154984355d04c5b"/>
    <p:sldId xmlns:r="http://schemas.openxmlformats.org/officeDocument/2006/relationships" id="271" r:id="R7bc75ace11fe42c5"/>
    <p:sldId xmlns:r="http://schemas.openxmlformats.org/officeDocument/2006/relationships" id="272" r:id="Re3a5bdf6256c4e6b"/>
    <p:sldId xmlns:r="http://schemas.openxmlformats.org/officeDocument/2006/relationships" id="273" r:id="Ra79a777718984701"/>
    <p:sldId xmlns:r="http://schemas.openxmlformats.org/officeDocument/2006/relationships" id="274" r:id="R09afece29acb4df4"/>
    <p:sldId xmlns:r="http://schemas.openxmlformats.org/officeDocument/2006/relationships" id="275" r:id="R92616b565a734a09"/>
    <p:sldId xmlns:r="http://schemas.openxmlformats.org/officeDocument/2006/relationships" id="276" r:id="Rc2fae1ee0f4e4d58"/>
    <p:sldId xmlns:r="http://schemas.openxmlformats.org/officeDocument/2006/relationships" id="277" r:id="R3e393676fffd4357"/>
    <p:sldId xmlns:r="http://schemas.openxmlformats.org/officeDocument/2006/relationships" id="278" r:id="Rfa0093de4b05456c"/>
    <p:sldId xmlns:r="http://schemas.openxmlformats.org/officeDocument/2006/relationships" id="279" r:id="R1c23f3f554a84380"/>
    <p:sldId xmlns:r="http://schemas.openxmlformats.org/officeDocument/2006/relationships" id="280" r:id="R34f035d2ee6f4ab6"/>
    <p:sldId xmlns:r="http://schemas.openxmlformats.org/officeDocument/2006/relationships" id="281" r:id="R6947147aca4b4abf"/>
    <p:sldId xmlns:r="http://schemas.openxmlformats.org/officeDocument/2006/relationships" id="282" r:id="R9d18a017607048bf"/>
    <p:sldId xmlns:r="http://schemas.openxmlformats.org/officeDocument/2006/relationships" id="283" r:id="Ra2d6bc6233de4d69"/>
    <p:sldId xmlns:r="http://schemas.openxmlformats.org/officeDocument/2006/relationships" id="284" r:id="R3fab72c8f9364b03"/>
    <p:sldId xmlns:r="http://schemas.openxmlformats.org/officeDocument/2006/relationships" id="285" r:id="Ra267427e34a040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52765793ab49fb" /><Relationship Type="http://schemas.openxmlformats.org/officeDocument/2006/relationships/slideMaster" Target="/ppt/slideMasters/slideMaster1.xml" Id="Rc07b7a34931a48db" /><Relationship Type="http://schemas.openxmlformats.org/officeDocument/2006/relationships/notesMaster" Target="/ppt/notesMasters/notesMaster1.xml" Id="R9df9113ad63e4139" /><Relationship Type="http://schemas.openxmlformats.org/officeDocument/2006/relationships/presProps" Target="/ppt/presProps.xml" Id="R33fa38f61c764c36" /><Relationship Type="http://schemas.openxmlformats.org/officeDocument/2006/relationships/tableStyles" Target="/ppt/tableStyles.xml" Id="Ra49a779d5d754ee0" /><Relationship Type="http://schemas.openxmlformats.org/officeDocument/2006/relationships/slide" Target="/ppt/slides/slide1.xml" Id="R2a84de8a26674704" /><Relationship Type="http://schemas.openxmlformats.org/officeDocument/2006/relationships/slide" Target="/ppt/slides/slide2.xml" Id="R49b2060ed4d841e8" /><Relationship Type="http://schemas.openxmlformats.org/officeDocument/2006/relationships/slide" Target="/ppt/slides/slide3.xml" Id="Rae340a1965e94e5a" /><Relationship Type="http://schemas.openxmlformats.org/officeDocument/2006/relationships/slide" Target="/ppt/slides/slide4.xml" Id="Rfd6e07a9fa17445d" /><Relationship Type="http://schemas.openxmlformats.org/officeDocument/2006/relationships/slide" Target="/ppt/slides/slide5.xml" Id="Rb630ad19b5ca4986" /><Relationship Type="http://schemas.openxmlformats.org/officeDocument/2006/relationships/slide" Target="/ppt/slides/slide6.xml" Id="R879feef62a164cbe" /><Relationship Type="http://schemas.openxmlformats.org/officeDocument/2006/relationships/slide" Target="/ppt/slides/slide7.xml" Id="R685214d7e8b54cde" /><Relationship Type="http://schemas.openxmlformats.org/officeDocument/2006/relationships/slide" Target="/ppt/slides/slide8.xml" Id="Rdf6a6ebd7bc5424d" /><Relationship Type="http://schemas.openxmlformats.org/officeDocument/2006/relationships/slide" Target="/ppt/slides/slide9.xml" Id="R9778fb97f096408a" /><Relationship Type="http://schemas.openxmlformats.org/officeDocument/2006/relationships/slide" Target="/ppt/slides/slide10.xml" Id="Rf1b65a1766254e6a" /><Relationship Type="http://schemas.openxmlformats.org/officeDocument/2006/relationships/slide" Target="/ppt/slides/slide11.xml" Id="Rc55b63f5da7b49f7" /><Relationship Type="http://schemas.openxmlformats.org/officeDocument/2006/relationships/slide" Target="/ppt/slides/slide12.xml" Id="Raf20edc905194ae6" /><Relationship Type="http://schemas.openxmlformats.org/officeDocument/2006/relationships/slide" Target="/ppt/slides/slide13.xml" Id="R23cfca2b64ef45b7" /><Relationship Type="http://schemas.openxmlformats.org/officeDocument/2006/relationships/slide" Target="/ppt/slides/slide14.xml" Id="R4e15319655b04012" /><Relationship Type="http://schemas.openxmlformats.org/officeDocument/2006/relationships/slide" Target="/ppt/slides/slide15.xml" Id="Re154984355d04c5b" /><Relationship Type="http://schemas.openxmlformats.org/officeDocument/2006/relationships/slide" Target="/ppt/slides/slide16.xml" Id="R7bc75ace11fe42c5" /><Relationship Type="http://schemas.openxmlformats.org/officeDocument/2006/relationships/slide" Target="/ppt/slides/slide17.xml" Id="Re3a5bdf6256c4e6b" /><Relationship Type="http://schemas.openxmlformats.org/officeDocument/2006/relationships/slide" Target="/ppt/slides/slide18.xml" Id="Ra79a777718984701" /><Relationship Type="http://schemas.openxmlformats.org/officeDocument/2006/relationships/slide" Target="/ppt/slides/slide19.xml" Id="R09afece29acb4df4" /><Relationship Type="http://schemas.openxmlformats.org/officeDocument/2006/relationships/slide" Target="/ppt/slides/slide20.xml" Id="R92616b565a734a09" /><Relationship Type="http://schemas.openxmlformats.org/officeDocument/2006/relationships/slide" Target="/ppt/slides/slide21.xml" Id="Rc2fae1ee0f4e4d58" /><Relationship Type="http://schemas.openxmlformats.org/officeDocument/2006/relationships/slide" Target="/ppt/slides/slide22.xml" Id="R3e393676fffd4357" /><Relationship Type="http://schemas.openxmlformats.org/officeDocument/2006/relationships/slide" Target="/ppt/slides/slide23.xml" Id="Rfa0093de4b05456c" /><Relationship Type="http://schemas.openxmlformats.org/officeDocument/2006/relationships/slide" Target="/ppt/slides/slide24.xml" Id="R1c23f3f554a84380" /><Relationship Type="http://schemas.openxmlformats.org/officeDocument/2006/relationships/slide" Target="/ppt/slides/slide25.xml" Id="R34f035d2ee6f4ab6" /><Relationship Type="http://schemas.openxmlformats.org/officeDocument/2006/relationships/slide" Target="/ppt/slides/slide26.xml" Id="R6947147aca4b4abf" /><Relationship Type="http://schemas.openxmlformats.org/officeDocument/2006/relationships/slide" Target="/ppt/slides/slide27.xml" Id="R9d18a017607048bf" /><Relationship Type="http://schemas.openxmlformats.org/officeDocument/2006/relationships/slide" Target="/ppt/slides/slide28.xml" Id="Ra2d6bc6233de4d69" /><Relationship Type="http://schemas.openxmlformats.org/officeDocument/2006/relationships/slide" Target="/ppt/slides/slide29.xml" Id="R3fab72c8f9364b03" /><Relationship Type="http://schemas.openxmlformats.org/officeDocument/2006/relationships/slide" Target="/ppt/slides/slide30.xml" Id="Ra267427e34a040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cb083b5b564a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ea12b765784738" /><Relationship Type="http://schemas.openxmlformats.org/officeDocument/2006/relationships/notesMaster" Target="/ppt/notesMasters/notesMaster1.xml" Id="R1ad443615a5840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50a0b484b14df2" /><Relationship Type="http://schemas.openxmlformats.org/officeDocument/2006/relationships/notesMaster" Target="/ppt/notesMasters/notesMaster1.xml" Id="R9a843364b86e49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7e86a9478b4bb5" /><Relationship Type="http://schemas.openxmlformats.org/officeDocument/2006/relationships/notesMaster" Target="/ppt/notesMasters/notesMaster1.xml" Id="R9757d8e0740744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94b1862a904426" /><Relationship Type="http://schemas.openxmlformats.org/officeDocument/2006/relationships/notesMaster" Target="/ppt/notesMasters/notesMaster1.xml" Id="R6f3d22ee128b47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78c65bbde342f6" /><Relationship Type="http://schemas.openxmlformats.org/officeDocument/2006/relationships/notesMaster" Target="/ppt/notesMasters/notesMaster1.xml" Id="Rbcd875bad7ca4b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d7de08e957490a" /><Relationship Type="http://schemas.openxmlformats.org/officeDocument/2006/relationships/notesMaster" Target="/ppt/notesMasters/notesMaster1.xml" Id="Reb4466cb63a34c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b7baf575db4895" /><Relationship Type="http://schemas.openxmlformats.org/officeDocument/2006/relationships/notesMaster" Target="/ppt/notesMasters/notesMaster1.xml" Id="R65647cacb89643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bcf55ece7c41a9" /><Relationship Type="http://schemas.openxmlformats.org/officeDocument/2006/relationships/notesMaster" Target="/ppt/notesMasters/notesMaster1.xml" Id="R4c7b41e06db344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9d33cf0a444205" /><Relationship Type="http://schemas.openxmlformats.org/officeDocument/2006/relationships/notesMaster" Target="/ppt/notesMasters/notesMaster1.xml" Id="R8923b3aa5b4743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df0a044e3b4195" /><Relationship Type="http://schemas.openxmlformats.org/officeDocument/2006/relationships/notesMaster" Target="/ppt/notesMasters/notesMaster1.xml" Id="R8f633382cb594b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75991c556747fe" /><Relationship Type="http://schemas.openxmlformats.org/officeDocument/2006/relationships/notesMaster" Target="/ppt/notesMasters/notesMaster1.xml" Id="R9f7cf5d40ee14a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104d4a98df4ffd" /><Relationship Type="http://schemas.openxmlformats.org/officeDocument/2006/relationships/notesMaster" Target="/ppt/notesMasters/notesMaster1.xml" Id="R1f7c55c28f7f45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0f123676554e61" /><Relationship Type="http://schemas.openxmlformats.org/officeDocument/2006/relationships/notesMaster" Target="/ppt/notesMasters/notesMaster1.xml" Id="R0f5995faa3c84fa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5665f029d9f4ddd" /><Relationship Type="http://schemas.openxmlformats.org/officeDocument/2006/relationships/notesMaster" Target="/ppt/notesMasters/notesMaster1.xml" Id="R5ca4234de4b346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7dcacb0ac24da5" /><Relationship Type="http://schemas.openxmlformats.org/officeDocument/2006/relationships/notesMaster" Target="/ppt/notesMasters/notesMaster1.xml" Id="R58bcda90a83040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510854ff0f439f" /><Relationship Type="http://schemas.openxmlformats.org/officeDocument/2006/relationships/notesMaster" Target="/ppt/notesMasters/notesMaster1.xml" Id="R0fcbbb1c352b40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561763c6c14208" /><Relationship Type="http://schemas.openxmlformats.org/officeDocument/2006/relationships/notesMaster" Target="/ppt/notesMasters/notesMaster1.xml" Id="Rf6bfa85543ad4a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4548c492f22420a" /><Relationship Type="http://schemas.openxmlformats.org/officeDocument/2006/relationships/notesMaster" Target="/ppt/notesMasters/notesMaster1.xml" Id="R5988ef635fce41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e312e54301c4005" /><Relationship Type="http://schemas.openxmlformats.org/officeDocument/2006/relationships/notesMaster" Target="/ppt/notesMasters/notesMaster1.xml" Id="Ra92f807a420d4bb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b47db13dbc4da6" /><Relationship Type="http://schemas.openxmlformats.org/officeDocument/2006/relationships/notesMaster" Target="/ppt/notesMasters/notesMaster1.xml" Id="Ra4a6bd86e0ac4c2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57cb9caa2104f47" /><Relationship Type="http://schemas.openxmlformats.org/officeDocument/2006/relationships/notesMaster" Target="/ppt/notesMasters/notesMaster1.xml" Id="Re43209c0ccaa440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414580a00546cf" /><Relationship Type="http://schemas.openxmlformats.org/officeDocument/2006/relationships/notesMaster" Target="/ppt/notesMasters/notesMaster1.xml" Id="Re6f3685738364a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0f6c83dcd941b2" /><Relationship Type="http://schemas.openxmlformats.org/officeDocument/2006/relationships/notesMaster" Target="/ppt/notesMasters/notesMaster1.xml" Id="R9deac1e50cfd418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646615426b476a" /><Relationship Type="http://schemas.openxmlformats.org/officeDocument/2006/relationships/notesMaster" Target="/ppt/notesMasters/notesMaster1.xml" Id="Raca9710d630b47a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0abc01dfd54582" /><Relationship Type="http://schemas.openxmlformats.org/officeDocument/2006/relationships/notesMaster" Target="/ppt/notesMasters/notesMaster1.xml" Id="Re5d4bc546a5d42d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b3c9a6719a7459c" /><Relationship Type="http://schemas.openxmlformats.org/officeDocument/2006/relationships/notesMaster" Target="/ppt/notesMasters/notesMaster1.xml" Id="R26be0e470e8a423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6e6f7c7ac0542a8" /><Relationship Type="http://schemas.openxmlformats.org/officeDocument/2006/relationships/notesMaster" Target="/ppt/notesMasters/notesMaster1.xml" Id="R24829ab7068b45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c3149421f564a4d" /><Relationship Type="http://schemas.openxmlformats.org/officeDocument/2006/relationships/notesMaster" Target="/ppt/notesMasters/notesMaster1.xml" Id="R5d43ac1824ed445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235d8ce527e4bca" /><Relationship Type="http://schemas.openxmlformats.org/officeDocument/2006/relationships/notesMaster" Target="/ppt/notesMasters/notesMaster1.xml" Id="Rd21b9954f6504f5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80d90fd1f0f435a" /><Relationship Type="http://schemas.openxmlformats.org/officeDocument/2006/relationships/notesMaster" Target="/ppt/notesMasters/notesMaster1.xml" Id="R1711c49f407f4a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lesson moves from retrieval concepts to integration mechanics, then reads the repository's SDK and MCP implementation. The repository is a Neo4j Labs project and describes itself as experimental and community supported.</a:t>
            </a:r>
          </a:p>
          <a:p xmlns:a="http://schemas.openxmlformats.org/drawingml/2006/main">
            <a:r>
              <a:t/>
            </a:r>
          </a:p>
          <a:p xmlns:a="http://schemas.openxmlformats.org/drawingml/2006/main">
            <a:r>
              <a:t>[Sources]</a:t>
            </a:r>
          </a:p>
          <a:p xmlns:a="http://schemas.openxmlformats.org/drawingml/2006/main">
            <a:r>
              <a:t>- https://github.com/neo4j-labs/agent-memory</a:t>
            </a:r>
          </a:p>
          <a:p xmlns:a="http://schemas.openxmlformats.org/drawingml/2006/main">
            <a:r>
              <a:t>- https://github.com/neo4j-labs/agent-memory/blob/main/README.md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Flag the standalone-background pattern. The architecture image is copied from the repository and used under its Apache-2.0 license.</a:t>
            </a:r>
          </a:p>
          <a:p xmlns:a="http://schemas.openxmlformats.org/drawingml/2006/main">
            <a:r>
              <a:t/>
            </a:r>
          </a:p>
          <a:p xmlns:a="http://schemas.openxmlformats.org/drawingml/2006/main">
            <a:r>
              <a:t>[Sources]</a:t>
            </a:r>
          </a:p>
          <a:p xmlns:a="http://schemas.openxmlformats.org/drawingml/2006/main">
            <a:r>
              <a:t>- https://github.com/neo4j-labs/agent-memory/blob/main/README.md</a:t>
            </a:r>
          </a:p>
          <a:p xmlns:a="http://schemas.openxmlformats.org/drawingml/2006/main">
            <a:r>
              <a:t>- https://github.com/neo4j-labs/agent-memory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model weights, one-run context, and application-managed durable state. The rest of the background focuses on the retrieval structures that make persisted state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matrix is the conceptual anchor for the next four slides. Sequence, lexical, vector, and graph retrieval overlap in applications but should not be treated as interchangeable.</a:t>
            </a:r>
          </a:p>
          <a:p xmlns:a="http://schemas.openxmlformats.org/drawingml/2006/main">
            <a:r>
              <a:t/>
            </a:r>
          </a:p>
          <a:p xmlns:a="http://schemas.openxmlformats.org/drawingml/2006/main">
            <a:r>
              <a:t>[Sources]</a:t>
            </a:r>
          </a:p>
          <a:p xmlns:a="http://schemas.openxmlformats.org/drawingml/2006/main">
            <a:r>
              <a:t>- https://neo4j.com/docs/cypher-manual/current/indexes/semantic-indexes/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Neo4j full-text indexes use Lucene and can index string properties on nodes or relationships. The background claim is general: text lookup is the reliable path for exact names, identifiers, and wording.</a:t>
            </a:r>
          </a:p>
          <a:p xmlns:a="http://schemas.openxmlformats.org/drawingml/2006/main">
            <a:r>
              <a:t/>
            </a:r>
          </a:p>
          <a:p xmlns:a="http://schemas.openxmlformats.org/drawingml/2006/main">
            <a:r>
              <a:t>[Sources]</a:t>
            </a:r>
          </a:p>
          <a:p xmlns:a="http://schemas.openxmlformats.org/drawingml/2006/main">
            <a:r>
              <a:t>- https://neo4j.com/docs/cypher-manual/25/indexes/semantic-indexes/full-text-indexes/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Vector indexes support similarity retrieval over stored embeddings. The embedding model and dimensionality are part of the index contract; changing models can invalidate the index configuration.</a:t>
            </a:r>
          </a:p>
          <a:p xmlns:a="http://schemas.openxmlformats.org/drawingml/2006/main">
            <a:r>
              <a:t/>
            </a:r>
          </a:p>
          <a:p xmlns:a="http://schemas.openxmlformats.org/drawingml/2006/main">
            <a:r>
              <a:t>[Sources]</a:t>
            </a:r>
          </a:p>
          <a:p xmlns:a="http://schemas.openxmlformats.org/drawingml/2006/main">
            <a:r>
              <a:t>- https://neo4j.com/docs/cypher-manual/current/indexes/semantic-indexes/vector-indexes/</a:t>
            </a:r>
          </a:p>
          <a:p xmlns:a="http://schemas.openxmlformats.org/drawingml/2006/main">
            <a:r>
              <a:t>- https://neo4j.com/docs/cypher-manual/current/indexes/semantic-indexes/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retrieval preserves entities and explicit relationships. A path is evidence that edges exist under the stored schema; it is not automatically evidence that every inferred causal or semantic claim is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Neo4j documents using full-text and vector indexes together for hybrid search and cautions that independent sources should be ranked independently rather than by comparing raw scores.</a:t>
            </a:r>
          </a:p>
          <a:p xmlns:a="http://schemas.openxmlformats.org/drawingml/2006/main">
            <a:r>
              <a:t/>
            </a:r>
          </a:p>
          <a:p xmlns:a="http://schemas.openxmlformats.org/drawingml/2006/main">
            <a:r>
              <a:t>[Sources]</a:t>
            </a:r>
          </a:p>
          <a:p xmlns:a="http://schemas.openxmlformats.org/drawingml/2006/main">
            <a:r>
              <a:t>- https://neo4j.com/docs/cypher-manual/current/indexes/semantic-indexes/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Persistence introduces governance work: provenance, deduplication, scoping, temporality, and evaluation. These concerns recur in the repository's issues and production-oriented APIs.</a:t>
            </a:r>
          </a:p>
          <a:p xmlns:a="http://schemas.openxmlformats.org/drawingml/2006/main">
            <a:r>
              <a:t/>
            </a:r>
          </a:p>
          <a:p xmlns:a="http://schemas.openxmlformats.org/drawingml/2006/main">
            <a:r>
              <a:t>[Sources]</a:t>
            </a:r>
          </a:p>
          <a:p xmlns:a="http://schemas.openxmlformats.org/drawingml/2006/main">
            <a:r>
              <a:t>- https://github.com/neo4j-labs/agent-memory/issues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working definition for the course. The next slides distinguish the SDK from the API it calls and the protocol used between separate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SDK is not a monolith. Separating these layers makes version skew and provider-specific failures diagnosable.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prevents a common vocabulary collapse. MCP is a protocol; its official language packages are SDKs; the tools/resources/prompts exposed by a server are APIs at the application level.</a:t>
            </a:r>
          </a:p>
          <a:p xmlns:a="http://schemas.openxmlformats.org/drawingml/2006/main">
            <a:r>
              <a:t/>
            </a:r>
          </a:p>
          <a:p xmlns:a="http://schemas.openxmlformats.org/drawingml/2006/main">
            <a:r>
              <a:t>[Sources]</a:t>
            </a:r>
          </a:p>
          <a:p xmlns:a="http://schemas.openxmlformats.org/drawingml/2006/main">
            <a:r>
              <a:t>- https://modelcontextprotocol.io/docs/2026-07-28/learn/architecture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host can create multiple clients, with each client maintaining one connection to one server. The host remains the container and coordinator; servers focus on narrow capabilities.</a:t>
            </a:r>
          </a:p>
          <a:p xmlns:a="http://schemas.openxmlformats.org/drawingml/2006/main">
            <a:r>
              <a:t/>
            </a:r>
          </a:p>
          <a:p xmlns:a="http://schemas.openxmlformats.org/drawingml/2006/main">
            <a:r>
              <a:t>[Sources]</a:t>
            </a:r>
          </a:p>
          <a:p xmlns:a="http://schemas.openxmlformats.org/drawingml/2006/main">
            <a:r>
              <a:t>- https://modelcontextprotocol.io/docs/2026-07-28/learn/architecture</a:t>
            </a:r>
          </a:p>
          <a:p xmlns:a="http://schemas.openxmlformats.org/drawingml/2006/main">
            <a:r>
              <a:t>- https://modelcontextprotocol.io/specification/2025-06-18/architecture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MCP architecture documentation separates a JSON-RPC data layer from the transport layer. Stdio is common for local servers; Streamable HTTP is the current remote transport described by the documentation.</a:t>
            </a:r>
          </a:p>
          <a:p xmlns:a="http://schemas.openxmlformats.org/drawingml/2006/main">
            <a:r>
              <a:t/>
            </a:r>
          </a:p>
          <a:p xmlns:a="http://schemas.openxmlformats.org/drawingml/2006/main">
            <a:r>
              <a:t>[Sources]</a:t>
            </a:r>
          </a:p>
          <a:p xmlns:a="http://schemas.openxmlformats.org/drawingml/2006/main">
            <a:r>
              <a:t>- https://modelcontextprotocol.io/docs/2026-07-28/learn/architecture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Initialization exchanges a protocol version and capabilities. Discovery methods are dynamic, so a client lists primitives before using them rather than relying only on a hard-coded catalog.</a:t>
            </a:r>
          </a:p>
          <a:p xmlns:a="http://schemas.openxmlformats.org/drawingml/2006/main">
            <a:r>
              <a:t/>
            </a:r>
          </a:p>
          <a:p xmlns:a="http://schemas.openxmlformats.org/drawingml/2006/main">
            <a:r>
              <a:t>[Sources]</a:t>
            </a:r>
          </a:p>
          <a:p xmlns:a="http://schemas.openxmlformats.org/drawingml/2006/main">
            <a:r>
              <a:t>- https://modelcontextprotocol.io/docs/2026-07-28/learn/architecture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MCP server-primitives overview describes prompts as user-controlled, resources as application-controlled, and tools as model-controlled. Control here describes selection, not unlimited authority.</a:t>
            </a:r>
          </a:p>
          <a:p xmlns:a="http://schemas.openxmlformats.org/drawingml/2006/main">
            <a:r>
              <a:t/>
            </a:r>
          </a:p>
          <a:p xmlns:a="http://schemas.openxmlformats.org/drawingml/2006/main">
            <a:r>
              <a:t>[Sources]</a:t>
            </a:r>
          </a:p>
          <a:p xmlns:a="http://schemas.openxmlformats.org/drawingml/2006/main">
            <a:r>
              <a:t>- https://modelcontextprotocol.io/docs/2026-07-28/learn/architecture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host coordinates the LLM integration and security policy. MCP improves composability but does not decide the next action or define the product's success contract.</a:t>
            </a:r>
          </a:p>
          <a:p xmlns:a="http://schemas.openxmlformats.org/drawingml/2006/main">
            <a:r>
              <a:t/>
            </a:r>
          </a:p>
          <a:p xmlns:a="http://schemas.openxmlformats.org/drawingml/2006/main">
            <a:r>
              <a:t>[Sources]</a:t>
            </a:r>
          </a:p>
          <a:p xmlns:a="http://schemas.openxmlformats.org/drawingml/2006/main">
            <a:r>
              <a:t>- https://modelcontextprotocol.io/docs/2026-07-28/learn/architecture</a:t>
            </a:r>
          </a:p>
          <a:p xmlns:a="http://schemas.openxmlformats.org/drawingml/2006/main">
            <a:r>
              <a:t>- https://modelcontextprotocol.io/specification/2025-06-18/architecture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explicit bridge required by the course format. The remaining slides identify exact repository paths and public APIs.</a:t>
            </a:r>
          </a:p>
          <a:p xmlns:a="http://schemas.openxmlformats.org/drawingml/2006/main">
            <a:r>
              <a:t/>
            </a:r>
          </a:p>
          <a:p xmlns:a="http://schemas.openxmlformats.org/drawingml/2006/main">
            <a:r>
              <a:t>[Sources]</a:t>
            </a:r>
          </a:p>
          <a:p xmlns:a="http://schemas.openxmlformats.org/drawingml/2006/main">
            <a:r>
              <a:t>- https://github.com/neo4j-labs/agent-memory</a:t>
            </a:r>
          </a:p>
          <a:p xmlns:a="http://schemas.openxmlformats.org/drawingml/2006/main">
            <a:r>
              <a:t>- https://github.com/neo4j-labs/agent-memory/blob/main/README.md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implements short-term, long-term, and reasoning memory as connected graph structures. The image is copied from the repository and used under Apache-2.0.</a:t>
            </a:r>
          </a:p>
          <a:p xmlns:a="http://schemas.openxmlformats.org/drawingml/2006/main">
            <a:r>
              <a:t/>
            </a:r>
          </a:p>
          <a:p xmlns:a="http://schemas.openxmlformats.org/drawingml/2006/main">
            <a:r>
              <a:t>[Sources]</a:t>
            </a:r>
          </a:p>
          <a:p xmlns:a="http://schemas.openxmlformats.org/drawingml/2006/main">
            <a:r>
              <a:t>- https://neo4j.com/labs/agent-memory/explanation/memory-types/</a:t>
            </a:r>
          </a:p>
          <a:p xmlns:a="http://schemas.openxmlformats.org/drawingml/2006/main">
            <a:r>
              <a:t>- https://github.com/neo4j-labs/agent-memory/blob/main/README.md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root listing follows the repository's current GitHub contents order as checked on 13 August 2026. The code map then narrows to the Python package paths used in later slides. The repository commit inspected for this deck was 231d60eac9401ab156ba194b519d89dd644dadb8.</a:t>
            </a:r>
          </a:p>
          <a:p xmlns:a="http://schemas.openxmlformats.org/drawingml/2006/main">
            <a:r>
              <a:t/>
            </a:r>
          </a:p>
          <a:p xmlns:a="http://schemas.openxmlformats.org/drawingml/2006/main">
            <a:r>
              <a:t>[Sources]</a:t>
            </a:r>
          </a:p>
          <a:p xmlns:a="http://schemas.openxmlformats.org/drawingml/2006/main">
            <a:r>
              <a:t>- https://github.com/neo4j-labs/agent-memory</a:t>
            </a:r>
          </a:p>
          <a:p xmlns:a="http://schemas.openxmlformats.org/drawingml/2006/main">
            <a:r>
              <a:t>- https://github.com/neo4j-labs/agent-memory/blob/main/src/neo4j_agent_memory/__init__.py</a:t>
            </a:r>
          </a:p>
          <a:p xmlns:a="http://schemas.openxmlformats.org/drawingml/2006/main">
            <a:r>
              <a:t>- https://github.com/neo4j-labs/agent-memory/blob/main/pyproject.toml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MemoryClient.connect dispatches to bolt or NAMS. On bolt it opens Neo4j, configures schema, and wires concrete memory classes. NAMS wires protocol-compatible REST accessors and marks bolt-only features unsupported.</a:t>
            </a:r>
          </a:p>
          <a:p xmlns:a="http://schemas.openxmlformats.org/drawingml/2006/main">
            <a:r>
              <a:t/>
            </a:r>
          </a:p>
          <a:p xmlns:a="http://schemas.openxmlformats.org/drawingml/2006/main">
            <a:r>
              <a:t>[Sources]</a:t>
            </a:r>
          </a:p>
          <a:p xmlns:a="http://schemas.openxmlformats.org/drawingml/2006/main">
            <a:r>
              <a:t>- https://github.com/neo4j-labs/agent-memory/blob/main/src/neo4j_agent_memory/__init__.py</a:t>
            </a:r>
          </a:p>
          <a:p xmlns:a="http://schemas.openxmlformats.org/drawingml/2006/main">
            <a:r>
              <a:t>- https://neo4j.com/labs/agent-memory/sdks/python/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LongTermMemory.add_entity normalizes the entity type, may resolve identity, may generate an embedding and check duplicates, then executes a Cypher write. add_relationship persists a RELATED_TO edge whose type property carries the semantic relationship label. The image shows the repository's broader extraction pipeline.</a:t>
            </a:r>
          </a:p>
          <a:p xmlns:a="http://schemas.openxmlformats.org/drawingml/2006/main">
            <a:r>
              <a:t/>
            </a:r>
          </a:p>
          <a:p xmlns:a="http://schemas.openxmlformats.org/drawingml/2006/main">
            <a:r>
              <a:t>[Sources]</a:t>
            </a:r>
          </a:p>
          <a:p xmlns:a="http://schemas.openxmlformats.org/drawingml/2006/main">
            <a:r>
              <a:t>- https://github.com/neo4j-labs/agent-memory/blob/main/src/neo4j_agent_memory/memory/long_term.py</a:t>
            </a:r>
          </a:p>
          <a:p xmlns:a="http://schemas.openxmlformats.org/drawingml/2006/main">
            <a:r>
              <a:t>- https://neo4j.com/labs/agent-memory/explanation/poleo-model/</a:t>
            </a:r>
          </a:p>
          <a:p xmlns:a="http://schemas.openxmlformats.org/drawingml/2006/main">
            <a:r>
              <a:t>- https://github.com/neo4j-labs/agent-memory/blob/main/README.md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MemoryClient.get_graph queries each requested memory type and returns MemoryGraph with GraphNode and GraphRelationship models. The method explicitly raises NotSupportedError for NAMS and recommends hosted-side alternatives.</a:t>
            </a:r>
          </a:p>
          <a:p xmlns:a="http://schemas.openxmlformats.org/drawingml/2006/main">
            <a:r>
              <a:t/>
            </a:r>
          </a:p>
          <a:p xmlns:a="http://schemas.openxmlformats.org/drawingml/2006/main">
            <a:r>
              <a:t>[Sources]</a:t>
            </a:r>
          </a:p>
          <a:p xmlns:a="http://schemas.openxmlformats.org/drawingml/2006/main">
            <a:r>
              <a:t>- https://github.com/neo4j-labs/agent-memory/blob/main/src/neo4j_agent_memory/__init__.py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makes retrieval choice visible in method bodies. search_entities returns an empty list without an embedder; get_related_entities uses graph relationships; query.cypher exposes parameterized read-only traversal. Neo4j documents that semantic indexes require explicit use.</a:t>
            </a:r>
          </a:p>
          <a:p xmlns:a="http://schemas.openxmlformats.org/drawingml/2006/main">
            <a:r>
              <a:t/>
            </a:r>
          </a:p>
          <a:p xmlns:a="http://schemas.openxmlformats.org/drawingml/2006/main">
            <a:r>
              <a:t>[Sources]</a:t>
            </a:r>
          </a:p>
          <a:p xmlns:a="http://schemas.openxmlformats.org/drawingml/2006/main">
            <a:r>
              <a:t>- https://github.com/neo4j-labs/agent-memory/blob/main/src/neo4j_agent_memory/memory/long_term.py</a:t>
            </a:r>
          </a:p>
          <a:p xmlns:a="http://schemas.openxmlformats.org/drawingml/2006/main">
            <a:r>
              <a:t>- https://neo4j.com/docs/cypher-manual/current/indexes/semantic-indexes/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README and MCP server source define a six-tool core profile and a sixteen-tool extended profile. The tool list is dated to the repository state checked on 13 August 2026; treat it as version-specific.</a:t>
            </a:r>
          </a:p>
          <a:p xmlns:a="http://schemas.openxmlformats.org/drawingml/2006/main">
            <a:r>
              <a:t/>
            </a:r>
          </a:p>
          <a:p xmlns:a="http://schemas.openxmlformats.org/drawingml/2006/main">
            <a:r>
              <a:t>[Sources]</a:t>
            </a:r>
          </a:p>
          <a:p xmlns:a="http://schemas.openxmlformats.org/drawingml/2006/main">
            <a:r>
              <a:t>- https://github.com/neo4j-labs/agent-memory/blob/main/README.md</a:t>
            </a:r>
          </a:p>
          <a:p xmlns:a="http://schemas.openxmlformats.org/drawingml/2006/main">
            <a:r>
              <a:t>- https://neo4j.com/labs/agent-memory/reference/mcp-tools/</a:t>
            </a:r>
          </a:p>
          <a:p xmlns:a="http://schemas.openxmlformats.org/drawingml/2006/main">
            <a:r>
              <a:t>- https://github.com/neo4j-labs/agent-memory/blob/main/src/neo4j_agent_memory/mcp/server.py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MCP functions in _tools.py call the same integration/client memory operations used by application code. The difference is caller, discovery, lifecycle, and authorization—not a second memory model.</a:t>
            </a:r>
          </a:p>
          <a:p xmlns:a="http://schemas.openxmlformats.org/drawingml/2006/main">
            <a:r>
              <a:t/>
            </a:r>
          </a:p>
          <a:p xmlns:a="http://schemas.openxmlformats.org/drawingml/2006/main">
            <a:r>
              <a:t>[Sources]</a:t>
            </a:r>
          </a:p>
          <a:p xmlns:a="http://schemas.openxmlformats.org/drawingml/2006/main">
            <a:r>
              <a:t>- https://github.com/neo4j-labs/agent-memory/blob/main/src/neo4j_agent_memory/mcp/_tools.py</a:t>
            </a:r>
          </a:p>
          <a:p xmlns:a="http://schemas.openxmlformats.org/drawingml/2006/main">
            <a:r>
              <a:t>- https://github.com/neo4j-labs/agent-memory/blob/main/src/neo4j_agent_memory/mcp/server.py</a:t>
            </a:r>
          </a:p>
          <a:p xmlns:a="http://schemas.openxmlformats.org/drawingml/2006/main">
            <a:r>
              <a:t>- https://github.com/neo4j-labs/agent-memory/blob/main/src/neo4j_agent_memory/__init__.py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Python published version matched pyproject.toml at 0.5.0 and imported in a clean Python 3.12 environment. npm reported 0.4.1 and the package imported as ESM. GitHub main contained unreleased changes. This is deliberately date-stamped.</a:t>
            </a:r>
          </a:p>
          <a:p xmlns:a="http://schemas.openxmlformats.org/drawingml/2006/main">
            <a:r>
              <a:t/>
            </a:r>
          </a:p>
          <a:p xmlns:a="http://schemas.openxmlformats.org/drawingml/2006/main">
            <a:r>
              <a:t>[Sources]</a:t>
            </a:r>
          </a:p>
          <a:p xmlns:a="http://schemas.openxmlformats.org/drawingml/2006/main">
            <a:r>
              <a:t>- https://pypi.org/project/neo4j-agent-memory/</a:t>
            </a:r>
          </a:p>
          <a:p xmlns:a="http://schemas.openxmlformats.org/drawingml/2006/main">
            <a:r>
              <a:t>- https://www.npmjs.com/package/@neo4j-labs/agent-memory</a:t>
            </a:r>
          </a:p>
          <a:p xmlns:a="http://schemas.openxmlformats.org/drawingml/2006/main">
            <a:r>
              <a:t>- https://github.com/neo4j-labs/agent-memory/blob/main/pyproject.toml</a:t>
            </a:r>
          </a:p>
          <a:p xmlns:a="http://schemas.openxmlformats.org/drawingml/2006/main">
            <a:r>
              <a:t>- https://github.com/neo4j-labs/agent-memory/blob/main/CHANGELOG.md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of 13 August 2026, open issues included long-term user isolation (#137), graph-memory poisoning (#155), and a bitemporal supersession RFC (#177). Issue counts and status are volatile; the slide names concrete risks and avoids claiming universal exploitability.</a:t>
            </a:r>
          </a:p>
          <a:p xmlns:a="http://schemas.openxmlformats.org/drawingml/2006/main">
            <a:r>
              <a:t/>
            </a:r>
          </a:p>
          <a:p xmlns:a="http://schemas.openxmlformats.org/drawingml/2006/main">
            <a:r>
              <a:t>[Sources]</a:t>
            </a:r>
          </a:p>
          <a:p xmlns:a="http://schemas.openxmlformats.org/drawingml/2006/main">
            <a:r>
              <a:t>- https://github.com/neo4j-labs/agent-memory/blob/main/README.md</a:t>
            </a:r>
          </a:p>
          <a:p xmlns:a="http://schemas.openxmlformats.org/drawingml/2006/main">
            <a:r>
              <a:t>- https://github.com/neo4j-labs/agent-memory/issues/137</a:t>
            </a:r>
          </a:p>
          <a:p xmlns:a="http://schemas.openxmlformats.org/drawingml/2006/main">
            <a:r>
              <a:t>- https://github.com/neo4j-labs/agent-memory/issues/155</a:t>
            </a:r>
          </a:p>
          <a:p xmlns:a="http://schemas.openxmlformats.org/drawingml/2006/main">
            <a:r>
              <a:t>- https://github.com/neo4j-labs/agent-memory/issues/177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starter supplies the browser, routes, and local Neo4j configuration. Students implement SDK writes, graph export, and parameterized one-hop traversal, then prove persistence across an application restart. The instructor reference was designed against published Python 0.5.0.</a:t>
            </a:r>
          </a:p>
          <a:p xmlns:a="http://schemas.openxmlformats.org/drawingml/2006/main">
            <a:r>
              <a:t/>
            </a:r>
          </a:p>
          <a:p xmlns:a="http://schemas.openxmlformats.org/drawingml/2006/main">
            <a:r>
              <a:t>[Sources]</a:t>
            </a:r>
          </a:p>
          <a:p xmlns:a="http://schemas.openxmlformats.org/drawingml/2006/main">
            <a:r>
              <a:t>- https://github.com/neo4j-labs/agent-memory/blob/main/src/neo4j_agent_memory/__init__.py</a:t>
            </a:r>
          </a:p>
          <a:p xmlns:a="http://schemas.openxmlformats.org/drawingml/2006/main">
            <a:r>
              <a:t>- https://github.com/neo4j-labs/agent-memory/blob/main/src/neo4j_agent_memory/memory/long_term.py</a:t>
            </a:r>
          </a:p>
          <a:p xmlns:a="http://schemas.openxmlformats.org/drawingml/2006/main">
            <a:r>
              <a:t>- https://github.com/neo4j-labs/agent-memory/blob/main/README.md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 students to the post-lesson quiz and the Memory Map assignment. The assignment ends with a persistence demonstration and a comparison between SDK and MCP integration surfaces.</a:t>
            </a:r>
          </a:p>
          <a:p xmlns:a="http://schemas.openxmlformats.org/drawingml/2006/main">
            <a:r>
              <a:t/>
            </a:r>
          </a:p>
          <a:p xmlns:a="http://schemas.openxmlformats.org/drawingml/2006/main">
            <a:r>
              <a:t>[Sources]</a:t>
            </a:r>
          </a:p>
          <a:p xmlns:a="http://schemas.openxmlformats.org/drawingml/2006/main">
            <a:r>
              <a:t>- https://github.com/neo4j-labs/agent-memory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9eb05dac5048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7d2c1115534679" /><Relationship Type="http://schemas.openxmlformats.org/officeDocument/2006/relationships/slideLayout" Target="/ppt/slideLayouts/slideLayout1.xml" Id="R36c09440d0934c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c09440d0934c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2caa8b9ee34319" /><Relationship Type="http://schemas.openxmlformats.org/officeDocument/2006/relationships/notesSlide" Target="/ppt/notesSlides/notesSlide1.xml" Id="R16727ec20ecf4e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979881af6b4637" /><Relationship Type="http://schemas.openxmlformats.org/officeDocument/2006/relationships/image" Target="/ppt/media/image.png" Id="R3a94fb4f07c04206" /><Relationship Type="http://schemas.openxmlformats.org/officeDocument/2006/relationships/notesSlide" Target="/ppt/notesSlides/notesSlide2.xml" Id="Rec710a8c7c8c4f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28a7f8bec7468c" /><Relationship Type="http://schemas.openxmlformats.org/officeDocument/2006/relationships/notesSlide" Target="/ppt/notesSlides/notesSlide3.xml" Id="Rd323ae75bb7f43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1513da45e74333" /><Relationship Type="http://schemas.openxmlformats.org/officeDocument/2006/relationships/notesSlide" Target="/ppt/notesSlides/notesSlide4.xml" Id="R9a0b751785c648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8fdae126b44d90" /><Relationship Type="http://schemas.openxmlformats.org/officeDocument/2006/relationships/notesSlide" Target="/ppt/notesSlides/notesSlide5.xml" Id="Rd77525d40bc242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817680f1684b09" /><Relationship Type="http://schemas.openxmlformats.org/officeDocument/2006/relationships/notesSlide" Target="/ppt/notesSlides/notesSlide6.xml" Id="Rbf7c16fc02f449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4a031ebee04fae" /><Relationship Type="http://schemas.openxmlformats.org/officeDocument/2006/relationships/notesSlide" Target="/ppt/notesSlides/notesSlide7.xml" Id="R896cb08b58db44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2fd851a6dd4482" /><Relationship Type="http://schemas.openxmlformats.org/officeDocument/2006/relationships/notesSlide" Target="/ppt/notesSlides/notesSlide8.xml" Id="Re14ceba5803c4f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bfa457fde1d456c" /><Relationship Type="http://schemas.openxmlformats.org/officeDocument/2006/relationships/notesSlide" Target="/ppt/notesSlides/notesSlide9.xml" Id="R5ccfdf5cc1db42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48f51b56564d22" /><Relationship Type="http://schemas.openxmlformats.org/officeDocument/2006/relationships/notesSlide" Target="/ppt/notesSlides/notesSlide10.xml" Id="Rd2766e4927974e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f20d5c69de4b29" /><Relationship Type="http://schemas.openxmlformats.org/officeDocument/2006/relationships/notesSlide" Target="/ppt/notesSlides/notesSlide11.xml" Id="Rffaea18689fc45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c61f9899f64536" /><Relationship Type="http://schemas.openxmlformats.org/officeDocument/2006/relationships/notesSlide" Target="/ppt/notesSlides/notesSlide12.xml" Id="R0cda88c2250544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8ed70bef884d55" /><Relationship Type="http://schemas.openxmlformats.org/officeDocument/2006/relationships/notesSlide" Target="/ppt/notesSlides/notesSlide13.xml" Id="R68a8ce4be69244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231e66b3fee4fd0" /><Relationship Type="http://schemas.openxmlformats.org/officeDocument/2006/relationships/notesSlide" Target="/ppt/notesSlides/notesSlide14.xml" Id="Re8da415bb8e34f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4bdab0207d64d2f" /><Relationship Type="http://schemas.openxmlformats.org/officeDocument/2006/relationships/notesSlide" Target="/ppt/notesSlides/notesSlide15.xml" Id="R9aae7f0f6eac43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fd9bfe396b4773" /><Relationship Type="http://schemas.openxmlformats.org/officeDocument/2006/relationships/notesSlide" Target="/ppt/notesSlides/notesSlide16.xml" Id="R116ee48afca64a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2f5c791a8b44bc5" /><Relationship Type="http://schemas.openxmlformats.org/officeDocument/2006/relationships/notesSlide" Target="/ppt/notesSlides/notesSlide17.xml" Id="Rf2a904d7f358400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7f4502cf97840ae" /><Relationship Type="http://schemas.openxmlformats.org/officeDocument/2006/relationships/notesSlide" Target="/ppt/notesSlides/notesSlide18.xml" Id="R2c1d987cc72044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f5e82ace7824a7e" /><Relationship Type="http://schemas.openxmlformats.org/officeDocument/2006/relationships/image" Target="/ppt/media/image2.png" Id="Rb39fc304259d4ce8" /><Relationship Type="http://schemas.openxmlformats.org/officeDocument/2006/relationships/notesSlide" Target="/ppt/notesSlides/notesSlide19.xml" Id="R5d9d34a701ef47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ed93880cc414bce" /><Relationship Type="http://schemas.openxmlformats.org/officeDocument/2006/relationships/notesSlide" Target="/ppt/notesSlides/notesSlide20.xml" Id="R122a53958f0b48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a25b5ffc6084c03" /><Relationship Type="http://schemas.openxmlformats.org/officeDocument/2006/relationships/notesSlide" Target="/ppt/notesSlides/notesSlide21.xml" Id="R9fdebb8e862e432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23e740027bc42c2" /><Relationship Type="http://schemas.openxmlformats.org/officeDocument/2006/relationships/image" Target="/ppt/media/image3.png" Id="R8b90cce41a334881" /><Relationship Type="http://schemas.openxmlformats.org/officeDocument/2006/relationships/notesSlide" Target="/ppt/notesSlides/notesSlide22.xml" Id="R451e45eb0fc747b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c95787f5f3f46ee" /><Relationship Type="http://schemas.openxmlformats.org/officeDocument/2006/relationships/notesSlide" Target="/ppt/notesSlides/notesSlide23.xml" Id="R781ac153dc96457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23801c229db4f3c" /><Relationship Type="http://schemas.openxmlformats.org/officeDocument/2006/relationships/notesSlide" Target="/ppt/notesSlides/notesSlide24.xml" Id="Ra3ce3825a57a478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ad65f5032f4ab7" /><Relationship Type="http://schemas.openxmlformats.org/officeDocument/2006/relationships/notesSlide" Target="/ppt/notesSlides/notesSlide25.xml" Id="R67f3b435d37c4e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776bce00c3c4b83" /><Relationship Type="http://schemas.openxmlformats.org/officeDocument/2006/relationships/notesSlide" Target="/ppt/notesSlides/notesSlide26.xml" Id="R558968703a71486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b3abf25a6e04eb2" /><Relationship Type="http://schemas.openxmlformats.org/officeDocument/2006/relationships/notesSlide" Target="/ppt/notesSlides/notesSlide27.xml" Id="Rf98d249b5cff435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228e179c2a7454a" /><Relationship Type="http://schemas.openxmlformats.org/officeDocument/2006/relationships/notesSlide" Target="/ppt/notesSlides/notesSlide28.xml" Id="Rc4088607f204488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fff7328eac54619" /><Relationship Type="http://schemas.openxmlformats.org/officeDocument/2006/relationships/notesSlide" Target="/ppt/notesSlides/notesSlide29.xml" Id="R322e7c60968046d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86f46315dd541cf" /><Relationship Type="http://schemas.openxmlformats.org/officeDocument/2006/relationships/notesSlide" Target="/ppt/notesSlides/notesSlide30.xml" Id="R9d33b503c55a4782" /></Relationships>
</file>

<file path=ppt/slides/slide1.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103108-E005-4CE2-808E-B01F7A7D1733}"/>
              </a:ext>
            </a:extLst>
          </p:cNvPr>
          <p:cNvSpPr>
            <a:spLocks xmlns:a="http://schemas.openxmlformats.org/drawingml/2006/main" noGrp="1"/>
          </p:cNvSpPr>
          <p:nvPr/>
        </p:nvSpPr>
        <p:spPr>
          <a:xfrm xmlns:a="http://schemas.openxmlformats.org/drawingml/2006/main">
            <a:off x="7905750" y="-190500"/>
            <a:ext cx="4095750" cy="4095750"/>
          </a:xfrm>
          <a:prstGeom xmlns:a="http://schemas.openxmlformats.org/drawingml/2006/main" prst="ellipse">
            <a:avLst/>
          </a:prstGeom>
          <a:solidFill xmlns:a="http://schemas.openxmlformats.org/drawingml/2006/main">
            <a:srgbClr val="065A8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4769CB-5A40-41F7-9E91-D515B2C1693E}"/>
              </a:ext>
            </a:extLst>
          </p:cNvPr>
          <p:cNvSpPr>
            <a:spLocks xmlns:a="http://schemas.openxmlformats.org/drawingml/2006/main" noGrp="1"/>
          </p:cNvSpPr>
          <p:nvPr/>
        </p:nvSpPr>
        <p:spPr>
          <a:xfrm xmlns:a="http://schemas.openxmlformats.org/drawingml/2006/main">
            <a:off x="9048750" y="2952750"/>
            <a:ext cx="3143250" cy="3143250"/>
          </a:xfrm>
          <a:prstGeom xmlns:a="http://schemas.openxmlformats.org/drawingml/2006/main" prst="ellipse">
            <a:avLst/>
          </a:prstGeom>
          <a:solidFill xmlns:a="http://schemas.openxmlformats.org/drawingml/2006/main">
            <a:srgbClr val="1C729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D7177E-BA76-46FF-8C69-A66229BD74F9}"/>
              </a:ext>
            </a:extLst>
          </p:cNvPr>
          <p:cNvSpPr>
            <a:spLocks xmlns:a="http://schemas.openxmlformats.org/drawingml/2006/main" noGrp="1"/>
          </p:cNvSpPr>
          <p:nvPr/>
        </p:nvSpPr>
        <p:spPr>
          <a:xfrm xmlns:a="http://schemas.openxmlformats.org/drawingml/2006/main">
            <a:off x="7334250" y="3333750"/>
            <a:ext cx="1809750" cy="1809750"/>
          </a:xfrm>
          <a:prstGeom xmlns:a="http://schemas.openxmlformats.org/drawingml/2006/main" prst="ellipse">
            <a:avLst/>
          </a:prstGeom>
          <a:solidFill xmlns:a="http://schemas.openxmlformats.org/drawingml/2006/main">
            <a:srgbClr val="2129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0A647C-79C0-435C-BEEE-8C66FBB369E5}"/>
              </a:ext>
            </a:extLst>
          </p:cNvPr>
          <p:cNvSpPr>
            <a:spLocks xmlns:a="http://schemas.openxmlformats.org/drawingml/2006/main" noGrp="1"/>
          </p:cNvSpPr>
          <p:nvPr/>
        </p:nvSpPr>
        <p:spPr>
          <a:xfrm xmlns:a="http://schemas.openxmlformats.org/drawingml/2006/main">
            <a:off x="685800" y="6667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6491"/>
          </a:bodyPr>
          <a:lstStyle xmlns:a="http://schemas.openxmlformats.org/drawingml/2006/main"/>
          <a:p xmlns:a="http://schemas.openxmlformats.org/drawingml/2006/main">
            <a:pPr algn="l">
              <a:lnSpc>
                <a:spcPct val="100000"/>
              </a:lnSpc>
              <a:buNone/>
              <a:defRPr sz="1425" b="1" i="0">
                <a:solidFill>
                  <a:srgbClr val="CFE8F0"/>
                </a:solidFill>
                <a:latin typeface="Courier New"/>
                <a:ea typeface="Courier New"/>
                <a:cs typeface="Courier New"/>
              </a:defRPr>
            </a:pPr>
            <a:r>
              <a:rPr sz="1425" b="1" i="0">
                <a:solidFill>
                  <a:srgbClr val="CFE8F0"/>
                </a:solidFill>
                <a:latin typeface="Courier New"/>
                <a:ea typeface="Courier New"/>
                <a:cs typeface="Courier New"/>
              </a:rPr>
              <a:t>AI TOOLING SEMINAR · LECTURE 7</a:t>
            </a:r>
          </a:p>
        </p:txBody>
      </p:sp>
      <p:sp>
        <p:nvSpPr>
          <p:cNvPr id="5" name="">
            <a:extLst xmlns:a="http://schemas.openxmlformats.org/drawingml/2006/main">
              <a:ext uri="{FF2B5EF4-FFF2-40B4-BE49-F238E27FC236}">
                <a16:creationId xmlns:a16="http://schemas.microsoft.com/office/drawing/2014/main" id="{4A4D4F38-BB06-462F-B6BA-B8E4C79C58B8}"/>
              </a:ext>
            </a:extLst>
          </p:cNvPr>
          <p:cNvSpPr>
            <a:spLocks xmlns:a="http://schemas.openxmlformats.org/drawingml/2006/main" noGrp="1"/>
          </p:cNvSpPr>
          <p:nvPr/>
        </p:nvSpPr>
        <p:spPr>
          <a:xfrm xmlns:a="http://schemas.openxmlformats.org/drawingml/2006/main">
            <a:off x="685800" y="1381125"/>
            <a:ext cx="695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5400" b="1" i="0">
                <a:solidFill>
                  <a:srgbClr val="FFFFFF"/>
                </a:solidFill>
                <a:latin typeface="Cambria"/>
                <a:ea typeface="Cambria"/>
                <a:cs typeface="Cambria"/>
              </a:defRPr>
            </a:pPr>
            <a:r>
              <a:rPr sz="5400" b="1" i="0">
                <a:solidFill>
                  <a:srgbClr val="FFFFFF"/>
                </a:solidFill>
                <a:latin typeface="Cambria"/>
                <a:ea typeface="Cambria"/>
                <a:cs typeface="Cambria"/>
              </a:rPr>
              <a:t>Neo4j Agent</a:t>
            </a:r>
          </a:p>
          <a:p xmlns:a="http://schemas.openxmlformats.org/drawingml/2006/main">
            <a:pPr algn="l">
              <a:lnSpc>
                <a:spcPct val="92000"/>
              </a:lnSpc>
              <a:buNone/>
              <a:defRPr sz="5400" b="1" i="0">
                <a:solidFill>
                  <a:srgbClr val="FFFFFF"/>
                </a:solidFill>
                <a:latin typeface="Cambria"/>
                <a:ea typeface="Cambria"/>
                <a:cs typeface="Cambria"/>
              </a:defRPr>
            </a:pPr>
            <a:r>
              <a:rPr sz="5400" b="1" i="0">
                <a:solidFill>
                  <a:srgbClr val="FFFFFF"/>
                </a:solidFill>
                <a:latin typeface="Cambria"/>
                <a:ea typeface="Cambria"/>
                <a:cs typeface="Cambria"/>
              </a:rPr>
              <a:t>Memory</a:t>
            </a:r>
          </a:p>
        </p:txBody>
      </p:sp>
      <p:sp>
        <p:nvSpPr>
          <p:cNvPr id="6" name="">
            <a:extLst xmlns:a="http://schemas.openxmlformats.org/drawingml/2006/main">
              <a:ext uri="{FF2B5EF4-FFF2-40B4-BE49-F238E27FC236}">
                <a16:creationId xmlns:a16="http://schemas.microsoft.com/office/drawing/2014/main" id="{DD517194-F2FB-4D47-A5B2-435BEBC6F989}"/>
              </a:ext>
            </a:extLst>
          </p:cNvPr>
          <p:cNvSpPr>
            <a:spLocks xmlns:a="http://schemas.openxmlformats.org/drawingml/2006/main" noGrp="1"/>
          </p:cNvSpPr>
          <p:nvPr/>
        </p:nvSpPr>
        <p:spPr>
          <a:xfrm xmlns:a="http://schemas.openxmlformats.org/drawingml/2006/main">
            <a:off x="723900" y="3476625"/>
            <a:ext cx="676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0" i="0">
                <a:solidFill>
                  <a:srgbClr val="CFE8F0"/>
                </a:solidFill>
                <a:latin typeface="Calibri"/>
                <a:ea typeface="Calibri"/>
                <a:cs typeface="Calibri"/>
              </a:defRPr>
            </a:pPr>
            <a:r>
              <a:rPr sz="2250" b="0" i="0">
                <a:solidFill>
                  <a:srgbClr val="CFE8F0"/>
                </a:solidFill>
                <a:latin typeface="Calibri"/>
                <a:ea typeface="Calibri"/>
                <a:cs typeface="Calibri"/>
              </a:rPr>
              <a:t>SDKs, MCP, and graph-native persistence</a:t>
            </a:r>
          </a:p>
        </p:txBody>
      </p:sp>
      <p:sp>
        <p:nvSpPr>
          <p:cNvPr id="7" name="">
            <a:extLst xmlns:a="http://schemas.openxmlformats.org/drawingml/2006/main">
              <a:ext uri="{FF2B5EF4-FFF2-40B4-BE49-F238E27FC236}">
                <a16:creationId xmlns:a16="http://schemas.microsoft.com/office/drawing/2014/main" id="{7AD83EC5-7F0A-4E23-AE2B-72387C23C0CC}"/>
              </a:ext>
            </a:extLst>
          </p:cNvPr>
          <p:cNvSpPr>
            <a:spLocks xmlns:a="http://schemas.openxmlformats.org/drawingml/2006/main" noGrp="1"/>
          </p:cNvSpPr>
          <p:nvPr/>
        </p:nvSpPr>
        <p:spPr>
          <a:xfrm xmlns:a="http://schemas.openxmlformats.org/drawingml/2006/main">
            <a:off x="723900" y="5391150"/>
            <a:ext cx="752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127"/>
          </a:bodyPr>
          <a:lstStyle xmlns:a="http://schemas.openxmlformats.org/drawingml/2006/main"/>
          <a:p xmlns:a="http://schemas.openxmlformats.org/drawingml/2006/main">
            <a:pPr algn="l">
              <a:lnSpc>
                <a:spcPct val="100000"/>
              </a:lnSpc>
              <a:buNone/>
              <a:defRPr sz="1800" b="1" i="0">
                <a:solidFill>
                  <a:srgbClr val="F4C95D"/>
                </a:solidFill>
                <a:latin typeface="Courier New"/>
                <a:ea typeface="Courier New"/>
                <a:cs typeface="Courier New"/>
              </a:defRPr>
            </a:pPr>
            <a:r>
              <a:rPr sz="1800" b="1" i="0">
                <a:solidFill>
                  <a:srgbClr val="F4C95D"/>
                </a:solidFill>
                <a:latin typeface="Courier New"/>
                <a:ea typeface="Courier New"/>
                <a:cs typeface="Courier New"/>
              </a:rPr>
              <a:t>Choose the retrieval system by the question it must answer.</a:t>
            </a:r>
          </a:p>
        </p:txBody>
      </p:sp>
    </p:spTree>
    <p:extLst>
      <p:ext uri="{BB962C8B-B14F-4D97-AF65-F5344CB8AC3E}">
        <p14:creationId xmlns:p14="http://schemas.microsoft.com/office/powerpoint/2010/main" val="3919691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06B878-46D9-4B37-828B-2FFD0BA711E8}"/>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F4B5F818-B271-4A60-AFC7-245F75E4C235}"/>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One Memory Graph Serves Apps and Agents</a:t>
            </a:r>
          </a:p>
        </p:txBody>
      </p:sp>
      <p:sp>
        <p:nvSpPr>
          <p:cNvPr id="3" name="">
            <a:extLst xmlns:a="http://schemas.openxmlformats.org/drawingml/2006/main">
              <a:ext uri="{FF2B5EF4-FFF2-40B4-BE49-F238E27FC236}">
                <a16:creationId xmlns:a16="http://schemas.microsoft.com/office/drawing/2014/main" id="{E519D207-3417-44B1-9007-7746DADD87A3}"/>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07EC3C4F-CB2D-4FB0-900D-62C84B5555E2}"/>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02</a:t>
            </a:r>
          </a:p>
        </p:txBody>
      </p:sp>
      <p:sp>
        <p:nvSpPr>
          <p:cNvPr id="5" name="">
            <a:extLst xmlns:a="http://schemas.openxmlformats.org/drawingml/2006/main">
              <a:ext uri="{FF2B5EF4-FFF2-40B4-BE49-F238E27FC236}">
                <a16:creationId xmlns:a16="http://schemas.microsoft.com/office/drawing/2014/main" id="{C5CAAD1E-A5FA-490F-9560-B4F9EE5C9020}"/>
              </a:ext>
            </a:extLst>
          </p:cNvPr>
          <p:cNvSpPr>
            <a:spLocks xmlns:a="http://schemas.openxmlformats.org/drawingml/2006/main" noGrp="1"/>
          </p:cNvSpPr>
          <p:nvPr/>
        </p:nvSpPr>
        <p:spPr>
          <a:xfrm xmlns:a="http://schemas.openxmlformats.org/drawingml/2006/main">
            <a:off x="685800" y="1476375"/>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168"/>
          </a:bodyPr>
          <a:lstStyle xmlns:a="http://schemas.openxmlformats.org/drawingml/2006/main"/>
          <a:p xmlns:a="http://schemas.openxmlformats.org/drawingml/2006/main">
            <a:pPr algn="l">
              <a:lnSpc>
                <a:spcPct val="105000"/>
              </a:lnSpc>
              <a:buNone/>
              <a:defRPr sz="2100" b="0" i="0">
                <a:solidFill>
                  <a:srgbClr val="5C7080"/>
                </a:solidFill>
                <a:latin typeface="Calibri"/>
                <a:ea typeface="Calibri"/>
                <a:cs typeface="Calibri"/>
              </a:defRPr>
            </a:pPr>
            <a:r>
              <a:rPr sz="2100" b="0" i="0">
                <a:solidFill>
                  <a:srgbClr val="5C7080"/>
                </a:solidFill>
                <a:latin typeface="Calibri"/>
                <a:ea typeface="Calibri"/>
                <a:cs typeface="Calibri"/>
              </a:rPr>
              <a:t>Neo4j Agent Memory persists conversations, entities, relationships, and reasoning traces in Neo4j. Applications call an SDK; compatible AI hosts can discover the same capabilities through MCP.</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a94fb4f07c04206"/>
          <a:stretch xmlns:a="http://schemas.openxmlformats.org/drawingml/2006/main"/>
        </p:blipFill>
        <p:spPr>
          <a:xfrm xmlns:a="http://schemas.openxmlformats.org/drawingml/2006/main">
            <a:off x="6000750" y="2095698"/>
            <a:ext cx="5429250" cy="2571353"/>
          </a:xfrm>
          <a:prstGeom xmlns:a="http://schemas.openxmlformats.org/drawingml/2006/main" prst="roundRect">
            <a:avLst>
              <a:gd name="adj" fmla="val 3000"/>
            </a:avLst>
          </a:prstGeom>
        </p:spPr>
      </p:pic>
      <p:sp>
        <p:nvSpPr>
          <p:cNvPr id="7" name="">
            <a:extLst xmlns:a="http://schemas.openxmlformats.org/drawingml/2006/main">
              <a:ext uri="{FF2B5EF4-FFF2-40B4-BE49-F238E27FC236}">
                <a16:creationId xmlns:a16="http://schemas.microsoft.com/office/drawing/2014/main" id="{4A66E1FF-CA4A-4447-9C2B-3AC0102C6FDA}"/>
              </a:ext>
            </a:extLst>
          </p:cNvPr>
          <p:cNvSpPr>
            <a:spLocks xmlns:a="http://schemas.openxmlformats.org/drawingml/2006/main" noGrp="1"/>
          </p:cNvSpPr>
          <p:nvPr/>
        </p:nvSpPr>
        <p:spPr>
          <a:xfrm xmlns:a="http://schemas.openxmlformats.org/drawingml/2006/main">
            <a:off x="723900" y="5410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2917"/>
          </a:bodyPr>
          <a:lstStyle xmlns:a="http://schemas.openxmlformats.org/drawingml/2006/main"/>
          <a:p xmlns:a="http://schemas.openxmlformats.org/drawingml/2006/main">
            <a:pPr algn="ctr">
              <a:lnSpc>
                <a:spcPct val="100000"/>
              </a:lnSpc>
              <a:buNone/>
              <a:defRPr sz="1800" b="1" i="0">
                <a:solidFill>
                  <a:srgbClr val="065A82"/>
                </a:solidFill>
                <a:latin typeface="Calibri"/>
                <a:ea typeface="Calibri"/>
                <a:cs typeface="Calibri"/>
              </a:defRPr>
            </a:pPr>
            <a:r>
              <a:rPr sz="1800" b="1" i="0">
                <a:solidFill>
                  <a:srgbClr val="065A82"/>
                </a:solidFill>
                <a:latin typeface="Calibri"/>
                <a:ea typeface="Calibri"/>
                <a:cs typeface="Calibri"/>
              </a:rPr>
              <a:t>Slides 3–17 build the memory, SDK, and MCP concepts without relying on this repository. Slide 18 maps each concept back to its source.</a:t>
            </a:r>
          </a:p>
        </p:txBody>
      </p:sp>
    </p:spTree>
    <p:extLst>
      <p:ext uri="{BB962C8B-B14F-4D97-AF65-F5344CB8AC3E}">
        <p14:creationId xmlns:p14="http://schemas.microsoft.com/office/powerpoint/2010/main" val="2031831043"/>
      </p:ext>
    </p:extLst>
  </p:cSld>
</p:sld>
</file>

<file path=ppt/slides/slide3.xml><?xml version="1.0" encoding="utf-8"?>
<p:sld xmlns:p="http://schemas.openxmlformats.org/presentationml/2006/main">
  <p:cSld>
    <p:bg>
      <p:bgPr>
        <a:solidFill xmlns:a="http://schemas.openxmlformats.org/drawingml/2006/main">
          <a:srgbClr val="F2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FD0D285-3D0E-4091-B541-1888B4FFD218}"/>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PERSISTENCE</a:t>
            </a:r>
          </a:p>
        </p:txBody>
      </p:sp>
      <p:sp>
        <p:nvSpPr>
          <p:cNvPr id="2" name="">
            <a:extLst xmlns:a="http://schemas.openxmlformats.org/drawingml/2006/main">
              <a:ext uri="{FF2B5EF4-FFF2-40B4-BE49-F238E27FC236}">
                <a16:creationId xmlns:a16="http://schemas.microsoft.com/office/drawing/2014/main" id="{86F117CC-9C0F-4768-A244-E28D166C6EF2}"/>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A Model Call Does Not Persist Experience</a:t>
            </a:r>
          </a:p>
        </p:txBody>
      </p:sp>
      <p:sp>
        <p:nvSpPr>
          <p:cNvPr id="3" name="">
            <a:extLst xmlns:a="http://schemas.openxmlformats.org/drawingml/2006/main">
              <a:ext uri="{FF2B5EF4-FFF2-40B4-BE49-F238E27FC236}">
                <a16:creationId xmlns:a16="http://schemas.microsoft.com/office/drawing/2014/main" id="{8594DC0D-5E60-49AD-B72F-EA80701ADF5F}"/>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9850C16B-C810-4EC9-A136-D0CD608B3F14}"/>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03</a:t>
            </a:r>
          </a:p>
        </p:txBody>
      </p:sp>
      <p:sp>
        <p:nvSpPr>
          <p:cNvPr id="5" name="">
            <a:extLst xmlns:a="http://schemas.openxmlformats.org/drawingml/2006/main">
              <a:ext uri="{FF2B5EF4-FFF2-40B4-BE49-F238E27FC236}">
                <a16:creationId xmlns:a16="http://schemas.microsoft.com/office/drawing/2014/main" id="{88AEFAC6-222A-40A9-94A8-A5E18D99B5EA}"/>
              </a:ext>
            </a:extLst>
          </p:cNvPr>
          <p:cNvSpPr>
            <a:spLocks xmlns:a="http://schemas.openxmlformats.org/drawingml/2006/main" noGrp="1"/>
          </p:cNvSpPr>
          <p:nvPr/>
        </p:nvSpPr>
        <p:spPr>
          <a:xfrm xmlns:a="http://schemas.openxmlformats.org/drawingml/2006/main">
            <a:off x="762000" y="1476375"/>
            <a:ext cx="10620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7701"/>
          </a:bodyPr>
          <a:lstStyle xmlns:a="http://schemas.openxmlformats.org/drawingml/2006/main"/>
          <a:p xmlns:a="http://schemas.openxmlformats.org/drawingml/2006/main">
            <a:pPr algn="l">
              <a:lnSpc>
                <a:spcPct val="100000"/>
              </a:lnSpc>
              <a:buNone/>
              <a:defRPr sz="2175" b="0" i="0">
                <a:solidFill>
                  <a:srgbClr val="5C7080"/>
                </a:solidFill>
                <a:latin typeface="Calibri"/>
                <a:ea typeface="Calibri"/>
                <a:cs typeface="Calibri"/>
              </a:defRPr>
            </a:pPr>
            <a:r>
              <a:rPr sz="2175" b="0" i="0">
                <a:solidFill>
                  <a:srgbClr val="5C7080"/>
                </a:solidFill>
                <a:latin typeface="Calibri"/>
                <a:ea typeface="Calibri"/>
                <a:cs typeface="Calibri"/>
              </a:rPr>
              <a:t>A model receives an input, produces an output, and ends. Durable memory exists only when an external system writes state and retrieves it on a later run.</a:t>
            </a:r>
          </a:p>
        </p:txBody>
      </p:sp>
      <p:sp>
        <p:nvSpPr>
          <p:cNvPr id="6" name="">
            <a:extLst xmlns:a="http://schemas.openxmlformats.org/drawingml/2006/main">
              <a:ext uri="{FF2B5EF4-FFF2-40B4-BE49-F238E27FC236}">
                <a16:creationId xmlns:a16="http://schemas.microsoft.com/office/drawing/2014/main" id="{702F8E60-51F6-4BC0-97A4-FCB2AD880454}"/>
              </a:ext>
            </a:extLst>
          </p:cNvPr>
          <p:cNvSpPr>
            <a:spLocks xmlns:a="http://schemas.openxmlformats.org/drawingml/2006/main" noGrp="1"/>
          </p:cNvSpPr>
          <p:nvPr/>
        </p:nvSpPr>
        <p:spPr>
          <a:xfrm xmlns:a="http://schemas.openxmlformats.org/drawingml/2006/main">
            <a:off x="876300" y="2857500"/>
            <a:ext cx="257175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19050">
            <a:solidFill>
              <a:srgbClr val="CFE8F0"/>
            </a:solidFill>
            <a:prstDash val="solid"/>
          </a:ln>
        </p:spPr>
      </p:sp>
      <p:sp>
        <p:nvSpPr>
          <p:cNvPr id="7" name="">
            <a:extLst xmlns:a="http://schemas.openxmlformats.org/drawingml/2006/main">
              <a:ext uri="{FF2B5EF4-FFF2-40B4-BE49-F238E27FC236}">
                <a16:creationId xmlns:a16="http://schemas.microsoft.com/office/drawing/2014/main" id="{383B034C-DE36-4800-8BCA-56FCB9567C6F}"/>
              </a:ext>
            </a:extLst>
          </p:cNvPr>
          <p:cNvSpPr>
            <a:spLocks xmlns:a="http://schemas.openxmlformats.org/drawingml/2006/main" noGrp="1"/>
          </p:cNvSpPr>
          <p:nvPr/>
        </p:nvSpPr>
        <p:spPr>
          <a:xfrm xmlns:a="http://schemas.openxmlformats.org/drawingml/2006/main">
            <a:off x="4810125" y="2857500"/>
            <a:ext cx="2571750" cy="1619250"/>
          </a:xfrm>
          <a:prstGeom xmlns:a="http://schemas.openxmlformats.org/drawingml/2006/main" prst="roundRect">
            <a:avLst>
              <a:gd name="adj" fmla="val 7059"/>
            </a:avLst>
          </a:prstGeom>
          <a:solidFill xmlns:a="http://schemas.openxmlformats.org/drawingml/2006/main">
            <a:srgbClr val="065A8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5184ED-89AB-4851-92BF-17C92896F33D}"/>
              </a:ext>
            </a:extLst>
          </p:cNvPr>
          <p:cNvSpPr>
            <a:spLocks xmlns:a="http://schemas.openxmlformats.org/drawingml/2006/main" noGrp="1"/>
          </p:cNvSpPr>
          <p:nvPr/>
        </p:nvSpPr>
        <p:spPr>
          <a:xfrm xmlns:a="http://schemas.openxmlformats.org/drawingml/2006/main">
            <a:off x="8743950" y="2857500"/>
            <a:ext cx="257175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19050">
            <a:solidFill>
              <a:srgbClr val="CFE8F0"/>
            </a:solidFill>
            <a:prstDash val="solid"/>
          </a:ln>
        </p:spPr>
      </p:sp>
      <p:sp>
        <p:nvSpPr>
          <p:cNvPr id="9" name="">
            <a:extLst xmlns:a="http://schemas.openxmlformats.org/drawingml/2006/main">
              <a:ext uri="{FF2B5EF4-FFF2-40B4-BE49-F238E27FC236}">
                <a16:creationId xmlns:a16="http://schemas.microsoft.com/office/drawing/2014/main" id="{7E03347F-9F78-48ED-9C69-CB36B556E439}"/>
              </a:ext>
            </a:extLst>
          </p:cNvPr>
          <p:cNvSpPr>
            <a:spLocks xmlns:a="http://schemas.openxmlformats.org/drawingml/2006/main" noGrp="1"/>
          </p:cNvSpPr>
          <p:nvPr/>
        </p:nvSpPr>
        <p:spPr>
          <a:xfrm xmlns:a="http://schemas.openxmlformats.org/drawingml/2006/main">
            <a:off x="1181100" y="3105150"/>
            <a:ext cx="1962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0000"/>
          </a:bodyPr>
          <a:lstStyle xmlns:a="http://schemas.openxmlformats.org/drawingml/2006/main"/>
          <a:p xmlns:a="http://schemas.openxmlformats.org/drawingml/2006/main">
            <a:pPr algn="ctr">
              <a:lnSpc>
                <a:spcPct val="100000"/>
              </a:lnSpc>
              <a:buNone/>
              <a:defRPr sz="1875" b="1" i="0">
                <a:solidFill>
                  <a:srgbClr val="0B2942"/>
                </a:solidFill>
                <a:latin typeface="Courier New"/>
                <a:ea typeface="Courier New"/>
                <a:cs typeface="Courier New"/>
              </a:defRPr>
            </a:pPr>
            <a:r>
              <a:rPr sz="1875" b="1" i="0">
                <a:solidFill>
                  <a:srgbClr val="0B2942"/>
                </a:solidFill>
                <a:latin typeface="Courier New"/>
                <a:ea typeface="Courier New"/>
                <a:cs typeface="Courier New"/>
              </a:rPr>
              <a:t>RUN 1</a:t>
            </a:r>
          </a:p>
        </p:txBody>
      </p:sp>
      <p:sp>
        <p:nvSpPr>
          <p:cNvPr id="10" name="">
            <a:extLst xmlns:a="http://schemas.openxmlformats.org/drawingml/2006/main">
              <a:ext uri="{FF2B5EF4-FFF2-40B4-BE49-F238E27FC236}">
                <a16:creationId xmlns:a16="http://schemas.microsoft.com/office/drawing/2014/main" id="{A27804BB-3863-4EE5-994C-C351B7D1F267}"/>
              </a:ext>
            </a:extLst>
          </p:cNvPr>
          <p:cNvSpPr>
            <a:spLocks xmlns:a="http://schemas.openxmlformats.org/drawingml/2006/main" noGrp="1"/>
          </p:cNvSpPr>
          <p:nvPr/>
        </p:nvSpPr>
        <p:spPr>
          <a:xfrm xmlns:a="http://schemas.openxmlformats.org/drawingml/2006/main">
            <a:off x="1162050" y="36385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ctr">
              <a:lnSpc>
                <a:spcPct val="100000"/>
              </a:lnSpc>
              <a:buNone/>
              <a:defRPr sz="1650" b="0" i="0">
                <a:solidFill>
                  <a:srgbClr val="5C7080"/>
                </a:solidFill>
                <a:latin typeface="Calibri"/>
                <a:ea typeface="Calibri"/>
                <a:cs typeface="Calibri"/>
              </a:defRPr>
            </a:pPr>
            <a:r>
              <a:rPr sz="1650" b="0" i="0">
                <a:solidFill>
                  <a:srgbClr val="5C7080"/>
                </a:solidFill>
                <a:latin typeface="Calibri"/>
                <a:ea typeface="Calibri"/>
                <a:cs typeface="Calibri"/>
              </a:rPr>
              <a:t>observation exists</a:t>
            </a:r>
          </a:p>
          <a:p xmlns:a="http://schemas.openxmlformats.org/drawingml/2006/main">
            <a:pPr algn="ctr">
              <a:lnSpc>
                <a:spcPct val="100000"/>
              </a:lnSpc>
              <a:buNone/>
              <a:defRPr sz="1650" b="0" i="0">
                <a:solidFill>
                  <a:srgbClr val="5C7080"/>
                </a:solidFill>
                <a:latin typeface="Calibri"/>
                <a:ea typeface="Calibri"/>
                <a:cs typeface="Calibri"/>
              </a:defRPr>
            </a:pPr>
            <a:r>
              <a:rPr sz="1650" b="0" i="0">
                <a:solidFill>
                  <a:srgbClr val="5C7080"/>
                </a:solidFill>
                <a:latin typeface="Calibri"/>
                <a:ea typeface="Calibri"/>
                <a:cs typeface="Calibri"/>
              </a:rPr>
              <a:t>only in this context</a:t>
            </a:r>
          </a:p>
        </p:txBody>
      </p:sp>
      <p:sp>
        <p:nvSpPr>
          <p:cNvPr id="11" name="">
            <a:extLst xmlns:a="http://schemas.openxmlformats.org/drawingml/2006/main">
              <a:ext uri="{FF2B5EF4-FFF2-40B4-BE49-F238E27FC236}">
                <a16:creationId xmlns:a16="http://schemas.microsoft.com/office/drawing/2014/main" id="{74FADDFC-34A8-4044-B7A1-47920FAA907C}"/>
              </a:ext>
            </a:extLst>
          </p:cNvPr>
          <p:cNvSpPr>
            <a:spLocks xmlns:a="http://schemas.openxmlformats.org/drawingml/2006/main" noGrp="1"/>
          </p:cNvSpPr>
          <p:nvPr/>
        </p:nvSpPr>
        <p:spPr>
          <a:xfrm xmlns:a="http://schemas.openxmlformats.org/drawingml/2006/main">
            <a:off x="5114925" y="3105150"/>
            <a:ext cx="1962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0000"/>
          </a:bodyPr>
          <a:lstStyle xmlns:a="http://schemas.openxmlformats.org/drawingml/2006/main"/>
          <a:p xmlns:a="http://schemas.openxmlformats.org/drawingml/2006/main">
            <a:pPr algn="ctr">
              <a:lnSpc>
                <a:spcPct val="100000"/>
              </a:lnSpc>
              <a:buNone/>
              <a:defRPr sz="1875" b="1" i="0">
                <a:solidFill>
                  <a:srgbClr val="FFFFFF"/>
                </a:solidFill>
                <a:latin typeface="Courier New"/>
                <a:ea typeface="Courier New"/>
                <a:cs typeface="Courier New"/>
              </a:defRPr>
            </a:pPr>
            <a:r>
              <a:rPr sz="1875" b="1" i="0">
                <a:solidFill>
                  <a:srgbClr val="FFFFFF"/>
                </a:solidFill>
                <a:latin typeface="Courier New"/>
                <a:ea typeface="Courier New"/>
                <a:cs typeface="Courier New"/>
              </a:rPr>
              <a:t>PERSIST</a:t>
            </a:r>
          </a:p>
        </p:txBody>
      </p:sp>
      <p:sp>
        <p:nvSpPr>
          <p:cNvPr id="12" name="">
            <a:extLst xmlns:a="http://schemas.openxmlformats.org/drawingml/2006/main">
              <a:ext uri="{FF2B5EF4-FFF2-40B4-BE49-F238E27FC236}">
                <a16:creationId xmlns:a16="http://schemas.microsoft.com/office/drawing/2014/main" id="{499EC476-071F-4FA9-A071-6CA569382CA5}"/>
              </a:ext>
            </a:extLst>
          </p:cNvPr>
          <p:cNvSpPr>
            <a:spLocks xmlns:a="http://schemas.openxmlformats.org/drawingml/2006/main" noGrp="1"/>
          </p:cNvSpPr>
          <p:nvPr/>
        </p:nvSpPr>
        <p:spPr>
          <a:xfrm xmlns:a="http://schemas.openxmlformats.org/drawingml/2006/main">
            <a:off x="5067300" y="3638550"/>
            <a:ext cx="2057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3816"/>
          </a:bodyPr>
          <a:lstStyle xmlns:a="http://schemas.openxmlformats.org/drawingml/2006/main"/>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write identity, content,</a:t>
            </a:r>
          </a:p>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relationships, and time</a:t>
            </a:r>
          </a:p>
        </p:txBody>
      </p:sp>
      <p:sp>
        <p:nvSpPr>
          <p:cNvPr id="13" name="">
            <a:extLst xmlns:a="http://schemas.openxmlformats.org/drawingml/2006/main">
              <a:ext uri="{FF2B5EF4-FFF2-40B4-BE49-F238E27FC236}">
                <a16:creationId xmlns:a16="http://schemas.microsoft.com/office/drawing/2014/main" id="{B3218771-51ED-4119-A58A-FE25390683F5}"/>
              </a:ext>
            </a:extLst>
          </p:cNvPr>
          <p:cNvSpPr>
            <a:spLocks xmlns:a="http://schemas.openxmlformats.org/drawingml/2006/main" noGrp="1"/>
          </p:cNvSpPr>
          <p:nvPr/>
        </p:nvSpPr>
        <p:spPr>
          <a:xfrm xmlns:a="http://schemas.openxmlformats.org/drawingml/2006/main">
            <a:off x="9048750" y="3105150"/>
            <a:ext cx="1962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0000"/>
          </a:bodyPr>
          <a:lstStyle xmlns:a="http://schemas.openxmlformats.org/drawingml/2006/main"/>
          <a:p xmlns:a="http://schemas.openxmlformats.org/drawingml/2006/main">
            <a:pPr algn="ctr">
              <a:lnSpc>
                <a:spcPct val="100000"/>
              </a:lnSpc>
              <a:buNone/>
              <a:defRPr sz="1875" b="1" i="0">
                <a:solidFill>
                  <a:srgbClr val="0B2942"/>
                </a:solidFill>
                <a:latin typeface="Courier New"/>
                <a:ea typeface="Courier New"/>
                <a:cs typeface="Courier New"/>
              </a:defRPr>
            </a:pPr>
            <a:r>
              <a:rPr sz="1875" b="1" i="0">
                <a:solidFill>
                  <a:srgbClr val="0B2942"/>
                </a:solidFill>
                <a:latin typeface="Courier New"/>
                <a:ea typeface="Courier New"/>
                <a:cs typeface="Courier New"/>
              </a:rPr>
              <a:t>RUN 2</a:t>
            </a:r>
          </a:p>
        </p:txBody>
      </p:sp>
      <p:sp>
        <p:nvSpPr>
          <p:cNvPr id="14" name="">
            <a:extLst xmlns:a="http://schemas.openxmlformats.org/drawingml/2006/main">
              <a:ext uri="{FF2B5EF4-FFF2-40B4-BE49-F238E27FC236}">
                <a16:creationId xmlns:a16="http://schemas.microsoft.com/office/drawing/2014/main" id="{41AC0624-B1BE-45D7-B22F-6C60FFD73523}"/>
              </a:ext>
            </a:extLst>
          </p:cNvPr>
          <p:cNvSpPr>
            <a:spLocks xmlns:a="http://schemas.openxmlformats.org/drawingml/2006/main" noGrp="1"/>
          </p:cNvSpPr>
          <p:nvPr/>
        </p:nvSpPr>
        <p:spPr>
          <a:xfrm xmlns:a="http://schemas.openxmlformats.org/drawingml/2006/main">
            <a:off x="9029700" y="36385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029"/>
          </a:bodyPr>
          <a:lstStyle xmlns:a="http://schemas.openxmlformats.org/drawingml/2006/main"/>
          <a:p xmlns:a="http://schemas.openxmlformats.org/drawingml/2006/main">
            <a:pPr algn="ctr">
              <a:lnSpc>
                <a:spcPct val="100000"/>
              </a:lnSpc>
              <a:buNone/>
              <a:defRPr sz="1650" b="0" i="0">
                <a:solidFill>
                  <a:srgbClr val="5C7080"/>
                </a:solidFill>
                <a:latin typeface="Calibri"/>
                <a:ea typeface="Calibri"/>
                <a:cs typeface="Calibri"/>
              </a:defRPr>
            </a:pPr>
            <a:r>
              <a:rPr sz="1650" b="0" i="0">
                <a:solidFill>
                  <a:srgbClr val="5C7080"/>
                </a:solidFill>
                <a:latin typeface="Calibri"/>
                <a:ea typeface="Calibri"/>
                <a:cs typeface="Calibri"/>
              </a:rPr>
              <a:t>retrieval reconstructs</a:t>
            </a:r>
          </a:p>
          <a:p xmlns:a="http://schemas.openxmlformats.org/drawingml/2006/main">
            <a:pPr algn="ctr">
              <a:lnSpc>
                <a:spcPct val="100000"/>
              </a:lnSpc>
              <a:buNone/>
              <a:defRPr sz="1650" b="0" i="0">
                <a:solidFill>
                  <a:srgbClr val="5C7080"/>
                </a:solidFill>
                <a:latin typeface="Calibri"/>
                <a:ea typeface="Calibri"/>
                <a:cs typeface="Calibri"/>
              </a:defRPr>
            </a:pPr>
            <a:r>
              <a:rPr sz="1650" b="0" i="0">
                <a:solidFill>
                  <a:srgbClr val="5C7080"/>
                </a:solidFill>
                <a:latin typeface="Calibri"/>
                <a:ea typeface="Calibri"/>
                <a:cs typeface="Calibri"/>
              </a:rPr>
              <a:t>relevant prior state</a:t>
            </a:r>
          </a:p>
        </p:txBody>
      </p: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3448050" y="3667125"/>
            <a:ext cx="1362075" cy="0"/>
          </a:xfrm>
          <a:prstGeom xmlns:a="http://schemas.openxmlformats.org/drawingml/2006/main" prst="straightConnector1">
            <a:avLst/>
          </a:prstGeom>
          <a:ln xmlns:a="http://schemas.openxmlformats.org/drawingml/2006/main" w="19050">
            <a:solidFill>
              <a:srgbClr val="1C7293"/>
            </a:solidFill>
            <a:prstDash val="solid"/>
            <a:tailEnd type="triangle" w="sm" len="sm"/>
          </a:ln>
        </p:spPr>
      </p:cxn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7381875" y="3667125"/>
            <a:ext cx="1362075" cy="0"/>
          </a:xfrm>
          <a:prstGeom xmlns:a="http://schemas.openxmlformats.org/drawingml/2006/main" prst="straightConnector1">
            <a:avLst/>
          </a:prstGeom>
          <a:ln xmlns:a="http://schemas.openxmlformats.org/drawingml/2006/main" w="19050">
            <a:solidFill>
              <a:srgbClr val="1C7293"/>
            </a:solidFill>
            <a:prstDash val="solid"/>
            <a:tailEnd type="triangle" w="sm" len="sm"/>
          </a:ln>
        </p:spPr>
      </p:cxnSp>
      <p:sp>
        <p:nvSpPr>
          <p:cNvPr id="17" name="">
            <a:extLst xmlns:a="http://schemas.openxmlformats.org/drawingml/2006/main">
              <a:ext uri="{FF2B5EF4-FFF2-40B4-BE49-F238E27FC236}">
                <a16:creationId xmlns:a16="http://schemas.microsoft.com/office/drawing/2014/main" id="{E95D1435-6632-45D1-9E8B-D36673EDC201}"/>
              </a:ext>
            </a:extLst>
          </p:cNvPr>
          <p:cNvSpPr>
            <a:spLocks xmlns:a="http://schemas.openxmlformats.org/drawingml/2006/main" noGrp="1"/>
          </p:cNvSpPr>
          <p:nvPr/>
        </p:nvSpPr>
        <p:spPr>
          <a:xfrm xmlns:a="http://schemas.openxmlformats.org/drawingml/2006/main">
            <a:off x="1676400" y="5238750"/>
            <a:ext cx="8839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7464"/>
          </a:bodyPr>
          <a:lstStyle xmlns:a="http://schemas.openxmlformats.org/drawingml/2006/main"/>
          <a:p xmlns:a="http://schemas.openxmlformats.org/drawingml/2006/main">
            <a:pPr algn="ctr">
              <a:lnSpc>
                <a:spcPct val="100000"/>
              </a:lnSpc>
              <a:buNone/>
              <a:defRPr sz="2175" b="1" i="0">
                <a:solidFill>
                  <a:srgbClr val="0B2942"/>
                </a:solidFill>
                <a:latin typeface="Cambria"/>
                <a:ea typeface="Cambria"/>
                <a:cs typeface="Cambria"/>
              </a:defRPr>
            </a:pPr>
            <a:r>
              <a:rPr sz="2175" b="1" i="0">
                <a:solidFill>
                  <a:srgbClr val="0B2942"/>
                </a:solidFill>
                <a:latin typeface="Cambria"/>
                <a:ea typeface="Cambria"/>
                <a:cs typeface="Cambria"/>
              </a:rPr>
              <a:t>Persistence is a storage-and-retrieval contract—not a property of a single completion.</a:t>
            </a:r>
          </a:p>
        </p:txBody>
      </p:sp>
    </p:spTree>
    <p:extLst>
      <p:ext uri="{BB962C8B-B14F-4D97-AF65-F5344CB8AC3E}">
        <p14:creationId xmlns:p14="http://schemas.microsoft.com/office/powerpoint/2010/main" val="723981962"/>
      </p:ext>
    </p:extLst>
  </p:cSld>
</p:sld>
</file>

<file path=ppt/slides/slide4.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7F9E0AB-9BE1-47BA-AA32-36D8225D2768}"/>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BACKGROUND · RETRIEVAL</a:t>
            </a:r>
          </a:p>
        </p:txBody>
      </p:sp>
      <p:sp>
        <p:nvSpPr>
          <p:cNvPr id="2" name="">
            <a:extLst xmlns:a="http://schemas.openxmlformats.org/drawingml/2006/main">
              <a:ext uri="{FF2B5EF4-FFF2-40B4-BE49-F238E27FC236}">
                <a16:creationId xmlns:a16="http://schemas.microsoft.com/office/drawing/2014/main" id="{D0299B4F-677D-4072-A239-31E2F0AE22C3}"/>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Retrieval Begins with the Question Shape</a:t>
            </a:r>
          </a:p>
        </p:txBody>
      </p:sp>
      <p:sp>
        <p:nvSpPr>
          <p:cNvPr id="3" name="">
            <a:extLst xmlns:a="http://schemas.openxmlformats.org/drawingml/2006/main">
              <a:ext uri="{FF2B5EF4-FFF2-40B4-BE49-F238E27FC236}">
                <a16:creationId xmlns:a16="http://schemas.microsoft.com/office/drawing/2014/main" id="{6A77402A-4C18-4FB8-8895-BCA01461961F}"/>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B7E17675-0FE3-4D43-B813-4C73EB3B3033}"/>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04</a:t>
            </a:r>
          </a:p>
        </p:txBody>
      </p:sp>
      <p:sp>
        <p:nvSpPr>
          <p:cNvPr id="5" name="">
            <a:extLst xmlns:a="http://schemas.openxmlformats.org/drawingml/2006/main">
              <a:ext uri="{FF2B5EF4-FFF2-40B4-BE49-F238E27FC236}">
                <a16:creationId xmlns:a16="http://schemas.microsoft.com/office/drawing/2014/main" id="{0DF0F40D-3E8F-4B80-82AC-AC1A0B10AF3F}"/>
              </a:ext>
            </a:extLst>
          </p:cNvPr>
          <p:cNvSpPr>
            <a:spLocks xmlns:a="http://schemas.openxmlformats.org/drawingml/2006/main" noGrp="1"/>
          </p:cNvSpPr>
          <p:nvPr/>
        </p:nvSpPr>
        <p:spPr>
          <a:xfrm xmlns:a="http://schemas.openxmlformats.org/drawingml/2006/main">
            <a:off x="857250" y="1562100"/>
            <a:ext cx="10477500" cy="857250"/>
          </a:xfrm>
          <a:prstGeom xmlns:a="http://schemas.openxmlformats.org/drawingml/2006/main" prst="roundRect">
            <a:avLst>
              <a:gd name="adj" fmla="val 13333"/>
            </a:avLst>
          </a:prstGeom>
          <a:solidFill xmlns:a="http://schemas.openxmlformats.org/drawingml/2006/main">
            <a:srgbClr val="173F58"/>
          </a:solidFill>
          <a:ln xmlns:a="http://schemas.openxmlformats.org/drawingml/2006/main" w="19050">
            <a:solidFill>
              <a:srgbClr val="065A82"/>
            </a:solidFill>
            <a:prstDash val="solid"/>
          </a:ln>
        </p:spPr>
      </p:sp>
      <p:sp>
        <p:nvSpPr>
          <p:cNvPr id="6" name="">
            <a:extLst xmlns:a="http://schemas.openxmlformats.org/drawingml/2006/main">
              <a:ext uri="{FF2B5EF4-FFF2-40B4-BE49-F238E27FC236}">
                <a16:creationId xmlns:a16="http://schemas.microsoft.com/office/drawing/2014/main" id="{C1DA6AD8-8D71-4116-8396-5144A4295270}"/>
              </a:ext>
            </a:extLst>
          </p:cNvPr>
          <p:cNvSpPr>
            <a:spLocks xmlns:a="http://schemas.openxmlformats.org/drawingml/2006/main" noGrp="1"/>
          </p:cNvSpPr>
          <p:nvPr/>
        </p:nvSpPr>
        <p:spPr>
          <a:xfrm xmlns:a="http://schemas.openxmlformats.org/drawingml/2006/main">
            <a:off x="1066800" y="1828800"/>
            <a:ext cx="1390650" cy="323850"/>
          </a:xfrm>
          <a:prstGeom xmlns:a="http://schemas.openxmlformats.org/drawingml/2006/main" prst="roundRect">
            <a:avLst>
              <a:gd name="adj" fmla="val 50000"/>
            </a:avLst>
          </a:prstGeom>
          <a:solidFill xmlns:a="http://schemas.openxmlformats.org/drawingml/2006/main">
            <a:srgbClr val="065A82"/>
          </a:solidFill>
          <a:ln xmlns:a="http://schemas.openxmlformats.org/drawingml/2006/main" w="0">
            <a:solidFill>
              <a:srgbClr val="065A82"/>
            </a:solidFill>
            <a:prstDash val="solid"/>
          </a:ln>
        </p:spPr>
      </p:sp>
      <p:sp>
        <p:nvSpPr>
          <p:cNvPr id="7" name="">
            <a:extLst xmlns:a="http://schemas.openxmlformats.org/drawingml/2006/main">
              <a:ext uri="{FF2B5EF4-FFF2-40B4-BE49-F238E27FC236}">
                <a16:creationId xmlns:a16="http://schemas.microsoft.com/office/drawing/2014/main" id="{BFD3E242-AC65-4563-888F-A45906E89815}"/>
              </a:ext>
            </a:extLst>
          </p:cNvPr>
          <p:cNvSpPr>
            <a:spLocks xmlns:a="http://schemas.openxmlformats.org/drawingml/2006/main" noGrp="1"/>
          </p:cNvSpPr>
          <p:nvPr/>
        </p:nvSpPr>
        <p:spPr>
          <a:xfrm xmlns:a="http://schemas.openxmlformats.org/drawingml/2006/main">
            <a:off x="1143000" y="1876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ORDER</a:t>
            </a:r>
          </a:p>
        </p:txBody>
      </p:sp>
      <p:sp>
        <p:nvSpPr>
          <p:cNvPr id="8" name="">
            <a:extLst xmlns:a="http://schemas.openxmlformats.org/drawingml/2006/main">
              <a:ext uri="{FF2B5EF4-FFF2-40B4-BE49-F238E27FC236}">
                <a16:creationId xmlns:a16="http://schemas.microsoft.com/office/drawing/2014/main" id="{ED1CBF9B-AE07-4974-A11F-5915C0BA9B63}"/>
              </a:ext>
            </a:extLst>
          </p:cNvPr>
          <p:cNvSpPr>
            <a:spLocks xmlns:a="http://schemas.openxmlformats.org/drawingml/2006/main" noGrp="1"/>
          </p:cNvSpPr>
          <p:nvPr/>
        </p:nvSpPr>
        <p:spPr>
          <a:xfrm xmlns:a="http://schemas.openxmlformats.org/drawingml/2006/main">
            <a:off x="2762250" y="17526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875" b="1" i="0">
                <a:solidFill>
                  <a:srgbClr val="FFFFFF"/>
                </a:solidFill>
                <a:latin typeface="Calibri"/>
                <a:ea typeface="Calibri"/>
                <a:cs typeface="Calibri"/>
              </a:defRPr>
            </a:pPr>
            <a:r>
              <a:rPr sz="1875" b="1" i="0">
                <a:solidFill>
                  <a:srgbClr val="FFFFFF"/>
                </a:solidFill>
                <a:latin typeface="Calibri"/>
                <a:ea typeface="Calibri"/>
                <a:cs typeface="Calibri"/>
              </a:rPr>
              <a:t>What happened immediately before this?</a:t>
            </a:r>
          </a:p>
        </p:txBody>
      </p:sp>
      <p:sp>
        <p:nvSpPr>
          <p:cNvPr id="9" name="">
            <a:extLst xmlns:a="http://schemas.openxmlformats.org/drawingml/2006/main">
              <a:ext uri="{FF2B5EF4-FFF2-40B4-BE49-F238E27FC236}">
                <a16:creationId xmlns:a16="http://schemas.microsoft.com/office/drawing/2014/main" id="{A5C1448E-AB94-4D50-A351-1A8E508A6023}"/>
              </a:ext>
            </a:extLst>
          </p:cNvPr>
          <p:cNvSpPr>
            <a:spLocks xmlns:a="http://schemas.openxmlformats.org/drawingml/2006/main" noGrp="1"/>
          </p:cNvSpPr>
          <p:nvPr/>
        </p:nvSpPr>
        <p:spPr>
          <a:xfrm xmlns:a="http://schemas.openxmlformats.org/drawingml/2006/main">
            <a:off x="8115300" y="17907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r">
              <a:lnSpc>
                <a:spcPct val="100000"/>
              </a:lnSpc>
              <a:buNone/>
              <a:defRPr sz="1575" b="0" i="0">
                <a:solidFill>
                  <a:srgbClr val="CFE8F0"/>
                </a:solidFill>
                <a:latin typeface="Courier New"/>
                <a:ea typeface="Courier New"/>
                <a:cs typeface="Courier New"/>
              </a:defRPr>
            </a:pPr>
            <a:r>
              <a:rPr sz="1575" b="0" i="0">
                <a:solidFill>
                  <a:srgbClr val="CFE8F0"/>
                </a:solidFill>
                <a:latin typeface="Courier New"/>
                <a:ea typeface="Courier New"/>
                <a:cs typeface="Courier New"/>
              </a:rPr>
              <a:t>sequence / timestamp</a:t>
            </a:r>
          </a:p>
        </p:txBody>
      </p:sp>
      <p:sp>
        <p:nvSpPr>
          <p:cNvPr id="10" name="">
            <a:extLst xmlns:a="http://schemas.openxmlformats.org/drawingml/2006/main">
              <a:ext uri="{FF2B5EF4-FFF2-40B4-BE49-F238E27FC236}">
                <a16:creationId xmlns:a16="http://schemas.microsoft.com/office/drawing/2014/main" id="{80845825-BE4E-4E3F-BC6F-F84AE9350D04}"/>
              </a:ext>
            </a:extLst>
          </p:cNvPr>
          <p:cNvSpPr>
            <a:spLocks xmlns:a="http://schemas.openxmlformats.org/drawingml/2006/main" noGrp="1"/>
          </p:cNvSpPr>
          <p:nvPr/>
        </p:nvSpPr>
        <p:spPr>
          <a:xfrm xmlns:a="http://schemas.openxmlformats.org/drawingml/2006/main">
            <a:off x="857250" y="2628900"/>
            <a:ext cx="10477500" cy="857250"/>
          </a:xfrm>
          <a:prstGeom xmlns:a="http://schemas.openxmlformats.org/drawingml/2006/main" prst="roundRect">
            <a:avLst>
              <a:gd name="adj" fmla="val 13333"/>
            </a:avLst>
          </a:prstGeom>
          <a:solidFill xmlns:a="http://schemas.openxmlformats.org/drawingml/2006/main">
            <a:srgbClr val="123A55"/>
          </a:solidFill>
          <a:ln xmlns:a="http://schemas.openxmlformats.org/drawingml/2006/main" w="19050">
            <a:solidFill>
              <a:srgbClr val="1C7293"/>
            </a:solidFill>
            <a:prstDash val="solid"/>
          </a:ln>
        </p:spPr>
      </p:sp>
      <p:sp>
        <p:nvSpPr>
          <p:cNvPr id="11" name="">
            <a:extLst xmlns:a="http://schemas.openxmlformats.org/drawingml/2006/main">
              <a:ext uri="{FF2B5EF4-FFF2-40B4-BE49-F238E27FC236}">
                <a16:creationId xmlns:a16="http://schemas.microsoft.com/office/drawing/2014/main" id="{F0A46108-3CD1-4892-B7A2-D6A802963CC0}"/>
              </a:ext>
            </a:extLst>
          </p:cNvPr>
          <p:cNvSpPr>
            <a:spLocks xmlns:a="http://schemas.openxmlformats.org/drawingml/2006/main" noGrp="1"/>
          </p:cNvSpPr>
          <p:nvPr/>
        </p:nvSpPr>
        <p:spPr>
          <a:xfrm xmlns:a="http://schemas.openxmlformats.org/drawingml/2006/main">
            <a:off x="1066800" y="2895600"/>
            <a:ext cx="1390650" cy="323850"/>
          </a:xfrm>
          <a:prstGeom xmlns:a="http://schemas.openxmlformats.org/drawingml/2006/main" prst="roundRect">
            <a:avLst>
              <a:gd name="adj" fmla="val 50000"/>
            </a:avLst>
          </a:prstGeom>
          <a:solidFill xmlns:a="http://schemas.openxmlformats.org/drawingml/2006/main">
            <a:srgbClr val="1C7293"/>
          </a:solidFill>
          <a:ln xmlns:a="http://schemas.openxmlformats.org/drawingml/2006/main" w="0">
            <a:solidFill>
              <a:srgbClr val="1C7293"/>
            </a:solidFill>
            <a:prstDash val="solid"/>
          </a:ln>
        </p:spPr>
      </p:sp>
      <p:sp>
        <p:nvSpPr>
          <p:cNvPr id="12" name="">
            <a:extLst xmlns:a="http://schemas.openxmlformats.org/drawingml/2006/main">
              <a:ext uri="{FF2B5EF4-FFF2-40B4-BE49-F238E27FC236}">
                <a16:creationId xmlns:a16="http://schemas.microsoft.com/office/drawing/2014/main" id="{8396F4CA-32FE-4BA3-9F46-6D1A9606A106}"/>
              </a:ext>
            </a:extLst>
          </p:cNvPr>
          <p:cNvSpPr>
            <a:spLocks xmlns:a="http://schemas.openxmlformats.org/drawingml/2006/main" noGrp="1"/>
          </p:cNvSpPr>
          <p:nvPr/>
        </p:nvSpPr>
        <p:spPr>
          <a:xfrm xmlns:a="http://schemas.openxmlformats.org/drawingml/2006/main">
            <a:off x="1143000" y="29432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WORDS</a:t>
            </a:r>
          </a:p>
        </p:txBody>
      </p:sp>
      <p:sp>
        <p:nvSpPr>
          <p:cNvPr id="13" name="">
            <a:extLst xmlns:a="http://schemas.openxmlformats.org/drawingml/2006/main">
              <a:ext uri="{FF2B5EF4-FFF2-40B4-BE49-F238E27FC236}">
                <a16:creationId xmlns:a16="http://schemas.microsoft.com/office/drawing/2014/main" id="{740BF3FC-E613-42A8-8479-30D761760604}"/>
              </a:ext>
            </a:extLst>
          </p:cNvPr>
          <p:cNvSpPr>
            <a:spLocks xmlns:a="http://schemas.openxmlformats.org/drawingml/2006/main" noGrp="1"/>
          </p:cNvSpPr>
          <p:nvPr/>
        </p:nvSpPr>
        <p:spPr>
          <a:xfrm xmlns:a="http://schemas.openxmlformats.org/drawingml/2006/main">
            <a:off x="2762250" y="28194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4670"/>
          </a:bodyPr>
          <a:lstStyle xmlns:a="http://schemas.openxmlformats.org/drawingml/2006/main"/>
          <a:p xmlns:a="http://schemas.openxmlformats.org/drawingml/2006/main">
            <a:pPr algn="l">
              <a:lnSpc>
                <a:spcPct val="100000"/>
              </a:lnSpc>
              <a:buNone/>
              <a:defRPr sz="1875" b="1" i="0">
                <a:solidFill>
                  <a:srgbClr val="FFFFFF"/>
                </a:solidFill>
                <a:latin typeface="Calibri"/>
                <a:ea typeface="Calibri"/>
                <a:cs typeface="Calibri"/>
              </a:defRPr>
            </a:pPr>
            <a:r>
              <a:rPr sz="1875" b="1" i="0">
                <a:solidFill>
                  <a:srgbClr val="FFFFFF"/>
                </a:solidFill>
                <a:latin typeface="Calibri"/>
                <a:ea typeface="Calibri"/>
                <a:cs typeface="Calibri"/>
              </a:rPr>
              <a:t>Where did this exact name or phrase appear?</a:t>
            </a:r>
          </a:p>
        </p:txBody>
      </p:sp>
      <p:sp>
        <p:nvSpPr>
          <p:cNvPr id="14" name="">
            <a:extLst xmlns:a="http://schemas.openxmlformats.org/drawingml/2006/main">
              <a:ext uri="{FF2B5EF4-FFF2-40B4-BE49-F238E27FC236}">
                <a16:creationId xmlns:a16="http://schemas.microsoft.com/office/drawing/2014/main" id="{71768C64-27DA-4A73-B559-A186C98F0F13}"/>
              </a:ext>
            </a:extLst>
          </p:cNvPr>
          <p:cNvSpPr>
            <a:spLocks xmlns:a="http://schemas.openxmlformats.org/drawingml/2006/main" noGrp="1"/>
          </p:cNvSpPr>
          <p:nvPr/>
        </p:nvSpPr>
        <p:spPr>
          <a:xfrm xmlns:a="http://schemas.openxmlformats.org/drawingml/2006/main">
            <a:off x="8115300" y="28575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r">
              <a:lnSpc>
                <a:spcPct val="100000"/>
              </a:lnSpc>
              <a:buNone/>
              <a:defRPr sz="1575" b="0" i="0">
                <a:solidFill>
                  <a:srgbClr val="CFE8F0"/>
                </a:solidFill>
                <a:latin typeface="Courier New"/>
                <a:ea typeface="Courier New"/>
                <a:cs typeface="Courier New"/>
              </a:defRPr>
            </a:pPr>
            <a:r>
              <a:rPr sz="1575" b="0" i="0">
                <a:solidFill>
                  <a:srgbClr val="CFE8F0"/>
                </a:solidFill>
                <a:latin typeface="Courier New"/>
                <a:ea typeface="Courier New"/>
                <a:cs typeface="Courier New"/>
              </a:rPr>
              <a:t>inverted text index</a:t>
            </a:r>
          </a:p>
        </p:txBody>
      </p:sp>
      <p:sp>
        <p:nvSpPr>
          <p:cNvPr id="15" name="">
            <a:extLst xmlns:a="http://schemas.openxmlformats.org/drawingml/2006/main">
              <a:ext uri="{FF2B5EF4-FFF2-40B4-BE49-F238E27FC236}">
                <a16:creationId xmlns:a16="http://schemas.microsoft.com/office/drawing/2014/main" id="{771CFE15-79D7-4413-91CB-1899624D9876}"/>
              </a:ext>
            </a:extLst>
          </p:cNvPr>
          <p:cNvSpPr>
            <a:spLocks xmlns:a="http://schemas.openxmlformats.org/drawingml/2006/main" noGrp="1"/>
          </p:cNvSpPr>
          <p:nvPr/>
        </p:nvSpPr>
        <p:spPr>
          <a:xfrm xmlns:a="http://schemas.openxmlformats.org/drawingml/2006/main">
            <a:off x="857250" y="3695700"/>
            <a:ext cx="10477500" cy="857250"/>
          </a:xfrm>
          <a:prstGeom xmlns:a="http://schemas.openxmlformats.org/drawingml/2006/main" prst="roundRect">
            <a:avLst>
              <a:gd name="adj" fmla="val 13333"/>
            </a:avLst>
          </a:prstGeom>
          <a:solidFill xmlns:a="http://schemas.openxmlformats.org/drawingml/2006/main">
            <a:srgbClr val="173F58"/>
          </a:solidFill>
          <a:ln xmlns:a="http://schemas.openxmlformats.org/drawingml/2006/main" w="19050">
            <a:solidFill>
              <a:srgbClr val="21295C"/>
            </a:solidFill>
            <a:prstDash val="solid"/>
          </a:ln>
        </p:spPr>
      </p:sp>
      <p:sp>
        <p:nvSpPr>
          <p:cNvPr id="16" name="">
            <a:extLst xmlns:a="http://schemas.openxmlformats.org/drawingml/2006/main">
              <a:ext uri="{FF2B5EF4-FFF2-40B4-BE49-F238E27FC236}">
                <a16:creationId xmlns:a16="http://schemas.microsoft.com/office/drawing/2014/main" id="{292BED5E-E7D8-4C56-83D7-9D99010FB8AC}"/>
              </a:ext>
            </a:extLst>
          </p:cNvPr>
          <p:cNvSpPr>
            <a:spLocks xmlns:a="http://schemas.openxmlformats.org/drawingml/2006/main" noGrp="1"/>
          </p:cNvSpPr>
          <p:nvPr/>
        </p:nvSpPr>
        <p:spPr>
          <a:xfrm xmlns:a="http://schemas.openxmlformats.org/drawingml/2006/main">
            <a:off x="1066800" y="3962400"/>
            <a:ext cx="1390650" cy="323850"/>
          </a:xfrm>
          <a:prstGeom xmlns:a="http://schemas.openxmlformats.org/drawingml/2006/main" prst="roundRect">
            <a:avLst>
              <a:gd name="adj" fmla="val 50000"/>
            </a:avLst>
          </a:prstGeom>
          <a:solidFill xmlns:a="http://schemas.openxmlformats.org/drawingml/2006/main">
            <a:srgbClr val="21295C"/>
          </a:solidFill>
          <a:ln xmlns:a="http://schemas.openxmlformats.org/drawingml/2006/main" w="0">
            <a:solidFill>
              <a:srgbClr val="21295C"/>
            </a:solidFill>
            <a:prstDash val="solid"/>
          </a:ln>
        </p:spPr>
      </p:sp>
      <p:sp>
        <p:nvSpPr>
          <p:cNvPr id="17" name="">
            <a:extLst xmlns:a="http://schemas.openxmlformats.org/drawingml/2006/main">
              <a:ext uri="{FF2B5EF4-FFF2-40B4-BE49-F238E27FC236}">
                <a16:creationId xmlns:a16="http://schemas.microsoft.com/office/drawing/2014/main" id="{8140A0C0-27C7-489B-B4B1-BAB610C0568C}"/>
              </a:ext>
            </a:extLst>
          </p:cNvPr>
          <p:cNvSpPr>
            <a:spLocks xmlns:a="http://schemas.openxmlformats.org/drawingml/2006/main" noGrp="1"/>
          </p:cNvSpPr>
          <p:nvPr/>
        </p:nvSpPr>
        <p:spPr>
          <a:xfrm xmlns:a="http://schemas.openxmlformats.org/drawingml/2006/main">
            <a:off x="1143000" y="40100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MEANING</a:t>
            </a:r>
          </a:p>
        </p:txBody>
      </p:sp>
      <p:sp>
        <p:nvSpPr>
          <p:cNvPr id="18" name="">
            <a:extLst xmlns:a="http://schemas.openxmlformats.org/drawingml/2006/main">
              <a:ext uri="{FF2B5EF4-FFF2-40B4-BE49-F238E27FC236}">
                <a16:creationId xmlns:a16="http://schemas.microsoft.com/office/drawing/2014/main" id="{E9A89A91-133E-436E-ADDE-61162722504B}"/>
              </a:ext>
            </a:extLst>
          </p:cNvPr>
          <p:cNvSpPr>
            <a:spLocks xmlns:a="http://schemas.openxmlformats.org/drawingml/2006/main" noGrp="1"/>
          </p:cNvSpPr>
          <p:nvPr/>
        </p:nvSpPr>
        <p:spPr>
          <a:xfrm xmlns:a="http://schemas.openxmlformats.org/drawingml/2006/main">
            <a:off x="2762250" y="38862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875" b="1" i="0">
                <a:solidFill>
                  <a:srgbClr val="FFFFFF"/>
                </a:solidFill>
                <a:latin typeface="Calibri"/>
                <a:ea typeface="Calibri"/>
                <a:cs typeface="Calibri"/>
              </a:defRPr>
            </a:pPr>
            <a:r>
              <a:rPr sz="1875" b="1" i="0">
                <a:solidFill>
                  <a:srgbClr val="FFFFFF"/>
                </a:solidFill>
                <a:latin typeface="Calibri"/>
                <a:ea typeface="Calibri"/>
                <a:cs typeface="Calibri"/>
              </a:rPr>
              <a:t>Which stored item is semantically similar?</a:t>
            </a:r>
          </a:p>
        </p:txBody>
      </p:sp>
      <p:sp>
        <p:nvSpPr>
          <p:cNvPr id="19" name="">
            <a:extLst xmlns:a="http://schemas.openxmlformats.org/drawingml/2006/main">
              <a:ext uri="{FF2B5EF4-FFF2-40B4-BE49-F238E27FC236}">
                <a16:creationId xmlns:a16="http://schemas.microsoft.com/office/drawing/2014/main" id="{569822F1-6AFA-41DC-8F14-EE484D3B1B9D}"/>
              </a:ext>
            </a:extLst>
          </p:cNvPr>
          <p:cNvSpPr>
            <a:spLocks xmlns:a="http://schemas.openxmlformats.org/drawingml/2006/main" noGrp="1"/>
          </p:cNvSpPr>
          <p:nvPr/>
        </p:nvSpPr>
        <p:spPr>
          <a:xfrm xmlns:a="http://schemas.openxmlformats.org/drawingml/2006/main">
            <a:off x="8115300" y="39243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7145"/>
          </a:bodyPr>
          <a:lstStyle xmlns:a="http://schemas.openxmlformats.org/drawingml/2006/main"/>
          <a:p xmlns:a="http://schemas.openxmlformats.org/drawingml/2006/main">
            <a:pPr algn="r">
              <a:lnSpc>
                <a:spcPct val="100000"/>
              </a:lnSpc>
              <a:buNone/>
              <a:defRPr sz="1575" b="0" i="0">
                <a:solidFill>
                  <a:srgbClr val="CFE8F0"/>
                </a:solidFill>
                <a:latin typeface="Courier New"/>
                <a:ea typeface="Courier New"/>
                <a:cs typeface="Courier New"/>
              </a:defRPr>
            </a:pPr>
            <a:r>
              <a:rPr sz="1575" b="0" i="0">
                <a:solidFill>
                  <a:srgbClr val="CFE8F0"/>
                </a:solidFill>
                <a:latin typeface="Courier New"/>
                <a:ea typeface="Courier New"/>
                <a:cs typeface="Courier New"/>
              </a:rPr>
              <a:t>vector nearest neighbors</a:t>
            </a:r>
          </a:p>
        </p:txBody>
      </p:sp>
      <p:sp>
        <p:nvSpPr>
          <p:cNvPr id="20" name="">
            <a:extLst xmlns:a="http://schemas.openxmlformats.org/drawingml/2006/main">
              <a:ext uri="{FF2B5EF4-FFF2-40B4-BE49-F238E27FC236}">
                <a16:creationId xmlns:a16="http://schemas.microsoft.com/office/drawing/2014/main" id="{5008594B-B165-487E-8ED4-3FFD96652833}"/>
              </a:ext>
            </a:extLst>
          </p:cNvPr>
          <p:cNvSpPr>
            <a:spLocks xmlns:a="http://schemas.openxmlformats.org/drawingml/2006/main" noGrp="1"/>
          </p:cNvSpPr>
          <p:nvPr/>
        </p:nvSpPr>
        <p:spPr>
          <a:xfrm xmlns:a="http://schemas.openxmlformats.org/drawingml/2006/main">
            <a:off x="857250" y="4762500"/>
            <a:ext cx="10477500" cy="857250"/>
          </a:xfrm>
          <a:prstGeom xmlns:a="http://schemas.openxmlformats.org/drawingml/2006/main" prst="roundRect">
            <a:avLst>
              <a:gd name="adj" fmla="val 13333"/>
            </a:avLst>
          </a:prstGeom>
          <a:solidFill xmlns:a="http://schemas.openxmlformats.org/drawingml/2006/main">
            <a:srgbClr val="123A55"/>
          </a:solidFill>
          <a:ln xmlns:a="http://schemas.openxmlformats.org/drawingml/2006/main" w="19050">
            <a:solidFill>
              <a:srgbClr val="E76F51"/>
            </a:solidFill>
            <a:prstDash val="solid"/>
          </a:ln>
        </p:spPr>
      </p:sp>
      <p:sp>
        <p:nvSpPr>
          <p:cNvPr id="21" name="">
            <a:extLst xmlns:a="http://schemas.openxmlformats.org/drawingml/2006/main">
              <a:ext uri="{FF2B5EF4-FFF2-40B4-BE49-F238E27FC236}">
                <a16:creationId xmlns:a16="http://schemas.microsoft.com/office/drawing/2014/main" id="{54120158-E6BA-4EBC-90C7-E7ACC76FF9FE}"/>
              </a:ext>
            </a:extLst>
          </p:cNvPr>
          <p:cNvSpPr>
            <a:spLocks xmlns:a="http://schemas.openxmlformats.org/drawingml/2006/main" noGrp="1"/>
          </p:cNvSpPr>
          <p:nvPr/>
        </p:nvSpPr>
        <p:spPr>
          <a:xfrm xmlns:a="http://schemas.openxmlformats.org/drawingml/2006/main">
            <a:off x="1066800" y="5029200"/>
            <a:ext cx="1390650" cy="3238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solidFill>
              <a:srgbClr val="E76F51"/>
            </a:solidFill>
            <a:prstDash val="solid"/>
          </a:ln>
        </p:spPr>
      </p:sp>
      <p:sp>
        <p:nvSpPr>
          <p:cNvPr id="22" name="">
            <a:extLst xmlns:a="http://schemas.openxmlformats.org/drawingml/2006/main">
              <a:ext uri="{FF2B5EF4-FFF2-40B4-BE49-F238E27FC236}">
                <a16:creationId xmlns:a16="http://schemas.microsoft.com/office/drawing/2014/main" id="{619B653A-1746-45C9-9F46-174A80FD4927}"/>
              </a:ext>
            </a:extLst>
          </p:cNvPr>
          <p:cNvSpPr>
            <a:spLocks xmlns:a="http://schemas.openxmlformats.org/drawingml/2006/main" noGrp="1"/>
          </p:cNvSpPr>
          <p:nvPr/>
        </p:nvSpPr>
        <p:spPr>
          <a:xfrm xmlns:a="http://schemas.openxmlformats.org/drawingml/2006/main">
            <a:off x="1143000" y="50768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CONNECTION</a:t>
            </a:r>
          </a:p>
        </p:txBody>
      </p:sp>
      <p:sp>
        <p:nvSpPr>
          <p:cNvPr id="23" name="">
            <a:extLst xmlns:a="http://schemas.openxmlformats.org/drawingml/2006/main">
              <a:ext uri="{FF2B5EF4-FFF2-40B4-BE49-F238E27FC236}">
                <a16:creationId xmlns:a16="http://schemas.microsoft.com/office/drawing/2014/main" id="{675AB43C-E413-4662-B450-6B859042920E}"/>
              </a:ext>
            </a:extLst>
          </p:cNvPr>
          <p:cNvSpPr>
            <a:spLocks xmlns:a="http://schemas.openxmlformats.org/drawingml/2006/main" noGrp="1"/>
          </p:cNvSpPr>
          <p:nvPr/>
        </p:nvSpPr>
        <p:spPr>
          <a:xfrm xmlns:a="http://schemas.openxmlformats.org/drawingml/2006/main">
            <a:off x="2762250" y="49530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875" b="1" i="0">
                <a:solidFill>
                  <a:srgbClr val="FFFFFF"/>
                </a:solidFill>
                <a:latin typeface="Calibri"/>
                <a:ea typeface="Calibri"/>
                <a:cs typeface="Calibri"/>
              </a:defRPr>
            </a:pPr>
            <a:r>
              <a:rPr sz="1875" b="1" i="0">
                <a:solidFill>
                  <a:srgbClr val="FFFFFF"/>
                </a:solidFill>
                <a:latin typeface="Calibri"/>
                <a:ea typeface="Calibri"/>
                <a:cs typeface="Calibri"/>
              </a:rPr>
              <a:t>How are these entities related?</a:t>
            </a:r>
          </a:p>
        </p:txBody>
      </p:sp>
      <p:sp>
        <p:nvSpPr>
          <p:cNvPr id="24" name="">
            <a:extLst xmlns:a="http://schemas.openxmlformats.org/drawingml/2006/main">
              <a:ext uri="{FF2B5EF4-FFF2-40B4-BE49-F238E27FC236}">
                <a16:creationId xmlns:a16="http://schemas.microsoft.com/office/drawing/2014/main" id="{BC7173D6-6A68-4D1B-A6AD-7687BD4BD99D}"/>
              </a:ext>
            </a:extLst>
          </p:cNvPr>
          <p:cNvSpPr>
            <a:spLocks xmlns:a="http://schemas.openxmlformats.org/drawingml/2006/main" noGrp="1"/>
          </p:cNvSpPr>
          <p:nvPr/>
        </p:nvSpPr>
        <p:spPr>
          <a:xfrm xmlns:a="http://schemas.openxmlformats.org/drawingml/2006/main">
            <a:off x="8115300" y="4991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r">
              <a:lnSpc>
                <a:spcPct val="100000"/>
              </a:lnSpc>
              <a:buNone/>
              <a:defRPr sz="1575" b="0" i="0">
                <a:solidFill>
                  <a:srgbClr val="CFE8F0"/>
                </a:solidFill>
                <a:latin typeface="Courier New"/>
                <a:ea typeface="Courier New"/>
                <a:cs typeface="Courier New"/>
              </a:defRPr>
            </a:pPr>
            <a:r>
              <a:rPr sz="1575" b="0" i="0">
                <a:solidFill>
                  <a:srgbClr val="CFE8F0"/>
                </a:solidFill>
                <a:latin typeface="Courier New"/>
                <a:ea typeface="Courier New"/>
                <a:cs typeface="Courier New"/>
              </a:rPr>
              <a:t>graph traversal</a:t>
            </a:r>
          </a:p>
        </p:txBody>
      </p:sp>
      <p:sp>
        <p:nvSpPr>
          <p:cNvPr id="25" name="">
            <a:extLst xmlns:a="http://schemas.openxmlformats.org/drawingml/2006/main">
              <a:ext uri="{FF2B5EF4-FFF2-40B4-BE49-F238E27FC236}">
                <a16:creationId xmlns:a16="http://schemas.microsoft.com/office/drawing/2014/main" id="{F3669769-4F39-4205-9728-C32646A98E80}"/>
              </a:ext>
            </a:extLst>
          </p:cNvPr>
          <p:cNvSpPr>
            <a:spLocks xmlns:a="http://schemas.openxmlformats.org/drawingml/2006/main" noGrp="1"/>
          </p:cNvSpPr>
          <p:nvPr/>
        </p:nvSpPr>
        <p:spPr>
          <a:xfrm xmlns:a="http://schemas.openxmlformats.org/drawingml/2006/main">
            <a:off x="1352550" y="5905500"/>
            <a:ext cx="948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714"/>
          </a:bodyPr>
          <a:lstStyle xmlns:a="http://schemas.openxmlformats.org/drawingml/2006/main"/>
          <a:p xmlns:a="http://schemas.openxmlformats.org/drawingml/2006/main">
            <a:pPr algn="ctr">
              <a:lnSpc>
                <a:spcPct val="100000"/>
              </a:lnSpc>
              <a:buNone/>
              <a:defRPr sz="1875" b="1" i="0">
                <a:solidFill>
                  <a:srgbClr val="F4C95D"/>
                </a:solidFill>
                <a:latin typeface="Calibri"/>
                <a:ea typeface="Calibri"/>
                <a:cs typeface="Calibri"/>
              </a:defRPr>
            </a:pPr>
            <a:r>
              <a:rPr sz="1875" b="1" i="0">
                <a:solidFill>
                  <a:srgbClr val="F4C95D"/>
                </a:solidFill>
                <a:latin typeface="Calibri"/>
                <a:ea typeface="Calibri"/>
                <a:cs typeface="Calibri"/>
              </a:rPr>
              <a:t>A memory system can combine indexes, but each index still answers a different question.</a:t>
            </a:r>
          </a:p>
        </p:txBody>
      </p:sp>
    </p:spTree>
    <p:extLst>
      <p:ext uri="{BB962C8B-B14F-4D97-AF65-F5344CB8AC3E}">
        <p14:creationId xmlns:p14="http://schemas.microsoft.com/office/powerpoint/2010/main" val="20080008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A8B3062-FEB5-4EDF-A886-70809DEAEEFC}"/>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TEXT LOOKUP</a:t>
            </a:r>
          </a:p>
        </p:txBody>
      </p:sp>
      <p:sp>
        <p:nvSpPr>
          <p:cNvPr id="2" name="">
            <a:extLst xmlns:a="http://schemas.openxmlformats.org/drawingml/2006/main">
              <a:ext uri="{FF2B5EF4-FFF2-40B4-BE49-F238E27FC236}">
                <a16:creationId xmlns:a16="http://schemas.microsoft.com/office/drawing/2014/main" id="{81837456-E5B2-420A-A122-0BCF051FE8A6}"/>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Text Indexes Recover Tokens and Phrases</a:t>
            </a:r>
          </a:p>
        </p:txBody>
      </p:sp>
      <p:sp>
        <p:nvSpPr>
          <p:cNvPr id="3" name="">
            <a:extLst xmlns:a="http://schemas.openxmlformats.org/drawingml/2006/main">
              <a:ext uri="{FF2B5EF4-FFF2-40B4-BE49-F238E27FC236}">
                <a16:creationId xmlns:a16="http://schemas.microsoft.com/office/drawing/2014/main" id="{E75747AE-5438-46F1-BDE3-2060A8664D8F}"/>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B97B4DDD-0C5B-4509-8A86-86212FC64391}"/>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05</a:t>
            </a:r>
          </a:p>
        </p:txBody>
      </p:sp>
      <p:sp>
        <p:nvSpPr>
          <p:cNvPr id="5" name="">
            <a:extLst xmlns:a="http://schemas.openxmlformats.org/drawingml/2006/main">
              <a:ext uri="{FF2B5EF4-FFF2-40B4-BE49-F238E27FC236}">
                <a16:creationId xmlns:a16="http://schemas.microsoft.com/office/drawing/2014/main" id="{8FECDF5C-240A-4674-ACCE-66E24F257C4C}"/>
              </a:ext>
            </a:extLst>
          </p:cNvPr>
          <p:cNvSpPr>
            <a:spLocks xmlns:a="http://schemas.openxmlformats.org/drawingml/2006/main" noGrp="1"/>
          </p:cNvSpPr>
          <p:nvPr/>
        </p:nvSpPr>
        <p:spPr>
          <a:xfrm xmlns:a="http://schemas.openxmlformats.org/drawingml/2006/main">
            <a:off x="742950" y="14668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7837"/>
          </a:bodyPr>
          <a:lstStyle xmlns:a="http://schemas.openxmlformats.org/drawingml/2006/main"/>
          <a:p xmlns:a="http://schemas.openxmlformats.org/drawingml/2006/main">
            <a:pPr algn="l">
              <a:lnSpc>
                <a:spcPct val="100000"/>
              </a:lnSpc>
              <a:buNone/>
              <a:defRPr sz="2100" b="0" i="0">
                <a:solidFill>
                  <a:srgbClr val="5C7080"/>
                </a:solidFill>
                <a:latin typeface="Calibri"/>
                <a:ea typeface="Calibri"/>
                <a:cs typeface="Calibri"/>
              </a:defRPr>
            </a:pPr>
            <a:r>
              <a:rPr sz="2100" b="0" i="0">
                <a:solidFill>
                  <a:srgbClr val="5C7080"/>
                </a:solidFill>
                <a:latin typeface="Calibri"/>
                <a:ea typeface="Calibri"/>
                <a:cs typeface="Calibri"/>
              </a:rPr>
              <a:t>A full-text index maps terms to the stored documents or graph elements that contain them. It is strongest when the query includes identifiers, names, acronyms, or exact wording.</a:t>
            </a:r>
          </a:p>
        </p:txBody>
      </p:sp>
      <p:sp>
        <p:nvSpPr>
          <p:cNvPr id="6" name="">
            <a:extLst xmlns:a="http://schemas.openxmlformats.org/drawingml/2006/main">
              <a:ext uri="{FF2B5EF4-FFF2-40B4-BE49-F238E27FC236}">
                <a16:creationId xmlns:a16="http://schemas.microsoft.com/office/drawing/2014/main" id="{0A3407A0-CB8C-43A2-99BC-6E071635E7E8}"/>
              </a:ext>
            </a:extLst>
          </p:cNvPr>
          <p:cNvSpPr>
            <a:spLocks xmlns:a="http://schemas.openxmlformats.org/drawingml/2006/main" noGrp="1"/>
          </p:cNvSpPr>
          <p:nvPr/>
        </p:nvSpPr>
        <p:spPr>
          <a:xfrm xmlns:a="http://schemas.openxmlformats.org/drawingml/2006/main">
            <a:off x="895350" y="2705100"/>
            <a:ext cx="4114800" cy="2000250"/>
          </a:xfrm>
          <a:prstGeom xmlns:a="http://schemas.openxmlformats.org/drawingml/2006/main" prst="roundRect">
            <a:avLst>
              <a:gd name="adj" fmla="val 5714"/>
            </a:avLst>
          </a:prstGeom>
          <a:solidFill xmlns:a="http://schemas.openxmlformats.org/drawingml/2006/main">
            <a:srgbClr val="0B2942"/>
          </a:solidFill>
          <a:ln xmlns:a="http://schemas.openxmlformats.org/drawingml/2006/main" w="11430">
            <a:solidFill>
              <a:srgbClr val="065A82"/>
            </a:solidFill>
            <a:prstDash val="solid"/>
          </a:ln>
        </p:spPr>
      </p:sp>
      <p:sp>
        <p:nvSpPr>
          <p:cNvPr id="7" name="">
            <a:extLst xmlns:a="http://schemas.openxmlformats.org/drawingml/2006/main">
              <a:ext uri="{FF2B5EF4-FFF2-40B4-BE49-F238E27FC236}">
                <a16:creationId xmlns:a16="http://schemas.microsoft.com/office/drawing/2014/main" id="{28174A1F-1BFF-45CB-8C7F-4085095182F6}"/>
              </a:ext>
            </a:extLst>
          </p:cNvPr>
          <p:cNvSpPr>
            <a:spLocks xmlns:a="http://schemas.openxmlformats.org/drawingml/2006/main" noGrp="1"/>
          </p:cNvSpPr>
          <p:nvPr/>
        </p:nvSpPr>
        <p:spPr>
          <a:xfrm xmlns:a="http://schemas.openxmlformats.org/drawingml/2006/main">
            <a:off x="1066800" y="2838450"/>
            <a:ext cx="37719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0">
                <a:solidFill>
                  <a:srgbClr val="CFE8F0"/>
                </a:solidFill>
                <a:latin typeface="Courier New"/>
                <a:ea typeface="Courier New"/>
                <a:cs typeface="Courier New"/>
              </a:defRPr>
            </a:pPr>
            <a:r>
              <a:rPr sz="1875" b="0" i="0">
                <a:solidFill>
                  <a:srgbClr val="CFE8F0"/>
                </a:solidFill>
                <a:latin typeface="Courier New"/>
                <a:ea typeface="Courier New"/>
                <a:cs typeface="Courier New"/>
              </a:rPr>
              <a:t>Ada → {doc 2, doc 9}</a:t>
            </a:r>
          </a:p>
          <a:p xmlns:a="http://schemas.openxmlformats.org/drawingml/2006/main">
            <a:pPr algn="l">
              <a:lnSpc>
                <a:spcPct val="100000"/>
              </a:lnSpc>
              <a:buNone/>
              <a:defRPr sz="1875" b="0" i="0">
                <a:solidFill>
                  <a:srgbClr val="CFE8F0"/>
                </a:solidFill>
                <a:latin typeface="Courier New"/>
                <a:ea typeface="Courier New"/>
                <a:cs typeface="Courier New"/>
              </a:defRPr>
            </a:pPr>
            <a:r>
              <a:rPr sz="1875" b="0" i="0">
                <a:solidFill>
                  <a:srgbClr val="CFE8F0"/>
                </a:solidFill>
                <a:latin typeface="Courier New"/>
                <a:ea typeface="Courier New"/>
                <a:cs typeface="Courier New"/>
              </a:rPr>
              <a:t>engine → {doc 4, doc 9}</a:t>
            </a:r>
          </a:p>
          <a:p xmlns:a="http://schemas.openxmlformats.org/drawingml/2006/main">
            <a:pPr algn="l">
              <a:lnSpc>
                <a:spcPct val="100000"/>
              </a:lnSpc>
              <a:buNone/>
              <a:defRPr sz="1875" b="0" i="0">
                <a:solidFill>
                  <a:srgbClr val="CFE8F0"/>
                </a:solidFill>
                <a:latin typeface="Courier New"/>
                <a:ea typeface="Courier New"/>
                <a:cs typeface="Courier New"/>
              </a:defRPr>
            </a:pPr>
            <a:r>
              <a:rPr sz="1875" b="0" i="0">
                <a:solidFill>
                  <a:srgbClr val="CFE8F0"/>
                </a:solidFill>
                <a:latin typeface="Courier New"/>
                <a:ea typeface="Courier New"/>
                <a:cs typeface="Courier New"/>
              </a:rPr>
              <a:t>Bernoulli → {doc 9}</a:t>
            </a:r>
          </a:p>
        </p:txBody>
      </p:sp>
      <p:sp>
        <p:nvSpPr>
          <p:cNvPr id="8" name="">
            <a:extLst xmlns:a="http://schemas.openxmlformats.org/drawingml/2006/main">
              <a:ext uri="{FF2B5EF4-FFF2-40B4-BE49-F238E27FC236}">
                <a16:creationId xmlns:a16="http://schemas.microsoft.com/office/drawing/2014/main" id="{C4D01C59-958E-4C1B-BA82-DB3134267786}"/>
              </a:ext>
            </a:extLst>
          </p:cNvPr>
          <p:cNvSpPr>
            <a:spLocks xmlns:a="http://schemas.openxmlformats.org/drawingml/2006/main" noGrp="1"/>
          </p:cNvSpPr>
          <p:nvPr/>
        </p:nvSpPr>
        <p:spPr>
          <a:xfrm xmlns:a="http://schemas.openxmlformats.org/drawingml/2006/main">
            <a:off x="5791200" y="2571750"/>
            <a:ext cx="5467350" cy="2247900"/>
          </a:xfrm>
          <a:prstGeom xmlns:a="http://schemas.openxmlformats.org/drawingml/2006/main" prst="roundRect">
            <a:avLst>
              <a:gd name="adj" fmla="val 5085"/>
            </a:avLst>
          </a:prstGeom>
          <a:solidFill xmlns:a="http://schemas.openxmlformats.org/drawingml/2006/main">
            <a:srgbClr val="F2F8FA"/>
          </a:solidFill>
          <a:ln xmlns:a="http://schemas.openxmlformats.org/drawingml/2006/main" w="9525">
            <a:solidFill>
              <a:srgbClr val="F2F8FA"/>
            </a:solidFill>
            <a:prstDash val="solid"/>
          </a:ln>
        </p:spPr>
      </p:sp>
      <p:sp>
        <p:nvSpPr>
          <p:cNvPr id="9" name="">
            <a:extLst xmlns:a="http://schemas.openxmlformats.org/drawingml/2006/main">
              <a:ext uri="{FF2B5EF4-FFF2-40B4-BE49-F238E27FC236}">
                <a16:creationId xmlns:a16="http://schemas.microsoft.com/office/drawing/2014/main" id="{50619342-4970-43F2-804D-30FBCC2B8C9D}"/>
              </a:ext>
            </a:extLst>
          </p:cNvPr>
          <p:cNvSpPr>
            <a:spLocks xmlns:a="http://schemas.openxmlformats.org/drawingml/2006/main" noGrp="1"/>
          </p:cNvSpPr>
          <p:nvPr/>
        </p:nvSpPr>
        <p:spPr>
          <a:xfrm xmlns:a="http://schemas.openxmlformats.org/drawingml/2006/main">
            <a:off x="6000750" y="274320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065A82"/>
                </a:solidFill>
                <a:latin typeface="Cambria"/>
                <a:ea typeface="Cambria"/>
                <a:cs typeface="Cambria"/>
              </a:defRPr>
            </a:pPr>
            <a:r>
              <a:rPr sz="2025" b="1" i="0">
                <a:solidFill>
                  <a:srgbClr val="065A82"/>
                </a:solidFill>
                <a:latin typeface="Cambria"/>
                <a:ea typeface="Cambria"/>
                <a:cs typeface="Cambria"/>
              </a:rPr>
              <a:t>What it preserves</a:t>
            </a:r>
          </a:p>
        </p:txBody>
      </p:sp>
      <p:sp>
        <p:nvSpPr>
          <p:cNvPr id="10" name="">
            <a:extLst xmlns:a="http://schemas.openxmlformats.org/drawingml/2006/main">
              <a:ext uri="{FF2B5EF4-FFF2-40B4-BE49-F238E27FC236}">
                <a16:creationId xmlns:a16="http://schemas.microsoft.com/office/drawing/2014/main" id="{C2B71C70-F945-46E7-9B8E-352E91C52271}"/>
              </a:ext>
            </a:extLst>
          </p:cNvPr>
          <p:cNvSpPr>
            <a:spLocks xmlns:a="http://schemas.openxmlformats.org/drawingml/2006/main" noGrp="1"/>
          </p:cNvSpPr>
          <p:nvPr/>
        </p:nvSpPr>
        <p:spPr>
          <a:xfrm xmlns:a="http://schemas.openxmlformats.org/drawingml/2006/main">
            <a:off x="6000750" y="3200400"/>
            <a:ext cx="5048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B2733"/>
                </a:solidFill>
                <a:latin typeface="Calibri"/>
                <a:ea typeface="Calibri"/>
                <a:cs typeface="Calibri"/>
              </a:defRPr>
            </a:pPr>
            <a:r>
              <a:rPr sz="1725" b="0" i="0">
                <a:solidFill>
                  <a:srgbClr val="1B2733"/>
                </a:solidFill>
                <a:latin typeface="Calibri"/>
                <a:ea typeface="Calibri"/>
                <a:cs typeface="Calibri"/>
              </a:rPr>
              <a:t>Spelling, token boundaries, phrase occurrence, and field-level filters. Ranking may score lexical proximity, but the index does not infer that “calculation device” means “computer.”</a:t>
            </a:r>
          </a:p>
        </p:txBody>
      </p:sp>
      <p:sp>
        <p:nvSpPr>
          <p:cNvPr id="11" name="">
            <a:extLst xmlns:a="http://schemas.openxmlformats.org/drawingml/2006/main">
              <a:ext uri="{FF2B5EF4-FFF2-40B4-BE49-F238E27FC236}">
                <a16:creationId xmlns:a16="http://schemas.microsoft.com/office/drawing/2014/main" id="{E158B319-AE7F-49AC-ADE4-1F0291C63485}"/>
              </a:ext>
            </a:extLst>
          </p:cNvPr>
          <p:cNvSpPr>
            <a:spLocks xmlns:a="http://schemas.openxmlformats.org/drawingml/2006/main" noGrp="1"/>
          </p:cNvSpPr>
          <p:nvPr/>
        </p:nvSpPr>
        <p:spPr>
          <a:xfrm xmlns:a="http://schemas.openxmlformats.org/drawingml/2006/main">
            <a:off x="1905000" y="52387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ctr">
              <a:lnSpc>
                <a:spcPct val="100000"/>
              </a:lnSpc>
              <a:buNone/>
              <a:defRPr sz="2250" b="1" i="0">
                <a:solidFill>
                  <a:srgbClr val="0B2942"/>
                </a:solidFill>
                <a:latin typeface="Cambria"/>
                <a:ea typeface="Cambria"/>
                <a:cs typeface="Cambria"/>
              </a:defRPr>
            </a:pPr>
            <a:r>
              <a:rPr sz="2250" b="1" i="0">
                <a:solidFill>
                  <a:srgbClr val="0B2942"/>
                </a:solidFill>
                <a:latin typeface="Cambria"/>
                <a:ea typeface="Cambria"/>
                <a:cs typeface="Cambria"/>
              </a:rPr>
              <a:t>Use lexical retrieval when exactness is evidence, not noise.</a:t>
            </a:r>
          </a:p>
        </p:txBody>
      </p:sp>
    </p:spTree>
    <p:extLst>
      <p:ext uri="{BB962C8B-B14F-4D97-AF65-F5344CB8AC3E}">
        <p14:creationId xmlns:p14="http://schemas.microsoft.com/office/powerpoint/2010/main" val="49769660"/>
      </p:ext>
    </p:extLst>
  </p:cSld>
</p:sld>
</file>

<file path=ppt/slides/slide6.xml><?xml version="1.0" encoding="utf-8"?>
<p:sld xmlns:p="http://schemas.openxmlformats.org/presentationml/2006/main">
  <p:cSld>
    <p:bg>
      <p:bgPr>
        <a:solidFill xmlns:a="http://schemas.openxmlformats.org/drawingml/2006/main">
          <a:srgbClr val="F2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6C3102A-A60D-4DD5-A1B1-3ED08250E0EB}"/>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VECTORS</a:t>
            </a:r>
          </a:p>
        </p:txBody>
      </p:sp>
      <p:sp>
        <p:nvSpPr>
          <p:cNvPr id="2" name="">
            <a:extLst xmlns:a="http://schemas.openxmlformats.org/drawingml/2006/main">
              <a:ext uri="{FF2B5EF4-FFF2-40B4-BE49-F238E27FC236}">
                <a16:creationId xmlns:a16="http://schemas.microsoft.com/office/drawing/2014/main" id="{78F76B19-52C4-48BE-B008-DBD659708056}"/>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Vector Search Recovers Semantic Neighbors</a:t>
            </a:r>
          </a:p>
        </p:txBody>
      </p:sp>
      <p:sp>
        <p:nvSpPr>
          <p:cNvPr id="3" name="">
            <a:extLst xmlns:a="http://schemas.openxmlformats.org/drawingml/2006/main">
              <a:ext uri="{FF2B5EF4-FFF2-40B4-BE49-F238E27FC236}">
                <a16:creationId xmlns:a16="http://schemas.microsoft.com/office/drawing/2014/main" id="{63127BE7-AE87-42A9-B648-F566E8F06D63}"/>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6A83F40C-3AC1-48A6-B86C-BF6C0FC5B605}"/>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06</a:t>
            </a:r>
          </a:p>
        </p:txBody>
      </p:sp>
      <p:sp>
        <p:nvSpPr>
          <p:cNvPr id="5" name="">
            <a:extLst xmlns:a="http://schemas.openxmlformats.org/drawingml/2006/main">
              <a:ext uri="{FF2B5EF4-FFF2-40B4-BE49-F238E27FC236}">
                <a16:creationId xmlns:a16="http://schemas.microsoft.com/office/drawing/2014/main" id="{A8D19E64-5EF8-490A-9CD0-DA034E1F964E}"/>
              </a:ext>
            </a:extLst>
          </p:cNvPr>
          <p:cNvSpPr>
            <a:spLocks xmlns:a="http://schemas.openxmlformats.org/drawingml/2006/main" noGrp="1"/>
          </p:cNvSpPr>
          <p:nvPr/>
        </p:nvSpPr>
        <p:spPr>
          <a:xfrm xmlns:a="http://schemas.openxmlformats.org/drawingml/2006/main">
            <a:off x="742950" y="14668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2100" b="0" i="0">
                <a:solidFill>
                  <a:srgbClr val="5C7080"/>
                </a:solidFill>
                <a:latin typeface="Calibri"/>
                <a:ea typeface="Calibri"/>
                <a:cs typeface="Calibri"/>
              </a:defRPr>
            </a:pPr>
            <a:r>
              <a:rPr sz="2100" b="0" i="0">
                <a:solidFill>
                  <a:srgbClr val="5C7080"/>
                </a:solidFill>
                <a:latin typeface="Calibri"/>
                <a:ea typeface="Calibri"/>
                <a:cs typeface="Calibri"/>
              </a:rPr>
              <a:t>An embedding model maps text to a fixed-length numeric vector. A vector index returns stored vectors close to the query under a configured similarity measure.</a:t>
            </a:r>
          </a:p>
        </p:txBody>
      </p:sp>
      <p:sp>
        <p:nvSpPr>
          <p:cNvPr id="6" name="">
            <a:extLst xmlns:a="http://schemas.openxmlformats.org/drawingml/2006/main">
              <a:ext uri="{FF2B5EF4-FFF2-40B4-BE49-F238E27FC236}">
                <a16:creationId xmlns:a16="http://schemas.microsoft.com/office/drawing/2014/main" id="{82DCC6E2-CB73-449D-9E4C-982B1D15A3D3}"/>
              </a:ext>
            </a:extLst>
          </p:cNvPr>
          <p:cNvSpPr>
            <a:spLocks xmlns:a="http://schemas.openxmlformats.org/drawingml/2006/main" noGrp="1"/>
          </p:cNvSpPr>
          <p:nvPr/>
        </p:nvSpPr>
        <p:spPr>
          <a:xfrm xmlns:a="http://schemas.openxmlformats.org/drawingml/2006/main">
            <a:off x="781050" y="2667000"/>
            <a:ext cx="314325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C9807BD0-B3EE-420E-AAD3-EF8BABB234FB}"/>
              </a:ext>
            </a:extLst>
          </p:cNvPr>
          <p:cNvSpPr>
            <a:spLocks xmlns:a="http://schemas.openxmlformats.org/drawingml/2006/main" noGrp="1"/>
          </p:cNvSpPr>
          <p:nvPr/>
        </p:nvSpPr>
        <p:spPr>
          <a:xfrm xmlns:a="http://schemas.openxmlformats.org/drawingml/2006/main">
            <a:off x="990600" y="2838450"/>
            <a:ext cx="272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065A82"/>
                </a:solidFill>
                <a:latin typeface="Cambria"/>
                <a:ea typeface="Cambria"/>
                <a:cs typeface="Cambria"/>
              </a:defRPr>
            </a:pPr>
            <a:r>
              <a:rPr sz="2025" b="1" i="0">
                <a:solidFill>
                  <a:srgbClr val="065A82"/>
                </a:solidFill>
                <a:latin typeface="Cambria"/>
                <a:ea typeface="Cambria"/>
                <a:cs typeface="Cambria"/>
              </a:rPr>
              <a:t>1 · ENCODE</a:t>
            </a:r>
          </a:p>
        </p:txBody>
      </p:sp>
      <p:sp>
        <p:nvSpPr>
          <p:cNvPr id="8" name="">
            <a:extLst xmlns:a="http://schemas.openxmlformats.org/drawingml/2006/main">
              <a:ext uri="{FF2B5EF4-FFF2-40B4-BE49-F238E27FC236}">
                <a16:creationId xmlns:a16="http://schemas.microsoft.com/office/drawing/2014/main" id="{11AA46F0-BE6A-48E5-A89D-8D09E78CD657}"/>
              </a:ext>
            </a:extLst>
          </p:cNvPr>
          <p:cNvSpPr>
            <a:spLocks xmlns:a="http://schemas.openxmlformats.org/drawingml/2006/main" noGrp="1"/>
          </p:cNvSpPr>
          <p:nvPr/>
        </p:nvSpPr>
        <p:spPr>
          <a:xfrm xmlns:a="http://schemas.openxmlformats.org/drawingml/2006/main">
            <a:off x="990600" y="3295650"/>
            <a:ext cx="27241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“calculation device”</a:t>
            </a:r>
          </a:p>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 [0.18, −0.42, …]</a:t>
            </a:r>
          </a:p>
        </p:txBody>
      </p:sp>
      <p:sp>
        <p:nvSpPr>
          <p:cNvPr id="9" name="">
            <a:extLst xmlns:a="http://schemas.openxmlformats.org/drawingml/2006/main">
              <a:ext uri="{FF2B5EF4-FFF2-40B4-BE49-F238E27FC236}">
                <a16:creationId xmlns:a16="http://schemas.microsoft.com/office/drawing/2014/main" id="{10452E04-01CF-48B1-AB36-DAA7995D67F8}"/>
              </a:ext>
            </a:extLst>
          </p:cNvPr>
          <p:cNvSpPr>
            <a:spLocks xmlns:a="http://schemas.openxmlformats.org/drawingml/2006/main" noGrp="1"/>
          </p:cNvSpPr>
          <p:nvPr/>
        </p:nvSpPr>
        <p:spPr>
          <a:xfrm xmlns:a="http://schemas.openxmlformats.org/drawingml/2006/main">
            <a:off x="4524375" y="2667000"/>
            <a:ext cx="3143250" cy="2095500"/>
          </a:xfrm>
          <a:prstGeom xmlns:a="http://schemas.openxmlformats.org/drawingml/2006/main" prst="roundRect">
            <a:avLst>
              <a:gd name="adj" fmla="val 5455"/>
            </a:avLst>
          </a:prstGeom>
          <a:solidFill xmlns:a="http://schemas.openxmlformats.org/drawingml/2006/main">
            <a:srgbClr val="FFF7DA"/>
          </a:solidFill>
          <a:ln xmlns:a="http://schemas.openxmlformats.org/drawingml/2006/main" w="9525">
            <a:solidFill>
              <a:srgbClr val="FFF7DA"/>
            </a:solidFill>
            <a:prstDash val="solid"/>
          </a:ln>
        </p:spPr>
      </p:sp>
      <p:sp>
        <p:nvSpPr>
          <p:cNvPr id="10" name="">
            <a:extLst xmlns:a="http://schemas.openxmlformats.org/drawingml/2006/main">
              <a:ext uri="{FF2B5EF4-FFF2-40B4-BE49-F238E27FC236}">
                <a16:creationId xmlns:a16="http://schemas.microsoft.com/office/drawing/2014/main" id="{CA5EA656-C1A2-4357-B304-C8D44A2F98C1}"/>
              </a:ext>
            </a:extLst>
          </p:cNvPr>
          <p:cNvSpPr>
            <a:spLocks xmlns:a="http://schemas.openxmlformats.org/drawingml/2006/main" noGrp="1"/>
          </p:cNvSpPr>
          <p:nvPr/>
        </p:nvSpPr>
        <p:spPr>
          <a:xfrm xmlns:a="http://schemas.openxmlformats.org/drawingml/2006/main">
            <a:off x="4733925" y="2838450"/>
            <a:ext cx="272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21295C"/>
                </a:solidFill>
                <a:latin typeface="Cambria"/>
                <a:ea typeface="Cambria"/>
                <a:cs typeface="Cambria"/>
              </a:defRPr>
            </a:pPr>
            <a:r>
              <a:rPr sz="2025" b="1" i="0">
                <a:solidFill>
                  <a:srgbClr val="21295C"/>
                </a:solidFill>
                <a:latin typeface="Cambria"/>
                <a:ea typeface="Cambria"/>
                <a:cs typeface="Cambria"/>
              </a:rPr>
              <a:t>2 · COMPARE</a:t>
            </a:r>
          </a:p>
        </p:txBody>
      </p:sp>
      <p:sp>
        <p:nvSpPr>
          <p:cNvPr id="11" name="">
            <a:extLst xmlns:a="http://schemas.openxmlformats.org/drawingml/2006/main">
              <a:ext uri="{FF2B5EF4-FFF2-40B4-BE49-F238E27FC236}">
                <a16:creationId xmlns:a16="http://schemas.microsoft.com/office/drawing/2014/main" id="{32C42CF0-FF7A-4936-80FA-49ABA3745776}"/>
              </a:ext>
            </a:extLst>
          </p:cNvPr>
          <p:cNvSpPr>
            <a:spLocks xmlns:a="http://schemas.openxmlformats.org/drawingml/2006/main" noGrp="1"/>
          </p:cNvSpPr>
          <p:nvPr/>
        </p:nvSpPr>
        <p:spPr>
          <a:xfrm xmlns:a="http://schemas.openxmlformats.org/drawingml/2006/main">
            <a:off x="4733925" y="3295650"/>
            <a:ext cx="27241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B2733"/>
                </a:solidFill>
                <a:latin typeface="Calibri"/>
                <a:ea typeface="Calibri"/>
                <a:cs typeface="Calibri"/>
              </a:defRPr>
            </a:pPr>
            <a:r>
              <a:rPr sz="1725" b="0" i="0">
                <a:solidFill>
                  <a:srgbClr val="1B2733"/>
                </a:solidFill>
                <a:latin typeface="Calibri"/>
                <a:ea typeface="Calibri"/>
                <a:cs typeface="Calibri"/>
              </a:rPr>
              <a:t>query vector against stored vectors with cosine, dot product, or Euclidean distance</a:t>
            </a:r>
          </a:p>
        </p:txBody>
      </p:sp>
      <p:sp>
        <p:nvSpPr>
          <p:cNvPr id="12" name="">
            <a:extLst xmlns:a="http://schemas.openxmlformats.org/drawingml/2006/main">
              <a:ext uri="{FF2B5EF4-FFF2-40B4-BE49-F238E27FC236}">
                <a16:creationId xmlns:a16="http://schemas.microsoft.com/office/drawing/2014/main" id="{194B4715-44E7-4BC6-BFD3-6B7287B324DC}"/>
              </a:ext>
            </a:extLst>
          </p:cNvPr>
          <p:cNvSpPr>
            <a:spLocks xmlns:a="http://schemas.openxmlformats.org/drawingml/2006/main" noGrp="1"/>
          </p:cNvSpPr>
          <p:nvPr/>
        </p:nvSpPr>
        <p:spPr>
          <a:xfrm xmlns:a="http://schemas.openxmlformats.org/drawingml/2006/main">
            <a:off x="8267700" y="2667000"/>
            <a:ext cx="314325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7C71AEF4-0795-4FEB-A3A3-7A4DECB53589}"/>
              </a:ext>
            </a:extLst>
          </p:cNvPr>
          <p:cNvSpPr>
            <a:spLocks xmlns:a="http://schemas.openxmlformats.org/drawingml/2006/main" noGrp="1"/>
          </p:cNvSpPr>
          <p:nvPr/>
        </p:nvSpPr>
        <p:spPr>
          <a:xfrm xmlns:a="http://schemas.openxmlformats.org/drawingml/2006/main">
            <a:off x="8477250" y="2838450"/>
            <a:ext cx="272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C7293"/>
                </a:solidFill>
                <a:latin typeface="Cambria"/>
                <a:ea typeface="Cambria"/>
                <a:cs typeface="Cambria"/>
              </a:defRPr>
            </a:pPr>
            <a:r>
              <a:rPr sz="2025" b="1" i="0">
                <a:solidFill>
                  <a:srgbClr val="1C7293"/>
                </a:solidFill>
                <a:latin typeface="Cambria"/>
                <a:ea typeface="Cambria"/>
                <a:cs typeface="Cambria"/>
              </a:rPr>
              <a:t>3 · RANK</a:t>
            </a:r>
          </a:p>
        </p:txBody>
      </p:sp>
      <p:sp>
        <p:nvSpPr>
          <p:cNvPr id="14" name="">
            <a:extLst xmlns:a="http://schemas.openxmlformats.org/drawingml/2006/main">
              <a:ext uri="{FF2B5EF4-FFF2-40B4-BE49-F238E27FC236}">
                <a16:creationId xmlns:a16="http://schemas.microsoft.com/office/drawing/2014/main" id="{5535618C-7F32-4A93-99FB-48C692DD0C68}"/>
              </a:ext>
            </a:extLst>
          </p:cNvPr>
          <p:cNvSpPr>
            <a:spLocks xmlns:a="http://schemas.openxmlformats.org/drawingml/2006/main" noGrp="1"/>
          </p:cNvSpPr>
          <p:nvPr/>
        </p:nvSpPr>
        <p:spPr>
          <a:xfrm xmlns:a="http://schemas.openxmlformats.org/drawingml/2006/main">
            <a:off x="8477250" y="3295650"/>
            <a:ext cx="27241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B2733"/>
                </a:solidFill>
                <a:latin typeface="Calibri"/>
                <a:ea typeface="Calibri"/>
                <a:cs typeface="Calibri"/>
              </a:defRPr>
            </a:pPr>
            <a:r>
              <a:rPr sz="1725" b="0" i="0">
                <a:solidFill>
                  <a:srgbClr val="1B2733"/>
                </a:solidFill>
                <a:latin typeface="Calibri"/>
                <a:ea typeface="Calibri"/>
                <a:cs typeface="Calibri"/>
              </a:rPr>
              <a:t>return approximate nearest neighbors with similarity scores</a:t>
            </a:r>
          </a:p>
        </p:txBody>
      </p:sp>
      <p:sp>
        <p:nvSpPr>
          <p:cNvPr id="15" name="">
            <a:extLst xmlns:a="http://schemas.openxmlformats.org/drawingml/2006/main">
              <a:ext uri="{FF2B5EF4-FFF2-40B4-BE49-F238E27FC236}">
                <a16:creationId xmlns:a16="http://schemas.microsoft.com/office/drawing/2014/main" id="{6242589C-4D0C-4E9B-9923-B245B44753DE}"/>
              </a:ext>
            </a:extLst>
          </p:cNvPr>
          <p:cNvSpPr>
            <a:spLocks xmlns:a="http://schemas.openxmlformats.org/drawingml/2006/main" noGrp="1"/>
          </p:cNvSpPr>
          <p:nvPr/>
        </p:nvSpPr>
        <p:spPr>
          <a:xfrm xmlns:a="http://schemas.openxmlformats.org/drawingml/2006/main">
            <a:off x="1466850" y="5257800"/>
            <a:ext cx="9258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1987"/>
          </a:bodyPr>
          <a:lstStyle xmlns:a="http://schemas.openxmlformats.org/drawingml/2006/main"/>
          <a:p xmlns:a="http://schemas.openxmlformats.org/drawingml/2006/main">
            <a:pPr algn="ctr">
              <a:lnSpc>
                <a:spcPct val="100000"/>
              </a:lnSpc>
              <a:buNone/>
              <a:defRPr sz="2100" b="1" i="0">
                <a:solidFill>
                  <a:srgbClr val="E76F51"/>
                </a:solidFill>
                <a:latin typeface="Cambria"/>
                <a:ea typeface="Cambria"/>
                <a:cs typeface="Cambria"/>
              </a:defRPr>
            </a:pPr>
            <a:r>
              <a:rPr sz="2100" b="1" i="0">
                <a:solidFill>
                  <a:srgbClr val="E76F51"/>
                </a:solidFill>
                <a:latin typeface="Cambria"/>
                <a:ea typeface="Cambria"/>
                <a:cs typeface="Cambria"/>
              </a:rPr>
              <a:t>Similarity is model- and configuration-dependent; it is not proof of a factual relationship.</a:t>
            </a:r>
          </a:p>
        </p:txBody>
      </p:sp>
    </p:spTree>
    <p:extLst>
      <p:ext uri="{BB962C8B-B14F-4D97-AF65-F5344CB8AC3E}">
        <p14:creationId xmlns:p14="http://schemas.microsoft.com/office/powerpoint/2010/main" val="178751487"/>
      </p:ext>
    </p:extLst>
  </p:cSld>
</p:sld>
</file>

<file path=ppt/slides/slide7.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87525D4-19A8-4276-9A09-AC4DF9F4FF23}"/>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BACKGROUND · GRAPHS</a:t>
            </a:r>
          </a:p>
        </p:txBody>
      </p:sp>
      <p:sp>
        <p:nvSpPr>
          <p:cNvPr id="2" name="">
            <a:extLst xmlns:a="http://schemas.openxmlformats.org/drawingml/2006/main">
              <a:ext uri="{FF2B5EF4-FFF2-40B4-BE49-F238E27FC236}">
                <a16:creationId xmlns:a16="http://schemas.microsoft.com/office/drawing/2014/main" id="{65C7BD38-DDEE-4642-9358-B004B7E77BD8}"/>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Graph Memory Recovers Connected Structure</a:t>
            </a:r>
          </a:p>
        </p:txBody>
      </p:sp>
      <p:sp>
        <p:nvSpPr>
          <p:cNvPr id="3" name="">
            <a:extLst xmlns:a="http://schemas.openxmlformats.org/drawingml/2006/main">
              <a:ext uri="{FF2B5EF4-FFF2-40B4-BE49-F238E27FC236}">
                <a16:creationId xmlns:a16="http://schemas.microsoft.com/office/drawing/2014/main" id="{EB0F0F54-675F-4ECF-B588-71E504A53BA3}"/>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205C5C35-1DB2-4013-88FC-53BA210A38AE}"/>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07</a:t>
            </a:r>
          </a:p>
        </p:txBody>
      </p:sp>
      <p:sp>
        <p:nvSpPr>
          <p:cNvPr id="5" name="">
            <a:extLst xmlns:a="http://schemas.openxmlformats.org/drawingml/2006/main">
              <a:ext uri="{FF2B5EF4-FFF2-40B4-BE49-F238E27FC236}">
                <a16:creationId xmlns:a16="http://schemas.microsoft.com/office/drawing/2014/main" id="{B1388457-8F91-4C4B-B26E-41752BE3FA24}"/>
              </a:ext>
            </a:extLst>
          </p:cNvPr>
          <p:cNvSpPr>
            <a:spLocks xmlns:a="http://schemas.openxmlformats.org/drawingml/2006/main" noGrp="1"/>
          </p:cNvSpPr>
          <p:nvPr/>
        </p:nvSpPr>
        <p:spPr>
          <a:xfrm xmlns:a="http://schemas.openxmlformats.org/drawingml/2006/main">
            <a:off x="1047750" y="2667000"/>
            <a:ext cx="1714500" cy="1714500"/>
          </a:xfrm>
          <a:prstGeom xmlns:a="http://schemas.openxmlformats.org/drawingml/2006/main" prst="ellipse">
            <a:avLst/>
          </a:prstGeom>
          <a:solidFill xmlns:a="http://schemas.openxmlformats.org/drawingml/2006/main">
            <a:srgbClr val="065A8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78E362-CD4F-4EB7-8DB5-30B75445880A}"/>
              </a:ext>
            </a:extLst>
          </p:cNvPr>
          <p:cNvSpPr>
            <a:spLocks xmlns:a="http://schemas.openxmlformats.org/drawingml/2006/main" noGrp="1"/>
          </p:cNvSpPr>
          <p:nvPr/>
        </p:nvSpPr>
        <p:spPr>
          <a:xfrm xmlns:a="http://schemas.openxmlformats.org/drawingml/2006/main">
            <a:off x="5238750" y="2000250"/>
            <a:ext cx="1905000" cy="1905000"/>
          </a:xfrm>
          <a:prstGeom xmlns:a="http://schemas.openxmlformats.org/drawingml/2006/main" prst="ellipse">
            <a:avLst/>
          </a:prstGeom>
          <a:solidFill xmlns:a="http://schemas.openxmlformats.org/drawingml/2006/main">
            <a:srgbClr val="1C729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AE6A0D-05C1-4A5C-8E83-180E8CA5E13A}"/>
              </a:ext>
            </a:extLst>
          </p:cNvPr>
          <p:cNvSpPr>
            <a:spLocks xmlns:a="http://schemas.openxmlformats.org/drawingml/2006/main" noGrp="1"/>
          </p:cNvSpPr>
          <p:nvPr/>
        </p:nvSpPr>
        <p:spPr>
          <a:xfrm xmlns:a="http://schemas.openxmlformats.org/drawingml/2006/main">
            <a:off x="9239250" y="3048000"/>
            <a:ext cx="1809750" cy="1809750"/>
          </a:xfrm>
          <a:prstGeom xmlns:a="http://schemas.openxmlformats.org/drawingml/2006/main" prst="ellipse">
            <a:avLst/>
          </a:prstGeom>
          <a:solidFill xmlns:a="http://schemas.openxmlformats.org/drawingml/2006/main">
            <a:srgbClr val="21295C"/>
          </a:solidFill>
          <a:ln xmlns:a="http://schemas.openxmlformats.org/drawingml/2006/main" w="0">
            <a:noFill/>
            <a:prstDash val="solid"/>
          </a:ln>
        </p:spPr>
      </p:sp>
      <p:cxnSp>
        <p:nvCxnSpPr>
          <p:cNvPr id="25" name=""/>
          <p:cNvCxnSpPr>
            <a:stCxn xmlns:a="http://schemas.openxmlformats.org/drawingml/2006/main" id="5" idx="6"/>
            <a:endCxn xmlns:a="http://schemas.openxmlformats.org/drawingml/2006/main" id="6" idx="2"/>
          </p:cNvCxnSpPr>
          <p:nvPr/>
        </p:nvCxnSpPr>
        <p:spPr>
          <a:xfrm xmlns:a="http://schemas.openxmlformats.org/drawingml/2006/main" flipV="1">
            <a:off x="2762250" y="2952750"/>
            <a:ext cx="2476500" cy="571500"/>
          </a:xfrm>
          <a:prstGeom xmlns:a="http://schemas.openxmlformats.org/drawingml/2006/main" prst="straightConnector1">
            <a:avLst/>
          </a:prstGeom>
          <a:ln xmlns:a="http://schemas.openxmlformats.org/drawingml/2006/main" w="28575">
            <a:solidFill>
              <a:srgbClr val="8FAAB8"/>
            </a:solidFill>
            <a:prstDash val="solid"/>
            <a:tailEnd type="triangle" w="sm" len="sm"/>
          </a:ln>
        </p:spPr>
      </p:cxnSp>
      <p:cxnSp>
        <p:nvCxnSpPr>
          <p:cNvPr id="26" name=""/>
          <p:cNvCxnSpPr>
            <a:stCxn xmlns:a="http://schemas.openxmlformats.org/drawingml/2006/main" id="6" idx="6"/>
            <a:endCxn xmlns:a="http://schemas.openxmlformats.org/drawingml/2006/main" id="7" idx="2"/>
          </p:cNvCxnSpPr>
          <p:nvPr/>
        </p:nvCxnSpPr>
        <p:spPr>
          <a:xfrm xmlns:a="http://schemas.openxmlformats.org/drawingml/2006/main">
            <a:off x="7143750" y="2952750"/>
            <a:ext cx="2095500" cy="1000125"/>
          </a:xfrm>
          <a:prstGeom xmlns:a="http://schemas.openxmlformats.org/drawingml/2006/main" prst="straightConnector1">
            <a:avLst/>
          </a:prstGeom>
          <a:ln xmlns:a="http://schemas.openxmlformats.org/drawingml/2006/main" w="28575">
            <a:solidFill>
              <a:srgbClr val="8FAAB8"/>
            </a:solidFill>
            <a:prstDash val="solid"/>
            <a:tailEnd type="triangle" w="sm" len="sm"/>
          </a:ln>
        </p:spPr>
      </p:cxnSp>
      <p:sp>
        <p:nvSpPr>
          <p:cNvPr id="10" name="">
            <a:extLst xmlns:a="http://schemas.openxmlformats.org/drawingml/2006/main">
              <a:ext uri="{FF2B5EF4-FFF2-40B4-BE49-F238E27FC236}">
                <a16:creationId xmlns:a16="http://schemas.microsoft.com/office/drawing/2014/main" id="{B6989F0C-AECD-4033-9A26-B513984CE933}"/>
              </a:ext>
            </a:extLst>
          </p:cNvPr>
          <p:cNvSpPr>
            <a:spLocks xmlns:a="http://schemas.openxmlformats.org/drawingml/2006/main" noGrp="1"/>
          </p:cNvSpPr>
          <p:nvPr/>
        </p:nvSpPr>
        <p:spPr>
          <a:xfrm xmlns:a="http://schemas.openxmlformats.org/drawingml/2006/main">
            <a:off x="1285875" y="3143250"/>
            <a:ext cx="123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ctr">
              <a:lnSpc>
                <a:spcPct val="100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Ada</a:t>
            </a:r>
          </a:p>
          <a:p xmlns:a="http://schemas.openxmlformats.org/drawingml/2006/main">
            <a:pPr algn="ctr">
              <a:lnSpc>
                <a:spcPct val="100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Lovelace</a:t>
            </a:r>
          </a:p>
        </p:txBody>
      </p:sp>
      <p:sp>
        <p:nvSpPr>
          <p:cNvPr id="11" name="">
            <a:extLst xmlns:a="http://schemas.openxmlformats.org/drawingml/2006/main">
              <a:ext uri="{FF2B5EF4-FFF2-40B4-BE49-F238E27FC236}">
                <a16:creationId xmlns:a16="http://schemas.microsoft.com/office/drawing/2014/main" id="{39DD191B-7B81-4679-92D5-3DA0415D84CF}"/>
              </a:ext>
            </a:extLst>
          </p:cNvPr>
          <p:cNvSpPr>
            <a:spLocks xmlns:a="http://schemas.openxmlformats.org/drawingml/2006/main" noGrp="1"/>
          </p:cNvSpPr>
          <p:nvPr/>
        </p:nvSpPr>
        <p:spPr>
          <a:xfrm xmlns:a="http://schemas.openxmlformats.org/drawingml/2006/main">
            <a:off x="5505450" y="2495550"/>
            <a:ext cx="1371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87963"/>
          </a:bodyPr>
          <a:lstStyle xmlns:a="http://schemas.openxmlformats.org/drawingml/2006/main"/>
          <a:p xmlns:a="http://schemas.openxmlformats.org/drawingml/2006/main">
            <a:pPr algn="ctr">
              <a:lnSpc>
                <a:spcPct val="100000"/>
              </a:lnSpc>
              <a:buNone/>
              <a:defRPr sz="1800" b="1" i="0">
                <a:solidFill>
                  <a:srgbClr val="FFFFFF"/>
                </a:solidFill>
                <a:latin typeface="Calibri"/>
                <a:ea typeface="Calibri"/>
                <a:cs typeface="Calibri"/>
              </a:defRPr>
            </a:pPr>
            <a:r>
              <a:rPr sz="1800" b="1" i="0">
                <a:solidFill>
                  <a:srgbClr val="FFFFFF"/>
                </a:solidFill>
                <a:latin typeface="Calibri"/>
                <a:ea typeface="Calibri"/>
                <a:cs typeface="Calibri"/>
              </a:rPr>
              <a:t>Notes on</a:t>
            </a:r>
          </a:p>
          <a:p xmlns:a="http://schemas.openxmlformats.org/drawingml/2006/main">
            <a:pPr algn="ctr">
              <a:lnSpc>
                <a:spcPct val="100000"/>
              </a:lnSpc>
              <a:buNone/>
              <a:defRPr sz="1800" b="1" i="0">
                <a:solidFill>
                  <a:srgbClr val="FFFFFF"/>
                </a:solidFill>
                <a:latin typeface="Calibri"/>
                <a:ea typeface="Calibri"/>
                <a:cs typeface="Calibri"/>
              </a:defRPr>
            </a:pPr>
            <a:r>
              <a:rPr sz="1800" b="1" i="0">
                <a:solidFill>
                  <a:srgbClr val="FFFFFF"/>
                </a:solidFill>
                <a:latin typeface="Calibri"/>
                <a:ea typeface="Calibri"/>
                <a:cs typeface="Calibri"/>
              </a:rPr>
              <a:t>Bernoulli numbers</a:t>
            </a:r>
          </a:p>
        </p:txBody>
      </p:sp>
      <p:sp>
        <p:nvSpPr>
          <p:cNvPr id="12" name="">
            <a:extLst xmlns:a="http://schemas.openxmlformats.org/drawingml/2006/main">
              <a:ext uri="{FF2B5EF4-FFF2-40B4-BE49-F238E27FC236}">
                <a16:creationId xmlns:a16="http://schemas.microsoft.com/office/drawing/2014/main" id="{D46F8E33-2796-47CF-805D-5C7848B17CC6}"/>
              </a:ext>
            </a:extLst>
          </p:cNvPr>
          <p:cNvSpPr>
            <a:spLocks xmlns:a="http://schemas.openxmlformats.org/drawingml/2006/main" noGrp="1"/>
          </p:cNvSpPr>
          <p:nvPr/>
        </p:nvSpPr>
        <p:spPr>
          <a:xfrm xmlns:a="http://schemas.openxmlformats.org/drawingml/2006/main">
            <a:off x="9505950" y="3562350"/>
            <a:ext cx="12763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ctr">
              <a:lnSpc>
                <a:spcPct val="100000"/>
              </a:lnSpc>
              <a:buNone/>
              <a:defRPr sz="1875" b="1" i="0">
                <a:solidFill>
                  <a:srgbClr val="FFFFFF"/>
                </a:solidFill>
                <a:latin typeface="Calibri"/>
                <a:ea typeface="Calibri"/>
                <a:cs typeface="Calibri"/>
              </a:defRPr>
            </a:pPr>
            <a:r>
              <a:rPr sz="1875" b="1" i="0">
                <a:solidFill>
                  <a:srgbClr val="FFFFFF"/>
                </a:solidFill>
                <a:latin typeface="Calibri"/>
                <a:ea typeface="Calibri"/>
                <a:cs typeface="Calibri"/>
              </a:rPr>
              <a:t>Analytical</a:t>
            </a:r>
          </a:p>
          <a:p xmlns:a="http://schemas.openxmlformats.org/drawingml/2006/main">
            <a:pPr algn="ctr">
              <a:lnSpc>
                <a:spcPct val="100000"/>
              </a:lnSpc>
              <a:buNone/>
              <a:defRPr sz="1875" b="1" i="0">
                <a:solidFill>
                  <a:srgbClr val="FFFFFF"/>
                </a:solidFill>
                <a:latin typeface="Calibri"/>
                <a:ea typeface="Calibri"/>
                <a:cs typeface="Calibri"/>
              </a:defRPr>
            </a:pPr>
            <a:r>
              <a:rPr sz="1875" b="1" i="0">
                <a:solidFill>
                  <a:srgbClr val="FFFFFF"/>
                </a:solidFill>
                <a:latin typeface="Calibri"/>
                <a:ea typeface="Calibri"/>
                <a:cs typeface="Calibri"/>
              </a:rPr>
              <a:t>Engine</a:t>
            </a:r>
          </a:p>
        </p:txBody>
      </p:sp>
      <p:sp>
        <p:nvSpPr>
          <p:cNvPr id="13" name="">
            <a:extLst xmlns:a="http://schemas.openxmlformats.org/drawingml/2006/main">
              <a:ext uri="{FF2B5EF4-FFF2-40B4-BE49-F238E27FC236}">
                <a16:creationId xmlns:a16="http://schemas.microsoft.com/office/drawing/2014/main" id="{9CBB0324-0985-4FE0-825B-14009E6520A2}"/>
              </a:ext>
            </a:extLst>
          </p:cNvPr>
          <p:cNvSpPr>
            <a:spLocks xmlns:a="http://schemas.openxmlformats.org/drawingml/2006/main" noGrp="1"/>
          </p:cNvSpPr>
          <p:nvPr/>
        </p:nvSpPr>
        <p:spPr>
          <a:xfrm xmlns:a="http://schemas.openxmlformats.org/drawingml/2006/main">
            <a:off x="3238500" y="2952750"/>
            <a:ext cx="1428750" cy="323850"/>
          </a:xfrm>
          <a:prstGeom xmlns:a="http://schemas.openxmlformats.org/drawingml/2006/main" prst="roundRect">
            <a:avLst>
              <a:gd name="adj" fmla="val 50000"/>
            </a:avLst>
          </a:prstGeom>
          <a:solidFill xmlns:a="http://schemas.openxmlformats.org/drawingml/2006/main">
            <a:srgbClr val="173F58"/>
          </a:solidFill>
          <a:ln xmlns:a="http://schemas.openxmlformats.org/drawingml/2006/main" w="0">
            <a:solidFill>
              <a:srgbClr val="173F58"/>
            </a:solidFill>
            <a:prstDash val="solid"/>
          </a:ln>
        </p:spPr>
      </p:sp>
      <p:sp>
        <p:nvSpPr>
          <p:cNvPr id="14" name="">
            <a:extLst xmlns:a="http://schemas.openxmlformats.org/drawingml/2006/main">
              <a:ext uri="{FF2B5EF4-FFF2-40B4-BE49-F238E27FC236}">
                <a16:creationId xmlns:a16="http://schemas.microsoft.com/office/drawing/2014/main" id="{32575F36-0933-42F7-9563-BDD50172CFC0}"/>
              </a:ext>
            </a:extLst>
          </p:cNvPr>
          <p:cNvSpPr>
            <a:spLocks xmlns:a="http://schemas.openxmlformats.org/drawingml/2006/main" noGrp="1"/>
          </p:cNvSpPr>
          <p:nvPr/>
        </p:nvSpPr>
        <p:spPr>
          <a:xfrm xmlns:a="http://schemas.openxmlformats.org/drawingml/2006/main">
            <a:off x="3314700" y="300037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AUTHORED</a:t>
            </a:r>
          </a:p>
        </p:txBody>
      </p:sp>
      <p:sp>
        <p:nvSpPr>
          <p:cNvPr id="15" name="">
            <a:extLst xmlns:a="http://schemas.openxmlformats.org/drawingml/2006/main">
              <a:ext uri="{FF2B5EF4-FFF2-40B4-BE49-F238E27FC236}">
                <a16:creationId xmlns:a16="http://schemas.microsoft.com/office/drawing/2014/main" id="{39CAD2B6-0EBC-4C3C-A29C-B091CE402C15}"/>
              </a:ext>
            </a:extLst>
          </p:cNvPr>
          <p:cNvSpPr>
            <a:spLocks xmlns:a="http://schemas.openxmlformats.org/drawingml/2006/main" noGrp="1"/>
          </p:cNvSpPr>
          <p:nvPr/>
        </p:nvSpPr>
        <p:spPr>
          <a:xfrm xmlns:a="http://schemas.openxmlformats.org/drawingml/2006/main">
            <a:off x="7524750" y="3028950"/>
            <a:ext cx="1524000" cy="323850"/>
          </a:xfrm>
          <a:prstGeom xmlns:a="http://schemas.openxmlformats.org/drawingml/2006/main" prst="roundRect">
            <a:avLst>
              <a:gd name="adj" fmla="val 50000"/>
            </a:avLst>
          </a:prstGeom>
          <a:solidFill xmlns:a="http://schemas.openxmlformats.org/drawingml/2006/main">
            <a:srgbClr val="173F58"/>
          </a:solidFill>
          <a:ln xmlns:a="http://schemas.openxmlformats.org/drawingml/2006/main" w="0">
            <a:solidFill>
              <a:srgbClr val="173F58"/>
            </a:solidFill>
            <a:prstDash val="solid"/>
          </a:ln>
        </p:spPr>
      </p:sp>
      <p:sp>
        <p:nvSpPr>
          <p:cNvPr id="16" name="">
            <a:extLst xmlns:a="http://schemas.openxmlformats.org/drawingml/2006/main">
              <a:ext uri="{FF2B5EF4-FFF2-40B4-BE49-F238E27FC236}">
                <a16:creationId xmlns:a16="http://schemas.microsoft.com/office/drawing/2014/main" id="{5105FA73-40CC-4D5F-A09C-B9DC7C8325B6}"/>
              </a:ext>
            </a:extLst>
          </p:cNvPr>
          <p:cNvSpPr>
            <a:spLocks xmlns:a="http://schemas.openxmlformats.org/drawingml/2006/main" noGrp="1"/>
          </p:cNvSpPr>
          <p:nvPr/>
        </p:nvSpPr>
        <p:spPr>
          <a:xfrm xmlns:a="http://schemas.openxmlformats.org/drawingml/2006/main">
            <a:off x="7600950" y="3076575"/>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DESCRIBES</a:t>
            </a:r>
          </a:p>
        </p:txBody>
      </p:sp>
      <p:sp>
        <p:nvSpPr>
          <p:cNvPr id="17" name="">
            <a:extLst xmlns:a="http://schemas.openxmlformats.org/drawingml/2006/main">
              <a:ext uri="{FF2B5EF4-FFF2-40B4-BE49-F238E27FC236}">
                <a16:creationId xmlns:a16="http://schemas.microsoft.com/office/drawing/2014/main" id="{77D3A26F-E89D-49A7-BB3D-207885114198}"/>
              </a:ext>
            </a:extLst>
          </p:cNvPr>
          <p:cNvSpPr>
            <a:spLocks xmlns:a="http://schemas.openxmlformats.org/drawingml/2006/main" noGrp="1"/>
          </p:cNvSpPr>
          <p:nvPr/>
        </p:nvSpPr>
        <p:spPr>
          <a:xfrm xmlns:a="http://schemas.openxmlformats.org/drawingml/2006/main">
            <a:off x="1524000" y="523875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3565"/>
          </a:bodyPr>
          <a:lstStyle xmlns:a="http://schemas.openxmlformats.org/drawingml/2006/main"/>
          <a:p xmlns:a="http://schemas.openxmlformats.org/drawingml/2006/main">
            <a:pPr algn="ctr">
              <a:lnSpc>
                <a:spcPct val="100000"/>
              </a:lnSpc>
              <a:buNone/>
              <a:defRPr sz="2025" b="0" i="0">
                <a:solidFill>
                  <a:srgbClr val="CFE8F0"/>
                </a:solidFill>
                <a:latin typeface="Calibri"/>
                <a:ea typeface="Calibri"/>
                <a:cs typeface="Calibri"/>
              </a:defRPr>
            </a:pPr>
            <a:r>
              <a:rPr sz="2025" b="0" i="0">
                <a:solidFill>
                  <a:srgbClr val="CFE8F0"/>
                </a:solidFill>
                <a:latin typeface="Calibri"/>
                <a:ea typeface="Calibri"/>
                <a:cs typeface="Calibri"/>
              </a:rPr>
              <a:t>Nodes carry properties; typed edges preserve who or what connects them. Traversal answers path, neighborhood, and pattern questions that similarity alone cannot.</a:t>
            </a:r>
          </a:p>
        </p:txBody>
      </p:sp>
    </p:spTree>
    <p:extLst>
      <p:ext uri="{BB962C8B-B14F-4D97-AF65-F5344CB8AC3E}">
        <p14:creationId xmlns:p14="http://schemas.microsoft.com/office/powerpoint/2010/main" val="9481831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2612A91-B38D-4B00-B86C-11563D7D29C6}"/>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HYBRID SEARCH</a:t>
            </a:r>
          </a:p>
        </p:txBody>
      </p:sp>
      <p:sp>
        <p:nvSpPr>
          <p:cNvPr id="2" name="">
            <a:extLst xmlns:a="http://schemas.openxmlformats.org/drawingml/2006/main">
              <a:ext uri="{FF2B5EF4-FFF2-40B4-BE49-F238E27FC236}">
                <a16:creationId xmlns:a16="http://schemas.microsoft.com/office/drawing/2014/main" id="{94030030-35E5-45E7-BCC1-A6FAB8E44E2E}"/>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Hybrid Retrieval Combines Independent Signals</a:t>
            </a:r>
          </a:p>
        </p:txBody>
      </p:sp>
      <p:sp>
        <p:nvSpPr>
          <p:cNvPr id="3" name="">
            <a:extLst xmlns:a="http://schemas.openxmlformats.org/drawingml/2006/main">
              <a:ext uri="{FF2B5EF4-FFF2-40B4-BE49-F238E27FC236}">
                <a16:creationId xmlns:a16="http://schemas.microsoft.com/office/drawing/2014/main" id="{41C8031A-9AFA-4516-8FFA-60724D568F44}"/>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703DB413-74DB-42A2-9904-D972013398E7}"/>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08</a:t>
            </a:r>
          </a:p>
        </p:txBody>
      </p:sp>
      <p:sp>
        <p:nvSpPr>
          <p:cNvPr id="5" name="">
            <a:extLst xmlns:a="http://schemas.openxmlformats.org/drawingml/2006/main">
              <a:ext uri="{FF2B5EF4-FFF2-40B4-BE49-F238E27FC236}">
                <a16:creationId xmlns:a16="http://schemas.microsoft.com/office/drawing/2014/main" id="{FA70FF4A-02A7-4B8A-93C8-BE953E4C098B}"/>
              </a:ext>
            </a:extLst>
          </p:cNvPr>
          <p:cNvSpPr>
            <a:spLocks xmlns:a="http://schemas.openxmlformats.org/drawingml/2006/main" noGrp="1"/>
          </p:cNvSpPr>
          <p:nvPr/>
        </p:nvSpPr>
        <p:spPr>
          <a:xfrm xmlns:a="http://schemas.openxmlformats.org/drawingml/2006/main">
            <a:off x="1695450" y="2524125"/>
            <a:ext cx="2667000" cy="2667000"/>
          </a:xfrm>
          <a:prstGeom xmlns:a="http://schemas.openxmlformats.org/drawingml/2006/main" prst="ellipse">
            <a:avLst/>
          </a:prstGeom>
          <a:solidFill xmlns:a="http://schemas.openxmlformats.org/drawingml/2006/main">
            <a:srgbClr val="065A8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49A36C-2582-458D-8B4E-9694CCC7AD83}"/>
              </a:ext>
            </a:extLst>
          </p:cNvPr>
          <p:cNvSpPr>
            <a:spLocks xmlns:a="http://schemas.openxmlformats.org/drawingml/2006/main" noGrp="1"/>
          </p:cNvSpPr>
          <p:nvPr/>
        </p:nvSpPr>
        <p:spPr>
          <a:xfrm xmlns:a="http://schemas.openxmlformats.org/drawingml/2006/main">
            <a:off x="4762500" y="2524125"/>
            <a:ext cx="2667000" cy="2667000"/>
          </a:xfrm>
          <a:prstGeom xmlns:a="http://schemas.openxmlformats.org/drawingml/2006/main" prst="ellipse">
            <a:avLst/>
          </a:prstGeom>
          <a:solidFill xmlns:a="http://schemas.openxmlformats.org/drawingml/2006/main">
            <a:srgbClr val="1C729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15D47F3-7142-4FAE-BAAF-BCA539D2B639}"/>
              </a:ext>
            </a:extLst>
          </p:cNvPr>
          <p:cNvSpPr>
            <a:spLocks xmlns:a="http://schemas.openxmlformats.org/drawingml/2006/main" noGrp="1"/>
          </p:cNvSpPr>
          <p:nvPr/>
        </p:nvSpPr>
        <p:spPr>
          <a:xfrm xmlns:a="http://schemas.openxmlformats.org/drawingml/2006/main">
            <a:off x="7829550" y="2524125"/>
            <a:ext cx="2667000" cy="2667000"/>
          </a:xfrm>
          <a:prstGeom xmlns:a="http://schemas.openxmlformats.org/drawingml/2006/main" prst="ellipse">
            <a:avLst/>
          </a:prstGeom>
          <a:solidFill xmlns:a="http://schemas.openxmlformats.org/drawingml/2006/main">
            <a:srgbClr val="21295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CC79DF-3E82-4E1E-A838-B25DC706F9D1}"/>
              </a:ext>
            </a:extLst>
          </p:cNvPr>
          <p:cNvSpPr>
            <a:spLocks xmlns:a="http://schemas.openxmlformats.org/drawingml/2006/main" noGrp="1"/>
          </p:cNvSpPr>
          <p:nvPr/>
        </p:nvSpPr>
        <p:spPr>
          <a:xfrm xmlns:a="http://schemas.openxmlformats.org/drawingml/2006/main">
            <a:off x="2343150" y="3276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2250" b="1" i="0">
                <a:solidFill>
                  <a:srgbClr val="FFFFFF"/>
                </a:solidFill>
                <a:latin typeface="Courier New"/>
                <a:ea typeface="Courier New"/>
                <a:cs typeface="Courier New"/>
              </a:defRPr>
            </a:pPr>
            <a:r>
              <a:rPr sz="2250" b="1" i="0">
                <a:solidFill>
                  <a:srgbClr val="FFFFFF"/>
                </a:solidFill>
                <a:latin typeface="Courier New"/>
                <a:ea typeface="Courier New"/>
                <a:cs typeface="Courier New"/>
              </a:rPr>
              <a:t>TEXT</a:t>
            </a:r>
          </a:p>
        </p:txBody>
      </p:sp>
      <p:sp>
        <p:nvSpPr>
          <p:cNvPr id="9" name="">
            <a:extLst xmlns:a="http://schemas.openxmlformats.org/drawingml/2006/main">
              <a:ext uri="{FF2B5EF4-FFF2-40B4-BE49-F238E27FC236}">
                <a16:creationId xmlns:a16="http://schemas.microsoft.com/office/drawing/2014/main" id="{D623696F-502A-4DC8-B95B-90D83D38BE84}"/>
              </a:ext>
            </a:extLst>
          </p:cNvPr>
          <p:cNvSpPr>
            <a:spLocks xmlns:a="http://schemas.openxmlformats.org/drawingml/2006/main" noGrp="1"/>
          </p:cNvSpPr>
          <p:nvPr/>
        </p:nvSpPr>
        <p:spPr>
          <a:xfrm xmlns:a="http://schemas.openxmlformats.org/drawingml/2006/main">
            <a:off x="2343150" y="3781425"/>
            <a:ext cx="137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7302"/>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exact terms</a:t>
            </a:r>
          </a:p>
        </p:txBody>
      </p:sp>
      <p:sp>
        <p:nvSpPr>
          <p:cNvPr id="10" name="">
            <a:extLst xmlns:a="http://schemas.openxmlformats.org/drawingml/2006/main">
              <a:ext uri="{FF2B5EF4-FFF2-40B4-BE49-F238E27FC236}">
                <a16:creationId xmlns:a16="http://schemas.microsoft.com/office/drawing/2014/main" id="{297AD230-14DD-4C12-993F-FD1DDC5A0762}"/>
              </a:ext>
            </a:extLst>
          </p:cNvPr>
          <p:cNvSpPr>
            <a:spLocks xmlns:a="http://schemas.openxmlformats.org/drawingml/2006/main" noGrp="1"/>
          </p:cNvSpPr>
          <p:nvPr/>
        </p:nvSpPr>
        <p:spPr>
          <a:xfrm xmlns:a="http://schemas.openxmlformats.org/drawingml/2006/main">
            <a:off x="5257800" y="327660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2250" b="1" i="0">
                <a:solidFill>
                  <a:srgbClr val="FFFFFF"/>
                </a:solidFill>
                <a:latin typeface="Courier New"/>
                <a:ea typeface="Courier New"/>
                <a:cs typeface="Courier New"/>
              </a:defRPr>
            </a:pPr>
            <a:r>
              <a:rPr sz="2250" b="1" i="0">
                <a:solidFill>
                  <a:srgbClr val="FFFFFF"/>
                </a:solidFill>
                <a:latin typeface="Courier New"/>
                <a:ea typeface="Courier New"/>
                <a:cs typeface="Courier New"/>
              </a:rPr>
              <a:t>VECTOR</a:t>
            </a:r>
          </a:p>
        </p:txBody>
      </p:sp>
      <p:sp>
        <p:nvSpPr>
          <p:cNvPr id="11" name="">
            <a:extLst xmlns:a="http://schemas.openxmlformats.org/drawingml/2006/main">
              <a:ext uri="{FF2B5EF4-FFF2-40B4-BE49-F238E27FC236}">
                <a16:creationId xmlns:a16="http://schemas.microsoft.com/office/drawing/2014/main" id="{25FE16F9-A59F-4C81-9307-07E723156E73}"/>
              </a:ext>
            </a:extLst>
          </p:cNvPr>
          <p:cNvSpPr>
            <a:spLocks xmlns:a="http://schemas.openxmlformats.org/drawingml/2006/main" noGrp="1"/>
          </p:cNvSpPr>
          <p:nvPr/>
        </p:nvSpPr>
        <p:spPr>
          <a:xfrm xmlns:a="http://schemas.openxmlformats.org/drawingml/2006/main">
            <a:off x="5219700" y="3781425"/>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7302"/>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semantic rank</a:t>
            </a:r>
          </a:p>
        </p:txBody>
      </p:sp>
      <p:sp>
        <p:nvSpPr>
          <p:cNvPr id="12" name="">
            <a:extLst xmlns:a="http://schemas.openxmlformats.org/drawingml/2006/main">
              <a:ext uri="{FF2B5EF4-FFF2-40B4-BE49-F238E27FC236}">
                <a16:creationId xmlns:a16="http://schemas.microsoft.com/office/drawing/2014/main" id="{0E0D7338-932A-4895-8124-C089ACAF9453}"/>
              </a:ext>
            </a:extLst>
          </p:cNvPr>
          <p:cNvSpPr>
            <a:spLocks xmlns:a="http://schemas.openxmlformats.org/drawingml/2006/main" noGrp="1"/>
          </p:cNvSpPr>
          <p:nvPr/>
        </p:nvSpPr>
        <p:spPr>
          <a:xfrm xmlns:a="http://schemas.openxmlformats.org/drawingml/2006/main">
            <a:off x="8420100" y="327660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2250" b="1" i="0">
                <a:solidFill>
                  <a:srgbClr val="FFFFFF"/>
                </a:solidFill>
                <a:latin typeface="Courier New"/>
                <a:ea typeface="Courier New"/>
                <a:cs typeface="Courier New"/>
              </a:defRPr>
            </a:pPr>
            <a:r>
              <a:rPr sz="2250" b="1" i="0">
                <a:solidFill>
                  <a:srgbClr val="FFFFFF"/>
                </a:solidFill>
                <a:latin typeface="Courier New"/>
                <a:ea typeface="Courier New"/>
                <a:cs typeface="Courier New"/>
              </a:rPr>
              <a:t>GRAPH</a:t>
            </a:r>
          </a:p>
        </p:txBody>
      </p:sp>
      <p:sp>
        <p:nvSpPr>
          <p:cNvPr id="13" name="">
            <a:extLst xmlns:a="http://schemas.openxmlformats.org/drawingml/2006/main">
              <a:ext uri="{FF2B5EF4-FFF2-40B4-BE49-F238E27FC236}">
                <a16:creationId xmlns:a16="http://schemas.microsoft.com/office/drawing/2014/main" id="{5ADFC8AD-E0CA-4687-B0BA-321771F5ECF7}"/>
              </a:ext>
            </a:extLst>
          </p:cNvPr>
          <p:cNvSpPr>
            <a:spLocks xmlns:a="http://schemas.openxmlformats.org/drawingml/2006/main" noGrp="1"/>
          </p:cNvSpPr>
          <p:nvPr/>
        </p:nvSpPr>
        <p:spPr>
          <a:xfrm xmlns:a="http://schemas.openxmlformats.org/drawingml/2006/main">
            <a:off x="8305800" y="37814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7302"/>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relationships</a:t>
            </a:r>
          </a:p>
        </p:txBody>
      </p:sp>
      <p:sp>
        <p:nvSpPr>
          <p:cNvPr id="14" name="">
            <a:extLst xmlns:a="http://schemas.openxmlformats.org/drawingml/2006/main">
              <a:ext uri="{FF2B5EF4-FFF2-40B4-BE49-F238E27FC236}">
                <a16:creationId xmlns:a16="http://schemas.microsoft.com/office/drawing/2014/main" id="{1B1AAB20-7E9A-4A17-83EF-CD8FE8422C14}"/>
              </a:ext>
            </a:extLst>
          </p:cNvPr>
          <p:cNvSpPr>
            <a:spLocks xmlns:a="http://schemas.openxmlformats.org/drawingml/2006/main" noGrp="1"/>
          </p:cNvSpPr>
          <p:nvPr/>
        </p:nvSpPr>
        <p:spPr>
          <a:xfrm xmlns:a="http://schemas.openxmlformats.org/drawingml/2006/main">
            <a:off x="1257300" y="5429250"/>
            <a:ext cx="967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7160"/>
          </a:bodyPr>
          <a:lstStyle xmlns:a="http://schemas.openxmlformats.org/drawingml/2006/main"/>
          <a:p xmlns:a="http://schemas.openxmlformats.org/drawingml/2006/main">
            <a:pPr algn="ctr">
              <a:lnSpc>
                <a:spcPct val="100000"/>
              </a:lnSpc>
              <a:buNone/>
              <a:defRPr sz="2025" b="1" i="0">
                <a:solidFill>
                  <a:srgbClr val="0B2942"/>
                </a:solidFill>
                <a:latin typeface="Cambria"/>
                <a:ea typeface="Cambria"/>
                <a:cs typeface="Cambria"/>
              </a:defRPr>
            </a:pPr>
            <a:r>
              <a:rPr sz="2025" b="1" i="0">
                <a:solidFill>
                  <a:srgbClr val="0B2942"/>
                </a:solidFill>
                <a:latin typeface="Cambria"/>
                <a:ea typeface="Cambria"/>
                <a:cs typeface="Cambria"/>
              </a:rPr>
              <a:t>Rank each retrieval source on its own terms, then fuse or filter the results. Raw scores from different index types are not directly comparable.</a:t>
            </a:r>
          </a:p>
        </p:txBody>
      </p:sp>
    </p:spTree>
    <p:extLst>
      <p:ext uri="{BB962C8B-B14F-4D97-AF65-F5344CB8AC3E}">
        <p14:creationId xmlns:p14="http://schemas.microsoft.com/office/powerpoint/2010/main" val="394284363"/>
      </p:ext>
    </p:extLst>
  </p:cSld>
</p:sld>
</file>

<file path=ppt/slides/slide9.xml><?xml version="1.0" encoding="utf-8"?>
<p:sld xmlns:p="http://schemas.openxmlformats.org/presentationml/2006/main">
  <p:cSld>
    <p:bg>
      <p:bgPr>
        <a:solidFill xmlns:a="http://schemas.openxmlformats.org/drawingml/2006/main">
          <a:srgbClr val="F2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C904D8B-5C59-4D13-AD82-40375A83E6FA}"/>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MEMORY OPERATIONS</a:t>
            </a:r>
          </a:p>
        </p:txBody>
      </p:sp>
      <p:sp>
        <p:nvSpPr>
          <p:cNvPr id="2" name="">
            <a:extLst xmlns:a="http://schemas.openxmlformats.org/drawingml/2006/main">
              <a:ext uri="{FF2B5EF4-FFF2-40B4-BE49-F238E27FC236}">
                <a16:creationId xmlns:a16="http://schemas.microsoft.com/office/drawing/2014/main" id="{C3822AA6-AEBD-47C4-BA75-ED0B3AB39B90}"/>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Memory Quality Depends on the Write Lifecycle</a:t>
            </a:r>
          </a:p>
        </p:txBody>
      </p:sp>
      <p:sp>
        <p:nvSpPr>
          <p:cNvPr id="3" name="">
            <a:extLst xmlns:a="http://schemas.openxmlformats.org/drawingml/2006/main">
              <a:ext uri="{FF2B5EF4-FFF2-40B4-BE49-F238E27FC236}">
                <a16:creationId xmlns:a16="http://schemas.microsoft.com/office/drawing/2014/main" id="{2F85F335-6EFA-44C7-9935-D4BB74699172}"/>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388017C1-0B2F-4859-8043-BAB261BDEC98}"/>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09</a:t>
            </a:r>
          </a:p>
        </p:txBody>
      </p:sp>
      <p:sp>
        <p:nvSpPr>
          <p:cNvPr id="5" name="">
            <a:extLst xmlns:a="http://schemas.openxmlformats.org/drawingml/2006/main">
              <a:ext uri="{FF2B5EF4-FFF2-40B4-BE49-F238E27FC236}">
                <a16:creationId xmlns:a16="http://schemas.microsoft.com/office/drawing/2014/main" id="{9515EECE-C555-40BE-A006-99E09A5C9AEF}"/>
              </a:ext>
            </a:extLst>
          </p:cNvPr>
          <p:cNvSpPr>
            <a:spLocks xmlns:a="http://schemas.openxmlformats.org/drawingml/2006/main" noGrp="1"/>
          </p:cNvSpPr>
          <p:nvPr/>
        </p:nvSpPr>
        <p:spPr>
          <a:xfrm xmlns:a="http://schemas.openxmlformats.org/drawingml/2006/main">
            <a:off x="838200" y="1724025"/>
            <a:ext cx="1905000" cy="323850"/>
          </a:xfrm>
          <a:prstGeom xmlns:a="http://schemas.openxmlformats.org/drawingml/2006/main" prst="roundRect">
            <a:avLst>
              <a:gd name="adj" fmla="val 50000"/>
            </a:avLst>
          </a:prstGeom>
          <a:solidFill xmlns:a="http://schemas.openxmlformats.org/drawingml/2006/main">
            <a:srgbClr val="065A82"/>
          </a:solidFill>
          <a:ln xmlns:a="http://schemas.openxmlformats.org/drawingml/2006/main" w="0">
            <a:solidFill>
              <a:srgbClr val="065A82"/>
            </a:solidFill>
            <a:prstDash val="solid"/>
          </a:ln>
        </p:spPr>
      </p:sp>
      <p:sp>
        <p:nvSpPr>
          <p:cNvPr id="6" name="">
            <a:extLst xmlns:a="http://schemas.openxmlformats.org/drawingml/2006/main">
              <a:ext uri="{FF2B5EF4-FFF2-40B4-BE49-F238E27FC236}">
                <a16:creationId xmlns:a16="http://schemas.microsoft.com/office/drawing/2014/main" id="{A20F7459-EDD1-4453-8E0B-D25CA61BB1A0}"/>
              </a:ext>
            </a:extLst>
          </p:cNvPr>
          <p:cNvSpPr>
            <a:spLocks xmlns:a="http://schemas.openxmlformats.org/drawingml/2006/main" noGrp="1"/>
          </p:cNvSpPr>
          <p:nvPr/>
        </p:nvSpPr>
        <p:spPr>
          <a:xfrm xmlns:a="http://schemas.openxmlformats.org/drawingml/2006/main">
            <a:off x="914400" y="17716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PROVENANCE</a:t>
            </a:r>
          </a:p>
        </p:txBody>
      </p:sp>
      <p:sp>
        <p:nvSpPr>
          <p:cNvPr id="7" name="">
            <a:extLst xmlns:a="http://schemas.openxmlformats.org/drawingml/2006/main">
              <a:ext uri="{FF2B5EF4-FFF2-40B4-BE49-F238E27FC236}">
                <a16:creationId xmlns:a16="http://schemas.microsoft.com/office/drawing/2014/main" id="{F863E269-DB10-4A0C-9D95-381601F16359}"/>
              </a:ext>
            </a:extLst>
          </p:cNvPr>
          <p:cNvSpPr>
            <a:spLocks xmlns:a="http://schemas.openxmlformats.org/drawingml/2006/main" noGrp="1"/>
          </p:cNvSpPr>
          <p:nvPr/>
        </p:nvSpPr>
        <p:spPr>
          <a:xfrm xmlns:a="http://schemas.openxmlformats.org/drawingml/2006/main">
            <a:off x="3143250" y="1685925"/>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2025" b="0" i="0">
                <a:solidFill>
                  <a:srgbClr val="1B2733"/>
                </a:solidFill>
                <a:latin typeface="Calibri"/>
                <a:ea typeface="Calibri"/>
                <a:cs typeface="Calibri"/>
              </a:defRPr>
            </a:pPr>
            <a:r>
              <a:rPr sz="2025" b="0" i="0">
                <a:solidFill>
                  <a:srgbClr val="1B2733"/>
                </a:solidFill>
                <a:latin typeface="Calibri"/>
                <a:ea typeface="Calibri"/>
                <a:cs typeface="Calibri"/>
              </a:rPr>
              <a:t>Who asserted this, from which event, and when?</a:t>
            </a:r>
          </a:p>
        </p:txBody>
      </p:sp>
      <p:sp>
        <p:nvSpPr>
          <p:cNvPr id="8" name="">
            <a:extLst xmlns:a="http://schemas.openxmlformats.org/drawingml/2006/main">
              <a:ext uri="{FF2B5EF4-FFF2-40B4-BE49-F238E27FC236}">
                <a16:creationId xmlns:a16="http://schemas.microsoft.com/office/drawing/2014/main" id="{18F9ABA0-92BF-42CE-A78B-B17FB84CD2F2}"/>
              </a:ext>
            </a:extLst>
          </p:cNvPr>
          <p:cNvSpPr>
            <a:spLocks xmlns:a="http://schemas.openxmlformats.org/drawingml/2006/main" noGrp="1"/>
          </p:cNvSpPr>
          <p:nvPr/>
        </p:nvSpPr>
        <p:spPr>
          <a:xfrm xmlns:a="http://schemas.openxmlformats.org/drawingml/2006/main">
            <a:off x="838200" y="2581275"/>
            <a:ext cx="1905000" cy="323850"/>
          </a:xfrm>
          <a:prstGeom xmlns:a="http://schemas.openxmlformats.org/drawingml/2006/main" prst="roundRect">
            <a:avLst>
              <a:gd name="adj" fmla="val 50000"/>
            </a:avLst>
          </a:prstGeom>
          <a:solidFill xmlns:a="http://schemas.openxmlformats.org/drawingml/2006/main">
            <a:srgbClr val="1C7293"/>
          </a:solidFill>
          <a:ln xmlns:a="http://schemas.openxmlformats.org/drawingml/2006/main" w="0">
            <a:solidFill>
              <a:srgbClr val="1C7293"/>
            </a:solidFill>
            <a:prstDash val="solid"/>
          </a:ln>
        </p:spPr>
      </p:sp>
      <p:sp>
        <p:nvSpPr>
          <p:cNvPr id="9" name="">
            <a:extLst xmlns:a="http://schemas.openxmlformats.org/drawingml/2006/main">
              <a:ext uri="{FF2B5EF4-FFF2-40B4-BE49-F238E27FC236}">
                <a16:creationId xmlns:a16="http://schemas.microsoft.com/office/drawing/2014/main" id="{E114A3D0-DDA9-41AA-8FEA-29A365840BB3}"/>
              </a:ext>
            </a:extLst>
          </p:cNvPr>
          <p:cNvSpPr>
            <a:spLocks xmlns:a="http://schemas.openxmlformats.org/drawingml/2006/main" noGrp="1"/>
          </p:cNvSpPr>
          <p:nvPr/>
        </p:nvSpPr>
        <p:spPr>
          <a:xfrm xmlns:a="http://schemas.openxmlformats.org/drawingml/2006/main">
            <a:off x="914400" y="26289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IDENTITY</a:t>
            </a:r>
          </a:p>
        </p:txBody>
      </p:sp>
      <p:sp>
        <p:nvSpPr>
          <p:cNvPr id="10" name="">
            <a:extLst xmlns:a="http://schemas.openxmlformats.org/drawingml/2006/main">
              <a:ext uri="{FF2B5EF4-FFF2-40B4-BE49-F238E27FC236}">
                <a16:creationId xmlns:a16="http://schemas.microsoft.com/office/drawing/2014/main" id="{6F6E49CC-6317-4050-902A-DDA80DA8D35F}"/>
              </a:ext>
            </a:extLst>
          </p:cNvPr>
          <p:cNvSpPr>
            <a:spLocks xmlns:a="http://schemas.openxmlformats.org/drawingml/2006/main" noGrp="1"/>
          </p:cNvSpPr>
          <p:nvPr/>
        </p:nvSpPr>
        <p:spPr>
          <a:xfrm xmlns:a="http://schemas.openxmlformats.org/drawingml/2006/main">
            <a:off x="3143250" y="2543175"/>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2025" b="0" i="0">
                <a:solidFill>
                  <a:srgbClr val="1B2733"/>
                </a:solidFill>
                <a:latin typeface="Calibri"/>
                <a:ea typeface="Calibri"/>
                <a:cs typeface="Calibri"/>
              </a:defRPr>
            </a:pPr>
            <a:r>
              <a:rPr sz="2025" b="0" i="0">
                <a:solidFill>
                  <a:srgbClr val="1B2733"/>
                </a:solidFill>
                <a:latin typeface="Calibri"/>
                <a:ea typeface="Calibri"/>
                <a:cs typeface="Calibri"/>
              </a:rPr>
              <a:t>Does a new mention refer to an existing entity?</a:t>
            </a:r>
          </a:p>
        </p:txBody>
      </p:sp>
      <p:sp>
        <p:nvSpPr>
          <p:cNvPr id="11" name="">
            <a:extLst xmlns:a="http://schemas.openxmlformats.org/drawingml/2006/main">
              <a:ext uri="{FF2B5EF4-FFF2-40B4-BE49-F238E27FC236}">
                <a16:creationId xmlns:a16="http://schemas.microsoft.com/office/drawing/2014/main" id="{7460B273-B7D2-4B23-BD0C-9B3E66E90E4E}"/>
              </a:ext>
            </a:extLst>
          </p:cNvPr>
          <p:cNvSpPr>
            <a:spLocks xmlns:a="http://schemas.openxmlformats.org/drawingml/2006/main" noGrp="1"/>
          </p:cNvSpPr>
          <p:nvPr/>
        </p:nvSpPr>
        <p:spPr>
          <a:xfrm xmlns:a="http://schemas.openxmlformats.org/drawingml/2006/main">
            <a:off x="838200" y="3438525"/>
            <a:ext cx="1905000" cy="323850"/>
          </a:xfrm>
          <a:prstGeom xmlns:a="http://schemas.openxmlformats.org/drawingml/2006/main" prst="roundRect">
            <a:avLst>
              <a:gd name="adj" fmla="val 50000"/>
            </a:avLst>
          </a:prstGeom>
          <a:solidFill xmlns:a="http://schemas.openxmlformats.org/drawingml/2006/main">
            <a:srgbClr val="21295C"/>
          </a:solidFill>
          <a:ln xmlns:a="http://schemas.openxmlformats.org/drawingml/2006/main" w="0">
            <a:solidFill>
              <a:srgbClr val="21295C"/>
            </a:solidFill>
            <a:prstDash val="solid"/>
          </a:ln>
        </p:spPr>
      </p:sp>
      <p:sp>
        <p:nvSpPr>
          <p:cNvPr id="12" name="">
            <a:extLst xmlns:a="http://schemas.openxmlformats.org/drawingml/2006/main">
              <a:ext uri="{FF2B5EF4-FFF2-40B4-BE49-F238E27FC236}">
                <a16:creationId xmlns:a16="http://schemas.microsoft.com/office/drawing/2014/main" id="{CB2B89BE-EF4F-4883-8E94-0F8263FB268D}"/>
              </a:ext>
            </a:extLst>
          </p:cNvPr>
          <p:cNvSpPr>
            <a:spLocks xmlns:a="http://schemas.openxmlformats.org/drawingml/2006/main" noGrp="1"/>
          </p:cNvSpPr>
          <p:nvPr/>
        </p:nvSpPr>
        <p:spPr>
          <a:xfrm xmlns:a="http://schemas.openxmlformats.org/drawingml/2006/main">
            <a:off x="914400" y="34861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ISOLATION</a:t>
            </a:r>
          </a:p>
        </p:txBody>
      </p:sp>
      <p:sp>
        <p:nvSpPr>
          <p:cNvPr id="13" name="">
            <a:extLst xmlns:a="http://schemas.openxmlformats.org/drawingml/2006/main">
              <a:ext uri="{FF2B5EF4-FFF2-40B4-BE49-F238E27FC236}">
                <a16:creationId xmlns:a16="http://schemas.microsoft.com/office/drawing/2014/main" id="{85094CE0-FFED-4FB5-B5BE-346E82816C28}"/>
              </a:ext>
            </a:extLst>
          </p:cNvPr>
          <p:cNvSpPr>
            <a:spLocks xmlns:a="http://schemas.openxmlformats.org/drawingml/2006/main" noGrp="1"/>
          </p:cNvSpPr>
          <p:nvPr/>
        </p:nvSpPr>
        <p:spPr>
          <a:xfrm xmlns:a="http://schemas.openxmlformats.org/drawingml/2006/main">
            <a:off x="3143250" y="3400425"/>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2025" b="0" i="0">
                <a:solidFill>
                  <a:srgbClr val="1B2733"/>
                </a:solidFill>
                <a:latin typeface="Calibri"/>
                <a:ea typeface="Calibri"/>
                <a:cs typeface="Calibri"/>
              </a:defRPr>
            </a:pPr>
            <a:r>
              <a:rPr sz="2025" b="0" i="0">
                <a:solidFill>
                  <a:srgbClr val="1B2733"/>
                </a:solidFill>
                <a:latin typeface="Calibri"/>
                <a:ea typeface="Calibri"/>
                <a:cs typeface="Calibri"/>
              </a:rPr>
              <a:t>Which user, tenant, or session may read it?</a:t>
            </a:r>
          </a:p>
        </p:txBody>
      </p:sp>
      <p:sp>
        <p:nvSpPr>
          <p:cNvPr id="14" name="">
            <a:extLst xmlns:a="http://schemas.openxmlformats.org/drawingml/2006/main">
              <a:ext uri="{FF2B5EF4-FFF2-40B4-BE49-F238E27FC236}">
                <a16:creationId xmlns:a16="http://schemas.microsoft.com/office/drawing/2014/main" id="{8F4076B1-5FBE-4188-AEDE-647C6FD70758}"/>
              </a:ext>
            </a:extLst>
          </p:cNvPr>
          <p:cNvSpPr>
            <a:spLocks xmlns:a="http://schemas.openxmlformats.org/drawingml/2006/main" noGrp="1"/>
          </p:cNvSpPr>
          <p:nvPr/>
        </p:nvSpPr>
        <p:spPr>
          <a:xfrm xmlns:a="http://schemas.openxmlformats.org/drawingml/2006/main">
            <a:off x="838200" y="4295775"/>
            <a:ext cx="1905000" cy="3238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solidFill>
              <a:srgbClr val="E76F51"/>
            </a:solidFill>
            <a:prstDash val="solid"/>
          </a:ln>
        </p:spPr>
      </p:sp>
      <p:sp>
        <p:nvSpPr>
          <p:cNvPr id="15" name="">
            <a:extLst xmlns:a="http://schemas.openxmlformats.org/drawingml/2006/main">
              <a:ext uri="{FF2B5EF4-FFF2-40B4-BE49-F238E27FC236}">
                <a16:creationId xmlns:a16="http://schemas.microsoft.com/office/drawing/2014/main" id="{3CAD762A-CAEE-4226-BA63-945B5555C3B7}"/>
              </a:ext>
            </a:extLst>
          </p:cNvPr>
          <p:cNvSpPr>
            <a:spLocks xmlns:a="http://schemas.openxmlformats.org/drawingml/2006/main" noGrp="1"/>
          </p:cNvSpPr>
          <p:nvPr/>
        </p:nvSpPr>
        <p:spPr>
          <a:xfrm xmlns:a="http://schemas.openxmlformats.org/drawingml/2006/main">
            <a:off x="914400" y="43434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TEMPORALITY</a:t>
            </a:r>
          </a:p>
        </p:txBody>
      </p:sp>
      <p:sp>
        <p:nvSpPr>
          <p:cNvPr id="16" name="">
            <a:extLst xmlns:a="http://schemas.openxmlformats.org/drawingml/2006/main">
              <a:ext uri="{FF2B5EF4-FFF2-40B4-BE49-F238E27FC236}">
                <a16:creationId xmlns:a16="http://schemas.microsoft.com/office/drawing/2014/main" id="{0D101B0E-8B77-4BFF-A011-E935FF3592FA}"/>
              </a:ext>
            </a:extLst>
          </p:cNvPr>
          <p:cNvSpPr>
            <a:spLocks xmlns:a="http://schemas.openxmlformats.org/drawingml/2006/main" noGrp="1"/>
          </p:cNvSpPr>
          <p:nvPr/>
        </p:nvSpPr>
        <p:spPr>
          <a:xfrm xmlns:a="http://schemas.openxmlformats.org/drawingml/2006/main">
            <a:off x="3143250" y="4257675"/>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2025" b="0" i="0">
                <a:solidFill>
                  <a:srgbClr val="1B2733"/>
                </a:solidFill>
                <a:latin typeface="Calibri"/>
                <a:ea typeface="Calibri"/>
                <a:cs typeface="Calibri"/>
              </a:defRPr>
            </a:pPr>
            <a:r>
              <a:rPr sz="2025" b="0" i="0">
                <a:solidFill>
                  <a:srgbClr val="1B2733"/>
                </a:solidFill>
                <a:latin typeface="Calibri"/>
                <a:ea typeface="Calibri"/>
                <a:cs typeface="Calibri"/>
              </a:rPr>
              <a:t>Is it still valid, superseded, archived, or expired?</a:t>
            </a:r>
          </a:p>
        </p:txBody>
      </p:sp>
      <p:sp>
        <p:nvSpPr>
          <p:cNvPr id="17" name="">
            <a:extLst xmlns:a="http://schemas.openxmlformats.org/drawingml/2006/main">
              <a:ext uri="{FF2B5EF4-FFF2-40B4-BE49-F238E27FC236}">
                <a16:creationId xmlns:a16="http://schemas.microsoft.com/office/drawing/2014/main" id="{8E705EE4-3C2F-4C45-9D7C-8C2FEC48FE17}"/>
              </a:ext>
            </a:extLst>
          </p:cNvPr>
          <p:cNvSpPr>
            <a:spLocks xmlns:a="http://schemas.openxmlformats.org/drawingml/2006/main" noGrp="1"/>
          </p:cNvSpPr>
          <p:nvPr/>
        </p:nvSpPr>
        <p:spPr>
          <a:xfrm xmlns:a="http://schemas.openxmlformats.org/drawingml/2006/main">
            <a:off x="838200" y="5153025"/>
            <a:ext cx="1905000" cy="323850"/>
          </a:xfrm>
          <a:prstGeom xmlns:a="http://schemas.openxmlformats.org/drawingml/2006/main" prst="roundRect">
            <a:avLst>
              <a:gd name="adj" fmla="val 50000"/>
            </a:avLst>
          </a:prstGeom>
          <a:solidFill xmlns:a="http://schemas.openxmlformats.org/drawingml/2006/main">
            <a:srgbClr val="1E7A5F"/>
          </a:solidFill>
          <a:ln xmlns:a="http://schemas.openxmlformats.org/drawingml/2006/main" w="0">
            <a:solidFill>
              <a:srgbClr val="1E7A5F"/>
            </a:solidFill>
            <a:prstDash val="solid"/>
          </a:ln>
        </p:spPr>
      </p:sp>
      <p:sp>
        <p:nvSpPr>
          <p:cNvPr id="18" name="">
            <a:extLst xmlns:a="http://schemas.openxmlformats.org/drawingml/2006/main">
              <a:ext uri="{FF2B5EF4-FFF2-40B4-BE49-F238E27FC236}">
                <a16:creationId xmlns:a16="http://schemas.microsoft.com/office/drawing/2014/main" id="{AD806B4F-86E8-404B-BC4C-4115ED7A81CC}"/>
              </a:ext>
            </a:extLst>
          </p:cNvPr>
          <p:cNvSpPr>
            <a:spLocks xmlns:a="http://schemas.openxmlformats.org/drawingml/2006/main" noGrp="1"/>
          </p:cNvSpPr>
          <p:nvPr/>
        </p:nvSpPr>
        <p:spPr>
          <a:xfrm xmlns:a="http://schemas.openxmlformats.org/drawingml/2006/main">
            <a:off x="914400" y="52006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EVALUATION</a:t>
            </a:r>
          </a:p>
        </p:txBody>
      </p:sp>
      <p:sp>
        <p:nvSpPr>
          <p:cNvPr id="19" name="">
            <a:extLst xmlns:a="http://schemas.openxmlformats.org/drawingml/2006/main">
              <a:ext uri="{FF2B5EF4-FFF2-40B4-BE49-F238E27FC236}">
                <a16:creationId xmlns:a16="http://schemas.microsoft.com/office/drawing/2014/main" id="{29639BD6-0B7E-4A72-BBFD-2853FCA7C039}"/>
              </a:ext>
            </a:extLst>
          </p:cNvPr>
          <p:cNvSpPr>
            <a:spLocks xmlns:a="http://schemas.openxmlformats.org/drawingml/2006/main" noGrp="1"/>
          </p:cNvSpPr>
          <p:nvPr/>
        </p:nvSpPr>
        <p:spPr>
          <a:xfrm xmlns:a="http://schemas.openxmlformats.org/drawingml/2006/main">
            <a:off x="3143250" y="5114925"/>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2025" b="0" i="0">
                <a:solidFill>
                  <a:srgbClr val="1B2733"/>
                </a:solidFill>
                <a:latin typeface="Calibri"/>
                <a:ea typeface="Calibri"/>
                <a:cs typeface="Calibri"/>
              </a:defRPr>
            </a:pPr>
            <a:r>
              <a:rPr sz="2025" b="0" i="0">
                <a:solidFill>
                  <a:srgbClr val="1B2733"/>
                </a:solidFill>
                <a:latin typeface="Calibri"/>
                <a:ea typeface="Calibri"/>
                <a:cs typeface="Calibri"/>
              </a:rPr>
              <a:t>Did retrieval return useful, faithful context?</a:t>
            </a:r>
          </a:p>
        </p:txBody>
      </p:sp>
      <p:sp>
        <p:nvSpPr>
          <p:cNvPr id="20" name="">
            <a:extLst xmlns:a="http://schemas.openxmlformats.org/drawingml/2006/main">
              <a:ext uri="{FF2B5EF4-FFF2-40B4-BE49-F238E27FC236}">
                <a16:creationId xmlns:a16="http://schemas.microsoft.com/office/drawing/2014/main" id="{9F2B52CF-03B1-47D5-9C78-963B58BFA07E}"/>
              </a:ext>
            </a:extLst>
          </p:cNvPr>
          <p:cNvSpPr>
            <a:spLocks xmlns:a="http://schemas.openxmlformats.org/drawingml/2006/main" noGrp="1"/>
          </p:cNvSpPr>
          <p:nvPr/>
        </p:nvSpPr>
        <p:spPr>
          <a:xfrm xmlns:a="http://schemas.openxmlformats.org/drawingml/2006/main">
            <a:off x="1352550" y="5905500"/>
            <a:ext cx="948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593"/>
          </a:bodyPr>
          <a:lstStyle xmlns:a="http://schemas.openxmlformats.org/drawingml/2006/main"/>
          <a:p xmlns:a="http://schemas.openxmlformats.org/drawingml/2006/main">
            <a:pPr algn="ctr">
              <a:lnSpc>
                <a:spcPct val="100000"/>
              </a:lnSpc>
              <a:buNone/>
              <a:defRPr sz="2025" b="1" i="0">
                <a:solidFill>
                  <a:srgbClr val="E76F51"/>
                </a:solidFill>
                <a:latin typeface="Calibri"/>
                <a:ea typeface="Calibri"/>
                <a:cs typeface="Calibri"/>
              </a:defRPr>
            </a:pPr>
            <a:r>
              <a:rPr sz="2025" b="1" i="0">
                <a:solidFill>
                  <a:srgbClr val="E76F51"/>
                </a:solidFill>
                <a:latin typeface="Calibri"/>
                <a:ea typeface="Calibri"/>
                <a:cs typeface="Calibri"/>
              </a:rPr>
              <a:t>“Store everything forever” is a retention policy with privacy and accuracy costs.</a:t>
            </a:r>
          </a:p>
        </p:txBody>
      </p:sp>
    </p:spTree>
    <p:extLst>
      <p:ext uri="{BB962C8B-B14F-4D97-AF65-F5344CB8AC3E}">
        <p14:creationId xmlns:p14="http://schemas.microsoft.com/office/powerpoint/2010/main" val="1778517129"/>
      </p:ext>
    </p:extLst>
  </p:cSld>
</p:sld>
</file>

<file path=ppt/slides/slide10.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A3B8F7-CEC9-42B4-B19F-67620DF15DBF}"/>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BACKGROUND · SOFTWARE DEVELOPMENT KITS</a:t>
            </a:r>
          </a:p>
        </p:txBody>
      </p:sp>
      <p:sp>
        <p:nvSpPr>
          <p:cNvPr id="2" name="">
            <a:extLst xmlns:a="http://schemas.openxmlformats.org/drawingml/2006/main">
              <a:ext uri="{FF2B5EF4-FFF2-40B4-BE49-F238E27FC236}">
                <a16:creationId xmlns:a16="http://schemas.microsoft.com/office/drawing/2014/main" id="{5A511A1C-AECC-4013-88E1-4C766196C0AB}"/>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An SDK Packages a Supported Integration Path</a:t>
            </a:r>
          </a:p>
        </p:txBody>
      </p:sp>
      <p:sp>
        <p:nvSpPr>
          <p:cNvPr id="3" name="">
            <a:extLst xmlns:a="http://schemas.openxmlformats.org/drawingml/2006/main">
              <a:ext uri="{FF2B5EF4-FFF2-40B4-BE49-F238E27FC236}">
                <a16:creationId xmlns:a16="http://schemas.microsoft.com/office/drawing/2014/main" id="{C2458F0F-A82E-438C-896C-F622604903E8}"/>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9E8FD634-5D50-47D6-AC71-64AB95D1E4F4}"/>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10</a:t>
            </a:r>
          </a:p>
        </p:txBody>
      </p:sp>
      <p:sp>
        <p:nvSpPr>
          <p:cNvPr id="5" name="">
            <a:extLst xmlns:a="http://schemas.openxmlformats.org/drawingml/2006/main">
              <a:ext uri="{FF2B5EF4-FFF2-40B4-BE49-F238E27FC236}">
                <a16:creationId xmlns:a16="http://schemas.microsoft.com/office/drawing/2014/main" id="{E3E5311A-E472-49AB-A836-F2302C51AF38}"/>
              </a:ext>
            </a:extLst>
          </p:cNvPr>
          <p:cNvSpPr>
            <a:spLocks xmlns:a="http://schemas.openxmlformats.org/drawingml/2006/main" noGrp="1"/>
          </p:cNvSpPr>
          <p:nvPr/>
        </p:nvSpPr>
        <p:spPr>
          <a:xfrm xmlns:a="http://schemas.openxmlformats.org/drawingml/2006/main">
            <a:off x="819150" y="1504950"/>
            <a:ext cx="1047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543"/>
          </a:bodyPr>
          <a:lstStyle xmlns:a="http://schemas.openxmlformats.org/drawingml/2006/main"/>
          <a:p xmlns:a="http://schemas.openxmlformats.org/drawingml/2006/main">
            <a:pPr algn="l">
              <a:lnSpc>
                <a:spcPct val="100000"/>
              </a:lnSpc>
              <a:buNone/>
              <a:defRPr sz="2175" b="0" i="0">
                <a:solidFill>
                  <a:srgbClr val="CFE8F0"/>
                </a:solidFill>
                <a:latin typeface="Calibri"/>
                <a:ea typeface="Calibri"/>
                <a:cs typeface="Calibri"/>
              </a:defRPr>
            </a:pPr>
            <a:r>
              <a:rPr sz="2175" b="0" i="0">
                <a:solidFill>
                  <a:srgbClr val="CFE8F0"/>
                </a:solidFill>
                <a:latin typeface="Calibri"/>
                <a:ea typeface="Calibri"/>
                <a:cs typeface="Calibri"/>
              </a:rPr>
              <a:t>A software development kit is application code that imports into your process. It turns a service or subsystem into language-native types, methods, errors, and lifecycle operations.</a:t>
            </a:r>
          </a:p>
        </p:txBody>
      </p:sp>
      <p:sp>
        <p:nvSpPr>
          <p:cNvPr id="6" name="">
            <a:extLst xmlns:a="http://schemas.openxmlformats.org/drawingml/2006/main">
              <a:ext uri="{FF2B5EF4-FFF2-40B4-BE49-F238E27FC236}">
                <a16:creationId xmlns:a16="http://schemas.microsoft.com/office/drawing/2014/main" id="{64F45863-FAD7-4AB9-A6AF-2DEA03F2BDDA}"/>
              </a:ext>
            </a:extLst>
          </p:cNvPr>
          <p:cNvSpPr>
            <a:spLocks xmlns:a="http://schemas.openxmlformats.org/drawingml/2006/main" noGrp="1"/>
          </p:cNvSpPr>
          <p:nvPr/>
        </p:nvSpPr>
        <p:spPr>
          <a:xfrm xmlns:a="http://schemas.openxmlformats.org/drawingml/2006/main">
            <a:off x="666750" y="2952750"/>
            <a:ext cx="2000250" cy="1714500"/>
          </a:xfrm>
          <a:prstGeom xmlns:a="http://schemas.openxmlformats.org/drawingml/2006/main" prst="roundRect">
            <a:avLst>
              <a:gd name="adj" fmla="val 6667"/>
            </a:avLst>
          </a:prstGeom>
          <a:solidFill xmlns:a="http://schemas.openxmlformats.org/drawingml/2006/main">
            <a:srgbClr val="173F58"/>
          </a:solidFill>
          <a:ln xmlns:a="http://schemas.openxmlformats.org/drawingml/2006/main" w="14288">
            <a:solidFill>
              <a:srgbClr val="065A82"/>
            </a:solidFill>
            <a:prstDash val="solid"/>
          </a:ln>
        </p:spPr>
      </p:sp>
      <p:sp>
        <p:nvSpPr>
          <p:cNvPr id="7" name="">
            <a:extLst xmlns:a="http://schemas.openxmlformats.org/drawingml/2006/main">
              <a:ext uri="{FF2B5EF4-FFF2-40B4-BE49-F238E27FC236}">
                <a16:creationId xmlns:a16="http://schemas.microsoft.com/office/drawing/2014/main" id="{F8DCEDA3-5F34-43A8-8EA7-D5AE9F1EE295}"/>
              </a:ext>
            </a:extLst>
          </p:cNvPr>
          <p:cNvSpPr>
            <a:spLocks xmlns:a="http://schemas.openxmlformats.org/drawingml/2006/main" noGrp="1"/>
          </p:cNvSpPr>
          <p:nvPr/>
        </p:nvSpPr>
        <p:spPr>
          <a:xfrm xmlns:a="http://schemas.openxmlformats.org/drawingml/2006/main">
            <a:off x="857250" y="32575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ctr">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TYPES</a:t>
            </a:r>
          </a:p>
        </p:txBody>
      </p:sp>
      <p:sp>
        <p:nvSpPr>
          <p:cNvPr id="8" name="">
            <a:extLst xmlns:a="http://schemas.openxmlformats.org/drawingml/2006/main">
              <a:ext uri="{FF2B5EF4-FFF2-40B4-BE49-F238E27FC236}">
                <a16:creationId xmlns:a16="http://schemas.microsoft.com/office/drawing/2014/main" id="{E3117EB4-A523-4E1E-8C27-CE3807B33FA2}"/>
              </a:ext>
            </a:extLst>
          </p:cNvPr>
          <p:cNvSpPr>
            <a:spLocks xmlns:a="http://schemas.openxmlformats.org/drawingml/2006/main" noGrp="1"/>
          </p:cNvSpPr>
          <p:nvPr/>
        </p:nvSpPr>
        <p:spPr>
          <a:xfrm xmlns:a="http://schemas.openxmlformats.org/drawingml/2006/main">
            <a:off x="838200" y="3829050"/>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1270"/>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request and response objects</a:t>
            </a:r>
          </a:p>
        </p:txBody>
      </p:sp>
      <p:sp>
        <p:nvSpPr>
          <p:cNvPr id="9" name="">
            <a:extLst xmlns:a="http://schemas.openxmlformats.org/drawingml/2006/main">
              <a:ext uri="{FF2B5EF4-FFF2-40B4-BE49-F238E27FC236}">
                <a16:creationId xmlns:a16="http://schemas.microsoft.com/office/drawing/2014/main" id="{5EB356F5-1D00-4C18-A2DF-E2D72FBBAA59}"/>
              </a:ext>
            </a:extLst>
          </p:cNvPr>
          <p:cNvSpPr>
            <a:spLocks xmlns:a="http://schemas.openxmlformats.org/drawingml/2006/main" noGrp="1"/>
          </p:cNvSpPr>
          <p:nvPr/>
        </p:nvSpPr>
        <p:spPr>
          <a:xfrm xmlns:a="http://schemas.openxmlformats.org/drawingml/2006/main">
            <a:off x="2971800" y="2952750"/>
            <a:ext cx="2000250" cy="1714500"/>
          </a:xfrm>
          <a:prstGeom xmlns:a="http://schemas.openxmlformats.org/drawingml/2006/main" prst="roundRect">
            <a:avLst>
              <a:gd name="adj" fmla="val 6667"/>
            </a:avLst>
          </a:prstGeom>
          <a:solidFill xmlns:a="http://schemas.openxmlformats.org/drawingml/2006/main">
            <a:srgbClr val="173F58"/>
          </a:solidFill>
          <a:ln xmlns:a="http://schemas.openxmlformats.org/drawingml/2006/main" w="14288">
            <a:solidFill>
              <a:srgbClr val="065A82"/>
            </a:solidFill>
            <a:prstDash val="solid"/>
          </a:ln>
        </p:spPr>
      </p:sp>
      <p:sp>
        <p:nvSpPr>
          <p:cNvPr id="10" name="">
            <a:extLst xmlns:a="http://schemas.openxmlformats.org/drawingml/2006/main">
              <a:ext uri="{FF2B5EF4-FFF2-40B4-BE49-F238E27FC236}">
                <a16:creationId xmlns:a16="http://schemas.microsoft.com/office/drawing/2014/main" id="{F591BC32-94DF-4F64-A2F9-FB47824E0BAA}"/>
              </a:ext>
            </a:extLst>
          </p:cNvPr>
          <p:cNvSpPr>
            <a:spLocks xmlns:a="http://schemas.openxmlformats.org/drawingml/2006/main" noGrp="1"/>
          </p:cNvSpPr>
          <p:nvPr/>
        </p:nvSpPr>
        <p:spPr>
          <a:xfrm xmlns:a="http://schemas.openxmlformats.org/drawingml/2006/main">
            <a:off x="3162300" y="32575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ctr">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METHODS</a:t>
            </a:r>
          </a:p>
        </p:txBody>
      </p:sp>
      <p:sp>
        <p:nvSpPr>
          <p:cNvPr id="11" name="">
            <a:extLst xmlns:a="http://schemas.openxmlformats.org/drawingml/2006/main">
              <a:ext uri="{FF2B5EF4-FFF2-40B4-BE49-F238E27FC236}">
                <a16:creationId xmlns:a16="http://schemas.microsoft.com/office/drawing/2014/main" id="{CB8D0E15-D66C-4628-B2FA-945BEB998406}"/>
              </a:ext>
            </a:extLst>
          </p:cNvPr>
          <p:cNvSpPr>
            <a:spLocks xmlns:a="http://schemas.openxmlformats.org/drawingml/2006/main" noGrp="1"/>
          </p:cNvSpPr>
          <p:nvPr/>
        </p:nvSpPr>
        <p:spPr>
          <a:xfrm xmlns:a="http://schemas.openxmlformats.org/drawingml/2006/main">
            <a:off x="3143250" y="3829050"/>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1270"/>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named operations and signatures</a:t>
            </a:r>
          </a:p>
        </p:txBody>
      </p:sp>
      <p:sp>
        <p:nvSpPr>
          <p:cNvPr id="12" name="">
            <a:extLst xmlns:a="http://schemas.openxmlformats.org/drawingml/2006/main">
              <a:ext uri="{FF2B5EF4-FFF2-40B4-BE49-F238E27FC236}">
                <a16:creationId xmlns:a16="http://schemas.microsoft.com/office/drawing/2014/main" id="{18DE6563-26BD-4BB4-B842-F0B06E00B05F}"/>
              </a:ext>
            </a:extLst>
          </p:cNvPr>
          <p:cNvSpPr>
            <a:spLocks xmlns:a="http://schemas.openxmlformats.org/drawingml/2006/main" noGrp="1"/>
          </p:cNvSpPr>
          <p:nvPr/>
        </p:nvSpPr>
        <p:spPr>
          <a:xfrm xmlns:a="http://schemas.openxmlformats.org/drawingml/2006/main">
            <a:off x="5276850" y="2952750"/>
            <a:ext cx="2000250" cy="1714500"/>
          </a:xfrm>
          <a:prstGeom xmlns:a="http://schemas.openxmlformats.org/drawingml/2006/main" prst="roundRect">
            <a:avLst>
              <a:gd name="adj" fmla="val 6667"/>
            </a:avLst>
          </a:prstGeom>
          <a:solidFill xmlns:a="http://schemas.openxmlformats.org/drawingml/2006/main">
            <a:srgbClr val="1C7293"/>
          </a:solidFill>
          <a:ln xmlns:a="http://schemas.openxmlformats.org/drawingml/2006/main" w="14288">
            <a:solidFill>
              <a:srgbClr val="1C7293"/>
            </a:solidFill>
            <a:prstDash val="solid"/>
          </a:ln>
        </p:spPr>
      </p:sp>
      <p:sp>
        <p:nvSpPr>
          <p:cNvPr id="13" name="">
            <a:extLst xmlns:a="http://schemas.openxmlformats.org/drawingml/2006/main">
              <a:ext uri="{FF2B5EF4-FFF2-40B4-BE49-F238E27FC236}">
                <a16:creationId xmlns:a16="http://schemas.microsoft.com/office/drawing/2014/main" id="{4D41D1E4-1B26-46C6-B8AC-4B9FD13B68C1}"/>
              </a:ext>
            </a:extLst>
          </p:cNvPr>
          <p:cNvSpPr>
            <a:spLocks xmlns:a="http://schemas.openxmlformats.org/drawingml/2006/main" noGrp="1"/>
          </p:cNvSpPr>
          <p:nvPr/>
        </p:nvSpPr>
        <p:spPr>
          <a:xfrm xmlns:a="http://schemas.openxmlformats.org/drawingml/2006/main">
            <a:off x="5467350" y="32575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ctr">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TRANSPORT</a:t>
            </a:r>
          </a:p>
        </p:txBody>
      </p:sp>
      <p:sp>
        <p:nvSpPr>
          <p:cNvPr id="14" name="">
            <a:extLst xmlns:a="http://schemas.openxmlformats.org/drawingml/2006/main">
              <a:ext uri="{FF2B5EF4-FFF2-40B4-BE49-F238E27FC236}">
                <a16:creationId xmlns:a16="http://schemas.microsoft.com/office/drawing/2014/main" id="{E959B243-BB31-4C8E-9244-018898B97675}"/>
              </a:ext>
            </a:extLst>
          </p:cNvPr>
          <p:cNvSpPr>
            <a:spLocks xmlns:a="http://schemas.openxmlformats.org/drawingml/2006/main" noGrp="1"/>
          </p:cNvSpPr>
          <p:nvPr/>
        </p:nvSpPr>
        <p:spPr>
          <a:xfrm xmlns:a="http://schemas.openxmlformats.org/drawingml/2006/main">
            <a:off x="5448300" y="3829050"/>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1270"/>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HTTP, sockets, database drivers</a:t>
            </a:r>
          </a:p>
        </p:txBody>
      </p:sp>
      <p:sp>
        <p:nvSpPr>
          <p:cNvPr id="15" name="">
            <a:extLst xmlns:a="http://schemas.openxmlformats.org/drawingml/2006/main">
              <a:ext uri="{FF2B5EF4-FFF2-40B4-BE49-F238E27FC236}">
                <a16:creationId xmlns:a16="http://schemas.microsoft.com/office/drawing/2014/main" id="{9732B187-0483-4741-8B65-5B9BD363D7D9}"/>
              </a:ext>
            </a:extLst>
          </p:cNvPr>
          <p:cNvSpPr>
            <a:spLocks xmlns:a="http://schemas.openxmlformats.org/drawingml/2006/main" noGrp="1"/>
          </p:cNvSpPr>
          <p:nvPr/>
        </p:nvSpPr>
        <p:spPr>
          <a:xfrm xmlns:a="http://schemas.openxmlformats.org/drawingml/2006/main">
            <a:off x="7581900" y="2952750"/>
            <a:ext cx="2000250" cy="1714500"/>
          </a:xfrm>
          <a:prstGeom xmlns:a="http://schemas.openxmlformats.org/drawingml/2006/main" prst="roundRect">
            <a:avLst>
              <a:gd name="adj" fmla="val 6667"/>
            </a:avLst>
          </a:prstGeom>
          <a:solidFill xmlns:a="http://schemas.openxmlformats.org/drawingml/2006/main">
            <a:srgbClr val="173F58"/>
          </a:solidFill>
          <a:ln xmlns:a="http://schemas.openxmlformats.org/drawingml/2006/main" w="14288">
            <a:solidFill>
              <a:srgbClr val="065A82"/>
            </a:solidFill>
            <a:prstDash val="solid"/>
          </a:ln>
        </p:spPr>
      </p:sp>
      <p:sp>
        <p:nvSpPr>
          <p:cNvPr id="16" name="">
            <a:extLst xmlns:a="http://schemas.openxmlformats.org/drawingml/2006/main">
              <a:ext uri="{FF2B5EF4-FFF2-40B4-BE49-F238E27FC236}">
                <a16:creationId xmlns:a16="http://schemas.microsoft.com/office/drawing/2014/main" id="{DDF252FA-C7C7-4F9B-A0A9-D359AF47E7AD}"/>
              </a:ext>
            </a:extLst>
          </p:cNvPr>
          <p:cNvSpPr>
            <a:spLocks xmlns:a="http://schemas.openxmlformats.org/drawingml/2006/main" noGrp="1"/>
          </p:cNvSpPr>
          <p:nvPr/>
        </p:nvSpPr>
        <p:spPr>
          <a:xfrm xmlns:a="http://schemas.openxmlformats.org/drawingml/2006/main">
            <a:off x="7772400" y="32575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ctr">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LIFECYCLE</a:t>
            </a:r>
          </a:p>
        </p:txBody>
      </p:sp>
      <p:sp>
        <p:nvSpPr>
          <p:cNvPr id="17" name="">
            <a:extLst xmlns:a="http://schemas.openxmlformats.org/drawingml/2006/main">
              <a:ext uri="{FF2B5EF4-FFF2-40B4-BE49-F238E27FC236}">
                <a16:creationId xmlns:a16="http://schemas.microsoft.com/office/drawing/2014/main" id="{0820F4BC-386F-4583-AF89-0FF4FD606C09}"/>
              </a:ext>
            </a:extLst>
          </p:cNvPr>
          <p:cNvSpPr>
            <a:spLocks xmlns:a="http://schemas.openxmlformats.org/drawingml/2006/main" noGrp="1"/>
          </p:cNvSpPr>
          <p:nvPr/>
        </p:nvSpPr>
        <p:spPr>
          <a:xfrm xmlns:a="http://schemas.openxmlformats.org/drawingml/2006/main">
            <a:off x="7753350" y="3829050"/>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1270"/>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connect, close, retry, cleanup</a:t>
            </a:r>
          </a:p>
        </p:txBody>
      </p:sp>
      <p:sp>
        <p:nvSpPr>
          <p:cNvPr id="18" name="">
            <a:extLst xmlns:a="http://schemas.openxmlformats.org/drawingml/2006/main">
              <a:ext uri="{FF2B5EF4-FFF2-40B4-BE49-F238E27FC236}">
                <a16:creationId xmlns:a16="http://schemas.microsoft.com/office/drawing/2014/main" id="{49A621A3-EA01-48DC-B778-156E9D6BA932}"/>
              </a:ext>
            </a:extLst>
          </p:cNvPr>
          <p:cNvSpPr>
            <a:spLocks xmlns:a="http://schemas.openxmlformats.org/drawingml/2006/main" noGrp="1"/>
          </p:cNvSpPr>
          <p:nvPr/>
        </p:nvSpPr>
        <p:spPr>
          <a:xfrm xmlns:a="http://schemas.openxmlformats.org/drawingml/2006/main">
            <a:off x="9886950" y="2952750"/>
            <a:ext cx="2000250" cy="1714500"/>
          </a:xfrm>
          <a:prstGeom xmlns:a="http://schemas.openxmlformats.org/drawingml/2006/main" prst="roundRect">
            <a:avLst>
              <a:gd name="adj" fmla="val 6667"/>
            </a:avLst>
          </a:prstGeom>
          <a:solidFill xmlns:a="http://schemas.openxmlformats.org/drawingml/2006/main">
            <a:srgbClr val="173F58"/>
          </a:solidFill>
          <a:ln xmlns:a="http://schemas.openxmlformats.org/drawingml/2006/main" w="14288">
            <a:solidFill>
              <a:srgbClr val="065A82"/>
            </a:solidFill>
            <a:prstDash val="solid"/>
          </a:ln>
        </p:spPr>
      </p:sp>
      <p:sp>
        <p:nvSpPr>
          <p:cNvPr id="19" name="">
            <a:extLst xmlns:a="http://schemas.openxmlformats.org/drawingml/2006/main">
              <a:ext uri="{FF2B5EF4-FFF2-40B4-BE49-F238E27FC236}">
                <a16:creationId xmlns:a16="http://schemas.microsoft.com/office/drawing/2014/main" id="{D542D94D-DB04-414A-A7DB-C10E0372FE0F}"/>
              </a:ext>
            </a:extLst>
          </p:cNvPr>
          <p:cNvSpPr>
            <a:spLocks xmlns:a="http://schemas.openxmlformats.org/drawingml/2006/main" noGrp="1"/>
          </p:cNvSpPr>
          <p:nvPr/>
        </p:nvSpPr>
        <p:spPr>
          <a:xfrm xmlns:a="http://schemas.openxmlformats.org/drawingml/2006/main">
            <a:off x="10077450" y="32575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ctr">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ERRORS</a:t>
            </a:r>
          </a:p>
        </p:txBody>
      </p:sp>
      <p:sp>
        <p:nvSpPr>
          <p:cNvPr id="20" name="">
            <a:extLst xmlns:a="http://schemas.openxmlformats.org/drawingml/2006/main">
              <a:ext uri="{FF2B5EF4-FFF2-40B4-BE49-F238E27FC236}">
                <a16:creationId xmlns:a16="http://schemas.microsoft.com/office/drawing/2014/main" id="{3CFA182F-0749-454E-A097-6123DAFD0032}"/>
              </a:ext>
            </a:extLst>
          </p:cNvPr>
          <p:cNvSpPr>
            <a:spLocks xmlns:a="http://schemas.openxmlformats.org/drawingml/2006/main" noGrp="1"/>
          </p:cNvSpPr>
          <p:nvPr/>
        </p:nvSpPr>
        <p:spPr>
          <a:xfrm xmlns:a="http://schemas.openxmlformats.org/drawingml/2006/main">
            <a:off x="10058400" y="3829050"/>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1270"/>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stable failure categories</a:t>
            </a:r>
          </a:p>
        </p:txBody>
      </p:sp>
      <p:sp>
        <p:nvSpPr>
          <p:cNvPr id="21" name="">
            <a:extLst xmlns:a="http://schemas.openxmlformats.org/drawingml/2006/main">
              <a:ext uri="{FF2B5EF4-FFF2-40B4-BE49-F238E27FC236}">
                <a16:creationId xmlns:a16="http://schemas.microsoft.com/office/drawing/2014/main" id="{1BEF56B1-0608-4755-A3A2-3F736285D5DD}"/>
              </a:ext>
            </a:extLst>
          </p:cNvPr>
          <p:cNvSpPr>
            <a:spLocks xmlns:a="http://schemas.openxmlformats.org/drawingml/2006/main" noGrp="1"/>
          </p:cNvSpPr>
          <p:nvPr/>
        </p:nvSpPr>
        <p:spPr>
          <a:xfrm xmlns:a="http://schemas.openxmlformats.org/drawingml/2006/main">
            <a:off x="1257300" y="5334000"/>
            <a:ext cx="967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7381"/>
          </a:bodyPr>
          <a:lstStyle xmlns:a="http://schemas.openxmlformats.org/drawingml/2006/main"/>
          <a:p xmlns:a="http://schemas.openxmlformats.org/drawingml/2006/main">
            <a:pPr algn="ctr">
              <a:lnSpc>
                <a:spcPct val="100000"/>
              </a:lnSpc>
              <a:buNone/>
              <a:defRPr sz="2100" b="1" i="0">
                <a:solidFill>
                  <a:srgbClr val="F4C95D"/>
                </a:solidFill>
                <a:latin typeface="Cambria"/>
                <a:ea typeface="Cambria"/>
                <a:cs typeface="Cambria"/>
              </a:defRPr>
            </a:pPr>
            <a:r>
              <a:rPr sz="2100" b="1" i="0">
                <a:solidFill>
                  <a:srgbClr val="F4C95D"/>
                </a:solidFill>
                <a:latin typeface="Cambria"/>
                <a:ea typeface="Cambria"/>
                <a:cs typeface="Cambria"/>
              </a:rPr>
              <a:t>The SDK chooses defaults and abstractions; your application still owns product behavior and data policy.</a:t>
            </a:r>
          </a:p>
        </p:txBody>
      </p:sp>
    </p:spTree>
    <p:extLst>
      <p:ext uri="{BB962C8B-B14F-4D97-AF65-F5344CB8AC3E}">
        <p14:creationId xmlns:p14="http://schemas.microsoft.com/office/powerpoint/2010/main" val="2800263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5F76C21-F1D1-43CE-A5CC-6FEE6B654044}"/>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SDK CALL PATH</a:t>
            </a:r>
          </a:p>
        </p:txBody>
      </p:sp>
      <p:sp>
        <p:nvSpPr>
          <p:cNvPr id="2" name="">
            <a:extLst xmlns:a="http://schemas.openxmlformats.org/drawingml/2006/main">
              <a:ext uri="{FF2B5EF4-FFF2-40B4-BE49-F238E27FC236}">
                <a16:creationId xmlns:a16="http://schemas.microsoft.com/office/drawing/2014/main" id="{CB112A7A-202E-4AFD-A9E1-688D0D3CC649}"/>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SDK Calls Cross Several Contracts</a:t>
            </a:r>
          </a:p>
        </p:txBody>
      </p:sp>
      <p:sp>
        <p:nvSpPr>
          <p:cNvPr id="3" name="">
            <a:extLst xmlns:a="http://schemas.openxmlformats.org/drawingml/2006/main">
              <a:ext uri="{FF2B5EF4-FFF2-40B4-BE49-F238E27FC236}">
                <a16:creationId xmlns:a16="http://schemas.microsoft.com/office/drawing/2014/main" id="{E32BA8EA-1BD0-40C1-8B3E-D9C839FA27B7}"/>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79785BF5-98E1-431A-BAF5-CD9004DC3020}"/>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11</a:t>
            </a:r>
          </a:p>
        </p:txBody>
      </p:sp>
      <p:sp>
        <p:nvSpPr>
          <p:cNvPr id="5" name="">
            <a:extLst xmlns:a="http://schemas.openxmlformats.org/drawingml/2006/main">
              <a:ext uri="{FF2B5EF4-FFF2-40B4-BE49-F238E27FC236}">
                <a16:creationId xmlns:a16="http://schemas.microsoft.com/office/drawing/2014/main" id="{74FE7A53-C48B-4287-8A05-184473C8F57E}"/>
              </a:ext>
            </a:extLst>
          </p:cNvPr>
          <p:cNvSpPr>
            <a:spLocks xmlns:a="http://schemas.openxmlformats.org/drawingml/2006/main" noGrp="1"/>
          </p:cNvSpPr>
          <p:nvPr/>
        </p:nvSpPr>
        <p:spPr>
          <a:xfrm xmlns:a="http://schemas.openxmlformats.org/drawingml/2006/main">
            <a:off x="523875" y="2714625"/>
            <a:ext cx="1952625" cy="1714500"/>
          </a:xfrm>
          <a:prstGeom xmlns:a="http://schemas.openxmlformats.org/drawingml/2006/main" prst="roundRect">
            <a:avLst>
              <a:gd name="adj" fmla="val 6667"/>
            </a:avLst>
          </a:prstGeom>
          <a:solidFill xmlns:a="http://schemas.openxmlformats.org/drawingml/2006/main">
            <a:srgbClr val="F2F8FA"/>
          </a:solidFill>
          <a:ln xmlns:a="http://schemas.openxmlformats.org/drawingml/2006/main" w="19050">
            <a:solidFill>
              <a:srgbClr val="065A82"/>
            </a:solidFill>
            <a:prstDash val="solid"/>
          </a:ln>
        </p:spPr>
      </p:sp>
      <p:sp>
        <p:nvSpPr>
          <p:cNvPr id="6" name="">
            <a:extLst xmlns:a="http://schemas.openxmlformats.org/drawingml/2006/main">
              <a:ext uri="{FF2B5EF4-FFF2-40B4-BE49-F238E27FC236}">
                <a16:creationId xmlns:a16="http://schemas.microsoft.com/office/drawing/2014/main" id="{DD4CB29E-5D14-425A-AF62-A15584CF13CB}"/>
              </a:ext>
            </a:extLst>
          </p:cNvPr>
          <p:cNvSpPr>
            <a:spLocks xmlns:a="http://schemas.openxmlformats.org/drawingml/2006/main" noGrp="1"/>
          </p:cNvSpPr>
          <p:nvPr/>
        </p:nvSpPr>
        <p:spPr>
          <a:xfrm xmlns:a="http://schemas.openxmlformats.org/drawingml/2006/main">
            <a:off x="695325" y="3048000"/>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667"/>
          </a:bodyPr>
          <a:lstStyle xmlns:a="http://schemas.openxmlformats.org/drawingml/2006/main"/>
          <a:p xmlns:a="http://schemas.openxmlformats.org/drawingml/2006/main">
            <a:pPr algn="ctr">
              <a:lnSpc>
                <a:spcPct val="100000"/>
              </a:lnSpc>
              <a:buNone/>
              <a:defRPr sz="1875" b="1" i="0">
                <a:solidFill>
                  <a:srgbClr val="0B2942"/>
                </a:solidFill>
                <a:latin typeface="Courier New"/>
                <a:ea typeface="Courier New"/>
                <a:cs typeface="Courier New"/>
              </a:defRPr>
            </a:pPr>
            <a:r>
              <a:rPr sz="1875" b="1" i="0">
                <a:solidFill>
                  <a:srgbClr val="0B2942"/>
                </a:solidFill>
                <a:latin typeface="Courier New"/>
                <a:ea typeface="Courier New"/>
                <a:cs typeface="Courier New"/>
              </a:rPr>
              <a:t>APP</a:t>
            </a:r>
          </a:p>
        </p:txBody>
      </p:sp>
      <p:sp>
        <p:nvSpPr>
          <p:cNvPr id="7" name="">
            <a:extLst xmlns:a="http://schemas.openxmlformats.org/drawingml/2006/main">
              <a:ext uri="{FF2B5EF4-FFF2-40B4-BE49-F238E27FC236}">
                <a16:creationId xmlns:a16="http://schemas.microsoft.com/office/drawing/2014/main" id="{D52A410F-951C-4B9C-836C-42B234C78BC7}"/>
              </a:ext>
            </a:extLst>
          </p:cNvPr>
          <p:cNvSpPr>
            <a:spLocks xmlns:a="http://schemas.openxmlformats.org/drawingml/2006/main" noGrp="1"/>
          </p:cNvSpPr>
          <p:nvPr/>
        </p:nvSpPr>
        <p:spPr>
          <a:xfrm xmlns:a="http://schemas.openxmlformats.org/drawingml/2006/main">
            <a:off x="695325" y="3676650"/>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5040"/>
          </a:bodyPr>
          <a:lstStyle xmlns:a="http://schemas.openxmlformats.org/drawingml/2006/main"/>
          <a:p xmlns:a="http://schemas.openxmlformats.org/drawingml/2006/main">
            <a:pPr algn="ctr">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language-native call</a:t>
            </a:r>
          </a:p>
        </p:txBody>
      </p:sp>
      <p:sp>
        <p:nvSpPr>
          <p:cNvPr id="8" name="">
            <a:extLst xmlns:a="http://schemas.openxmlformats.org/drawingml/2006/main">
              <a:ext uri="{FF2B5EF4-FFF2-40B4-BE49-F238E27FC236}">
                <a16:creationId xmlns:a16="http://schemas.microsoft.com/office/drawing/2014/main" id="{4FAB6DC7-C204-4B90-B22C-311101AF1334}"/>
              </a:ext>
            </a:extLst>
          </p:cNvPr>
          <p:cNvSpPr>
            <a:spLocks xmlns:a="http://schemas.openxmlformats.org/drawingml/2006/main" noGrp="1"/>
          </p:cNvSpPr>
          <p:nvPr/>
        </p:nvSpPr>
        <p:spPr>
          <a:xfrm xmlns:a="http://schemas.openxmlformats.org/drawingml/2006/main">
            <a:off x="2886075" y="2714625"/>
            <a:ext cx="1952625" cy="1714500"/>
          </a:xfrm>
          <a:prstGeom xmlns:a="http://schemas.openxmlformats.org/drawingml/2006/main" prst="roundRect">
            <a:avLst>
              <a:gd name="adj" fmla="val 6667"/>
            </a:avLst>
          </a:prstGeom>
          <a:solidFill xmlns:a="http://schemas.openxmlformats.org/drawingml/2006/main">
            <a:srgbClr val="1C7293"/>
          </a:solidFill>
          <a:ln xmlns:a="http://schemas.openxmlformats.org/drawingml/2006/main" w="19050">
            <a:solidFill>
              <a:srgbClr val="1C7293"/>
            </a:solidFill>
            <a:prstDash val="solid"/>
          </a:ln>
        </p:spPr>
      </p:sp>
      <p:sp>
        <p:nvSpPr>
          <p:cNvPr id="9" name="">
            <a:extLst xmlns:a="http://schemas.openxmlformats.org/drawingml/2006/main">
              <a:ext uri="{FF2B5EF4-FFF2-40B4-BE49-F238E27FC236}">
                <a16:creationId xmlns:a16="http://schemas.microsoft.com/office/drawing/2014/main" id="{FD58D888-FDB0-4EBB-89F7-2A3D0412E6B7}"/>
              </a:ext>
            </a:extLst>
          </p:cNvPr>
          <p:cNvSpPr>
            <a:spLocks xmlns:a="http://schemas.openxmlformats.org/drawingml/2006/main" noGrp="1"/>
          </p:cNvSpPr>
          <p:nvPr/>
        </p:nvSpPr>
        <p:spPr>
          <a:xfrm xmlns:a="http://schemas.openxmlformats.org/drawingml/2006/main">
            <a:off x="3057525" y="3048000"/>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667"/>
          </a:bodyPr>
          <a:lstStyle xmlns:a="http://schemas.openxmlformats.org/drawingml/2006/main"/>
          <a:p xmlns:a="http://schemas.openxmlformats.org/drawingml/2006/main">
            <a:pPr algn="ctr">
              <a:lnSpc>
                <a:spcPct val="100000"/>
              </a:lnSpc>
              <a:buNone/>
              <a:defRPr sz="1875" b="1" i="0">
                <a:solidFill>
                  <a:srgbClr val="FFFFFF"/>
                </a:solidFill>
                <a:latin typeface="Courier New"/>
                <a:ea typeface="Courier New"/>
                <a:cs typeface="Courier New"/>
              </a:defRPr>
            </a:pPr>
            <a:r>
              <a:rPr sz="1875" b="1" i="0">
                <a:solidFill>
                  <a:srgbClr val="FFFFFF"/>
                </a:solidFill>
                <a:latin typeface="Courier New"/>
                <a:ea typeface="Courier New"/>
                <a:cs typeface="Courier New"/>
              </a:rPr>
              <a:t>SDK</a:t>
            </a:r>
          </a:p>
        </p:txBody>
      </p:sp>
      <p:sp>
        <p:nvSpPr>
          <p:cNvPr id="10" name="">
            <a:extLst xmlns:a="http://schemas.openxmlformats.org/drawingml/2006/main">
              <a:ext uri="{FF2B5EF4-FFF2-40B4-BE49-F238E27FC236}">
                <a16:creationId xmlns:a16="http://schemas.microsoft.com/office/drawing/2014/main" id="{33A83DD4-AC25-4F63-B0A4-FF9FE6FCA874}"/>
              </a:ext>
            </a:extLst>
          </p:cNvPr>
          <p:cNvSpPr>
            <a:spLocks xmlns:a="http://schemas.openxmlformats.org/drawingml/2006/main" noGrp="1"/>
          </p:cNvSpPr>
          <p:nvPr/>
        </p:nvSpPr>
        <p:spPr>
          <a:xfrm xmlns:a="http://schemas.openxmlformats.org/drawingml/2006/main">
            <a:off x="3057525" y="3676650"/>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3388"/>
          </a:bodyPr>
          <a:lstStyle xmlns:a="http://schemas.openxmlformats.org/drawingml/2006/main"/>
          <a:p xmlns:a="http://schemas.openxmlformats.org/drawingml/2006/main">
            <a:pPr algn="ctr">
              <a:lnSpc>
                <a:spcPct val="100000"/>
              </a:lnSpc>
              <a:buNone/>
              <a:defRPr sz="1575" b="0" i="0">
                <a:solidFill>
                  <a:srgbClr val="CFE8F0"/>
                </a:solidFill>
                <a:latin typeface="Calibri"/>
                <a:ea typeface="Calibri"/>
                <a:cs typeface="Calibri"/>
              </a:defRPr>
            </a:pPr>
            <a:r>
              <a:rPr sz="1575" b="0" i="0">
                <a:solidFill>
                  <a:srgbClr val="CFE8F0"/>
                </a:solidFill>
                <a:latin typeface="Calibri"/>
                <a:ea typeface="Calibri"/>
                <a:cs typeface="Calibri"/>
              </a:rPr>
              <a:t>validate + serialize</a:t>
            </a:r>
          </a:p>
        </p:txBody>
      </p:sp>
      <p:cxnSp>
        <p:nvCxnSpPr>
          <p:cNvPr id="35" name=""/>
          <p:cNvCxnSpPr>
            <a:stCxn xmlns:a="http://schemas.openxmlformats.org/drawingml/2006/main" id="5" idx="3"/>
            <a:endCxn xmlns:a="http://schemas.openxmlformats.org/drawingml/2006/main" id="8" idx="1"/>
          </p:cNvCxnSpPr>
          <p:nvPr/>
        </p:nvCxnSpPr>
        <p:spPr>
          <a:xfrm xmlns:a="http://schemas.openxmlformats.org/drawingml/2006/main">
            <a:off x="2476500" y="3571875"/>
            <a:ext cx="409575"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12" name="">
            <a:extLst xmlns:a="http://schemas.openxmlformats.org/drawingml/2006/main">
              <a:ext uri="{FF2B5EF4-FFF2-40B4-BE49-F238E27FC236}">
                <a16:creationId xmlns:a16="http://schemas.microsoft.com/office/drawing/2014/main" id="{69192AC4-8B0F-4DBA-B6DE-23FE1BB700A5}"/>
              </a:ext>
            </a:extLst>
          </p:cNvPr>
          <p:cNvSpPr>
            <a:spLocks xmlns:a="http://schemas.openxmlformats.org/drawingml/2006/main" noGrp="1"/>
          </p:cNvSpPr>
          <p:nvPr/>
        </p:nvSpPr>
        <p:spPr>
          <a:xfrm xmlns:a="http://schemas.openxmlformats.org/drawingml/2006/main">
            <a:off x="5248275" y="2714625"/>
            <a:ext cx="1952625" cy="1714500"/>
          </a:xfrm>
          <a:prstGeom xmlns:a="http://schemas.openxmlformats.org/drawingml/2006/main" prst="roundRect">
            <a:avLst>
              <a:gd name="adj" fmla="val 6667"/>
            </a:avLst>
          </a:prstGeom>
          <a:solidFill xmlns:a="http://schemas.openxmlformats.org/drawingml/2006/main">
            <a:srgbClr val="F2F8FA"/>
          </a:solidFill>
          <a:ln xmlns:a="http://schemas.openxmlformats.org/drawingml/2006/main" w="19050">
            <a:solidFill>
              <a:srgbClr val="21295C"/>
            </a:solidFill>
            <a:prstDash val="solid"/>
          </a:ln>
        </p:spPr>
      </p:sp>
      <p:sp>
        <p:nvSpPr>
          <p:cNvPr id="13" name="">
            <a:extLst xmlns:a="http://schemas.openxmlformats.org/drawingml/2006/main">
              <a:ext uri="{FF2B5EF4-FFF2-40B4-BE49-F238E27FC236}">
                <a16:creationId xmlns:a16="http://schemas.microsoft.com/office/drawing/2014/main" id="{F37C4F98-CAB1-45F3-BD27-714B6B26556E}"/>
              </a:ext>
            </a:extLst>
          </p:cNvPr>
          <p:cNvSpPr>
            <a:spLocks xmlns:a="http://schemas.openxmlformats.org/drawingml/2006/main" noGrp="1"/>
          </p:cNvSpPr>
          <p:nvPr/>
        </p:nvSpPr>
        <p:spPr>
          <a:xfrm xmlns:a="http://schemas.openxmlformats.org/drawingml/2006/main">
            <a:off x="5419725" y="3048000"/>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667"/>
          </a:bodyPr>
          <a:lstStyle xmlns:a="http://schemas.openxmlformats.org/drawingml/2006/main"/>
          <a:p xmlns:a="http://schemas.openxmlformats.org/drawingml/2006/main">
            <a:pPr algn="ctr">
              <a:lnSpc>
                <a:spcPct val="100000"/>
              </a:lnSpc>
              <a:buNone/>
              <a:defRPr sz="1875" b="1" i="0">
                <a:solidFill>
                  <a:srgbClr val="0B2942"/>
                </a:solidFill>
                <a:latin typeface="Courier New"/>
                <a:ea typeface="Courier New"/>
                <a:cs typeface="Courier New"/>
              </a:defRPr>
            </a:pPr>
            <a:r>
              <a:rPr sz="1875" b="1" i="0">
                <a:solidFill>
                  <a:srgbClr val="0B2942"/>
                </a:solidFill>
                <a:latin typeface="Courier New"/>
                <a:ea typeface="Courier New"/>
                <a:cs typeface="Courier New"/>
              </a:rPr>
              <a:t>TRANSPORT</a:t>
            </a:r>
          </a:p>
        </p:txBody>
      </p:sp>
      <p:sp>
        <p:nvSpPr>
          <p:cNvPr id="14" name="">
            <a:extLst xmlns:a="http://schemas.openxmlformats.org/drawingml/2006/main">
              <a:ext uri="{FF2B5EF4-FFF2-40B4-BE49-F238E27FC236}">
                <a16:creationId xmlns:a16="http://schemas.microsoft.com/office/drawing/2014/main" id="{F1A3B8F3-EF62-4C1C-AE26-7DF90E2577CB}"/>
              </a:ext>
            </a:extLst>
          </p:cNvPr>
          <p:cNvSpPr>
            <a:spLocks xmlns:a="http://schemas.openxmlformats.org/drawingml/2006/main" noGrp="1"/>
          </p:cNvSpPr>
          <p:nvPr/>
        </p:nvSpPr>
        <p:spPr>
          <a:xfrm xmlns:a="http://schemas.openxmlformats.org/drawingml/2006/main">
            <a:off x="5419725" y="3676650"/>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417"/>
          </a:bodyPr>
          <a:lstStyle xmlns:a="http://schemas.openxmlformats.org/drawingml/2006/main"/>
          <a:p xmlns:a="http://schemas.openxmlformats.org/drawingml/2006/main">
            <a:pPr algn="ctr">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send + authenticate</a:t>
            </a:r>
          </a:p>
        </p:txBody>
      </p:sp>
      <p:cxnSp>
        <p:nvCxnSpPr>
          <p:cNvPr id="39" name=""/>
          <p:cNvCxnSpPr>
            <a:stCxn xmlns:a="http://schemas.openxmlformats.org/drawingml/2006/main" id="8" idx="3"/>
            <a:endCxn xmlns:a="http://schemas.openxmlformats.org/drawingml/2006/main" id="12" idx="1"/>
          </p:cNvCxnSpPr>
          <p:nvPr/>
        </p:nvCxnSpPr>
        <p:spPr>
          <a:xfrm xmlns:a="http://schemas.openxmlformats.org/drawingml/2006/main">
            <a:off x="4838700" y="3571875"/>
            <a:ext cx="409575"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16" name="">
            <a:extLst xmlns:a="http://schemas.openxmlformats.org/drawingml/2006/main">
              <a:ext uri="{FF2B5EF4-FFF2-40B4-BE49-F238E27FC236}">
                <a16:creationId xmlns:a16="http://schemas.microsoft.com/office/drawing/2014/main" id="{52AA5CD8-5095-4A31-B6F9-6F0B70828B50}"/>
              </a:ext>
            </a:extLst>
          </p:cNvPr>
          <p:cNvSpPr>
            <a:spLocks xmlns:a="http://schemas.openxmlformats.org/drawingml/2006/main" noGrp="1"/>
          </p:cNvSpPr>
          <p:nvPr/>
        </p:nvSpPr>
        <p:spPr>
          <a:xfrm xmlns:a="http://schemas.openxmlformats.org/drawingml/2006/main">
            <a:off x="7610475" y="2714625"/>
            <a:ext cx="1952625" cy="1714500"/>
          </a:xfrm>
          <a:prstGeom xmlns:a="http://schemas.openxmlformats.org/drawingml/2006/main" prst="roundRect">
            <a:avLst>
              <a:gd name="adj" fmla="val 6667"/>
            </a:avLst>
          </a:prstGeom>
          <a:solidFill xmlns:a="http://schemas.openxmlformats.org/drawingml/2006/main">
            <a:srgbClr val="F2F8FA"/>
          </a:solidFill>
          <a:ln xmlns:a="http://schemas.openxmlformats.org/drawingml/2006/main" w="19050">
            <a:solidFill>
              <a:srgbClr val="E76F51"/>
            </a:solidFill>
            <a:prstDash val="solid"/>
          </a:ln>
        </p:spPr>
      </p:sp>
      <p:sp>
        <p:nvSpPr>
          <p:cNvPr id="17" name="">
            <a:extLst xmlns:a="http://schemas.openxmlformats.org/drawingml/2006/main">
              <a:ext uri="{FF2B5EF4-FFF2-40B4-BE49-F238E27FC236}">
                <a16:creationId xmlns:a16="http://schemas.microsoft.com/office/drawing/2014/main" id="{98395021-51D9-42D5-A599-F5AA63164361}"/>
              </a:ext>
            </a:extLst>
          </p:cNvPr>
          <p:cNvSpPr>
            <a:spLocks xmlns:a="http://schemas.openxmlformats.org/drawingml/2006/main" noGrp="1"/>
          </p:cNvSpPr>
          <p:nvPr/>
        </p:nvSpPr>
        <p:spPr>
          <a:xfrm xmlns:a="http://schemas.openxmlformats.org/drawingml/2006/main">
            <a:off x="7781925" y="3048000"/>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667"/>
          </a:bodyPr>
          <a:lstStyle xmlns:a="http://schemas.openxmlformats.org/drawingml/2006/main"/>
          <a:p xmlns:a="http://schemas.openxmlformats.org/drawingml/2006/main">
            <a:pPr algn="ctr">
              <a:lnSpc>
                <a:spcPct val="100000"/>
              </a:lnSpc>
              <a:buNone/>
              <a:defRPr sz="1875" b="1" i="0">
                <a:solidFill>
                  <a:srgbClr val="0B2942"/>
                </a:solidFill>
                <a:latin typeface="Courier New"/>
                <a:ea typeface="Courier New"/>
                <a:cs typeface="Courier New"/>
              </a:defRPr>
            </a:pPr>
            <a:r>
              <a:rPr sz="1875" b="1" i="0">
                <a:solidFill>
                  <a:srgbClr val="0B2942"/>
                </a:solidFill>
                <a:latin typeface="Courier New"/>
                <a:ea typeface="Courier New"/>
                <a:cs typeface="Courier New"/>
              </a:rPr>
              <a:t>SERVICE</a:t>
            </a:r>
          </a:p>
        </p:txBody>
      </p:sp>
      <p:sp>
        <p:nvSpPr>
          <p:cNvPr id="18" name="">
            <a:extLst xmlns:a="http://schemas.openxmlformats.org/drawingml/2006/main">
              <a:ext uri="{FF2B5EF4-FFF2-40B4-BE49-F238E27FC236}">
                <a16:creationId xmlns:a16="http://schemas.microsoft.com/office/drawing/2014/main" id="{E220283E-4949-4F7B-996E-1365808539A3}"/>
              </a:ext>
            </a:extLst>
          </p:cNvPr>
          <p:cNvSpPr>
            <a:spLocks xmlns:a="http://schemas.openxmlformats.org/drawingml/2006/main" noGrp="1"/>
          </p:cNvSpPr>
          <p:nvPr/>
        </p:nvSpPr>
        <p:spPr>
          <a:xfrm xmlns:a="http://schemas.openxmlformats.org/drawingml/2006/main">
            <a:off x="7781925" y="3676650"/>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5259"/>
          </a:bodyPr>
          <a:lstStyle xmlns:a="http://schemas.openxmlformats.org/drawingml/2006/main"/>
          <a:p xmlns:a="http://schemas.openxmlformats.org/drawingml/2006/main">
            <a:pPr algn="ctr">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execute operation</a:t>
            </a:r>
          </a:p>
        </p:txBody>
      </p:sp>
      <p:cxnSp>
        <p:nvCxnSpPr>
          <p:cNvPr id="43" name=""/>
          <p:cNvCxnSpPr>
            <a:stCxn xmlns:a="http://schemas.openxmlformats.org/drawingml/2006/main" id="12" idx="3"/>
            <a:endCxn xmlns:a="http://schemas.openxmlformats.org/drawingml/2006/main" id="16" idx="1"/>
          </p:cNvCxnSpPr>
          <p:nvPr/>
        </p:nvCxnSpPr>
        <p:spPr>
          <a:xfrm xmlns:a="http://schemas.openxmlformats.org/drawingml/2006/main">
            <a:off x="7200900" y="3571875"/>
            <a:ext cx="409575"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20" name="">
            <a:extLst xmlns:a="http://schemas.openxmlformats.org/drawingml/2006/main">
              <a:ext uri="{FF2B5EF4-FFF2-40B4-BE49-F238E27FC236}">
                <a16:creationId xmlns:a16="http://schemas.microsoft.com/office/drawing/2014/main" id="{AD2278C9-2C93-4391-B7B7-A092B4EABBD4}"/>
              </a:ext>
            </a:extLst>
          </p:cNvPr>
          <p:cNvSpPr>
            <a:spLocks xmlns:a="http://schemas.openxmlformats.org/drawingml/2006/main" noGrp="1"/>
          </p:cNvSpPr>
          <p:nvPr/>
        </p:nvSpPr>
        <p:spPr>
          <a:xfrm xmlns:a="http://schemas.openxmlformats.org/drawingml/2006/main">
            <a:off x="9972675" y="2714625"/>
            <a:ext cx="1952625" cy="1714500"/>
          </a:xfrm>
          <a:prstGeom xmlns:a="http://schemas.openxmlformats.org/drawingml/2006/main" prst="roundRect">
            <a:avLst>
              <a:gd name="adj" fmla="val 6667"/>
            </a:avLst>
          </a:prstGeom>
          <a:solidFill xmlns:a="http://schemas.openxmlformats.org/drawingml/2006/main">
            <a:srgbClr val="F2F8FA"/>
          </a:solidFill>
          <a:ln xmlns:a="http://schemas.openxmlformats.org/drawingml/2006/main" w="19050">
            <a:solidFill>
              <a:srgbClr val="1E7A5F"/>
            </a:solidFill>
            <a:prstDash val="solid"/>
          </a:ln>
        </p:spPr>
      </p:sp>
      <p:sp>
        <p:nvSpPr>
          <p:cNvPr id="21" name="">
            <a:extLst xmlns:a="http://schemas.openxmlformats.org/drawingml/2006/main">
              <a:ext uri="{FF2B5EF4-FFF2-40B4-BE49-F238E27FC236}">
                <a16:creationId xmlns:a16="http://schemas.microsoft.com/office/drawing/2014/main" id="{54C39B0F-EA20-4EEC-BCAE-83A84369A2E7}"/>
              </a:ext>
            </a:extLst>
          </p:cNvPr>
          <p:cNvSpPr>
            <a:spLocks xmlns:a="http://schemas.openxmlformats.org/drawingml/2006/main" noGrp="1"/>
          </p:cNvSpPr>
          <p:nvPr/>
        </p:nvSpPr>
        <p:spPr>
          <a:xfrm xmlns:a="http://schemas.openxmlformats.org/drawingml/2006/main">
            <a:off x="10144125" y="3048000"/>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667"/>
          </a:bodyPr>
          <a:lstStyle xmlns:a="http://schemas.openxmlformats.org/drawingml/2006/main"/>
          <a:p xmlns:a="http://schemas.openxmlformats.org/drawingml/2006/main">
            <a:pPr algn="ctr">
              <a:lnSpc>
                <a:spcPct val="100000"/>
              </a:lnSpc>
              <a:buNone/>
              <a:defRPr sz="1875" b="1" i="0">
                <a:solidFill>
                  <a:srgbClr val="0B2942"/>
                </a:solidFill>
                <a:latin typeface="Courier New"/>
                <a:ea typeface="Courier New"/>
                <a:cs typeface="Courier New"/>
              </a:defRPr>
            </a:pPr>
            <a:r>
              <a:rPr sz="1875" b="1" i="0">
                <a:solidFill>
                  <a:srgbClr val="0B2942"/>
                </a:solidFill>
                <a:latin typeface="Courier New"/>
                <a:ea typeface="Courier New"/>
                <a:cs typeface="Courier New"/>
              </a:rPr>
              <a:t>RESULT</a:t>
            </a:r>
          </a:p>
        </p:txBody>
      </p:sp>
      <p:sp>
        <p:nvSpPr>
          <p:cNvPr id="22" name="">
            <a:extLst xmlns:a="http://schemas.openxmlformats.org/drawingml/2006/main">
              <a:ext uri="{FF2B5EF4-FFF2-40B4-BE49-F238E27FC236}">
                <a16:creationId xmlns:a16="http://schemas.microsoft.com/office/drawing/2014/main" id="{17827DCA-E3FB-4F2A-8534-DCDCDAD1B4A7}"/>
              </a:ext>
            </a:extLst>
          </p:cNvPr>
          <p:cNvSpPr>
            <a:spLocks xmlns:a="http://schemas.openxmlformats.org/drawingml/2006/main" noGrp="1"/>
          </p:cNvSpPr>
          <p:nvPr/>
        </p:nvSpPr>
        <p:spPr>
          <a:xfrm xmlns:a="http://schemas.openxmlformats.org/drawingml/2006/main">
            <a:off x="10144125" y="3676650"/>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ctr">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parse or raise</a:t>
            </a:r>
          </a:p>
        </p:txBody>
      </p:sp>
      <p:cxnSp>
        <p:nvCxnSpPr>
          <p:cNvPr id="47" name=""/>
          <p:cNvCxnSpPr>
            <a:stCxn xmlns:a="http://schemas.openxmlformats.org/drawingml/2006/main" id="16" idx="3"/>
            <a:endCxn xmlns:a="http://schemas.openxmlformats.org/drawingml/2006/main" id="20" idx="1"/>
          </p:cNvCxnSpPr>
          <p:nvPr/>
        </p:nvCxnSpPr>
        <p:spPr>
          <a:xfrm xmlns:a="http://schemas.openxmlformats.org/drawingml/2006/main">
            <a:off x="9563100" y="3571875"/>
            <a:ext cx="409575"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24" name="">
            <a:extLst xmlns:a="http://schemas.openxmlformats.org/drawingml/2006/main">
              <a:ext uri="{FF2B5EF4-FFF2-40B4-BE49-F238E27FC236}">
                <a16:creationId xmlns:a16="http://schemas.microsoft.com/office/drawing/2014/main" id="{EF37876F-11E7-4453-B9EC-783FEFD552BD}"/>
              </a:ext>
            </a:extLst>
          </p:cNvPr>
          <p:cNvSpPr>
            <a:spLocks xmlns:a="http://schemas.openxmlformats.org/drawingml/2006/main" noGrp="1"/>
          </p:cNvSpPr>
          <p:nvPr/>
        </p:nvSpPr>
        <p:spPr>
          <a:xfrm xmlns:a="http://schemas.openxmlformats.org/drawingml/2006/main">
            <a:off x="1143000" y="51244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5238"/>
          </a:bodyPr>
          <a:lstStyle xmlns:a="http://schemas.openxmlformats.org/drawingml/2006/main"/>
          <a:p xmlns:a="http://schemas.openxmlformats.org/drawingml/2006/main">
            <a:pPr algn="ctr">
              <a:lnSpc>
                <a:spcPct val="100000"/>
              </a:lnSpc>
              <a:buNone/>
              <a:defRPr sz="2100" b="1" i="0">
                <a:solidFill>
                  <a:srgbClr val="0B2942"/>
                </a:solidFill>
                <a:latin typeface="Cambria"/>
                <a:ea typeface="Cambria"/>
                <a:cs typeface="Cambria"/>
              </a:defRPr>
            </a:pPr>
            <a:r>
              <a:rPr sz="2100" b="1" i="0">
                <a:solidFill>
                  <a:srgbClr val="0B2942"/>
                </a:solidFill>
                <a:latin typeface="Cambria"/>
                <a:ea typeface="Cambria"/>
                <a:cs typeface="Cambria"/>
              </a:rPr>
              <a:t>Debugging requires locating the failing contract: application input, SDK validation, transport, server behavior, or response parsing.</a:t>
            </a:r>
          </a:p>
        </p:txBody>
      </p:sp>
    </p:spTree>
    <p:extLst>
      <p:ext uri="{BB962C8B-B14F-4D97-AF65-F5344CB8AC3E}">
        <p14:creationId xmlns:p14="http://schemas.microsoft.com/office/powerpoint/2010/main" val="1689856059"/>
      </p:ext>
    </p:extLst>
  </p:cSld>
</p:sld>
</file>

<file path=ppt/slides/slide12.xml><?xml version="1.0" encoding="utf-8"?>
<p:sld xmlns:p="http://schemas.openxmlformats.org/presentationml/2006/main">
  <p:cSld>
    <p:bg>
      <p:bgPr>
        <a:solidFill xmlns:a="http://schemas.openxmlformats.org/drawingml/2006/main">
          <a:srgbClr val="F2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17173A1-67F0-4C1B-95D1-14E86A58AC6D}"/>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INTERFACE VOCABULARY</a:t>
            </a:r>
          </a:p>
        </p:txBody>
      </p:sp>
      <p:sp>
        <p:nvSpPr>
          <p:cNvPr id="2" name="">
            <a:extLst xmlns:a="http://schemas.openxmlformats.org/drawingml/2006/main">
              <a:ext uri="{FF2B5EF4-FFF2-40B4-BE49-F238E27FC236}">
                <a16:creationId xmlns:a16="http://schemas.microsoft.com/office/drawing/2014/main" id="{24D243F0-E117-4717-8726-8E5C26F9277F}"/>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API, SDK, and Protocol Name Different Boundaries</a:t>
            </a:r>
          </a:p>
        </p:txBody>
      </p:sp>
      <p:sp>
        <p:nvSpPr>
          <p:cNvPr id="3" name="">
            <a:extLst xmlns:a="http://schemas.openxmlformats.org/drawingml/2006/main">
              <a:ext uri="{FF2B5EF4-FFF2-40B4-BE49-F238E27FC236}">
                <a16:creationId xmlns:a16="http://schemas.microsoft.com/office/drawing/2014/main" id="{6AE2332D-80FA-48B4-9410-C89E3CC0AD8B}"/>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61ECC658-951D-4143-B65C-77C48396A0EC}"/>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12</a:t>
            </a:r>
          </a:p>
        </p:txBody>
      </p:sp>
      <p:sp>
        <p:nvSpPr>
          <p:cNvPr id="5" name="">
            <a:extLst xmlns:a="http://schemas.openxmlformats.org/drawingml/2006/main">
              <a:ext uri="{FF2B5EF4-FFF2-40B4-BE49-F238E27FC236}">
                <a16:creationId xmlns:a16="http://schemas.microsoft.com/office/drawing/2014/main" id="{D0630017-0699-4EB6-8674-7C23CA76A2B3}"/>
              </a:ext>
            </a:extLst>
          </p:cNvPr>
          <p:cNvSpPr>
            <a:spLocks xmlns:a="http://schemas.openxmlformats.org/drawingml/2006/main" noGrp="1"/>
          </p:cNvSpPr>
          <p:nvPr/>
        </p:nvSpPr>
        <p:spPr>
          <a:xfrm xmlns:a="http://schemas.openxmlformats.org/drawingml/2006/main">
            <a:off x="704850" y="1714500"/>
            <a:ext cx="3333750" cy="3429000"/>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1ACD911D-8C1B-490E-B0A4-BA69632B81C2}"/>
              </a:ext>
            </a:extLst>
          </p:cNvPr>
          <p:cNvSpPr>
            <a:spLocks xmlns:a="http://schemas.openxmlformats.org/drawingml/2006/main" noGrp="1"/>
          </p:cNvSpPr>
          <p:nvPr/>
        </p:nvSpPr>
        <p:spPr>
          <a:xfrm xmlns:a="http://schemas.openxmlformats.org/drawingml/2006/main">
            <a:off x="914400" y="1885950"/>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065A82"/>
                </a:solidFill>
                <a:latin typeface="Cambria"/>
                <a:ea typeface="Cambria"/>
                <a:cs typeface="Cambria"/>
              </a:defRPr>
            </a:pPr>
            <a:r>
              <a:rPr sz="2025" b="1" i="0">
                <a:solidFill>
                  <a:srgbClr val="065A82"/>
                </a:solidFill>
                <a:latin typeface="Cambria"/>
                <a:ea typeface="Cambria"/>
                <a:cs typeface="Cambria"/>
              </a:rPr>
              <a:t>API</a:t>
            </a:r>
          </a:p>
        </p:txBody>
      </p:sp>
      <p:sp>
        <p:nvSpPr>
          <p:cNvPr id="7" name="">
            <a:extLst xmlns:a="http://schemas.openxmlformats.org/drawingml/2006/main">
              <a:ext uri="{FF2B5EF4-FFF2-40B4-BE49-F238E27FC236}">
                <a16:creationId xmlns:a16="http://schemas.microsoft.com/office/drawing/2014/main" id="{F0B3C674-E895-4E59-820F-E22387143FF0}"/>
              </a:ext>
            </a:extLst>
          </p:cNvPr>
          <p:cNvSpPr>
            <a:spLocks xmlns:a="http://schemas.openxmlformats.org/drawingml/2006/main" noGrp="1"/>
          </p:cNvSpPr>
          <p:nvPr/>
        </p:nvSpPr>
        <p:spPr>
          <a:xfrm xmlns:a="http://schemas.openxmlformats.org/drawingml/2006/main">
            <a:off x="914400" y="2343150"/>
            <a:ext cx="2914650" cy="2609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The operations a component exposes: names, inputs, outputs, and error semantics. An API may be local or remote.</a:t>
            </a:r>
          </a:p>
        </p:txBody>
      </p:sp>
      <p:sp>
        <p:nvSpPr>
          <p:cNvPr id="8" name="">
            <a:extLst xmlns:a="http://schemas.openxmlformats.org/drawingml/2006/main">
              <a:ext uri="{FF2B5EF4-FFF2-40B4-BE49-F238E27FC236}">
                <a16:creationId xmlns:a16="http://schemas.microsoft.com/office/drawing/2014/main" id="{BF91DB38-8B59-481B-B228-81C605093451}"/>
              </a:ext>
            </a:extLst>
          </p:cNvPr>
          <p:cNvSpPr>
            <a:spLocks xmlns:a="http://schemas.openxmlformats.org/drawingml/2006/main" noGrp="1"/>
          </p:cNvSpPr>
          <p:nvPr/>
        </p:nvSpPr>
        <p:spPr>
          <a:xfrm xmlns:a="http://schemas.openxmlformats.org/drawingml/2006/main">
            <a:off x="4429125" y="1714500"/>
            <a:ext cx="3333750" cy="3429000"/>
          </a:xfrm>
          <a:prstGeom xmlns:a="http://schemas.openxmlformats.org/drawingml/2006/main" prst="roundRect">
            <a:avLst>
              <a:gd name="adj" fmla="val 3429"/>
            </a:avLst>
          </a:prstGeom>
          <a:solidFill xmlns:a="http://schemas.openxmlformats.org/drawingml/2006/main">
            <a:srgbClr val="DDF4EF"/>
          </a:solidFill>
          <a:ln xmlns:a="http://schemas.openxmlformats.org/drawingml/2006/main" w="9525">
            <a:solidFill>
              <a:srgbClr val="DDF4EF"/>
            </a:solidFill>
            <a:prstDash val="solid"/>
          </a:ln>
        </p:spPr>
      </p:sp>
      <p:sp>
        <p:nvSpPr>
          <p:cNvPr id="9" name="">
            <a:extLst xmlns:a="http://schemas.openxmlformats.org/drawingml/2006/main">
              <a:ext uri="{FF2B5EF4-FFF2-40B4-BE49-F238E27FC236}">
                <a16:creationId xmlns:a16="http://schemas.microsoft.com/office/drawing/2014/main" id="{F1E8AB10-C3BC-4041-AD8F-CECC48F987B6}"/>
              </a:ext>
            </a:extLst>
          </p:cNvPr>
          <p:cNvSpPr>
            <a:spLocks xmlns:a="http://schemas.openxmlformats.org/drawingml/2006/main" noGrp="1"/>
          </p:cNvSpPr>
          <p:nvPr/>
        </p:nvSpPr>
        <p:spPr>
          <a:xfrm xmlns:a="http://schemas.openxmlformats.org/drawingml/2006/main">
            <a:off x="4638675" y="1885950"/>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C7293"/>
                </a:solidFill>
                <a:latin typeface="Cambria"/>
                <a:ea typeface="Cambria"/>
                <a:cs typeface="Cambria"/>
              </a:defRPr>
            </a:pPr>
            <a:r>
              <a:rPr sz="2025" b="1" i="0">
                <a:solidFill>
                  <a:srgbClr val="1C7293"/>
                </a:solidFill>
                <a:latin typeface="Cambria"/>
                <a:ea typeface="Cambria"/>
                <a:cs typeface="Cambria"/>
              </a:rPr>
              <a:t>SDK</a:t>
            </a:r>
          </a:p>
        </p:txBody>
      </p:sp>
      <p:sp>
        <p:nvSpPr>
          <p:cNvPr id="10" name="">
            <a:extLst xmlns:a="http://schemas.openxmlformats.org/drawingml/2006/main">
              <a:ext uri="{FF2B5EF4-FFF2-40B4-BE49-F238E27FC236}">
                <a16:creationId xmlns:a16="http://schemas.microsoft.com/office/drawing/2014/main" id="{1042849B-84DE-4149-A783-9281AFE2528E}"/>
              </a:ext>
            </a:extLst>
          </p:cNvPr>
          <p:cNvSpPr>
            <a:spLocks xmlns:a="http://schemas.openxmlformats.org/drawingml/2006/main" noGrp="1"/>
          </p:cNvSpPr>
          <p:nvPr/>
        </p:nvSpPr>
        <p:spPr>
          <a:xfrm xmlns:a="http://schemas.openxmlformats.org/drawingml/2006/main">
            <a:off x="4638675" y="2343150"/>
            <a:ext cx="2914650" cy="2609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A language-specific package that helps an application call an API. It may add types, defaults, helpers, retries, or adapters.</a:t>
            </a:r>
          </a:p>
        </p:txBody>
      </p:sp>
      <p:sp>
        <p:nvSpPr>
          <p:cNvPr id="11" name="">
            <a:extLst xmlns:a="http://schemas.openxmlformats.org/drawingml/2006/main">
              <a:ext uri="{FF2B5EF4-FFF2-40B4-BE49-F238E27FC236}">
                <a16:creationId xmlns:a16="http://schemas.microsoft.com/office/drawing/2014/main" id="{B443E2D6-2562-4626-900D-7ED8B8484239}"/>
              </a:ext>
            </a:extLst>
          </p:cNvPr>
          <p:cNvSpPr>
            <a:spLocks xmlns:a="http://schemas.openxmlformats.org/drawingml/2006/main" noGrp="1"/>
          </p:cNvSpPr>
          <p:nvPr/>
        </p:nvSpPr>
        <p:spPr>
          <a:xfrm xmlns:a="http://schemas.openxmlformats.org/drawingml/2006/main">
            <a:off x="8153400" y="1714500"/>
            <a:ext cx="3333750" cy="3429000"/>
          </a:xfrm>
          <a:prstGeom xmlns:a="http://schemas.openxmlformats.org/drawingml/2006/main" prst="roundRect">
            <a:avLst>
              <a:gd name="adj" fmla="val 3429"/>
            </a:avLst>
          </a:prstGeom>
          <a:solidFill xmlns:a="http://schemas.openxmlformats.org/drawingml/2006/main">
            <a:srgbClr val="FFF7DA"/>
          </a:solidFill>
          <a:ln xmlns:a="http://schemas.openxmlformats.org/drawingml/2006/main" w="9525">
            <a:solidFill>
              <a:srgbClr val="FFF7DA"/>
            </a:solidFill>
            <a:prstDash val="solid"/>
          </a:ln>
        </p:spPr>
      </p:sp>
      <p:sp>
        <p:nvSpPr>
          <p:cNvPr id="12" name="">
            <a:extLst xmlns:a="http://schemas.openxmlformats.org/drawingml/2006/main">
              <a:ext uri="{FF2B5EF4-FFF2-40B4-BE49-F238E27FC236}">
                <a16:creationId xmlns:a16="http://schemas.microsoft.com/office/drawing/2014/main" id="{58C1E817-4F18-495F-9944-AA77D8137D9A}"/>
              </a:ext>
            </a:extLst>
          </p:cNvPr>
          <p:cNvSpPr>
            <a:spLocks xmlns:a="http://schemas.openxmlformats.org/drawingml/2006/main" noGrp="1"/>
          </p:cNvSpPr>
          <p:nvPr/>
        </p:nvSpPr>
        <p:spPr>
          <a:xfrm xmlns:a="http://schemas.openxmlformats.org/drawingml/2006/main">
            <a:off x="8362950" y="1885950"/>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21295C"/>
                </a:solidFill>
                <a:latin typeface="Cambria"/>
                <a:ea typeface="Cambria"/>
                <a:cs typeface="Cambria"/>
              </a:defRPr>
            </a:pPr>
            <a:r>
              <a:rPr sz="2025" b="1" i="0">
                <a:solidFill>
                  <a:srgbClr val="21295C"/>
                </a:solidFill>
                <a:latin typeface="Cambria"/>
                <a:ea typeface="Cambria"/>
                <a:cs typeface="Cambria"/>
              </a:rPr>
              <a:t>PROTOCOL</a:t>
            </a:r>
          </a:p>
        </p:txBody>
      </p:sp>
      <p:sp>
        <p:nvSpPr>
          <p:cNvPr id="13" name="">
            <a:extLst xmlns:a="http://schemas.openxmlformats.org/drawingml/2006/main">
              <a:ext uri="{FF2B5EF4-FFF2-40B4-BE49-F238E27FC236}">
                <a16:creationId xmlns:a16="http://schemas.microsoft.com/office/drawing/2014/main" id="{DC8DD51A-D99F-4757-A5B8-D86F766DFC4A}"/>
              </a:ext>
            </a:extLst>
          </p:cNvPr>
          <p:cNvSpPr>
            <a:spLocks xmlns:a="http://schemas.openxmlformats.org/drawingml/2006/main" noGrp="1"/>
          </p:cNvSpPr>
          <p:nvPr/>
        </p:nvSpPr>
        <p:spPr>
          <a:xfrm xmlns:a="http://schemas.openxmlformats.org/drawingml/2006/main">
            <a:off x="8362950" y="2343150"/>
            <a:ext cx="2914650" cy="2609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Rules two independent participants follow on the wire: message shapes, lifecycle, capabilities, and transport behavior.</a:t>
            </a:r>
          </a:p>
        </p:txBody>
      </p:sp>
      <p:sp>
        <p:nvSpPr>
          <p:cNvPr id="14" name="">
            <a:extLst xmlns:a="http://schemas.openxmlformats.org/drawingml/2006/main">
              <a:ext uri="{FF2B5EF4-FFF2-40B4-BE49-F238E27FC236}">
                <a16:creationId xmlns:a16="http://schemas.microsoft.com/office/drawing/2014/main" id="{3940D11E-EDC6-4802-8674-7DA8522A95CF}"/>
              </a:ext>
            </a:extLst>
          </p:cNvPr>
          <p:cNvSpPr>
            <a:spLocks xmlns:a="http://schemas.openxmlformats.org/drawingml/2006/main" noGrp="1"/>
          </p:cNvSpPr>
          <p:nvPr/>
        </p:nvSpPr>
        <p:spPr>
          <a:xfrm xmlns:a="http://schemas.openxmlformats.org/drawingml/2006/main">
            <a:off x="1428750" y="552450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4091"/>
          </a:bodyPr>
          <a:lstStyle xmlns:a="http://schemas.openxmlformats.org/drawingml/2006/main"/>
          <a:p xmlns:a="http://schemas.openxmlformats.org/drawingml/2006/main">
            <a:pPr algn="ctr">
              <a:lnSpc>
                <a:spcPct val="100000"/>
              </a:lnSpc>
              <a:buNone/>
              <a:defRPr sz="2175" b="1" i="0">
                <a:solidFill>
                  <a:srgbClr val="0B2942"/>
                </a:solidFill>
                <a:latin typeface="Cambria"/>
                <a:ea typeface="Cambria"/>
                <a:cs typeface="Cambria"/>
              </a:defRPr>
            </a:pPr>
            <a:r>
              <a:rPr sz="2175" b="1" i="0">
                <a:solidFill>
                  <a:srgbClr val="0B2942"/>
                </a:solidFill>
                <a:latin typeface="Cambria"/>
                <a:ea typeface="Cambria"/>
                <a:cs typeface="Cambria"/>
              </a:rPr>
              <a:t>One product can expose an API, ship multiple SDKs, and participate in more than one protocol.</a:t>
            </a:r>
          </a:p>
        </p:txBody>
      </p:sp>
    </p:spTree>
    <p:extLst>
      <p:ext uri="{BB962C8B-B14F-4D97-AF65-F5344CB8AC3E}">
        <p14:creationId xmlns:p14="http://schemas.microsoft.com/office/powerpoint/2010/main" val="95482851"/>
      </p:ext>
    </p:extLst>
  </p:cSld>
</p:sld>
</file>

<file path=ppt/slides/slide13.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4019CB5-4314-468F-AE46-1878D5BA5738}"/>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BACKGROUND · MODEL CONTEXT PROTOCOL</a:t>
            </a:r>
          </a:p>
        </p:txBody>
      </p:sp>
      <p:sp>
        <p:nvSpPr>
          <p:cNvPr id="2" name="">
            <a:extLst xmlns:a="http://schemas.openxmlformats.org/drawingml/2006/main">
              <a:ext uri="{FF2B5EF4-FFF2-40B4-BE49-F238E27FC236}">
                <a16:creationId xmlns:a16="http://schemas.microsoft.com/office/drawing/2014/main" id="{601FE656-D139-4106-B648-31E6E0FD22E8}"/>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MCP Separates Host, Client, and Server</a:t>
            </a:r>
          </a:p>
        </p:txBody>
      </p:sp>
      <p:sp>
        <p:nvSpPr>
          <p:cNvPr id="3" name="">
            <a:extLst xmlns:a="http://schemas.openxmlformats.org/drawingml/2006/main">
              <a:ext uri="{FF2B5EF4-FFF2-40B4-BE49-F238E27FC236}">
                <a16:creationId xmlns:a16="http://schemas.microsoft.com/office/drawing/2014/main" id="{AD04643D-6837-4035-8054-9E138F47BF4B}"/>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CB01287D-AAFC-44AD-A884-29618CB6E159}"/>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13</a:t>
            </a:r>
          </a:p>
        </p:txBody>
      </p:sp>
      <p:sp>
        <p:nvSpPr>
          <p:cNvPr id="5" name="">
            <a:extLst xmlns:a="http://schemas.openxmlformats.org/drawingml/2006/main">
              <a:ext uri="{FF2B5EF4-FFF2-40B4-BE49-F238E27FC236}">
                <a16:creationId xmlns:a16="http://schemas.microsoft.com/office/drawing/2014/main" id="{A15BE414-1601-42A0-8609-84EE2341E6C4}"/>
              </a:ext>
            </a:extLst>
          </p:cNvPr>
          <p:cNvSpPr>
            <a:spLocks xmlns:a="http://schemas.openxmlformats.org/drawingml/2006/main" noGrp="1"/>
          </p:cNvSpPr>
          <p:nvPr/>
        </p:nvSpPr>
        <p:spPr>
          <a:xfrm xmlns:a="http://schemas.openxmlformats.org/drawingml/2006/main">
            <a:off x="762000" y="1809750"/>
            <a:ext cx="4381500" cy="3714750"/>
          </a:xfrm>
          <a:prstGeom xmlns:a="http://schemas.openxmlformats.org/drawingml/2006/main" prst="roundRect">
            <a:avLst>
              <a:gd name="adj" fmla="val 3077"/>
            </a:avLst>
          </a:prstGeom>
          <a:solidFill xmlns:a="http://schemas.openxmlformats.org/drawingml/2006/main">
            <a:srgbClr val="173F58"/>
          </a:solidFill>
          <a:ln xmlns:a="http://schemas.openxmlformats.org/drawingml/2006/main" w="19050">
            <a:solidFill>
              <a:srgbClr val="065A82"/>
            </a:solidFill>
            <a:prstDash val="solid"/>
          </a:ln>
        </p:spPr>
      </p:sp>
      <p:sp>
        <p:nvSpPr>
          <p:cNvPr id="6" name="">
            <a:extLst xmlns:a="http://schemas.openxmlformats.org/drawingml/2006/main">
              <a:ext uri="{FF2B5EF4-FFF2-40B4-BE49-F238E27FC236}">
                <a16:creationId xmlns:a16="http://schemas.microsoft.com/office/drawing/2014/main" id="{B0DA343D-A7CE-438F-BA4E-6266128558EC}"/>
              </a:ext>
            </a:extLst>
          </p:cNvPr>
          <p:cNvSpPr>
            <a:spLocks xmlns:a="http://schemas.openxmlformats.org/drawingml/2006/main" noGrp="1"/>
          </p:cNvSpPr>
          <p:nvPr/>
        </p:nvSpPr>
        <p:spPr>
          <a:xfrm xmlns:a="http://schemas.openxmlformats.org/drawingml/2006/main">
            <a:off x="1104900" y="20955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l">
              <a:lnSpc>
                <a:spcPct val="100000"/>
              </a:lnSpc>
              <a:buNone/>
              <a:defRPr sz="2250" b="1" i="0">
                <a:solidFill>
                  <a:srgbClr val="FFFFFF"/>
                </a:solidFill>
                <a:latin typeface="Courier New"/>
                <a:ea typeface="Courier New"/>
                <a:cs typeface="Courier New"/>
              </a:defRPr>
            </a:pPr>
            <a:r>
              <a:rPr sz="2250" b="1" i="0">
                <a:solidFill>
                  <a:srgbClr val="FFFFFF"/>
                </a:solidFill>
                <a:latin typeface="Courier New"/>
                <a:ea typeface="Courier New"/>
                <a:cs typeface="Courier New"/>
              </a:rPr>
              <a:t>HOST</a:t>
            </a:r>
          </a:p>
        </p:txBody>
      </p:sp>
      <p:sp>
        <p:nvSpPr>
          <p:cNvPr id="7" name="">
            <a:extLst xmlns:a="http://schemas.openxmlformats.org/drawingml/2006/main">
              <a:ext uri="{FF2B5EF4-FFF2-40B4-BE49-F238E27FC236}">
                <a16:creationId xmlns:a16="http://schemas.microsoft.com/office/drawing/2014/main" id="{FF8C5876-796A-444A-A9F6-FFE68F520C26}"/>
              </a:ext>
            </a:extLst>
          </p:cNvPr>
          <p:cNvSpPr>
            <a:spLocks xmlns:a="http://schemas.openxmlformats.org/drawingml/2006/main" noGrp="1"/>
          </p:cNvSpPr>
          <p:nvPr/>
        </p:nvSpPr>
        <p:spPr>
          <a:xfrm xmlns:a="http://schemas.openxmlformats.org/drawingml/2006/main">
            <a:off x="1104900" y="25336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956"/>
          </a:bodyPr>
          <a:lstStyle xmlns:a="http://schemas.openxmlformats.org/drawingml/2006/main"/>
          <a:p xmlns:a="http://schemas.openxmlformats.org/drawingml/2006/main">
            <a:pPr algn="l">
              <a:lnSpc>
                <a:spcPct val="100000"/>
              </a:lnSpc>
              <a:buNone/>
              <a:defRPr sz="1725" b="0" i="0">
                <a:solidFill>
                  <a:srgbClr val="CFE8F0"/>
                </a:solidFill>
                <a:latin typeface="Calibri"/>
                <a:ea typeface="Calibri"/>
                <a:cs typeface="Calibri"/>
              </a:defRPr>
            </a:pPr>
            <a:r>
              <a:rPr sz="1725" b="0" i="0">
                <a:solidFill>
                  <a:srgbClr val="CFE8F0"/>
                </a:solidFill>
                <a:latin typeface="Calibri"/>
                <a:ea typeface="Calibri"/>
                <a:cs typeface="Calibri"/>
              </a:rPr>
              <a:t>AI application</a:t>
            </a:r>
          </a:p>
        </p:txBody>
      </p:sp>
      <p:sp>
        <p:nvSpPr>
          <p:cNvPr id="8" name="">
            <a:extLst xmlns:a="http://schemas.openxmlformats.org/drawingml/2006/main">
              <a:ext uri="{FF2B5EF4-FFF2-40B4-BE49-F238E27FC236}">
                <a16:creationId xmlns:a16="http://schemas.microsoft.com/office/drawing/2014/main" id="{1673A493-452B-433D-869C-8C4B248B9148}"/>
              </a:ext>
            </a:extLst>
          </p:cNvPr>
          <p:cNvSpPr>
            <a:spLocks xmlns:a="http://schemas.openxmlformats.org/drawingml/2006/main" noGrp="1"/>
          </p:cNvSpPr>
          <p:nvPr/>
        </p:nvSpPr>
        <p:spPr>
          <a:xfrm xmlns:a="http://schemas.openxmlformats.org/drawingml/2006/main">
            <a:off x="1047750" y="3105150"/>
            <a:ext cx="361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chor="t">
            <a:normAutofit fontScale="100000"/>
          </a:bodyPr>
          <a:lstStyle xmlns:a="http://schemas.openxmlformats.org/drawingml/2006/main"/>
          <a:p xmlns:a="http://schemas.openxmlformats.org/drawingml/2006/main">
            <a:pPr marL="24" indent="-13">
              <a:lnSpc>
                <a:spcPct val="108000"/>
              </a:lnSpc>
              <a:spcAft>
                <a:spcPts val="10"/>
              </a:spcAft>
              <a:buNone/>
              <a:defRPr sz="1725">
                <a:solidFill>
                  <a:srgbClr val="FFFFFF"/>
                </a:solidFill>
                <a:latin typeface="Calibri"/>
                <a:ea typeface="Calibri"/>
                <a:cs typeface="Calibri"/>
              </a:defRPr>
            </a:pPr>
            <a:r>
              <a:rPr sz="1725">
                <a:solidFill>
                  <a:srgbClr val="FFFFFF"/>
                </a:solidFill>
                <a:latin typeface="Calibri"/>
                <a:ea typeface="Calibri"/>
                <a:cs typeface="Calibri"/>
              </a:rPr>
              <a:t>owns the model conversation</a:t>
            </a:r>
          </a:p>
          <a:p xmlns:a="http://schemas.openxmlformats.org/drawingml/2006/main">
            <a:pPr marL="24" indent="-13">
              <a:lnSpc>
                <a:spcPct val="108000"/>
              </a:lnSpc>
              <a:spcAft>
                <a:spcPts val="10"/>
              </a:spcAft>
              <a:buNone/>
              <a:defRPr sz="1725">
                <a:solidFill>
                  <a:srgbClr val="FFFFFF"/>
                </a:solidFill>
                <a:latin typeface="Calibri"/>
                <a:ea typeface="Calibri"/>
                <a:cs typeface="Calibri"/>
              </a:defRPr>
            </a:pPr>
            <a:r>
              <a:rPr sz="1725">
                <a:solidFill>
                  <a:srgbClr val="FFFFFF"/>
                </a:solidFill>
                <a:latin typeface="Calibri"/>
                <a:ea typeface="Calibri"/>
                <a:cs typeface="Calibri"/>
              </a:rPr>
              <a:t>creates clients</a:t>
            </a:r>
          </a:p>
          <a:p xmlns:a="http://schemas.openxmlformats.org/drawingml/2006/main">
            <a:pPr marL="24" indent="-13">
              <a:lnSpc>
                <a:spcPct val="108000"/>
              </a:lnSpc>
              <a:spcAft>
                <a:spcPts val="10"/>
              </a:spcAft>
              <a:buNone/>
              <a:defRPr sz="1725">
                <a:solidFill>
                  <a:srgbClr val="FFFFFF"/>
                </a:solidFill>
                <a:latin typeface="Calibri"/>
                <a:ea typeface="Calibri"/>
                <a:cs typeface="Calibri"/>
              </a:defRPr>
            </a:pPr>
            <a:r>
              <a:rPr sz="1725">
                <a:solidFill>
                  <a:srgbClr val="FFFFFF"/>
                </a:solidFill>
                <a:latin typeface="Calibri"/>
                <a:ea typeface="Calibri"/>
                <a:cs typeface="Calibri"/>
              </a:rPr>
              <a:t>applies consent and policy</a:t>
            </a:r>
          </a:p>
          <a:p xmlns:a="http://schemas.openxmlformats.org/drawingml/2006/main">
            <a:pPr marL="24" indent="-13">
              <a:lnSpc>
                <a:spcPct val="108000"/>
              </a:lnSpc>
              <a:spcAft>
                <a:spcPts val="10"/>
              </a:spcAft>
              <a:buNone/>
              <a:defRPr sz="1725">
                <a:solidFill>
                  <a:srgbClr val="FFFFFF"/>
                </a:solidFill>
                <a:latin typeface="Calibri"/>
                <a:ea typeface="Calibri"/>
                <a:cs typeface="Calibri"/>
              </a:defRPr>
            </a:pPr>
            <a:r>
              <a:rPr sz="1725">
                <a:solidFill>
                  <a:srgbClr val="FFFFFF"/>
                </a:solidFill>
                <a:latin typeface="Calibri"/>
                <a:ea typeface="Calibri"/>
                <a:cs typeface="Calibri"/>
              </a:rPr>
              <a:t>aggregates context and tools</a:t>
            </a:r>
          </a:p>
        </p:txBody>
      </p:sp>
      <p:sp>
        <p:nvSpPr>
          <p:cNvPr id="9" name="">
            <a:extLst xmlns:a="http://schemas.openxmlformats.org/drawingml/2006/main">
              <a:ext uri="{FF2B5EF4-FFF2-40B4-BE49-F238E27FC236}">
                <a16:creationId xmlns:a16="http://schemas.microsoft.com/office/drawing/2014/main" id="{2A178345-31BD-42E7-BB53-5F7452D49D82}"/>
              </a:ext>
            </a:extLst>
          </p:cNvPr>
          <p:cNvSpPr>
            <a:spLocks xmlns:a="http://schemas.openxmlformats.org/drawingml/2006/main" noGrp="1"/>
          </p:cNvSpPr>
          <p:nvPr/>
        </p:nvSpPr>
        <p:spPr>
          <a:xfrm xmlns:a="http://schemas.openxmlformats.org/drawingml/2006/main">
            <a:off x="5905500" y="2362200"/>
            <a:ext cx="2286000" cy="1714500"/>
          </a:xfrm>
          <a:prstGeom xmlns:a="http://schemas.openxmlformats.org/drawingml/2006/main" prst="roundRect">
            <a:avLst>
              <a:gd name="adj" fmla="val 6667"/>
            </a:avLst>
          </a:prstGeom>
          <a:solidFill xmlns:a="http://schemas.openxmlformats.org/drawingml/2006/main">
            <a:srgbClr val="1C729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890982-2967-4B5E-8553-DDA7735C5D92}"/>
              </a:ext>
            </a:extLst>
          </p:cNvPr>
          <p:cNvSpPr>
            <a:spLocks xmlns:a="http://schemas.openxmlformats.org/drawingml/2006/main" noGrp="1"/>
          </p:cNvSpPr>
          <p:nvPr/>
        </p:nvSpPr>
        <p:spPr>
          <a:xfrm xmlns:a="http://schemas.openxmlformats.org/drawingml/2006/main">
            <a:off x="6238875" y="26860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2100" b="1" i="0">
                <a:solidFill>
                  <a:srgbClr val="FFFFFF"/>
                </a:solidFill>
                <a:latin typeface="Courier New"/>
                <a:ea typeface="Courier New"/>
                <a:cs typeface="Courier New"/>
              </a:defRPr>
            </a:pPr>
            <a:r>
              <a:rPr sz="2100" b="1" i="0">
                <a:solidFill>
                  <a:srgbClr val="FFFFFF"/>
                </a:solidFill>
                <a:latin typeface="Courier New"/>
                <a:ea typeface="Courier New"/>
                <a:cs typeface="Courier New"/>
              </a:rPr>
              <a:t>CLIENT</a:t>
            </a:r>
          </a:p>
        </p:txBody>
      </p:sp>
      <p:sp>
        <p:nvSpPr>
          <p:cNvPr id="11" name="">
            <a:extLst xmlns:a="http://schemas.openxmlformats.org/drawingml/2006/main">
              <a:ext uri="{FF2B5EF4-FFF2-40B4-BE49-F238E27FC236}">
                <a16:creationId xmlns:a16="http://schemas.microsoft.com/office/drawing/2014/main" id="{394275F2-7DDD-4F87-919E-2A809962ECD9}"/>
              </a:ext>
            </a:extLst>
          </p:cNvPr>
          <p:cNvSpPr>
            <a:spLocks xmlns:a="http://schemas.openxmlformats.org/drawingml/2006/main" noGrp="1"/>
          </p:cNvSpPr>
          <p:nvPr/>
        </p:nvSpPr>
        <p:spPr>
          <a:xfrm xmlns:a="http://schemas.openxmlformats.org/drawingml/2006/main">
            <a:off x="6229350" y="3286125"/>
            <a:ext cx="1638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811"/>
          </a:bodyPr>
          <a:lstStyle xmlns:a="http://schemas.openxmlformats.org/drawingml/2006/main"/>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one stateful session</a:t>
            </a:r>
          </a:p>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with one server</a:t>
            </a:r>
          </a:p>
        </p:txBody>
      </p:sp>
      <p:sp>
        <p:nvSpPr>
          <p:cNvPr id="12" name="">
            <a:extLst xmlns:a="http://schemas.openxmlformats.org/drawingml/2006/main">
              <a:ext uri="{FF2B5EF4-FFF2-40B4-BE49-F238E27FC236}">
                <a16:creationId xmlns:a16="http://schemas.microsoft.com/office/drawing/2014/main" id="{644219E1-99E9-45FF-B4DE-BF9DA9D83D5B}"/>
              </a:ext>
            </a:extLst>
          </p:cNvPr>
          <p:cNvSpPr>
            <a:spLocks xmlns:a="http://schemas.openxmlformats.org/drawingml/2006/main" noGrp="1"/>
          </p:cNvSpPr>
          <p:nvPr/>
        </p:nvSpPr>
        <p:spPr>
          <a:xfrm xmlns:a="http://schemas.openxmlformats.org/drawingml/2006/main">
            <a:off x="8953500" y="1809750"/>
            <a:ext cx="2476500" cy="3714750"/>
          </a:xfrm>
          <a:prstGeom xmlns:a="http://schemas.openxmlformats.org/drawingml/2006/main" prst="roundRect">
            <a:avLst>
              <a:gd name="adj" fmla="val 4615"/>
            </a:avLst>
          </a:prstGeom>
          <a:solidFill xmlns:a="http://schemas.openxmlformats.org/drawingml/2006/main">
            <a:srgbClr val="21295C"/>
          </a:solidFill>
          <a:ln xmlns:a="http://schemas.openxmlformats.org/drawingml/2006/main" w="19050">
            <a:solidFill>
              <a:srgbClr val="CFE8F0"/>
            </a:solidFill>
            <a:prstDash val="solid"/>
          </a:ln>
        </p:spPr>
      </p:sp>
      <p:sp>
        <p:nvSpPr>
          <p:cNvPr id="13" name="">
            <a:extLst xmlns:a="http://schemas.openxmlformats.org/drawingml/2006/main">
              <a:ext uri="{FF2B5EF4-FFF2-40B4-BE49-F238E27FC236}">
                <a16:creationId xmlns:a16="http://schemas.microsoft.com/office/drawing/2014/main" id="{CEB8A376-1FC8-4433-9EB9-C53130A448EE}"/>
              </a:ext>
            </a:extLst>
          </p:cNvPr>
          <p:cNvSpPr>
            <a:spLocks xmlns:a="http://schemas.openxmlformats.org/drawingml/2006/main" noGrp="1"/>
          </p:cNvSpPr>
          <p:nvPr/>
        </p:nvSpPr>
        <p:spPr>
          <a:xfrm xmlns:a="http://schemas.openxmlformats.org/drawingml/2006/main">
            <a:off x="9315450" y="2095500"/>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2250" b="1" i="0">
                <a:solidFill>
                  <a:srgbClr val="FFFFFF"/>
                </a:solidFill>
                <a:latin typeface="Courier New"/>
                <a:ea typeface="Courier New"/>
                <a:cs typeface="Courier New"/>
              </a:defRPr>
            </a:pPr>
            <a:r>
              <a:rPr sz="2250" b="1" i="0">
                <a:solidFill>
                  <a:srgbClr val="FFFFFF"/>
                </a:solidFill>
                <a:latin typeface="Courier New"/>
                <a:ea typeface="Courier New"/>
                <a:cs typeface="Courier New"/>
              </a:rPr>
              <a:t>SERVER</a:t>
            </a:r>
          </a:p>
        </p:txBody>
      </p:sp>
      <p:sp>
        <p:nvSpPr>
          <p:cNvPr id="14" name="">
            <a:extLst xmlns:a="http://schemas.openxmlformats.org/drawingml/2006/main">
              <a:ext uri="{FF2B5EF4-FFF2-40B4-BE49-F238E27FC236}">
                <a16:creationId xmlns:a16="http://schemas.microsoft.com/office/drawing/2014/main" id="{713B7AB2-203E-4F96-A562-E05A0C610C21}"/>
              </a:ext>
            </a:extLst>
          </p:cNvPr>
          <p:cNvSpPr>
            <a:spLocks xmlns:a="http://schemas.openxmlformats.org/drawingml/2006/main" noGrp="1"/>
          </p:cNvSpPr>
          <p:nvPr/>
        </p:nvSpPr>
        <p:spPr>
          <a:xfrm xmlns:a="http://schemas.openxmlformats.org/drawingml/2006/main">
            <a:off x="9239250" y="2952750"/>
            <a:ext cx="19240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chor="t">
            <a:normAutofit fontScale="93592"/>
          </a:bodyPr>
          <a:lstStyle xmlns:a="http://schemas.openxmlformats.org/drawingml/2006/main"/>
          <a:p xmlns:a="http://schemas.openxmlformats.org/drawingml/2006/main">
            <a:pPr marL="24" indent="-13">
              <a:lnSpc>
                <a:spcPct val="108000"/>
              </a:lnSpc>
              <a:spcAft>
                <a:spcPts val="13"/>
              </a:spcAft>
              <a:buNone/>
              <a:defRPr sz="1650">
                <a:solidFill>
                  <a:srgbClr val="FFFFFF"/>
                </a:solidFill>
                <a:latin typeface="Calibri"/>
                <a:ea typeface="Calibri"/>
                <a:cs typeface="Calibri"/>
              </a:defRPr>
            </a:pPr>
            <a:r>
              <a:rPr sz="1650">
                <a:solidFill>
                  <a:srgbClr val="FFFFFF"/>
                </a:solidFill>
                <a:latin typeface="Calibri"/>
                <a:ea typeface="Calibri"/>
                <a:cs typeface="Calibri"/>
              </a:rPr>
              <a:t>declares capabilities</a:t>
            </a:r>
          </a:p>
          <a:p xmlns:a="http://schemas.openxmlformats.org/drawingml/2006/main">
            <a:pPr marL="24" indent="-13">
              <a:lnSpc>
                <a:spcPct val="108000"/>
              </a:lnSpc>
              <a:spcAft>
                <a:spcPts val="13"/>
              </a:spcAft>
              <a:buNone/>
              <a:defRPr sz="1650">
                <a:solidFill>
                  <a:srgbClr val="FFFFFF"/>
                </a:solidFill>
                <a:latin typeface="Calibri"/>
                <a:ea typeface="Calibri"/>
                <a:cs typeface="Calibri"/>
              </a:defRPr>
            </a:pPr>
            <a:r>
              <a:rPr sz="1650">
                <a:solidFill>
                  <a:srgbClr val="FFFFFF"/>
                </a:solidFill>
                <a:latin typeface="Calibri"/>
                <a:ea typeface="Calibri"/>
                <a:cs typeface="Calibri"/>
              </a:rPr>
              <a:t>exposes focused primitives</a:t>
            </a:r>
          </a:p>
          <a:p xmlns:a="http://schemas.openxmlformats.org/drawingml/2006/main">
            <a:pPr marL="24" indent="-13">
              <a:lnSpc>
                <a:spcPct val="108000"/>
              </a:lnSpc>
              <a:spcAft>
                <a:spcPts val="13"/>
              </a:spcAft>
              <a:buNone/>
              <a:defRPr sz="1650">
                <a:solidFill>
                  <a:srgbClr val="FFFFFF"/>
                </a:solidFill>
                <a:latin typeface="Calibri"/>
                <a:ea typeface="Calibri"/>
                <a:cs typeface="Calibri"/>
              </a:defRPr>
            </a:pPr>
            <a:r>
              <a:rPr sz="1650">
                <a:solidFill>
                  <a:srgbClr val="FFFFFF"/>
                </a:solidFill>
                <a:latin typeface="Calibri"/>
                <a:ea typeface="Calibri"/>
                <a:cs typeface="Calibri"/>
              </a:rPr>
              <a:t>executes its own logic</a:t>
            </a:r>
          </a:p>
          <a:p xmlns:a="http://schemas.openxmlformats.org/drawingml/2006/main">
            <a:pPr marL="24" indent="-13">
              <a:lnSpc>
                <a:spcPct val="108000"/>
              </a:lnSpc>
              <a:spcAft>
                <a:spcPts val="13"/>
              </a:spcAft>
              <a:buNone/>
              <a:defRPr sz="1650">
                <a:solidFill>
                  <a:srgbClr val="FFFFFF"/>
                </a:solidFill>
                <a:latin typeface="Calibri"/>
                <a:ea typeface="Calibri"/>
                <a:cs typeface="Calibri"/>
              </a:defRPr>
            </a:pPr>
            <a:r>
              <a:rPr sz="1650">
                <a:solidFill>
                  <a:srgbClr val="FFFFFF"/>
                </a:solidFill>
                <a:latin typeface="Calibri"/>
                <a:ea typeface="Calibri"/>
                <a:cs typeface="Calibri"/>
              </a:rPr>
              <a:t>does not receive every host detail</a:t>
            </a:r>
          </a:p>
        </p:txBody>
      </p:sp>
      <p:cxnSp>
        <p:nvCxnSpPr>
          <p:cNvPr id="31" name=""/>
          <p:cNvCxnSpPr>
            <a:stCxn xmlns:a="http://schemas.openxmlformats.org/drawingml/2006/main" id="5" idx="3"/>
            <a:endCxn xmlns:a="http://schemas.openxmlformats.org/drawingml/2006/main" id="9" idx="1"/>
          </p:cNvCxnSpPr>
          <p:nvPr/>
        </p:nvCxnSpPr>
        <p:spPr>
          <a:xfrm xmlns:a="http://schemas.openxmlformats.org/drawingml/2006/main" flipV="1">
            <a:off x="5143500" y="3219450"/>
            <a:ext cx="762000" cy="447675"/>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cxnSp>
        <p:nvCxnSpPr>
          <p:cNvPr id="32" name=""/>
          <p:cNvCxnSpPr>
            <a:stCxn xmlns:a="http://schemas.openxmlformats.org/drawingml/2006/main" id="9" idx="3"/>
            <a:endCxn xmlns:a="http://schemas.openxmlformats.org/drawingml/2006/main" id="12" idx="1"/>
          </p:cNvCxnSpPr>
          <p:nvPr/>
        </p:nvCxnSpPr>
        <p:spPr>
          <a:xfrm xmlns:a="http://schemas.openxmlformats.org/drawingml/2006/main">
            <a:off x="8191500" y="3219450"/>
            <a:ext cx="762000" cy="447675"/>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Tree>
    <p:extLst>
      <p:ext uri="{BB962C8B-B14F-4D97-AF65-F5344CB8AC3E}">
        <p14:creationId xmlns:p14="http://schemas.microsoft.com/office/powerpoint/2010/main" val="9601238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89628B-23FF-456D-AAA2-59F35B54523D}"/>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MCP LAYERS</a:t>
            </a:r>
          </a:p>
        </p:txBody>
      </p:sp>
      <p:sp>
        <p:nvSpPr>
          <p:cNvPr id="2" name="">
            <a:extLst xmlns:a="http://schemas.openxmlformats.org/drawingml/2006/main">
              <a:ext uri="{FF2B5EF4-FFF2-40B4-BE49-F238E27FC236}">
                <a16:creationId xmlns:a16="http://schemas.microsoft.com/office/drawing/2014/main" id="{42881E0E-772B-4C41-849B-4B527120DAE3}"/>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MCP Has Data and Transport Layers</a:t>
            </a:r>
          </a:p>
        </p:txBody>
      </p:sp>
      <p:sp>
        <p:nvSpPr>
          <p:cNvPr id="3" name="">
            <a:extLst xmlns:a="http://schemas.openxmlformats.org/drawingml/2006/main">
              <a:ext uri="{FF2B5EF4-FFF2-40B4-BE49-F238E27FC236}">
                <a16:creationId xmlns:a16="http://schemas.microsoft.com/office/drawing/2014/main" id="{4B455761-5D12-4753-A9AB-0149101EAD81}"/>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17C1B76E-848D-42FD-B2E9-3636806649C7}"/>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14</a:t>
            </a:r>
          </a:p>
        </p:txBody>
      </p:sp>
      <p:sp>
        <p:nvSpPr>
          <p:cNvPr id="5" name="">
            <a:extLst xmlns:a="http://schemas.openxmlformats.org/drawingml/2006/main">
              <a:ext uri="{FF2B5EF4-FFF2-40B4-BE49-F238E27FC236}">
                <a16:creationId xmlns:a16="http://schemas.microsoft.com/office/drawing/2014/main" id="{B1048623-9D38-4DFA-B0DC-EFCFEAEED71E}"/>
              </a:ext>
            </a:extLst>
          </p:cNvPr>
          <p:cNvSpPr>
            <a:spLocks xmlns:a="http://schemas.openxmlformats.org/drawingml/2006/main" noGrp="1"/>
          </p:cNvSpPr>
          <p:nvPr/>
        </p:nvSpPr>
        <p:spPr>
          <a:xfrm xmlns:a="http://schemas.openxmlformats.org/drawingml/2006/main">
            <a:off x="781050" y="1790700"/>
            <a:ext cx="4953000" cy="3429000"/>
          </a:xfrm>
          <a:prstGeom xmlns:a="http://schemas.openxmlformats.org/drawingml/2006/main" prst="roundRect">
            <a:avLst>
              <a:gd name="adj" fmla="val 3333"/>
            </a:avLst>
          </a:prstGeom>
          <a:solidFill xmlns:a="http://schemas.openxmlformats.org/drawingml/2006/main">
            <a:srgbClr val="F2F8FA"/>
          </a:solidFill>
          <a:ln xmlns:a="http://schemas.openxmlformats.org/drawingml/2006/main" w="9525">
            <a:solidFill>
              <a:srgbClr val="F2F8FA"/>
            </a:solidFill>
            <a:prstDash val="solid"/>
          </a:ln>
        </p:spPr>
      </p:sp>
      <p:sp>
        <p:nvSpPr>
          <p:cNvPr id="6" name="">
            <a:extLst xmlns:a="http://schemas.openxmlformats.org/drawingml/2006/main">
              <a:ext uri="{FF2B5EF4-FFF2-40B4-BE49-F238E27FC236}">
                <a16:creationId xmlns:a16="http://schemas.microsoft.com/office/drawing/2014/main" id="{7B1BBA80-6B56-4510-8EF9-AE53985D225B}"/>
              </a:ext>
            </a:extLst>
          </p:cNvPr>
          <p:cNvSpPr>
            <a:spLocks xmlns:a="http://schemas.openxmlformats.org/drawingml/2006/main" noGrp="1"/>
          </p:cNvSpPr>
          <p:nvPr/>
        </p:nvSpPr>
        <p:spPr>
          <a:xfrm xmlns:a="http://schemas.openxmlformats.org/drawingml/2006/main">
            <a:off x="990600" y="19621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065A82"/>
                </a:solidFill>
                <a:latin typeface="Cambria"/>
                <a:ea typeface="Cambria"/>
                <a:cs typeface="Cambria"/>
              </a:defRPr>
            </a:pPr>
            <a:r>
              <a:rPr sz="2025" b="1" i="0">
                <a:solidFill>
                  <a:srgbClr val="065A82"/>
                </a:solidFill>
                <a:latin typeface="Cambria"/>
                <a:ea typeface="Cambria"/>
                <a:cs typeface="Cambria"/>
              </a:rPr>
              <a:t>DATA LAYER</a:t>
            </a:r>
          </a:p>
        </p:txBody>
      </p:sp>
      <p:sp>
        <p:nvSpPr>
          <p:cNvPr id="7" name="">
            <a:extLst xmlns:a="http://schemas.openxmlformats.org/drawingml/2006/main">
              <a:ext uri="{FF2B5EF4-FFF2-40B4-BE49-F238E27FC236}">
                <a16:creationId xmlns:a16="http://schemas.microsoft.com/office/drawing/2014/main" id="{5C914AA1-748C-4582-BDDE-3D5B3E701567}"/>
              </a:ext>
            </a:extLst>
          </p:cNvPr>
          <p:cNvSpPr>
            <a:spLocks xmlns:a="http://schemas.openxmlformats.org/drawingml/2006/main" noGrp="1"/>
          </p:cNvSpPr>
          <p:nvPr/>
        </p:nvSpPr>
        <p:spPr>
          <a:xfrm xmlns:a="http://schemas.openxmlformats.org/drawingml/2006/main">
            <a:off x="990600" y="2419350"/>
            <a:ext cx="4533900" cy="2609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JSON-RPC message shapes</a:t>
            </a:r>
          </a:p>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Lifecycle and capability negotiation</a:t>
            </a:r>
          </a:p>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Tools, resources, prompts</a:t>
            </a:r>
          </a:p>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Notifications and errors</a:t>
            </a:r>
          </a:p>
        </p:txBody>
      </p:sp>
      <p:sp>
        <p:nvSpPr>
          <p:cNvPr id="8" name="">
            <a:extLst xmlns:a="http://schemas.openxmlformats.org/drawingml/2006/main">
              <a:ext uri="{FF2B5EF4-FFF2-40B4-BE49-F238E27FC236}">
                <a16:creationId xmlns:a16="http://schemas.microsoft.com/office/drawing/2014/main" id="{1B520F6F-8727-4017-9AAE-F3EA8ACDBDE5}"/>
              </a:ext>
            </a:extLst>
          </p:cNvPr>
          <p:cNvSpPr>
            <a:spLocks xmlns:a="http://schemas.openxmlformats.org/drawingml/2006/main" noGrp="1"/>
          </p:cNvSpPr>
          <p:nvPr/>
        </p:nvSpPr>
        <p:spPr>
          <a:xfrm xmlns:a="http://schemas.openxmlformats.org/drawingml/2006/main">
            <a:off x="6457950" y="1790700"/>
            <a:ext cx="4953000" cy="3429000"/>
          </a:xfrm>
          <a:prstGeom xmlns:a="http://schemas.openxmlformats.org/drawingml/2006/main" prst="roundRect">
            <a:avLst>
              <a:gd name="adj" fmla="val 3333"/>
            </a:avLst>
          </a:prstGeom>
          <a:solidFill xmlns:a="http://schemas.openxmlformats.org/drawingml/2006/main">
            <a:srgbClr val="DDF4EF"/>
          </a:solidFill>
          <a:ln xmlns:a="http://schemas.openxmlformats.org/drawingml/2006/main" w="9525">
            <a:solidFill>
              <a:srgbClr val="DDF4EF"/>
            </a:solidFill>
            <a:prstDash val="solid"/>
          </a:ln>
        </p:spPr>
      </p:sp>
      <p:sp>
        <p:nvSpPr>
          <p:cNvPr id="9" name="">
            <a:extLst xmlns:a="http://schemas.openxmlformats.org/drawingml/2006/main">
              <a:ext uri="{FF2B5EF4-FFF2-40B4-BE49-F238E27FC236}">
                <a16:creationId xmlns:a16="http://schemas.microsoft.com/office/drawing/2014/main" id="{3FAFFE65-93E2-4E9A-82F2-E50FBAAC742C}"/>
              </a:ext>
            </a:extLst>
          </p:cNvPr>
          <p:cNvSpPr>
            <a:spLocks xmlns:a="http://schemas.openxmlformats.org/drawingml/2006/main" noGrp="1"/>
          </p:cNvSpPr>
          <p:nvPr/>
        </p:nvSpPr>
        <p:spPr>
          <a:xfrm xmlns:a="http://schemas.openxmlformats.org/drawingml/2006/main">
            <a:off x="6667500" y="19621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C7293"/>
                </a:solidFill>
                <a:latin typeface="Cambria"/>
                <a:ea typeface="Cambria"/>
                <a:cs typeface="Cambria"/>
              </a:defRPr>
            </a:pPr>
            <a:r>
              <a:rPr sz="2025" b="1" i="0">
                <a:solidFill>
                  <a:srgbClr val="1C7293"/>
                </a:solidFill>
                <a:latin typeface="Cambria"/>
                <a:ea typeface="Cambria"/>
                <a:cs typeface="Cambria"/>
              </a:rPr>
              <a:t>TRANSPORT LAYER</a:t>
            </a:r>
          </a:p>
        </p:txBody>
      </p:sp>
      <p:sp>
        <p:nvSpPr>
          <p:cNvPr id="10" name="">
            <a:extLst xmlns:a="http://schemas.openxmlformats.org/drawingml/2006/main">
              <a:ext uri="{FF2B5EF4-FFF2-40B4-BE49-F238E27FC236}">
                <a16:creationId xmlns:a16="http://schemas.microsoft.com/office/drawing/2014/main" id="{BEB84528-FA83-4937-8EC4-598D93AFC46F}"/>
              </a:ext>
            </a:extLst>
          </p:cNvPr>
          <p:cNvSpPr>
            <a:spLocks xmlns:a="http://schemas.openxmlformats.org/drawingml/2006/main" noGrp="1"/>
          </p:cNvSpPr>
          <p:nvPr/>
        </p:nvSpPr>
        <p:spPr>
          <a:xfrm xmlns:a="http://schemas.openxmlformats.org/drawingml/2006/main">
            <a:off x="6667500" y="2419350"/>
            <a:ext cx="4533900" cy="2609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Connection and framing</a:t>
            </a:r>
          </a:p>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Local stdio streams</a:t>
            </a:r>
          </a:p>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Remote Streamable HTTP</a:t>
            </a:r>
          </a:p>
          <a:p xmlns:a="http://schemas.openxmlformats.org/drawingml/2006/main">
            <a:pPr algn="l">
              <a:lnSpc>
                <a:spcPct val="105000"/>
              </a:lnSpc>
              <a:buNone/>
              <a:defRPr sz="1875" b="0" i="0">
                <a:solidFill>
                  <a:srgbClr val="1B2733"/>
                </a:solidFill>
                <a:latin typeface="Courier New"/>
                <a:ea typeface="Courier New"/>
                <a:cs typeface="Courier New"/>
              </a:defRPr>
            </a:pPr>
            <a:r>
              <a:rPr sz="1875" b="0" i="0">
                <a:solidFill>
                  <a:srgbClr val="1B2733"/>
                </a:solidFill>
                <a:latin typeface="Courier New"/>
                <a:ea typeface="Courier New"/>
                <a:cs typeface="Courier New"/>
              </a:rPr>
              <a:t>Authorization for networked use</a:t>
            </a:r>
          </a:p>
        </p:txBody>
      </p:sp>
      <p:sp>
        <p:nvSpPr>
          <p:cNvPr id="11" name="">
            <a:extLst xmlns:a="http://schemas.openxmlformats.org/drawingml/2006/main">
              <a:ext uri="{FF2B5EF4-FFF2-40B4-BE49-F238E27FC236}">
                <a16:creationId xmlns:a16="http://schemas.microsoft.com/office/drawing/2014/main" id="{C8A3F79B-D020-4DDD-BDBB-ED43054FF78E}"/>
              </a:ext>
            </a:extLst>
          </p:cNvPr>
          <p:cNvSpPr>
            <a:spLocks xmlns:a="http://schemas.openxmlformats.org/drawingml/2006/main" noGrp="1"/>
          </p:cNvSpPr>
          <p:nvPr/>
        </p:nvSpPr>
        <p:spPr>
          <a:xfrm xmlns:a="http://schemas.openxmlformats.org/drawingml/2006/main">
            <a:off x="1371600" y="5524500"/>
            <a:ext cx="9448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66880"/>
          </a:bodyPr>
          <a:lstStyle xmlns:a="http://schemas.openxmlformats.org/drawingml/2006/main"/>
          <a:p xmlns:a="http://schemas.openxmlformats.org/drawingml/2006/main">
            <a:pPr algn="ctr">
              <a:lnSpc>
                <a:spcPct val="100000"/>
              </a:lnSpc>
              <a:buNone/>
              <a:defRPr sz="2100" b="1" i="0">
                <a:solidFill>
                  <a:srgbClr val="0B2942"/>
                </a:solidFill>
                <a:latin typeface="Cambria"/>
                <a:ea typeface="Cambria"/>
                <a:cs typeface="Cambria"/>
              </a:defRPr>
            </a:pPr>
            <a:r>
              <a:rPr sz="2100" b="1" i="0">
                <a:solidFill>
                  <a:srgbClr val="0B2942"/>
                </a:solidFill>
                <a:latin typeface="Cambria"/>
                <a:ea typeface="Cambria"/>
                <a:cs typeface="Cambria"/>
              </a:rPr>
              <a:t>The same MCP method can travel over different transports; transport does not change the method's meaning.</a:t>
            </a:r>
          </a:p>
        </p:txBody>
      </p:sp>
    </p:spTree>
    <p:extLst>
      <p:ext uri="{BB962C8B-B14F-4D97-AF65-F5344CB8AC3E}">
        <p14:creationId xmlns:p14="http://schemas.microsoft.com/office/powerpoint/2010/main" val="1916123036"/>
      </p:ext>
    </p:extLst>
  </p:cSld>
</p:sld>
</file>

<file path=ppt/slides/slide15.xml><?xml version="1.0" encoding="utf-8"?>
<p:sld xmlns:p="http://schemas.openxmlformats.org/presentationml/2006/main">
  <p:cSld>
    <p:bg>
      <p:bgPr>
        <a:solidFill xmlns:a="http://schemas.openxmlformats.org/drawingml/2006/main">
          <a:srgbClr val="F2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57F5E46-069C-4EAF-A1C9-8E423677F680}"/>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MCP LIFECYCLE</a:t>
            </a:r>
          </a:p>
        </p:txBody>
      </p:sp>
      <p:sp>
        <p:nvSpPr>
          <p:cNvPr id="2" name="">
            <a:extLst xmlns:a="http://schemas.openxmlformats.org/drawingml/2006/main">
              <a:ext uri="{FF2B5EF4-FFF2-40B4-BE49-F238E27FC236}">
                <a16:creationId xmlns:a16="http://schemas.microsoft.com/office/drawing/2014/main" id="{D2D6B99D-4CE9-4E49-9F19-80A5355BDDB3}"/>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An MCP Session Negotiates Before It Calls</a:t>
            </a:r>
          </a:p>
        </p:txBody>
      </p:sp>
      <p:sp>
        <p:nvSpPr>
          <p:cNvPr id="3" name="">
            <a:extLst xmlns:a="http://schemas.openxmlformats.org/drawingml/2006/main">
              <a:ext uri="{FF2B5EF4-FFF2-40B4-BE49-F238E27FC236}">
                <a16:creationId xmlns:a16="http://schemas.microsoft.com/office/drawing/2014/main" id="{D6E93A75-ED65-43BF-868D-7C4FE260E5AC}"/>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3F30074C-80FB-48E8-BD94-3DF9976332AB}"/>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15</a:t>
            </a:r>
          </a:p>
        </p:txBody>
      </p:sp>
      <p:sp>
        <p:nvSpPr>
          <p:cNvPr id="5" name="">
            <a:extLst xmlns:a="http://schemas.openxmlformats.org/drawingml/2006/main">
              <a:ext uri="{FF2B5EF4-FFF2-40B4-BE49-F238E27FC236}">
                <a16:creationId xmlns:a16="http://schemas.microsoft.com/office/drawing/2014/main" id="{2167855A-F5B7-4041-8A6E-5F63AF7122B6}"/>
              </a:ext>
            </a:extLst>
          </p:cNvPr>
          <p:cNvSpPr>
            <a:spLocks xmlns:a="http://schemas.openxmlformats.org/drawingml/2006/main" noGrp="1"/>
          </p:cNvSpPr>
          <p:nvPr/>
        </p:nvSpPr>
        <p:spPr>
          <a:xfrm xmlns:a="http://schemas.openxmlformats.org/drawingml/2006/main">
            <a:off x="495300" y="2381250"/>
            <a:ext cx="2000250" cy="2190750"/>
          </a:xfrm>
          <a:prstGeom xmlns:a="http://schemas.openxmlformats.org/drawingml/2006/main" prst="roundRect">
            <a:avLst>
              <a:gd name="adj" fmla="val 5714"/>
            </a:avLst>
          </a:prstGeom>
          <a:solidFill xmlns:a="http://schemas.openxmlformats.org/drawingml/2006/main">
            <a:srgbClr val="065A82"/>
          </a:solidFill>
          <a:ln xmlns:a="http://schemas.openxmlformats.org/drawingml/2006/main" w="19050">
            <a:solidFill>
              <a:srgbClr val="065A82"/>
            </a:solidFill>
            <a:prstDash val="solid"/>
          </a:ln>
        </p:spPr>
      </p:sp>
      <p:sp>
        <p:nvSpPr>
          <p:cNvPr id="6" name="">
            <a:extLst xmlns:a="http://schemas.openxmlformats.org/drawingml/2006/main">
              <a:ext uri="{FF2B5EF4-FFF2-40B4-BE49-F238E27FC236}">
                <a16:creationId xmlns:a16="http://schemas.microsoft.com/office/drawing/2014/main" id="{7E822FFA-19A4-48A0-BDC7-AB595821F25F}"/>
              </a:ext>
            </a:extLst>
          </p:cNvPr>
          <p:cNvSpPr>
            <a:spLocks xmlns:a="http://schemas.openxmlformats.org/drawingml/2006/main" noGrp="1"/>
          </p:cNvSpPr>
          <p:nvPr/>
        </p:nvSpPr>
        <p:spPr>
          <a:xfrm xmlns:a="http://schemas.openxmlformats.org/drawingml/2006/main">
            <a:off x="647700" y="2571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956"/>
          </a:bodyPr>
          <a:lstStyle xmlns:a="http://schemas.openxmlformats.org/drawingml/2006/main"/>
          <a:p xmlns:a="http://schemas.openxmlformats.org/drawingml/2006/main">
            <a:pPr algn="l">
              <a:lnSpc>
                <a:spcPct val="100000"/>
              </a:lnSpc>
              <a:buNone/>
              <a:defRPr sz="1725" b="1" i="0">
                <a:solidFill>
                  <a:srgbClr val="F4C95D"/>
                </a:solidFill>
                <a:latin typeface="Courier New"/>
                <a:ea typeface="Courier New"/>
                <a:cs typeface="Courier New"/>
              </a:defRPr>
            </a:pPr>
            <a:r>
              <a:rPr sz="1725" b="1" i="0">
                <a:solidFill>
                  <a:srgbClr val="F4C95D"/>
                </a:solidFill>
                <a:latin typeface="Courier New"/>
                <a:ea typeface="Courier New"/>
                <a:cs typeface="Courier New"/>
              </a:rPr>
              <a:t>1</a:t>
            </a:r>
          </a:p>
        </p:txBody>
      </p:sp>
      <p:sp>
        <p:nvSpPr>
          <p:cNvPr id="7" name="">
            <a:extLst xmlns:a="http://schemas.openxmlformats.org/drawingml/2006/main">
              <a:ext uri="{FF2B5EF4-FFF2-40B4-BE49-F238E27FC236}">
                <a16:creationId xmlns:a16="http://schemas.microsoft.com/office/drawing/2014/main" id="{1FD66860-479E-41CE-AE83-0B48CD7088D0}"/>
              </a:ext>
            </a:extLst>
          </p:cNvPr>
          <p:cNvSpPr>
            <a:spLocks xmlns:a="http://schemas.openxmlformats.org/drawingml/2006/main" noGrp="1"/>
          </p:cNvSpPr>
          <p:nvPr/>
        </p:nvSpPr>
        <p:spPr>
          <a:xfrm xmlns:a="http://schemas.openxmlformats.org/drawingml/2006/main">
            <a:off x="666750" y="30670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4203"/>
          </a:bodyPr>
          <a:lstStyle xmlns:a="http://schemas.openxmlformats.org/drawingml/2006/main"/>
          <a:p xmlns:a="http://schemas.openxmlformats.org/drawingml/2006/main">
            <a:pPr algn="ctr">
              <a:lnSpc>
                <a:spcPct val="100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INITIALIZE</a:t>
            </a:r>
          </a:p>
        </p:txBody>
      </p:sp>
      <p:sp>
        <p:nvSpPr>
          <p:cNvPr id="8" name="">
            <a:extLst xmlns:a="http://schemas.openxmlformats.org/drawingml/2006/main">
              <a:ext uri="{FF2B5EF4-FFF2-40B4-BE49-F238E27FC236}">
                <a16:creationId xmlns:a16="http://schemas.microsoft.com/office/drawing/2014/main" id="{A93A9AF9-25B7-444F-8E8B-C20E505E0901}"/>
              </a:ext>
            </a:extLst>
          </p:cNvPr>
          <p:cNvSpPr>
            <a:spLocks xmlns:a="http://schemas.openxmlformats.org/drawingml/2006/main" noGrp="1"/>
          </p:cNvSpPr>
          <p:nvPr/>
        </p:nvSpPr>
        <p:spPr>
          <a:xfrm xmlns:a="http://schemas.openxmlformats.org/drawingml/2006/main">
            <a:off x="685800" y="363855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111"/>
          </a:bodyPr>
          <a:lstStyle xmlns:a="http://schemas.openxmlformats.org/drawingml/2006/main"/>
          <a:p xmlns:a="http://schemas.openxmlformats.org/drawingml/2006/main">
            <a:pPr algn="ctr">
              <a:lnSpc>
                <a:spcPct val="100000"/>
              </a:lnSpc>
              <a:buNone/>
              <a:defRPr sz="1500" b="0" i="0">
                <a:solidFill>
                  <a:srgbClr val="CFE8F0"/>
                </a:solidFill>
                <a:latin typeface="Calibri"/>
                <a:ea typeface="Calibri"/>
                <a:cs typeface="Calibri"/>
              </a:defRPr>
            </a:pPr>
            <a:r>
              <a:rPr sz="1500" b="0" i="0">
                <a:solidFill>
                  <a:srgbClr val="CFE8F0"/>
                </a:solidFill>
                <a:latin typeface="Calibri"/>
                <a:ea typeface="Calibri"/>
                <a:cs typeface="Calibri"/>
              </a:rPr>
              <a:t>exchange versions, identities, capabilities</a:t>
            </a:r>
          </a:p>
        </p:txBody>
      </p:sp>
      <p:sp>
        <p:nvSpPr>
          <p:cNvPr id="9" name="">
            <a:extLst xmlns:a="http://schemas.openxmlformats.org/drawingml/2006/main">
              <a:ext uri="{FF2B5EF4-FFF2-40B4-BE49-F238E27FC236}">
                <a16:creationId xmlns:a16="http://schemas.microsoft.com/office/drawing/2014/main" id="{DE9B75F2-486B-41C9-B569-AA102DE9DBAB}"/>
              </a:ext>
            </a:extLst>
          </p:cNvPr>
          <p:cNvSpPr>
            <a:spLocks xmlns:a="http://schemas.openxmlformats.org/drawingml/2006/main" noGrp="1"/>
          </p:cNvSpPr>
          <p:nvPr/>
        </p:nvSpPr>
        <p:spPr>
          <a:xfrm xmlns:a="http://schemas.openxmlformats.org/drawingml/2006/main">
            <a:off x="2857500" y="2381250"/>
            <a:ext cx="2000250" cy="21907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CFE8F0"/>
            </a:solidFill>
            <a:prstDash val="solid"/>
          </a:ln>
        </p:spPr>
      </p:sp>
      <p:sp>
        <p:nvSpPr>
          <p:cNvPr id="10" name="">
            <a:extLst xmlns:a="http://schemas.openxmlformats.org/drawingml/2006/main">
              <a:ext uri="{FF2B5EF4-FFF2-40B4-BE49-F238E27FC236}">
                <a16:creationId xmlns:a16="http://schemas.microsoft.com/office/drawing/2014/main" id="{57158515-A525-461C-A494-5F543DC7E14D}"/>
              </a:ext>
            </a:extLst>
          </p:cNvPr>
          <p:cNvSpPr>
            <a:spLocks xmlns:a="http://schemas.openxmlformats.org/drawingml/2006/main" noGrp="1"/>
          </p:cNvSpPr>
          <p:nvPr/>
        </p:nvSpPr>
        <p:spPr>
          <a:xfrm xmlns:a="http://schemas.openxmlformats.org/drawingml/2006/main">
            <a:off x="3009900" y="2571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956"/>
          </a:bodyPr>
          <a:lstStyle xmlns:a="http://schemas.openxmlformats.org/drawingml/2006/main"/>
          <a:p xmlns:a="http://schemas.openxmlformats.org/drawingml/2006/main">
            <a:pPr algn="l">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2</a:t>
            </a:r>
          </a:p>
        </p:txBody>
      </p:sp>
      <p:sp>
        <p:nvSpPr>
          <p:cNvPr id="11" name="">
            <a:extLst xmlns:a="http://schemas.openxmlformats.org/drawingml/2006/main">
              <a:ext uri="{FF2B5EF4-FFF2-40B4-BE49-F238E27FC236}">
                <a16:creationId xmlns:a16="http://schemas.microsoft.com/office/drawing/2014/main" id="{D2CE5F52-41CE-4686-BCDD-B216E8AB37A5}"/>
              </a:ext>
            </a:extLst>
          </p:cNvPr>
          <p:cNvSpPr>
            <a:spLocks xmlns:a="http://schemas.openxmlformats.org/drawingml/2006/main" noGrp="1"/>
          </p:cNvSpPr>
          <p:nvPr/>
        </p:nvSpPr>
        <p:spPr>
          <a:xfrm xmlns:a="http://schemas.openxmlformats.org/drawingml/2006/main">
            <a:off x="3028950" y="30670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4203"/>
          </a:bodyPr>
          <a:lstStyle xmlns:a="http://schemas.openxmlformats.org/drawingml/2006/main"/>
          <a:p xmlns:a="http://schemas.openxmlformats.org/drawingml/2006/main">
            <a:pPr algn="ctr">
              <a:lnSpc>
                <a:spcPct val="100000"/>
              </a:lnSpc>
              <a:buNone/>
              <a:defRPr sz="1725" b="1" i="0">
                <a:solidFill>
                  <a:srgbClr val="0B2942"/>
                </a:solidFill>
                <a:latin typeface="Courier New"/>
                <a:ea typeface="Courier New"/>
                <a:cs typeface="Courier New"/>
              </a:defRPr>
            </a:pPr>
            <a:r>
              <a:rPr sz="1725" b="1" i="0">
                <a:solidFill>
                  <a:srgbClr val="0B2942"/>
                </a:solidFill>
                <a:latin typeface="Courier New"/>
                <a:ea typeface="Courier New"/>
                <a:cs typeface="Courier New"/>
              </a:rPr>
              <a:t>READY</a:t>
            </a:r>
          </a:p>
        </p:txBody>
      </p:sp>
      <p:sp>
        <p:nvSpPr>
          <p:cNvPr id="12" name="">
            <a:extLst xmlns:a="http://schemas.openxmlformats.org/drawingml/2006/main">
              <a:ext uri="{FF2B5EF4-FFF2-40B4-BE49-F238E27FC236}">
                <a16:creationId xmlns:a16="http://schemas.microsoft.com/office/drawing/2014/main" id="{2BBA2E12-8D19-4BDB-9BB8-12BA6B3AC9FD}"/>
              </a:ext>
            </a:extLst>
          </p:cNvPr>
          <p:cNvSpPr>
            <a:spLocks xmlns:a="http://schemas.openxmlformats.org/drawingml/2006/main" noGrp="1"/>
          </p:cNvSpPr>
          <p:nvPr/>
        </p:nvSpPr>
        <p:spPr>
          <a:xfrm xmlns:a="http://schemas.openxmlformats.org/drawingml/2006/main">
            <a:off x="3048000" y="363855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382"/>
          </a:bodyPr>
          <a:lstStyle xmlns:a="http://schemas.openxmlformats.org/drawingml/2006/main"/>
          <a:p xmlns:a="http://schemas.openxmlformats.org/drawingml/2006/main">
            <a:pPr algn="ctr">
              <a:lnSpc>
                <a:spcPct val="100000"/>
              </a:lnSpc>
              <a:buNone/>
              <a:defRPr sz="1500" b="0" i="0">
                <a:solidFill>
                  <a:srgbClr val="5C7080"/>
                </a:solidFill>
                <a:latin typeface="Calibri"/>
                <a:ea typeface="Calibri"/>
                <a:cs typeface="Calibri"/>
              </a:defRPr>
            </a:pPr>
            <a:r>
              <a:rPr sz="1500" b="0" i="0">
                <a:solidFill>
                  <a:srgbClr val="5C7080"/>
                </a:solidFill>
                <a:latin typeface="Calibri"/>
                <a:ea typeface="Calibri"/>
                <a:cs typeface="Calibri"/>
              </a:rPr>
              <a:t>initialized notification completes setup</a:t>
            </a:r>
          </a:p>
        </p:txBody>
      </p:sp>
      <p:cxnSp>
        <p:nvCxnSpPr>
          <p:cNvPr id="42" name=""/>
          <p:cNvCxnSpPr>
            <a:stCxn xmlns:a="http://schemas.openxmlformats.org/drawingml/2006/main" id="5" idx="3"/>
            <a:endCxn xmlns:a="http://schemas.openxmlformats.org/drawingml/2006/main" id="9" idx="1"/>
          </p:cNvCxnSpPr>
          <p:nvPr/>
        </p:nvCxnSpPr>
        <p:spPr>
          <a:xfrm xmlns:a="http://schemas.openxmlformats.org/drawingml/2006/main">
            <a:off x="2495550" y="3476625"/>
            <a:ext cx="361950"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14" name="">
            <a:extLst xmlns:a="http://schemas.openxmlformats.org/drawingml/2006/main">
              <a:ext uri="{FF2B5EF4-FFF2-40B4-BE49-F238E27FC236}">
                <a16:creationId xmlns:a16="http://schemas.microsoft.com/office/drawing/2014/main" id="{D7F3E543-1302-45C5-98E0-D5C6916E35D5}"/>
              </a:ext>
            </a:extLst>
          </p:cNvPr>
          <p:cNvSpPr>
            <a:spLocks xmlns:a="http://schemas.openxmlformats.org/drawingml/2006/main" noGrp="1"/>
          </p:cNvSpPr>
          <p:nvPr/>
        </p:nvSpPr>
        <p:spPr>
          <a:xfrm xmlns:a="http://schemas.openxmlformats.org/drawingml/2006/main">
            <a:off x="5219700" y="2381250"/>
            <a:ext cx="2000250" cy="21907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CFE8F0"/>
            </a:solidFill>
            <a:prstDash val="solid"/>
          </a:ln>
        </p:spPr>
      </p:sp>
      <p:sp>
        <p:nvSpPr>
          <p:cNvPr id="15" name="">
            <a:extLst xmlns:a="http://schemas.openxmlformats.org/drawingml/2006/main">
              <a:ext uri="{FF2B5EF4-FFF2-40B4-BE49-F238E27FC236}">
                <a16:creationId xmlns:a16="http://schemas.microsoft.com/office/drawing/2014/main" id="{95AE15CF-2A57-4069-9D11-B4B73424F3E5}"/>
              </a:ext>
            </a:extLst>
          </p:cNvPr>
          <p:cNvSpPr>
            <a:spLocks xmlns:a="http://schemas.openxmlformats.org/drawingml/2006/main" noGrp="1"/>
          </p:cNvSpPr>
          <p:nvPr/>
        </p:nvSpPr>
        <p:spPr>
          <a:xfrm xmlns:a="http://schemas.openxmlformats.org/drawingml/2006/main">
            <a:off x="5372100" y="2571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956"/>
          </a:bodyPr>
          <a:lstStyle xmlns:a="http://schemas.openxmlformats.org/drawingml/2006/main"/>
          <a:p xmlns:a="http://schemas.openxmlformats.org/drawingml/2006/main">
            <a:pPr algn="l">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3</a:t>
            </a:r>
          </a:p>
        </p:txBody>
      </p:sp>
      <p:sp>
        <p:nvSpPr>
          <p:cNvPr id="16" name="">
            <a:extLst xmlns:a="http://schemas.openxmlformats.org/drawingml/2006/main">
              <a:ext uri="{FF2B5EF4-FFF2-40B4-BE49-F238E27FC236}">
                <a16:creationId xmlns:a16="http://schemas.microsoft.com/office/drawing/2014/main" id="{36615D6C-A3AC-4279-BABC-EB3E66DC78BF}"/>
              </a:ext>
            </a:extLst>
          </p:cNvPr>
          <p:cNvSpPr>
            <a:spLocks xmlns:a="http://schemas.openxmlformats.org/drawingml/2006/main" noGrp="1"/>
          </p:cNvSpPr>
          <p:nvPr/>
        </p:nvSpPr>
        <p:spPr>
          <a:xfrm xmlns:a="http://schemas.openxmlformats.org/drawingml/2006/main">
            <a:off x="5391150" y="30670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4203"/>
          </a:bodyPr>
          <a:lstStyle xmlns:a="http://schemas.openxmlformats.org/drawingml/2006/main"/>
          <a:p xmlns:a="http://schemas.openxmlformats.org/drawingml/2006/main">
            <a:pPr algn="ctr">
              <a:lnSpc>
                <a:spcPct val="100000"/>
              </a:lnSpc>
              <a:buNone/>
              <a:defRPr sz="1725" b="1" i="0">
                <a:solidFill>
                  <a:srgbClr val="0B2942"/>
                </a:solidFill>
                <a:latin typeface="Courier New"/>
                <a:ea typeface="Courier New"/>
                <a:cs typeface="Courier New"/>
              </a:defRPr>
            </a:pPr>
            <a:r>
              <a:rPr sz="1725" b="1" i="0">
                <a:solidFill>
                  <a:srgbClr val="0B2942"/>
                </a:solidFill>
                <a:latin typeface="Courier New"/>
                <a:ea typeface="Courier New"/>
                <a:cs typeface="Courier New"/>
              </a:rPr>
              <a:t>DISCOVER</a:t>
            </a:r>
          </a:p>
        </p:txBody>
      </p:sp>
      <p:sp>
        <p:nvSpPr>
          <p:cNvPr id="17" name="">
            <a:extLst xmlns:a="http://schemas.openxmlformats.org/drawingml/2006/main">
              <a:ext uri="{FF2B5EF4-FFF2-40B4-BE49-F238E27FC236}">
                <a16:creationId xmlns:a16="http://schemas.microsoft.com/office/drawing/2014/main" id="{57ED3555-4DD4-4777-8364-DFD81FC33CED}"/>
              </a:ext>
            </a:extLst>
          </p:cNvPr>
          <p:cNvSpPr>
            <a:spLocks xmlns:a="http://schemas.openxmlformats.org/drawingml/2006/main" noGrp="1"/>
          </p:cNvSpPr>
          <p:nvPr/>
        </p:nvSpPr>
        <p:spPr>
          <a:xfrm xmlns:a="http://schemas.openxmlformats.org/drawingml/2006/main">
            <a:off x="5410200" y="363855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111"/>
          </a:bodyPr>
          <a:lstStyle xmlns:a="http://schemas.openxmlformats.org/drawingml/2006/main"/>
          <a:p xmlns:a="http://schemas.openxmlformats.org/drawingml/2006/main">
            <a:pPr algn="ctr">
              <a:lnSpc>
                <a:spcPct val="100000"/>
              </a:lnSpc>
              <a:buNone/>
              <a:defRPr sz="1500" b="0" i="0">
                <a:solidFill>
                  <a:srgbClr val="5C7080"/>
                </a:solidFill>
                <a:latin typeface="Calibri"/>
                <a:ea typeface="Calibri"/>
                <a:cs typeface="Calibri"/>
              </a:defRPr>
            </a:pPr>
            <a:r>
              <a:rPr sz="1500" b="0" i="0">
                <a:solidFill>
                  <a:srgbClr val="5C7080"/>
                </a:solidFill>
                <a:latin typeface="Calibri"/>
                <a:ea typeface="Calibri"/>
                <a:cs typeface="Calibri"/>
              </a:rPr>
              <a:t>tools/list, resources/list, prompts/list</a:t>
            </a:r>
          </a:p>
        </p:txBody>
      </p:sp>
      <p:cxnSp>
        <p:nvCxnSpPr>
          <p:cNvPr id="47" name=""/>
          <p:cNvCxnSpPr>
            <a:stCxn xmlns:a="http://schemas.openxmlformats.org/drawingml/2006/main" id="9" idx="3"/>
            <a:endCxn xmlns:a="http://schemas.openxmlformats.org/drawingml/2006/main" id="14" idx="1"/>
          </p:cNvCxnSpPr>
          <p:nvPr/>
        </p:nvCxnSpPr>
        <p:spPr>
          <a:xfrm xmlns:a="http://schemas.openxmlformats.org/drawingml/2006/main">
            <a:off x="4857750" y="3476625"/>
            <a:ext cx="361950"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19" name="">
            <a:extLst xmlns:a="http://schemas.openxmlformats.org/drawingml/2006/main">
              <a:ext uri="{FF2B5EF4-FFF2-40B4-BE49-F238E27FC236}">
                <a16:creationId xmlns:a16="http://schemas.microsoft.com/office/drawing/2014/main" id="{2CECFBC9-BE2C-4B1C-A83A-46C58774FA13}"/>
              </a:ext>
            </a:extLst>
          </p:cNvPr>
          <p:cNvSpPr>
            <a:spLocks xmlns:a="http://schemas.openxmlformats.org/drawingml/2006/main" noGrp="1"/>
          </p:cNvSpPr>
          <p:nvPr/>
        </p:nvSpPr>
        <p:spPr>
          <a:xfrm xmlns:a="http://schemas.openxmlformats.org/drawingml/2006/main">
            <a:off x="7581900" y="2381250"/>
            <a:ext cx="2000250" cy="21907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CFE8F0"/>
            </a:solidFill>
            <a:prstDash val="solid"/>
          </a:ln>
        </p:spPr>
      </p:sp>
      <p:sp>
        <p:nvSpPr>
          <p:cNvPr id="20" name="">
            <a:extLst xmlns:a="http://schemas.openxmlformats.org/drawingml/2006/main">
              <a:ext uri="{FF2B5EF4-FFF2-40B4-BE49-F238E27FC236}">
                <a16:creationId xmlns:a16="http://schemas.microsoft.com/office/drawing/2014/main" id="{FA71B125-B780-4271-AACE-18D5DA327EEA}"/>
              </a:ext>
            </a:extLst>
          </p:cNvPr>
          <p:cNvSpPr>
            <a:spLocks xmlns:a="http://schemas.openxmlformats.org/drawingml/2006/main" noGrp="1"/>
          </p:cNvSpPr>
          <p:nvPr/>
        </p:nvSpPr>
        <p:spPr>
          <a:xfrm xmlns:a="http://schemas.openxmlformats.org/drawingml/2006/main">
            <a:off x="7734300" y="2571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956"/>
          </a:bodyPr>
          <a:lstStyle xmlns:a="http://schemas.openxmlformats.org/drawingml/2006/main"/>
          <a:p xmlns:a="http://schemas.openxmlformats.org/drawingml/2006/main">
            <a:pPr algn="l">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4</a:t>
            </a:r>
          </a:p>
        </p:txBody>
      </p:sp>
      <p:sp>
        <p:nvSpPr>
          <p:cNvPr id="21" name="">
            <a:extLst xmlns:a="http://schemas.openxmlformats.org/drawingml/2006/main">
              <a:ext uri="{FF2B5EF4-FFF2-40B4-BE49-F238E27FC236}">
                <a16:creationId xmlns:a16="http://schemas.microsoft.com/office/drawing/2014/main" id="{DE4B93AC-139C-4E8F-9266-43F28642F02D}"/>
              </a:ext>
            </a:extLst>
          </p:cNvPr>
          <p:cNvSpPr>
            <a:spLocks xmlns:a="http://schemas.openxmlformats.org/drawingml/2006/main" noGrp="1"/>
          </p:cNvSpPr>
          <p:nvPr/>
        </p:nvSpPr>
        <p:spPr>
          <a:xfrm xmlns:a="http://schemas.openxmlformats.org/drawingml/2006/main">
            <a:off x="7753350" y="30670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4203"/>
          </a:bodyPr>
          <a:lstStyle xmlns:a="http://schemas.openxmlformats.org/drawingml/2006/main"/>
          <a:p xmlns:a="http://schemas.openxmlformats.org/drawingml/2006/main">
            <a:pPr algn="ctr">
              <a:lnSpc>
                <a:spcPct val="100000"/>
              </a:lnSpc>
              <a:buNone/>
              <a:defRPr sz="1725" b="1" i="0">
                <a:solidFill>
                  <a:srgbClr val="0B2942"/>
                </a:solidFill>
                <a:latin typeface="Courier New"/>
                <a:ea typeface="Courier New"/>
                <a:cs typeface="Courier New"/>
              </a:defRPr>
            </a:pPr>
            <a:r>
              <a:rPr sz="1725" b="1" i="0">
                <a:solidFill>
                  <a:srgbClr val="0B2942"/>
                </a:solidFill>
                <a:latin typeface="Courier New"/>
                <a:ea typeface="Courier New"/>
                <a:cs typeface="Courier New"/>
              </a:rPr>
              <a:t>INVOKE</a:t>
            </a:r>
          </a:p>
        </p:txBody>
      </p:sp>
      <p:sp>
        <p:nvSpPr>
          <p:cNvPr id="22" name="">
            <a:extLst xmlns:a="http://schemas.openxmlformats.org/drawingml/2006/main">
              <a:ext uri="{FF2B5EF4-FFF2-40B4-BE49-F238E27FC236}">
                <a16:creationId xmlns:a16="http://schemas.microsoft.com/office/drawing/2014/main" id="{0B04802B-5A45-4E6D-8F4A-FF6DE003AAD3}"/>
              </a:ext>
            </a:extLst>
          </p:cNvPr>
          <p:cNvSpPr>
            <a:spLocks xmlns:a="http://schemas.openxmlformats.org/drawingml/2006/main" noGrp="1"/>
          </p:cNvSpPr>
          <p:nvPr/>
        </p:nvSpPr>
        <p:spPr>
          <a:xfrm xmlns:a="http://schemas.openxmlformats.org/drawingml/2006/main">
            <a:off x="7772400" y="363855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111"/>
          </a:bodyPr>
          <a:lstStyle xmlns:a="http://schemas.openxmlformats.org/drawingml/2006/main"/>
          <a:p xmlns:a="http://schemas.openxmlformats.org/drawingml/2006/main">
            <a:pPr algn="ctr">
              <a:lnSpc>
                <a:spcPct val="100000"/>
              </a:lnSpc>
              <a:buNone/>
              <a:defRPr sz="1500" b="0" i="0">
                <a:solidFill>
                  <a:srgbClr val="5C7080"/>
                </a:solidFill>
                <a:latin typeface="Calibri"/>
                <a:ea typeface="Calibri"/>
                <a:cs typeface="Calibri"/>
              </a:defRPr>
            </a:pPr>
            <a:r>
              <a:rPr sz="1500" b="0" i="0">
                <a:solidFill>
                  <a:srgbClr val="5C7080"/>
                </a:solidFill>
                <a:latin typeface="Calibri"/>
                <a:ea typeface="Calibri"/>
                <a:cs typeface="Calibri"/>
              </a:rPr>
              <a:t>tools/call or resource/prompt retrieval</a:t>
            </a:r>
          </a:p>
        </p:txBody>
      </p:sp>
      <p:cxnSp>
        <p:nvCxnSpPr>
          <p:cNvPr id="52" name=""/>
          <p:cNvCxnSpPr>
            <a:stCxn xmlns:a="http://schemas.openxmlformats.org/drawingml/2006/main" id="14" idx="3"/>
            <a:endCxn xmlns:a="http://schemas.openxmlformats.org/drawingml/2006/main" id="19" idx="1"/>
          </p:cNvCxnSpPr>
          <p:nvPr/>
        </p:nvCxnSpPr>
        <p:spPr>
          <a:xfrm xmlns:a="http://schemas.openxmlformats.org/drawingml/2006/main">
            <a:off x="7219950" y="3476625"/>
            <a:ext cx="361950"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24" name="">
            <a:extLst xmlns:a="http://schemas.openxmlformats.org/drawingml/2006/main">
              <a:ext uri="{FF2B5EF4-FFF2-40B4-BE49-F238E27FC236}">
                <a16:creationId xmlns:a16="http://schemas.microsoft.com/office/drawing/2014/main" id="{3EFB4F0A-9E91-4A0D-8D30-46AA28DB213E}"/>
              </a:ext>
            </a:extLst>
          </p:cNvPr>
          <p:cNvSpPr>
            <a:spLocks xmlns:a="http://schemas.openxmlformats.org/drawingml/2006/main" noGrp="1"/>
          </p:cNvSpPr>
          <p:nvPr/>
        </p:nvSpPr>
        <p:spPr>
          <a:xfrm xmlns:a="http://schemas.openxmlformats.org/drawingml/2006/main">
            <a:off x="9944100" y="2381250"/>
            <a:ext cx="2000250" cy="21907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CFE8F0"/>
            </a:solidFill>
            <a:prstDash val="solid"/>
          </a:ln>
        </p:spPr>
      </p:sp>
      <p:sp>
        <p:nvSpPr>
          <p:cNvPr id="25" name="">
            <a:extLst xmlns:a="http://schemas.openxmlformats.org/drawingml/2006/main">
              <a:ext uri="{FF2B5EF4-FFF2-40B4-BE49-F238E27FC236}">
                <a16:creationId xmlns:a16="http://schemas.microsoft.com/office/drawing/2014/main" id="{CD320B3F-62AA-4200-9523-3559EB7E8CDA}"/>
              </a:ext>
            </a:extLst>
          </p:cNvPr>
          <p:cNvSpPr>
            <a:spLocks xmlns:a="http://schemas.openxmlformats.org/drawingml/2006/main" noGrp="1"/>
          </p:cNvSpPr>
          <p:nvPr/>
        </p:nvSpPr>
        <p:spPr>
          <a:xfrm xmlns:a="http://schemas.openxmlformats.org/drawingml/2006/main">
            <a:off x="10096500" y="2571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956"/>
          </a:bodyPr>
          <a:lstStyle xmlns:a="http://schemas.openxmlformats.org/drawingml/2006/main"/>
          <a:p xmlns:a="http://schemas.openxmlformats.org/drawingml/2006/main">
            <a:pPr algn="l">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5</a:t>
            </a:r>
          </a:p>
        </p:txBody>
      </p:sp>
      <p:sp>
        <p:nvSpPr>
          <p:cNvPr id="26" name="">
            <a:extLst xmlns:a="http://schemas.openxmlformats.org/drawingml/2006/main">
              <a:ext uri="{FF2B5EF4-FFF2-40B4-BE49-F238E27FC236}">
                <a16:creationId xmlns:a16="http://schemas.microsoft.com/office/drawing/2014/main" id="{98F94D33-302F-45A7-A2D7-78DBF741F6C2}"/>
              </a:ext>
            </a:extLst>
          </p:cNvPr>
          <p:cNvSpPr>
            <a:spLocks xmlns:a="http://schemas.openxmlformats.org/drawingml/2006/main" noGrp="1"/>
          </p:cNvSpPr>
          <p:nvPr/>
        </p:nvSpPr>
        <p:spPr>
          <a:xfrm xmlns:a="http://schemas.openxmlformats.org/drawingml/2006/main">
            <a:off x="10115550" y="30670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4203"/>
          </a:bodyPr>
          <a:lstStyle xmlns:a="http://schemas.openxmlformats.org/drawingml/2006/main"/>
          <a:p xmlns:a="http://schemas.openxmlformats.org/drawingml/2006/main">
            <a:pPr algn="ctr">
              <a:lnSpc>
                <a:spcPct val="100000"/>
              </a:lnSpc>
              <a:buNone/>
              <a:defRPr sz="1725" b="1" i="0">
                <a:solidFill>
                  <a:srgbClr val="0B2942"/>
                </a:solidFill>
                <a:latin typeface="Courier New"/>
                <a:ea typeface="Courier New"/>
                <a:cs typeface="Courier New"/>
              </a:defRPr>
            </a:pPr>
            <a:r>
              <a:rPr sz="1725" b="1" i="0">
                <a:solidFill>
                  <a:srgbClr val="0B2942"/>
                </a:solidFill>
                <a:latin typeface="Courier New"/>
                <a:ea typeface="Courier New"/>
                <a:cs typeface="Courier New"/>
              </a:rPr>
              <a:t>RESULT</a:t>
            </a:r>
          </a:p>
        </p:txBody>
      </p:sp>
      <p:sp>
        <p:nvSpPr>
          <p:cNvPr id="27" name="">
            <a:extLst xmlns:a="http://schemas.openxmlformats.org/drawingml/2006/main">
              <a:ext uri="{FF2B5EF4-FFF2-40B4-BE49-F238E27FC236}">
                <a16:creationId xmlns:a16="http://schemas.microsoft.com/office/drawing/2014/main" id="{C5E9BE60-294C-42BF-B0A0-15622A32D036}"/>
              </a:ext>
            </a:extLst>
          </p:cNvPr>
          <p:cNvSpPr>
            <a:spLocks xmlns:a="http://schemas.openxmlformats.org/drawingml/2006/main" noGrp="1"/>
          </p:cNvSpPr>
          <p:nvPr/>
        </p:nvSpPr>
        <p:spPr>
          <a:xfrm xmlns:a="http://schemas.openxmlformats.org/drawingml/2006/main">
            <a:off x="10134600" y="363855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297"/>
          </a:bodyPr>
          <a:lstStyle xmlns:a="http://schemas.openxmlformats.org/drawingml/2006/main"/>
          <a:p xmlns:a="http://schemas.openxmlformats.org/drawingml/2006/main">
            <a:pPr algn="ctr">
              <a:lnSpc>
                <a:spcPct val="100000"/>
              </a:lnSpc>
              <a:buNone/>
              <a:defRPr sz="1500" b="0" i="0">
                <a:solidFill>
                  <a:srgbClr val="5C7080"/>
                </a:solidFill>
                <a:latin typeface="Calibri"/>
                <a:ea typeface="Calibri"/>
                <a:cs typeface="Calibri"/>
              </a:defRPr>
            </a:pPr>
            <a:r>
              <a:rPr sz="1500" b="0" i="0">
                <a:solidFill>
                  <a:srgbClr val="5C7080"/>
                </a:solidFill>
                <a:latin typeface="Calibri"/>
                <a:ea typeface="Calibri"/>
                <a:cs typeface="Calibri"/>
              </a:rPr>
              <a:t>structured success, content, or error</a:t>
            </a:r>
          </a:p>
        </p:txBody>
      </p:sp>
      <p:cxnSp>
        <p:nvCxnSpPr>
          <p:cNvPr id="57" name=""/>
          <p:cNvCxnSpPr>
            <a:stCxn xmlns:a="http://schemas.openxmlformats.org/drawingml/2006/main" id="19" idx="3"/>
            <a:endCxn xmlns:a="http://schemas.openxmlformats.org/drawingml/2006/main" id="24" idx="1"/>
          </p:cNvCxnSpPr>
          <p:nvPr/>
        </p:nvCxnSpPr>
        <p:spPr>
          <a:xfrm xmlns:a="http://schemas.openxmlformats.org/drawingml/2006/main">
            <a:off x="9582150" y="3476625"/>
            <a:ext cx="361950"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29" name="">
            <a:extLst xmlns:a="http://schemas.openxmlformats.org/drawingml/2006/main">
              <a:ext uri="{FF2B5EF4-FFF2-40B4-BE49-F238E27FC236}">
                <a16:creationId xmlns:a16="http://schemas.microsoft.com/office/drawing/2014/main" id="{450A85F4-2506-4301-9354-DF47A5BD3EA7}"/>
              </a:ext>
            </a:extLst>
          </p:cNvPr>
          <p:cNvSpPr>
            <a:spLocks xmlns:a="http://schemas.openxmlformats.org/drawingml/2006/main" noGrp="1"/>
          </p:cNvSpPr>
          <p:nvPr/>
        </p:nvSpPr>
        <p:spPr>
          <a:xfrm xmlns:a="http://schemas.openxmlformats.org/drawingml/2006/main">
            <a:off x="1390650" y="5219700"/>
            <a:ext cx="941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7381"/>
          </a:bodyPr>
          <a:lstStyle xmlns:a="http://schemas.openxmlformats.org/drawingml/2006/main"/>
          <a:p xmlns:a="http://schemas.openxmlformats.org/drawingml/2006/main">
            <a:pPr algn="ctr">
              <a:lnSpc>
                <a:spcPct val="100000"/>
              </a:lnSpc>
              <a:buNone/>
              <a:defRPr sz="2100" b="1" i="0">
                <a:solidFill>
                  <a:srgbClr val="0B2942"/>
                </a:solidFill>
                <a:latin typeface="Cambria"/>
                <a:ea typeface="Cambria"/>
                <a:cs typeface="Cambria"/>
              </a:defRPr>
            </a:pPr>
            <a:r>
              <a:rPr sz="2100" b="1" i="0">
                <a:solidFill>
                  <a:srgbClr val="0B2942"/>
                </a:solidFill>
                <a:latin typeface="Cambria"/>
                <a:ea typeface="Cambria"/>
                <a:cs typeface="Cambria"/>
              </a:rPr>
              <a:t>Capability negotiation prevents participants from assuming optional features that were never declared.</a:t>
            </a:r>
          </a:p>
        </p:txBody>
      </p:sp>
    </p:spTree>
    <p:extLst>
      <p:ext uri="{BB962C8B-B14F-4D97-AF65-F5344CB8AC3E}">
        <p14:creationId xmlns:p14="http://schemas.microsoft.com/office/powerpoint/2010/main" val="277351350"/>
      </p:ext>
    </p:extLst>
  </p:cSld>
</p:sld>
</file>

<file path=ppt/slides/slide16.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A0BAA75-65FC-4D3A-8E90-97343356861C}"/>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BACKGROUND · MCP PRIMITIVES</a:t>
            </a:r>
          </a:p>
        </p:txBody>
      </p:sp>
      <p:sp>
        <p:nvSpPr>
          <p:cNvPr id="2" name="">
            <a:extLst xmlns:a="http://schemas.openxmlformats.org/drawingml/2006/main">
              <a:ext uri="{FF2B5EF4-FFF2-40B4-BE49-F238E27FC236}">
                <a16:creationId xmlns:a16="http://schemas.microsoft.com/office/drawing/2014/main" id="{EB3C2DAD-3B8C-40DE-A213-C51912136EAC}"/>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MCP Primitives Assign Different Controllers</a:t>
            </a:r>
          </a:p>
        </p:txBody>
      </p:sp>
      <p:sp>
        <p:nvSpPr>
          <p:cNvPr id="3" name="">
            <a:extLst xmlns:a="http://schemas.openxmlformats.org/drawingml/2006/main">
              <a:ext uri="{FF2B5EF4-FFF2-40B4-BE49-F238E27FC236}">
                <a16:creationId xmlns:a16="http://schemas.microsoft.com/office/drawing/2014/main" id="{4A7EB699-9BF2-45D4-8DB4-DF3726A80215}"/>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19CC8AD1-C077-4464-9217-E950957B9BAB}"/>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16</a:t>
            </a:r>
          </a:p>
        </p:txBody>
      </p:sp>
      <p:sp>
        <p:nvSpPr>
          <p:cNvPr id="5" name="">
            <a:extLst xmlns:a="http://schemas.openxmlformats.org/drawingml/2006/main">
              <a:ext uri="{FF2B5EF4-FFF2-40B4-BE49-F238E27FC236}">
                <a16:creationId xmlns:a16="http://schemas.microsoft.com/office/drawing/2014/main" id="{6397BDBC-F052-4932-AEE2-6F4A4A41EFC9}"/>
              </a:ext>
            </a:extLst>
          </p:cNvPr>
          <p:cNvSpPr>
            <a:spLocks xmlns:a="http://schemas.openxmlformats.org/drawingml/2006/main" noGrp="1"/>
          </p:cNvSpPr>
          <p:nvPr/>
        </p:nvSpPr>
        <p:spPr>
          <a:xfrm xmlns:a="http://schemas.openxmlformats.org/drawingml/2006/main">
            <a:off x="952500" y="1714500"/>
            <a:ext cx="10287000" cy="1047750"/>
          </a:xfrm>
          <a:prstGeom xmlns:a="http://schemas.openxmlformats.org/drawingml/2006/main" prst="roundRect">
            <a:avLst>
              <a:gd name="adj" fmla="val 10909"/>
            </a:avLst>
          </a:prstGeom>
          <a:solidFill xmlns:a="http://schemas.openxmlformats.org/drawingml/2006/main">
            <a:srgbClr val="173F58"/>
          </a:solidFill>
          <a:ln xmlns:a="http://schemas.openxmlformats.org/drawingml/2006/main" w="19050">
            <a:solidFill>
              <a:srgbClr val="065A82"/>
            </a:solidFill>
            <a:prstDash val="solid"/>
          </a:ln>
        </p:spPr>
      </p:sp>
      <p:sp>
        <p:nvSpPr>
          <p:cNvPr id="6" name="">
            <a:extLst xmlns:a="http://schemas.openxmlformats.org/drawingml/2006/main">
              <a:ext uri="{FF2B5EF4-FFF2-40B4-BE49-F238E27FC236}">
                <a16:creationId xmlns:a16="http://schemas.microsoft.com/office/drawing/2014/main" id="{1DC864A1-3C97-456D-BE0A-88595B59305C}"/>
              </a:ext>
            </a:extLst>
          </p:cNvPr>
          <p:cNvSpPr>
            <a:spLocks xmlns:a="http://schemas.openxmlformats.org/drawingml/2006/main" noGrp="1"/>
          </p:cNvSpPr>
          <p:nvPr/>
        </p:nvSpPr>
        <p:spPr>
          <a:xfrm xmlns:a="http://schemas.openxmlformats.org/drawingml/2006/main">
            <a:off x="1200150" y="2076450"/>
            <a:ext cx="1809750" cy="323850"/>
          </a:xfrm>
          <a:prstGeom xmlns:a="http://schemas.openxmlformats.org/drawingml/2006/main" prst="roundRect">
            <a:avLst>
              <a:gd name="adj" fmla="val 50000"/>
            </a:avLst>
          </a:prstGeom>
          <a:solidFill xmlns:a="http://schemas.openxmlformats.org/drawingml/2006/main">
            <a:srgbClr val="065A82"/>
          </a:solidFill>
          <a:ln xmlns:a="http://schemas.openxmlformats.org/drawingml/2006/main" w="0">
            <a:solidFill>
              <a:srgbClr val="065A82"/>
            </a:solidFill>
            <a:prstDash val="solid"/>
          </a:ln>
        </p:spPr>
      </p:sp>
      <p:sp>
        <p:nvSpPr>
          <p:cNvPr id="7" name="">
            <a:extLst xmlns:a="http://schemas.openxmlformats.org/drawingml/2006/main">
              <a:ext uri="{FF2B5EF4-FFF2-40B4-BE49-F238E27FC236}">
                <a16:creationId xmlns:a16="http://schemas.microsoft.com/office/drawing/2014/main" id="{E2D1F12F-DF4F-4026-B5EC-0AD33A557707}"/>
              </a:ext>
            </a:extLst>
          </p:cNvPr>
          <p:cNvSpPr>
            <a:spLocks xmlns:a="http://schemas.openxmlformats.org/drawingml/2006/main" noGrp="1"/>
          </p:cNvSpPr>
          <p:nvPr/>
        </p:nvSpPr>
        <p:spPr>
          <a:xfrm xmlns:a="http://schemas.openxmlformats.org/drawingml/2006/main">
            <a:off x="1276350" y="212407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PROMPTS</a:t>
            </a:r>
          </a:p>
        </p:txBody>
      </p:sp>
      <p:sp>
        <p:nvSpPr>
          <p:cNvPr id="8" name="">
            <a:extLst xmlns:a="http://schemas.openxmlformats.org/drawingml/2006/main">
              <a:ext uri="{FF2B5EF4-FFF2-40B4-BE49-F238E27FC236}">
                <a16:creationId xmlns:a16="http://schemas.microsoft.com/office/drawing/2014/main" id="{90FE6FA9-7E60-4DB5-A6B3-39F12B97AC21}"/>
              </a:ext>
            </a:extLst>
          </p:cNvPr>
          <p:cNvSpPr>
            <a:spLocks xmlns:a="http://schemas.openxmlformats.org/drawingml/2006/main" noGrp="1"/>
          </p:cNvSpPr>
          <p:nvPr/>
        </p:nvSpPr>
        <p:spPr>
          <a:xfrm xmlns:a="http://schemas.openxmlformats.org/drawingml/2006/main">
            <a:off x="3429000" y="19526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1" i="0">
                <a:solidFill>
                  <a:srgbClr val="FFFFFF"/>
                </a:solidFill>
                <a:latin typeface="Courier New"/>
                <a:ea typeface="Courier New"/>
                <a:cs typeface="Courier New"/>
              </a:defRPr>
            </a:pPr>
            <a:r>
              <a:rPr sz="1575" b="1" i="0">
                <a:solidFill>
                  <a:srgbClr val="FFFFFF"/>
                </a:solidFill>
                <a:latin typeface="Courier New"/>
                <a:ea typeface="Courier New"/>
                <a:cs typeface="Courier New"/>
              </a:rPr>
              <a:t>user-controlled</a:t>
            </a:r>
          </a:p>
        </p:txBody>
      </p:sp>
      <p:sp>
        <p:nvSpPr>
          <p:cNvPr id="9" name="">
            <a:extLst xmlns:a="http://schemas.openxmlformats.org/drawingml/2006/main">
              <a:ext uri="{FF2B5EF4-FFF2-40B4-BE49-F238E27FC236}">
                <a16:creationId xmlns:a16="http://schemas.microsoft.com/office/drawing/2014/main" id="{929014A1-1E82-4541-878B-B7278ECFAB12}"/>
              </a:ext>
            </a:extLst>
          </p:cNvPr>
          <p:cNvSpPr>
            <a:spLocks xmlns:a="http://schemas.openxmlformats.org/drawingml/2006/main" noGrp="1"/>
          </p:cNvSpPr>
          <p:nvPr/>
        </p:nvSpPr>
        <p:spPr>
          <a:xfrm xmlns:a="http://schemas.openxmlformats.org/drawingml/2006/main">
            <a:off x="3429000" y="231457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9710"/>
          </a:bodyPr>
          <a:lstStyle xmlns:a="http://schemas.openxmlformats.org/drawingml/2006/main"/>
          <a:p xmlns:a="http://schemas.openxmlformats.org/drawingml/2006/main">
            <a:pPr algn="l">
              <a:lnSpc>
                <a:spcPct val="100000"/>
              </a:lnSpc>
              <a:buNone/>
              <a:defRPr sz="1725" b="0" i="0">
                <a:solidFill>
                  <a:srgbClr val="CFE8F0"/>
                </a:solidFill>
                <a:latin typeface="Calibri"/>
                <a:ea typeface="Calibri"/>
                <a:cs typeface="Calibri"/>
              </a:defRPr>
            </a:pPr>
            <a:r>
              <a:rPr sz="1725" b="0" i="0">
                <a:solidFill>
                  <a:srgbClr val="CFE8F0"/>
                </a:solidFill>
                <a:latin typeface="Calibri"/>
                <a:ea typeface="Calibri"/>
                <a:cs typeface="Calibri"/>
              </a:rPr>
              <a:t>reusable message templates chosen by the user</a:t>
            </a:r>
          </a:p>
        </p:txBody>
      </p:sp>
      <p:sp>
        <p:nvSpPr>
          <p:cNvPr id="10" name="">
            <a:extLst xmlns:a="http://schemas.openxmlformats.org/drawingml/2006/main">
              <a:ext uri="{FF2B5EF4-FFF2-40B4-BE49-F238E27FC236}">
                <a16:creationId xmlns:a16="http://schemas.microsoft.com/office/drawing/2014/main" id="{33A4B2D7-73DC-477B-8420-21ADC761B71E}"/>
              </a:ext>
            </a:extLst>
          </p:cNvPr>
          <p:cNvSpPr>
            <a:spLocks xmlns:a="http://schemas.openxmlformats.org/drawingml/2006/main" noGrp="1"/>
          </p:cNvSpPr>
          <p:nvPr/>
        </p:nvSpPr>
        <p:spPr>
          <a:xfrm xmlns:a="http://schemas.openxmlformats.org/drawingml/2006/main">
            <a:off x="952500" y="3067050"/>
            <a:ext cx="10287000" cy="1047750"/>
          </a:xfrm>
          <a:prstGeom xmlns:a="http://schemas.openxmlformats.org/drawingml/2006/main" prst="roundRect">
            <a:avLst>
              <a:gd name="adj" fmla="val 10909"/>
            </a:avLst>
          </a:prstGeom>
          <a:solidFill xmlns:a="http://schemas.openxmlformats.org/drawingml/2006/main">
            <a:srgbClr val="173F58"/>
          </a:solidFill>
          <a:ln xmlns:a="http://schemas.openxmlformats.org/drawingml/2006/main" w="19050">
            <a:solidFill>
              <a:srgbClr val="1C7293"/>
            </a:solidFill>
            <a:prstDash val="solid"/>
          </a:ln>
        </p:spPr>
      </p:sp>
      <p:sp>
        <p:nvSpPr>
          <p:cNvPr id="11" name="">
            <a:extLst xmlns:a="http://schemas.openxmlformats.org/drawingml/2006/main">
              <a:ext uri="{FF2B5EF4-FFF2-40B4-BE49-F238E27FC236}">
                <a16:creationId xmlns:a16="http://schemas.microsoft.com/office/drawing/2014/main" id="{57441CC5-8BE4-4A59-ABB9-38049BE413EE}"/>
              </a:ext>
            </a:extLst>
          </p:cNvPr>
          <p:cNvSpPr>
            <a:spLocks xmlns:a="http://schemas.openxmlformats.org/drawingml/2006/main" noGrp="1"/>
          </p:cNvSpPr>
          <p:nvPr/>
        </p:nvSpPr>
        <p:spPr>
          <a:xfrm xmlns:a="http://schemas.openxmlformats.org/drawingml/2006/main">
            <a:off x="1200150" y="3429000"/>
            <a:ext cx="1809750" cy="323850"/>
          </a:xfrm>
          <a:prstGeom xmlns:a="http://schemas.openxmlformats.org/drawingml/2006/main" prst="roundRect">
            <a:avLst>
              <a:gd name="adj" fmla="val 50000"/>
            </a:avLst>
          </a:prstGeom>
          <a:solidFill xmlns:a="http://schemas.openxmlformats.org/drawingml/2006/main">
            <a:srgbClr val="1C7293"/>
          </a:solidFill>
          <a:ln xmlns:a="http://schemas.openxmlformats.org/drawingml/2006/main" w="0">
            <a:solidFill>
              <a:srgbClr val="1C7293"/>
            </a:solidFill>
            <a:prstDash val="solid"/>
          </a:ln>
        </p:spPr>
      </p:sp>
      <p:sp>
        <p:nvSpPr>
          <p:cNvPr id="12" name="">
            <a:extLst xmlns:a="http://schemas.openxmlformats.org/drawingml/2006/main">
              <a:ext uri="{FF2B5EF4-FFF2-40B4-BE49-F238E27FC236}">
                <a16:creationId xmlns:a16="http://schemas.microsoft.com/office/drawing/2014/main" id="{1BF4498A-3591-400A-B2CA-AFB745749E67}"/>
              </a:ext>
            </a:extLst>
          </p:cNvPr>
          <p:cNvSpPr>
            <a:spLocks xmlns:a="http://schemas.openxmlformats.org/drawingml/2006/main" noGrp="1"/>
          </p:cNvSpPr>
          <p:nvPr/>
        </p:nvSpPr>
        <p:spPr>
          <a:xfrm xmlns:a="http://schemas.openxmlformats.org/drawingml/2006/main">
            <a:off x="1276350" y="347662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RESOURCES</a:t>
            </a:r>
          </a:p>
        </p:txBody>
      </p:sp>
      <p:sp>
        <p:nvSpPr>
          <p:cNvPr id="13" name="">
            <a:extLst xmlns:a="http://schemas.openxmlformats.org/drawingml/2006/main">
              <a:ext uri="{FF2B5EF4-FFF2-40B4-BE49-F238E27FC236}">
                <a16:creationId xmlns:a16="http://schemas.microsoft.com/office/drawing/2014/main" id="{4EB50FCE-E6D8-4B7D-9269-35B9B930FA9B}"/>
              </a:ext>
            </a:extLst>
          </p:cNvPr>
          <p:cNvSpPr>
            <a:spLocks xmlns:a="http://schemas.openxmlformats.org/drawingml/2006/main" noGrp="1"/>
          </p:cNvSpPr>
          <p:nvPr/>
        </p:nvSpPr>
        <p:spPr>
          <a:xfrm xmlns:a="http://schemas.openxmlformats.org/drawingml/2006/main">
            <a:off x="3429000" y="33051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1" i="0">
                <a:solidFill>
                  <a:srgbClr val="FFFFFF"/>
                </a:solidFill>
                <a:latin typeface="Courier New"/>
                <a:ea typeface="Courier New"/>
                <a:cs typeface="Courier New"/>
              </a:defRPr>
            </a:pPr>
            <a:r>
              <a:rPr sz="1575" b="1" i="0">
                <a:solidFill>
                  <a:srgbClr val="FFFFFF"/>
                </a:solidFill>
                <a:latin typeface="Courier New"/>
                <a:ea typeface="Courier New"/>
                <a:cs typeface="Courier New"/>
              </a:rPr>
              <a:t>application-controlled</a:t>
            </a:r>
          </a:p>
        </p:txBody>
      </p:sp>
      <p:sp>
        <p:nvSpPr>
          <p:cNvPr id="14" name="">
            <a:extLst xmlns:a="http://schemas.openxmlformats.org/drawingml/2006/main">
              <a:ext uri="{FF2B5EF4-FFF2-40B4-BE49-F238E27FC236}">
                <a16:creationId xmlns:a16="http://schemas.microsoft.com/office/drawing/2014/main" id="{05A913DF-0FE4-440B-9520-E14D013D2FBD}"/>
              </a:ext>
            </a:extLst>
          </p:cNvPr>
          <p:cNvSpPr>
            <a:spLocks xmlns:a="http://schemas.openxmlformats.org/drawingml/2006/main" noGrp="1"/>
          </p:cNvSpPr>
          <p:nvPr/>
        </p:nvSpPr>
        <p:spPr>
          <a:xfrm xmlns:a="http://schemas.openxmlformats.org/drawingml/2006/main">
            <a:off x="3429000" y="366712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9710"/>
          </a:bodyPr>
          <a:lstStyle xmlns:a="http://schemas.openxmlformats.org/drawingml/2006/main"/>
          <a:p xmlns:a="http://schemas.openxmlformats.org/drawingml/2006/main">
            <a:pPr algn="l">
              <a:lnSpc>
                <a:spcPct val="100000"/>
              </a:lnSpc>
              <a:buNone/>
              <a:defRPr sz="1725" b="0" i="0">
                <a:solidFill>
                  <a:srgbClr val="CFE8F0"/>
                </a:solidFill>
                <a:latin typeface="Calibri"/>
                <a:ea typeface="Calibri"/>
                <a:cs typeface="Calibri"/>
              </a:defRPr>
            </a:pPr>
            <a:r>
              <a:rPr sz="1725" b="0" i="0">
                <a:solidFill>
                  <a:srgbClr val="CFE8F0"/>
                </a:solidFill>
                <a:latin typeface="Calibri"/>
                <a:ea typeface="Calibri"/>
                <a:cs typeface="Calibri"/>
              </a:rPr>
              <a:t>context data the host attaches or reads</a:t>
            </a:r>
          </a:p>
        </p:txBody>
      </p:sp>
      <p:sp>
        <p:nvSpPr>
          <p:cNvPr id="15" name="">
            <a:extLst xmlns:a="http://schemas.openxmlformats.org/drawingml/2006/main">
              <a:ext uri="{FF2B5EF4-FFF2-40B4-BE49-F238E27FC236}">
                <a16:creationId xmlns:a16="http://schemas.microsoft.com/office/drawing/2014/main" id="{90AF0434-9032-49E8-8201-141136A04766}"/>
              </a:ext>
            </a:extLst>
          </p:cNvPr>
          <p:cNvSpPr>
            <a:spLocks xmlns:a="http://schemas.openxmlformats.org/drawingml/2006/main" noGrp="1"/>
          </p:cNvSpPr>
          <p:nvPr/>
        </p:nvSpPr>
        <p:spPr>
          <a:xfrm xmlns:a="http://schemas.openxmlformats.org/drawingml/2006/main">
            <a:off x="952500" y="4419600"/>
            <a:ext cx="10287000" cy="1047750"/>
          </a:xfrm>
          <a:prstGeom xmlns:a="http://schemas.openxmlformats.org/drawingml/2006/main" prst="roundRect">
            <a:avLst>
              <a:gd name="adj" fmla="val 10909"/>
            </a:avLst>
          </a:prstGeom>
          <a:solidFill xmlns:a="http://schemas.openxmlformats.org/drawingml/2006/main">
            <a:srgbClr val="173F58"/>
          </a:solidFill>
          <a:ln xmlns:a="http://schemas.openxmlformats.org/drawingml/2006/main" w="19050">
            <a:solidFill>
              <a:srgbClr val="21295C"/>
            </a:solidFill>
            <a:prstDash val="solid"/>
          </a:ln>
        </p:spPr>
      </p:sp>
      <p:sp>
        <p:nvSpPr>
          <p:cNvPr id="16" name="">
            <a:extLst xmlns:a="http://schemas.openxmlformats.org/drawingml/2006/main">
              <a:ext uri="{FF2B5EF4-FFF2-40B4-BE49-F238E27FC236}">
                <a16:creationId xmlns:a16="http://schemas.microsoft.com/office/drawing/2014/main" id="{ABEB4CD9-8F9D-450C-99E3-F298A5E8DD3F}"/>
              </a:ext>
            </a:extLst>
          </p:cNvPr>
          <p:cNvSpPr>
            <a:spLocks xmlns:a="http://schemas.openxmlformats.org/drawingml/2006/main" noGrp="1"/>
          </p:cNvSpPr>
          <p:nvPr/>
        </p:nvSpPr>
        <p:spPr>
          <a:xfrm xmlns:a="http://schemas.openxmlformats.org/drawingml/2006/main">
            <a:off x="1200150" y="4781550"/>
            <a:ext cx="1809750" cy="323850"/>
          </a:xfrm>
          <a:prstGeom xmlns:a="http://schemas.openxmlformats.org/drawingml/2006/main" prst="roundRect">
            <a:avLst>
              <a:gd name="adj" fmla="val 50000"/>
            </a:avLst>
          </a:prstGeom>
          <a:solidFill xmlns:a="http://schemas.openxmlformats.org/drawingml/2006/main">
            <a:srgbClr val="21295C"/>
          </a:solidFill>
          <a:ln xmlns:a="http://schemas.openxmlformats.org/drawingml/2006/main" w="0">
            <a:solidFill>
              <a:srgbClr val="21295C"/>
            </a:solidFill>
            <a:prstDash val="solid"/>
          </a:ln>
        </p:spPr>
      </p:sp>
      <p:sp>
        <p:nvSpPr>
          <p:cNvPr id="17" name="">
            <a:extLst xmlns:a="http://schemas.openxmlformats.org/drawingml/2006/main">
              <a:ext uri="{FF2B5EF4-FFF2-40B4-BE49-F238E27FC236}">
                <a16:creationId xmlns:a16="http://schemas.microsoft.com/office/drawing/2014/main" id="{EE90C43A-A862-4297-A845-15BAB0C6B936}"/>
              </a:ext>
            </a:extLst>
          </p:cNvPr>
          <p:cNvSpPr>
            <a:spLocks xmlns:a="http://schemas.openxmlformats.org/drawingml/2006/main" noGrp="1"/>
          </p:cNvSpPr>
          <p:nvPr/>
        </p:nvSpPr>
        <p:spPr>
          <a:xfrm xmlns:a="http://schemas.openxmlformats.org/drawingml/2006/main">
            <a:off x="1276350" y="482917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Courier New"/>
                <a:ea typeface="Courier New"/>
                <a:cs typeface="Courier New"/>
              </a:defRPr>
            </a:pPr>
            <a:r>
              <a:rPr sz="1275" b="1" i="0">
                <a:solidFill>
                  <a:srgbClr val="FFFFFF"/>
                </a:solidFill>
                <a:latin typeface="Courier New"/>
                <a:ea typeface="Courier New"/>
                <a:cs typeface="Courier New"/>
              </a:rPr>
              <a:t>TOOLS</a:t>
            </a:r>
          </a:p>
        </p:txBody>
      </p:sp>
      <p:sp>
        <p:nvSpPr>
          <p:cNvPr id="18" name="">
            <a:extLst xmlns:a="http://schemas.openxmlformats.org/drawingml/2006/main">
              <a:ext uri="{FF2B5EF4-FFF2-40B4-BE49-F238E27FC236}">
                <a16:creationId xmlns:a16="http://schemas.microsoft.com/office/drawing/2014/main" id="{678D26D5-0310-41C4-9425-A2B0BD0DBEFF}"/>
              </a:ext>
            </a:extLst>
          </p:cNvPr>
          <p:cNvSpPr>
            <a:spLocks xmlns:a="http://schemas.openxmlformats.org/drawingml/2006/main" noGrp="1"/>
          </p:cNvSpPr>
          <p:nvPr/>
        </p:nvSpPr>
        <p:spPr>
          <a:xfrm xmlns:a="http://schemas.openxmlformats.org/drawingml/2006/main">
            <a:off x="3429000" y="46577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1" i="0">
                <a:solidFill>
                  <a:srgbClr val="FFFFFF"/>
                </a:solidFill>
                <a:latin typeface="Courier New"/>
                <a:ea typeface="Courier New"/>
                <a:cs typeface="Courier New"/>
              </a:defRPr>
            </a:pPr>
            <a:r>
              <a:rPr sz="1575" b="1" i="0">
                <a:solidFill>
                  <a:srgbClr val="FFFFFF"/>
                </a:solidFill>
                <a:latin typeface="Courier New"/>
                <a:ea typeface="Courier New"/>
                <a:cs typeface="Courier New"/>
              </a:rPr>
              <a:t>model-controlled</a:t>
            </a:r>
          </a:p>
        </p:txBody>
      </p:sp>
      <p:sp>
        <p:nvSpPr>
          <p:cNvPr id="19" name="">
            <a:extLst xmlns:a="http://schemas.openxmlformats.org/drawingml/2006/main">
              <a:ext uri="{FF2B5EF4-FFF2-40B4-BE49-F238E27FC236}">
                <a16:creationId xmlns:a16="http://schemas.microsoft.com/office/drawing/2014/main" id="{114AB5C1-45AE-4677-A9C3-1049E532F6A0}"/>
              </a:ext>
            </a:extLst>
          </p:cNvPr>
          <p:cNvSpPr>
            <a:spLocks xmlns:a="http://schemas.openxmlformats.org/drawingml/2006/main" noGrp="1"/>
          </p:cNvSpPr>
          <p:nvPr/>
        </p:nvSpPr>
        <p:spPr>
          <a:xfrm xmlns:a="http://schemas.openxmlformats.org/drawingml/2006/main">
            <a:off x="3429000" y="501967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9710"/>
          </a:bodyPr>
          <a:lstStyle xmlns:a="http://schemas.openxmlformats.org/drawingml/2006/main"/>
          <a:p xmlns:a="http://schemas.openxmlformats.org/drawingml/2006/main">
            <a:pPr algn="l">
              <a:lnSpc>
                <a:spcPct val="100000"/>
              </a:lnSpc>
              <a:buNone/>
              <a:defRPr sz="1725" b="0" i="0">
                <a:solidFill>
                  <a:srgbClr val="CFE8F0"/>
                </a:solidFill>
                <a:latin typeface="Calibri"/>
                <a:ea typeface="Calibri"/>
                <a:cs typeface="Calibri"/>
              </a:defRPr>
            </a:pPr>
            <a:r>
              <a:rPr sz="1725" b="0" i="0">
                <a:solidFill>
                  <a:srgbClr val="CFE8F0"/>
                </a:solidFill>
                <a:latin typeface="Calibri"/>
                <a:ea typeface="Calibri"/>
                <a:cs typeface="Calibri"/>
              </a:rPr>
              <a:t>executable functions the model may request</a:t>
            </a:r>
          </a:p>
        </p:txBody>
      </p:sp>
      <p:sp>
        <p:nvSpPr>
          <p:cNvPr id="20" name="">
            <a:extLst xmlns:a="http://schemas.openxmlformats.org/drawingml/2006/main">
              <a:ext uri="{FF2B5EF4-FFF2-40B4-BE49-F238E27FC236}">
                <a16:creationId xmlns:a16="http://schemas.microsoft.com/office/drawing/2014/main" id="{C8F16D96-6178-4D01-8F00-DA69C9CAB992}"/>
              </a:ext>
            </a:extLst>
          </p:cNvPr>
          <p:cNvSpPr>
            <a:spLocks xmlns:a="http://schemas.openxmlformats.org/drawingml/2006/main" noGrp="1"/>
          </p:cNvSpPr>
          <p:nvPr/>
        </p:nvSpPr>
        <p:spPr>
          <a:xfrm xmlns:a="http://schemas.openxmlformats.org/drawingml/2006/main">
            <a:off x="1181100" y="5848350"/>
            <a:ext cx="982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4878"/>
          </a:bodyPr>
          <a:lstStyle xmlns:a="http://schemas.openxmlformats.org/drawingml/2006/main"/>
          <a:p xmlns:a="http://schemas.openxmlformats.org/drawingml/2006/main">
            <a:pPr algn="ctr">
              <a:lnSpc>
                <a:spcPct val="100000"/>
              </a:lnSpc>
              <a:buNone/>
              <a:defRPr sz="1875" b="1" i="0">
                <a:solidFill>
                  <a:srgbClr val="F4C95D"/>
                </a:solidFill>
                <a:latin typeface="Calibri"/>
                <a:ea typeface="Calibri"/>
                <a:cs typeface="Calibri"/>
              </a:defRPr>
            </a:pPr>
            <a:r>
              <a:rPr sz="1875" b="1" i="0">
                <a:solidFill>
                  <a:srgbClr val="F4C95D"/>
                </a:solidFill>
                <a:latin typeface="Calibri"/>
                <a:ea typeface="Calibri"/>
                <a:cs typeface="Calibri"/>
              </a:rPr>
              <a:t>“Model-controlled” means the model can request a tool; it does not remove host authorization or server validation.</a:t>
            </a:r>
          </a:p>
        </p:txBody>
      </p:sp>
    </p:spTree>
    <p:extLst>
      <p:ext uri="{BB962C8B-B14F-4D97-AF65-F5344CB8AC3E}">
        <p14:creationId xmlns:p14="http://schemas.microsoft.com/office/powerpoint/2010/main" val="107471450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0DCCE0-8662-45E7-95A2-0AE469065F55}"/>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BACKGROUND · MCP TRUST BOUNDARY</a:t>
            </a:r>
          </a:p>
        </p:txBody>
      </p:sp>
      <p:sp>
        <p:nvSpPr>
          <p:cNvPr id="2" name="">
            <a:extLst xmlns:a="http://schemas.openxmlformats.org/drawingml/2006/main">
              <a:ext uri="{FF2B5EF4-FFF2-40B4-BE49-F238E27FC236}">
                <a16:creationId xmlns:a16="http://schemas.microsoft.com/office/drawing/2014/main" id="{EE75F1E1-22C8-4423-B994-DCB3BBC8AA1A}"/>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MCP Standardizes Access—not Orchestration</a:t>
            </a:r>
          </a:p>
        </p:txBody>
      </p:sp>
      <p:sp>
        <p:nvSpPr>
          <p:cNvPr id="3" name="">
            <a:extLst xmlns:a="http://schemas.openxmlformats.org/drawingml/2006/main">
              <a:ext uri="{FF2B5EF4-FFF2-40B4-BE49-F238E27FC236}">
                <a16:creationId xmlns:a16="http://schemas.microsoft.com/office/drawing/2014/main" id="{694D4667-941F-47AF-8DDF-E25FB62EC109}"/>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09C18B70-3271-4B10-899B-D1DBC5BB8FD4}"/>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17</a:t>
            </a:r>
          </a:p>
        </p:txBody>
      </p:sp>
      <p:sp>
        <p:nvSpPr>
          <p:cNvPr id="5" name="">
            <a:extLst xmlns:a="http://schemas.openxmlformats.org/drawingml/2006/main">
              <a:ext uri="{FF2B5EF4-FFF2-40B4-BE49-F238E27FC236}">
                <a16:creationId xmlns:a16="http://schemas.microsoft.com/office/drawing/2014/main" id="{CFC88149-F913-41D0-A766-9F726742B1DC}"/>
              </a:ext>
            </a:extLst>
          </p:cNvPr>
          <p:cNvSpPr>
            <a:spLocks xmlns:a="http://schemas.openxmlformats.org/drawingml/2006/main" noGrp="1"/>
          </p:cNvSpPr>
          <p:nvPr/>
        </p:nvSpPr>
        <p:spPr>
          <a:xfrm xmlns:a="http://schemas.openxmlformats.org/drawingml/2006/main">
            <a:off x="704850" y="1714500"/>
            <a:ext cx="4953000" cy="3476625"/>
          </a:xfrm>
          <a:prstGeom xmlns:a="http://schemas.openxmlformats.org/drawingml/2006/main" prst="roundRect">
            <a:avLst>
              <a:gd name="adj" fmla="val 3288"/>
            </a:avLst>
          </a:prstGeom>
          <a:solidFill xmlns:a="http://schemas.openxmlformats.org/drawingml/2006/main">
            <a:srgbClr val="DDF4EF"/>
          </a:solidFill>
          <a:ln xmlns:a="http://schemas.openxmlformats.org/drawingml/2006/main" w="9525">
            <a:solidFill>
              <a:srgbClr val="DDF4EF"/>
            </a:solidFill>
            <a:prstDash val="solid"/>
          </a:ln>
        </p:spPr>
      </p:sp>
      <p:sp>
        <p:nvSpPr>
          <p:cNvPr id="6" name="">
            <a:extLst xmlns:a="http://schemas.openxmlformats.org/drawingml/2006/main">
              <a:ext uri="{FF2B5EF4-FFF2-40B4-BE49-F238E27FC236}">
                <a16:creationId xmlns:a16="http://schemas.microsoft.com/office/drawing/2014/main" id="{1B2BCB66-4F1F-4AD2-98A0-9381E6D9F6E6}"/>
              </a:ext>
            </a:extLst>
          </p:cNvPr>
          <p:cNvSpPr>
            <a:spLocks xmlns:a="http://schemas.openxmlformats.org/drawingml/2006/main" noGrp="1"/>
          </p:cNvSpPr>
          <p:nvPr/>
        </p:nvSpPr>
        <p:spPr>
          <a:xfrm xmlns:a="http://schemas.openxmlformats.org/drawingml/2006/main">
            <a:off x="914400" y="18859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C7293"/>
                </a:solidFill>
                <a:latin typeface="Cambria"/>
                <a:ea typeface="Cambria"/>
                <a:cs typeface="Cambria"/>
              </a:defRPr>
            </a:pPr>
            <a:r>
              <a:rPr sz="2025" b="1" i="0">
                <a:solidFill>
                  <a:srgbClr val="1C7293"/>
                </a:solidFill>
                <a:latin typeface="Cambria"/>
                <a:ea typeface="Cambria"/>
                <a:cs typeface="Cambria"/>
              </a:rPr>
              <a:t>MCP DEFINES</a:t>
            </a:r>
          </a:p>
        </p:txBody>
      </p:sp>
      <p:sp>
        <p:nvSpPr>
          <p:cNvPr id="7" name="">
            <a:extLst xmlns:a="http://schemas.openxmlformats.org/drawingml/2006/main">
              <a:ext uri="{FF2B5EF4-FFF2-40B4-BE49-F238E27FC236}">
                <a16:creationId xmlns:a16="http://schemas.microsoft.com/office/drawing/2014/main" id="{94056952-CDD9-4A68-9412-FE31AEFF520F}"/>
              </a:ext>
            </a:extLst>
          </p:cNvPr>
          <p:cNvSpPr>
            <a:spLocks xmlns:a="http://schemas.openxmlformats.org/drawingml/2006/main" noGrp="1"/>
          </p:cNvSpPr>
          <p:nvPr/>
        </p:nvSpPr>
        <p:spPr>
          <a:xfrm xmlns:a="http://schemas.openxmlformats.org/drawingml/2006/main">
            <a:off x="914400" y="2343150"/>
            <a:ext cx="453390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 initialization and capability negotiation</a:t>
            </a:r>
          </a:p>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 primitive discovery</a:t>
            </a:r>
          </a:p>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 JSON-RPC methods and results</a:t>
            </a:r>
          </a:p>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 transport-compatible sessions</a:t>
            </a:r>
          </a:p>
        </p:txBody>
      </p:sp>
      <p:sp>
        <p:nvSpPr>
          <p:cNvPr id="8" name="">
            <a:extLst xmlns:a="http://schemas.openxmlformats.org/drawingml/2006/main">
              <a:ext uri="{FF2B5EF4-FFF2-40B4-BE49-F238E27FC236}">
                <a16:creationId xmlns:a16="http://schemas.microsoft.com/office/drawing/2014/main" id="{931A1DE9-009D-4FDF-A94B-6DC141ECA5D5}"/>
              </a:ext>
            </a:extLst>
          </p:cNvPr>
          <p:cNvSpPr>
            <a:spLocks xmlns:a="http://schemas.openxmlformats.org/drawingml/2006/main" noGrp="1"/>
          </p:cNvSpPr>
          <p:nvPr/>
        </p:nvSpPr>
        <p:spPr>
          <a:xfrm xmlns:a="http://schemas.openxmlformats.org/drawingml/2006/main">
            <a:off x="6534150" y="1714500"/>
            <a:ext cx="4953000" cy="3476625"/>
          </a:xfrm>
          <a:prstGeom xmlns:a="http://schemas.openxmlformats.org/drawingml/2006/main" prst="roundRect">
            <a:avLst>
              <a:gd name="adj" fmla="val 3288"/>
            </a:avLst>
          </a:prstGeom>
          <a:solidFill xmlns:a="http://schemas.openxmlformats.org/drawingml/2006/main">
            <a:srgbClr val="FFF1ED"/>
          </a:solidFill>
          <a:ln xmlns:a="http://schemas.openxmlformats.org/drawingml/2006/main" w="9525">
            <a:solidFill>
              <a:srgbClr val="FFF1ED"/>
            </a:solidFill>
            <a:prstDash val="solid"/>
          </a:ln>
        </p:spPr>
      </p:sp>
      <p:sp>
        <p:nvSpPr>
          <p:cNvPr id="9" name="">
            <a:extLst xmlns:a="http://schemas.openxmlformats.org/drawingml/2006/main">
              <a:ext uri="{FF2B5EF4-FFF2-40B4-BE49-F238E27FC236}">
                <a16:creationId xmlns:a16="http://schemas.microsoft.com/office/drawing/2014/main" id="{24BE1AE5-0CF0-4D10-AA8B-45EA6645177E}"/>
              </a:ext>
            </a:extLst>
          </p:cNvPr>
          <p:cNvSpPr>
            <a:spLocks xmlns:a="http://schemas.openxmlformats.org/drawingml/2006/main" noGrp="1"/>
          </p:cNvSpPr>
          <p:nvPr/>
        </p:nvSpPr>
        <p:spPr>
          <a:xfrm xmlns:a="http://schemas.openxmlformats.org/drawingml/2006/main">
            <a:off x="6743700" y="18859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E76F51"/>
                </a:solidFill>
                <a:latin typeface="Cambria"/>
                <a:ea typeface="Cambria"/>
                <a:cs typeface="Cambria"/>
              </a:defRPr>
            </a:pPr>
            <a:r>
              <a:rPr sz="2025" b="1" i="0">
                <a:solidFill>
                  <a:srgbClr val="E76F51"/>
                </a:solidFill>
                <a:latin typeface="Cambria"/>
                <a:ea typeface="Cambria"/>
                <a:cs typeface="Cambria"/>
              </a:rPr>
              <a:t>THE HOST STILL OWNS</a:t>
            </a:r>
          </a:p>
        </p:txBody>
      </p:sp>
      <p:sp>
        <p:nvSpPr>
          <p:cNvPr id="10" name="">
            <a:extLst xmlns:a="http://schemas.openxmlformats.org/drawingml/2006/main">
              <a:ext uri="{FF2B5EF4-FFF2-40B4-BE49-F238E27FC236}">
                <a16:creationId xmlns:a16="http://schemas.microsoft.com/office/drawing/2014/main" id="{B9F10867-B006-4BCC-BA2D-9B795A45878D}"/>
              </a:ext>
            </a:extLst>
          </p:cNvPr>
          <p:cNvSpPr>
            <a:spLocks xmlns:a="http://schemas.openxmlformats.org/drawingml/2006/main" noGrp="1"/>
          </p:cNvSpPr>
          <p:nvPr/>
        </p:nvSpPr>
        <p:spPr>
          <a:xfrm xmlns:a="http://schemas.openxmlformats.org/drawingml/2006/main">
            <a:off x="6743700" y="2343150"/>
            <a:ext cx="453390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 which servers may connect</a:t>
            </a:r>
          </a:p>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 what context crosses the boundary</a:t>
            </a:r>
          </a:p>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 approvals and permissions</a:t>
            </a:r>
          </a:p>
          <a:p xmlns:a="http://schemas.openxmlformats.org/drawingml/2006/main">
            <a:pPr algn="l">
              <a:lnSpc>
                <a:spcPct val="105000"/>
              </a:lnSpc>
              <a:buNone/>
              <a:defRPr sz="1875" b="0" i="0">
                <a:solidFill>
                  <a:srgbClr val="1B2733"/>
                </a:solidFill>
                <a:latin typeface="Calibri"/>
                <a:ea typeface="Calibri"/>
                <a:cs typeface="Calibri"/>
              </a:defRPr>
            </a:pPr>
            <a:r>
              <a:rPr sz="1875" b="0" i="0">
                <a:solidFill>
                  <a:srgbClr val="1B2733"/>
                </a:solidFill>
                <a:latin typeface="Calibri"/>
                <a:ea typeface="Calibri"/>
                <a:cs typeface="Calibri"/>
              </a:rPr>
              <a:t>• orchestration, stop policy, success criteria</a:t>
            </a:r>
          </a:p>
        </p:txBody>
      </p:sp>
      <p:sp>
        <p:nvSpPr>
          <p:cNvPr id="11" name="">
            <a:extLst xmlns:a="http://schemas.openxmlformats.org/drawingml/2006/main">
              <a:ext uri="{FF2B5EF4-FFF2-40B4-BE49-F238E27FC236}">
                <a16:creationId xmlns:a16="http://schemas.microsoft.com/office/drawing/2014/main" id="{6B58CD4E-CEB6-41EA-AC44-5C1DE7980C3F}"/>
              </a:ext>
            </a:extLst>
          </p:cNvPr>
          <p:cNvSpPr>
            <a:spLocks xmlns:a="http://schemas.openxmlformats.org/drawingml/2006/main" noGrp="1"/>
          </p:cNvSpPr>
          <p:nvPr/>
        </p:nvSpPr>
        <p:spPr>
          <a:xfrm xmlns:a="http://schemas.openxmlformats.org/drawingml/2006/main">
            <a:off x="1219200" y="5524500"/>
            <a:ext cx="9753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65866"/>
          </a:bodyPr>
          <a:lstStyle xmlns:a="http://schemas.openxmlformats.org/drawingml/2006/main"/>
          <a:p xmlns:a="http://schemas.openxmlformats.org/drawingml/2006/main">
            <a:pPr algn="ctr">
              <a:lnSpc>
                <a:spcPct val="100000"/>
              </a:lnSpc>
              <a:buNone/>
              <a:defRPr sz="2100" b="1" i="0">
                <a:solidFill>
                  <a:srgbClr val="0B2942"/>
                </a:solidFill>
                <a:latin typeface="Cambria"/>
                <a:ea typeface="Cambria"/>
                <a:cs typeface="Cambria"/>
              </a:defRPr>
            </a:pPr>
            <a:r>
              <a:rPr sz="2100" b="1" i="0">
                <a:solidFill>
                  <a:srgbClr val="0B2942"/>
                </a:solidFill>
                <a:latin typeface="Cambria"/>
                <a:ea typeface="Cambria"/>
                <a:cs typeface="Cambria"/>
              </a:rPr>
              <a:t>A protocol can make an unsafe capability interoperable. Safety still requires scoping, consent, validation, and audit.</a:t>
            </a:r>
          </a:p>
        </p:txBody>
      </p:sp>
    </p:spTree>
    <p:extLst>
      <p:ext uri="{BB962C8B-B14F-4D97-AF65-F5344CB8AC3E}">
        <p14:creationId xmlns:p14="http://schemas.microsoft.com/office/powerpoint/2010/main" val="911401505"/>
      </p:ext>
    </p:extLst>
  </p:cSld>
</p:sld>
</file>

<file path=ppt/slides/slide18.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4B73E99-7AEF-469C-AC1E-759A4B4D6BFD}"/>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BRIDGE · CONCEPTS → SOURCE</a:t>
            </a:r>
          </a:p>
        </p:txBody>
      </p:sp>
      <p:sp>
        <p:nvSpPr>
          <p:cNvPr id="2" name="">
            <a:extLst xmlns:a="http://schemas.openxmlformats.org/drawingml/2006/main">
              <a:ext uri="{FF2B5EF4-FFF2-40B4-BE49-F238E27FC236}">
                <a16:creationId xmlns:a16="http://schemas.microsoft.com/office/drawing/2014/main" id="{66DFECEF-094E-49DA-8F21-FCA1280E0C8E}"/>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327"/>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The Repository Makes Each Background Choice Concrete</a:t>
            </a:r>
          </a:p>
        </p:txBody>
      </p:sp>
      <p:sp>
        <p:nvSpPr>
          <p:cNvPr id="3" name="">
            <a:extLst xmlns:a="http://schemas.openxmlformats.org/drawingml/2006/main">
              <a:ext uri="{FF2B5EF4-FFF2-40B4-BE49-F238E27FC236}">
                <a16:creationId xmlns:a16="http://schemas.microsoft.com/office/drawing/2014/main" id="{42ED2922-02F2-40BE-92C1-1D2A03880EF3}"/>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120A707A-532E-4B9A-B010-11137D29E62A}"/>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18</a:t>
            </a:r>
          </a:p>
        </p:txBody>
      </p:sp>
      <p:sp>
        <p:nvSpPr>
          <p:cNvPr id="5" name="">
            <a:extLst xmlns:a="http://schemas.openxmlformats.org/drawingml/2006/main">
              <a:ext uri="{FF2B5EF4-FFF2-40B4-BE49-F238E27FC236}">
                <a16:creationId xmlns:a16="http://schemas.microsoft.com/office/drawing/2014/main" id="{956FCF23-1E87-47A0-B372-0AE1AA1263BB}"/>
              </a:ext>
            </a:extLst>
          </p:cNvPr>
          <p:cNvSpPr>
            <a:spLocks xmlns:a="http://schemas.openxmlformats.org/drawingml/2006/main" noGrp="1"/>
          </p:cNvSpPr>
          <p:nvPr/>
        </p:nvSpPr>
        <p:spPr>
          <a:xfrm xmlns:a="http://schemas.openxmlformats.org/drawingml/2006/main">
            <a:off x="857250" y="1619250"/>
            <a:ext cx="10477500" cy="876300"/>
          </a:xfrm>
          <a:prstGeom xmlns:a="http://schemas.openxmlformats.org/drawingml/2006/main" prst="roundRect">
            <a:avLst>
              <a:gd name="adj" fmla="val 13043"/>
            </a:avLst>
          </a:prstGeom>
          <a:solidFill xmlns:a="http://schemas.openxmlformats.org/drawingml/2006/main">
            <a:srgbClr val="123A55"/>
          </a:solidFill>
          <a:ln xmlns:a="http://schemas.openxmlformats.org/drawingml/2006/main" w="14288">
            <a:solidFill>
              <a:srgbClr val="065A82"/>
            </a:solidFill>
            <a:prstDash val="solid"/>
          </a:ln>
        </p:spPr>
      </p:sp>
      <p:sp>
        <p:nvSpPr>
          <p:cNvPr id="6" name="">
            <a:extLst xmlns:a="http://schemas.openxmlformats.org/drawingml/2006/main">
              <a:ext uri="{FF2B5EF4-FFF2-40B4-BE49-F238E27FC236}">
                <a16:creationId xmlns:a16="http://schemas.microsoft.com/office/drawing/2014/main" id="{290B7E68-3356-4236-9057-408B3141C9E3}"/>
              </a:ext>
            </a:extLst>
          </p:cNvPr>
          <p:cNvSpPr>
            <a:spLocks xmlns:a="http://schemas.openxmlformats.org/drawingml/2006/main" noGrp="1"/>
          </p:cNvSpPr>
          <p:nvPr/>
        </p:nvSpPr>
        <p:spPr>
          <a:xfrm xmlns:a="http://schemas.openxmlformats.org/drawingml/2006/main">
            <a:off x="1104900" y="18573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7176"/>
          </a:bodyPr>
          <a:lstStyle xmlns:a="http://schemas.openxmlformats.org/drawingml/2006/main"/>
          <a:p xmlns:a="http://schemas.openxmlformats.org/drawingml/2006/main">
            <a:pPr algn="l">
              <a:lnSpc>
                <a:spcPct val="100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TEXT · VECTOR · GRAPH</a:t>
            </a:r>
          </a:p>
        </p:txBody>
      </p:sp>
      <p:sp>
        <p:nvSpPr>
          <p:cNvPr id="7" name="">
            <a:extLst xmlns:a="http://schemas.openxmlformats.org/drawingml/2006/main">
              <a:ext uri="{FF2B5EF4-FFF2-40B4-BE49-F238E27FC236}">
                <a16:creationId xmlns:a16="http://schemas.microsoft.com/office/drawing/2014/main" id="{21610D1C-BD2D-44D6-BB37-4AB944F66CC2}"/>
              </a:ext>
            </a:extLst>
          </p:cNvPr>
          <p:cNvSpPr>
            <a:spLocks xmlns:a="http://schemas.openxmlformats.org/drawingml/2006/main" noGrp="1"/>
          </p:cNvSpPr>
          <p:nvPr/>
        </p:nvSpPr>
        <p:spPr>
          <a:xfrm xmlns:a="http://schemas.openxmlformats.org/drawingml/2006/main">
            <a:off x="4095750" y="1800225"/>
            <a:ext cx="523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800" b="0" i="0">
                <a:solidFill>
                  <a:srgbClr val="CFE8F0"/>
                </a:solidFill>
                <a:latin typeface="Calibri"/>
                <a:ea typeface="Calibri"/>
                <a:cs typeface="Calibri"/>
              </a:defRPr>
            </a:pPr>
            <a:r>
              <a:rPr sz="1800" b="0" i="0">
                <a:solidFill>
                  <a:srgbClr val="CFE8F0"/>
                </a:solidFill>
                <a:latin typeface="Calibri"/>
                <a:ea typeface="Calibri"/>
                <a:cs typeface="Calibri"/>
              </a:rPr>
              <a:t>Neo4j indexes plus typed entity relationships</a:t>
            </a:r>
          </a:p>
        </p:txBody>
      </p:sp>
      <p:sp>
        <p:nvSpPr>
          <p:cNvPr id="8" name="">
            <a:extLst xmlns:a="http://schemas.openxmlformats.org/drawingml/2006/main">
              <a:ext uri="{FF2B5EF4-FFF2-40B4-BE49-F238E27FC236}">
                <a16:creationId xmlns:a16="http://schemas.microsoft.com/office/drawing/2014/main" id="{AAC8D7B2-7BF5-4DB2-87EF-027089F07F5B}"/>
              </a:ext>
            </a:extLst>
          </p:cNvPr>
          <p:cNvSpPr>
            <a:spLocks xmlns:a="http://schemas.openxmlformats.org/drawingml/2006/main" noGrp="1"/>
          </p:cNvSpPr>
          <p:nvPr/>
        </p:nvSpPr>
        <p:spPr>
          <a:xfrm xmlns:a="http://schemas.openxmlformats.org/drawingml/2006/main">
            <a:off x="9525000" y="18859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593"/>
          </a:bodyPr>
          <a:lstStyle xmlns:a="http://schemas.openxmlformats.org/drawingml/2006/main"/>
          <a:p xmlns:a="http://schemas.openxmlformats.org/drawingml/2006/main">
            <a:pPr algn="r">
              <a:lnSpc>
                <a:spcPct val="100000"/>
              </a:lnSpc>
              <a:buNone/>
              <a:defRPr sz="1350" b="1" i="0">
                <a:solidFill>
                  <a:srgbClr val="F4C95D"/>
                </a:solidFill>
                <a:latin typeface="Courier New"/>
                <a:ea typeface="Courier New"/>
                <a:cs typeface="Courier New"/>
              </a:defRPr>
            </a:pPr>
            <a:r>
              <a:rPr sz="1350" b="1" i="0">
                <a:solidFill>
                  <a:srgbClr val="F4C95D"/>
                </a:solidFill>
                <a:latin typeface="Courier New"/>
                <a:ea typeface="Courier New"/>
                <a:cs typeface="Courier New"/>
              </a:rPr>
              <a:t>Slides 5–8</a:t>
            </a:r>
          </a:p>
        </p:txBody>
      </p:sp>
      <p:sp>
        <p:nvSpPr>
          <p:cNvPr id="9" name="">
            <a:extLst xmlns:a="http://schemas.openxmlformats.org/drawingml/2006/main">
              <a:ext uri="{FF2B5EF4-FFF2-40B4-BE49-F238E27FC236}">
                <a16:creationId xmlns:a16="http://schemas.microsoft.com/office/drawing/2014/main" id="{6621632F-B8B2-43EE-AA02-54C4EB3F0D42}"/>
              </a:ext>
            </a:extLst>
          </p:cNvPr>
          <p:cNvSpPr>
            <a:spLocks xmlns:a="http://schemas.openxmlformats.org/drawingml/2006/main" noGrp="1"/>
          </p:cNvSpPr>
          <p:nvPr/>
        </p:nvSpPr>
        <p:spPr>
          <a:xfrm xmlns:a="http://schemas.openxmlformats.org/drawingml/2006/main">
            <a:off x="857250" y="2724150"/>
            <a:ext cx="10477500" cy="876300"/>
          </a:xfrm>
          <a:prstGeom xmlns:a="http://schemas.openxmlformats.org/drawingml/2006/main" prst="roundRect">
            <a:avLst>
              <a:gd name="adj" fmla="val 13043"/>
            </a:avLst>
          </a:prstGeom>
          <a:solidFill xmlns:a="http://schemas.openxmlformats.org/drawingml/2006/main">
            <a:srgbClr val="173F58"/>
          </a:solidFill>
          <a:ln xmlns:a="http://schemas.openxmlformats.org/drawingml/2006/main" w="14288">
            <a:solidFill>
              <a:srgbClr val="065A82"/>
            </a:solidFill>
            <a:prstDash val="solid"/>
          </a:ln>
        </p:spPr>
      </p:sp>
      <p:sp>
        <p:nvSpPr>
          <p:cNvPr id="10" name="">
            <a:extLst xmlns:a="http://schemas.openxmlformats.org/drawingml/2006/main">
              <a:ext uri="{FF2B5EF4-FFF2-40B4-BE49-F238E27FC236}">
                <a16:creationId xmlns:a16="http://schemas.microsoft.com/office/drawing/2014/main" id="{24659DEA-4EBF-4054-A51E-5DC1D3CADCE6}"/>
              </a:ext>
            </a:extLst>
          </p:cNvPr>
          <p:cNvSpPr>
            <a:spLocks xmlns:a="http://schemas.openxmlformats.org/drawingml/2006/main" noGrp="1"/>
          </p:cNvSpPr>
          <p:nvPr/>
        </p:nvSpPr>
        <p:spPr>
          <a:xfrm xmlns:a="http://schemas.openxmlformats.org/drawingml/2006/main">
            <a:off x="1104900" y="29622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MEMORY LIFECYCLE</a:t>
            </a:r>
          </a:p>
        </p:txBody>
      </p:sp>
      <p:sp>
        <p:nvSpPr>
          <p:cNvPr id="11" name="">
            <a:extLst xmlns:a="http://schemas.openxmlformats.org/drawingml/2006/main">
              <a:ext uri="{FF2B5EF4-FFF2-40B4-BE49-F238E27FC236}">
                <a16:creationId xmlns:a16="http://schemas.microsoft.com/office/drawing/2014/main" id="{DFA4CF50-3A85-4A61-BF3A-F700FC35768E}"/>
              </a:ext>
            </a:extLst>
          </p:cNvPr>
          <p:cNvSpPr>
            <a:spLocks xmlns:a="http://schemas.openxmlformats.org/drawingml/2006/main" noGrp="1"/>
          </p:cNvSpPr>
          <p:nvPr/>
        </p:nvSpPr>
        <p:spPr>
          <a:xfrm xmlns:a="http://schemas.openxmlformats.org/drawingml/2006/main">
            <a:off x="4095750" y="2905125"/>
            <a:ext cx="523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8877"/>
          </a:bodyPr>
          <a:lstStyle xmlns:a="http://schemas.openxmlformats.org/drawingml/2006/main"/>
          <a:p xmlns:a="http://schemas.openxmlformats.org/drawingml/2006/main">
            <a:pPr algn="l">
              <a:lnSpc>
                <a:spcPct val="100000"/>
              </a:lnSpc>
              <a:buNone/>
              <a:defRPr sz="1800" b="0" i="0">
                <a:solidFill>
                  <a:srgbClr val="CFE8F0"/>
                </a:solidFill>
                <a:latin typeface="Calibri"/>
                <a:ea typeface="Calibri"/>
                <a:cs typeface="Calibri"/>
              </a:defRPr>
            </a:pPr>
            <a:r>
              <a:rPr sz="1800" b="0" i="0">
                <a:solidFill>
                  <a:srgbClr val="CFE8F0"/>
                </a:solidFill>
                <a:latin typeface="Calibri"/>
                <a:ea typeface="Calibri"/>
                <a:cs typeface="Calibri"/>
              </a:rPr>
              <a:t>extraction, resolution, consolidation, scoping, audit</a:t>
            </a:r>
          </a:p>
        </p:txBody>
      </p:sp>
      <p:sp>
        <p:nvSpPr>
          <p:cNvPr id="12" name="">
            <a:extLst xmlns:a="http://schemas.openxmlformats.org/drawingml/2006/main">
              <a:ext uri="{FF2B5EF4-FFF2-40B4-BE49-F238E27FC236}">
                <a16:creationId xmlns:a16="http://schemas.microsoft.com/office/drawing/2014/main" id="{5D847954-EFD3-4EA0-A38D-341F26CE4BB6}"/>
              </a:ext>
            </a:extLst>
          </p:cNvPr>
          <p:cNvSpPr>
            <a:spLocks xmlns:a="http://schemas.openxmlformats.org/drawingml/2006/main" noGrp="1"/>
          </p:cNvSpPr>
          <p:nvPr/>
        </p:nvSpPr>
        <p:spPr>
          <a:xfrm xmlns:a="http://schemas.openxmlformats.org/drawingml/2006/main">
            <a:off x="9525000" y="29908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593"/>
          </a:bodyPr>
          <a:lstStyle xmlns:a="http://schemas.openxmlformats.org/drawingml/2006/main"/>
          <a:p xmlns:a="http://schemas.openxmlformats.org/drawingml/2006/main">
            <a:pPr algn="r">
              <a:lnSpc>
                <a:spcPct val="100000"/>
              </a:lnSpc>
              <a:buNone/>
              <a:defRPr sz="1350" b="1" i="0">
                <a:solidFill>
                  <a:srgbClr val="F4C95D"/>
                </a:solidFill>
                <a:latin typeface="Courier New"/>
                <a:ea typeface="Courier New"/>
                <a:cs typeface="Courier New"/>
              </a:defRPr>
            </a:pPr>
            <a:r>
              <a:rPr sz="1350" b="1" i="0">
                <a:solidFill>
                  <a:srgbClr val="F4C95D"/>
                </a:solidFill>
                <a:latin typeface="Courier New"/>
                <a:ea typeface="Courier New"/>
                <a:cs typeface="Courier New"/>
              </a:rPr>
              <a:t>Slide 9</a:t>
            </a:r>
          </a:p>
        </p:txBody>
      </p:sp>
      <p:sp>
        <p:nvSpPr>
          <p:cNvPr id="13" name="">
            <a:extLst xmlns:a="http://schemas.openxmlformats.org/drawingml/2006/main">
              <a:ext uri="{FF2B5EF4-FFF2-40B4-BE49-F238E27FC236}">
                <a16:creationId xmlns:a16="http://schemas.microsoft.com/office/drawing/2014/main" id="{47915040-A574-4E36-A9E3-38AE9E5CAB53}"/>
              </a:ext>
            </a:extLst>
          </p:cNvPr>
          <p:cNvSpPr>
            <a:spLocks xmlns:a="http://schemas.openxmlformats.org/drawingml/2006/main" noGrp="1"/>
          </p:cNvSpPr>
          <p:nvPr/>
        </p:nvSpPr>
        <p:spPr>
          <a:xfrm xmlns:a="http://schemas.openxmlformats.org/drawingml/2006/main">
            <a:off x="857250" y="3829050"/>
            <a:ext cx="10477500" cy="876300"/>
          </a:xfrm>
          <a:prstGeom xmlns:a="http://schemas.openxmlformats.org/drawingml/2006/main" prst="roundRect">
            <a:avLst>
              <a:gd name="adj" fmla="val 13043"/>
            </a:avLst>
          </a:prstGeom>
          <a:solidFill xmlns:a="http://schemas.openxmlformats.org/drawingml/2006/main">
            <a:srgbClr val="123A55"/>
          </a:solidFill>
          <a:ln xmlns:a="http://schemas.openxmlformats.org/drawingml/2006/main" w="14288">
            <a:solidFill>
              <a:srgbClr val="065A82"/>
            </a:solidFill>
            <a:prstDash val="solid"/>
          </a:ln>
        </p:spPr>
      </p:sp>
      <p:sp>
        <p:nvSpPr>
          <p:cNvPr id="14" name="">
            <a:extLst xmlns:a="http://schemas.openxmlformats.org/drawingml/2006/main">
              <a:ext uri="{FF2B5EF4-FFF2-40B4-BE49-F238E27FC236}">
                <a16:creationId xmlns:a16="http://schemas.microsoft.com/office/drawing/2014/main" id="{57BA5AB4-9C50-4A30-9EF3-A17170AA94EF}"/>
              </a:ext>
            </a:extLst>
          </p:cNvPr>
          <p:cNvSpPr>
            <a:spLocks xmlns:a="http://schemas.openxmlformats.org/drawingml/2006/main" noGrp="1"/>
          </p:cNvSpPr>
          <p:nvPr/>
        </p:nvSpPr>
        <p:spPr>
          <a:xfrm xmlns:a="http://schemas.openxmlformats.org/drawingml/2006/main">
            <a:off x="1104900" y="40671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SDK</a:t>
            </a:r>
          </a:p>
        </p:txBody>
      </p:sp>
      <p:sp>
        <p:nvSpPr>
          <p:cNvPr id="15" name="">
            <a:extLst xmlns:a="http://schemas.openxmlformats.org/drawingml/2006/main">
              <a:ext uri="{FF2B5EF4-FFF2-40B4-BE49-F238E27FC236}">
                <a16:creationId xmlns:a16="http://schemas.microsoft.com/office/drawing/2014/main" id="{6F2F77BE-24A9-4103-BA05-243C6A8741E3}"/>
              </a:ext>
            </a:extLst>
          </p:cNvPr>
          <p:cNvSpPr>
            <a:spLocks xmlns:a="http://schemas.openxmlformats.org/drawingml/2006/main" noGrp="1"/>
          </p:cNvSpPr>
          <p:nvPr/>
        </p:nvSpPr>
        <p:spPr>
          <a:xfrm xmlns:a="http://schemas.openxmlformats.org/drawingml/2006/main">
            <a:off x="4095750" y="4010025"/>
            <a:ext cx="523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97640"/>
          </a:bodyPr>
          <a:lstStyle xmlns:a="http://schemas.openxmlformats.org/drawingml/2006/main"/>
          <a:p xmlns:a="http://schemas.openxmlformats.org/drawingml/2006/main">
            <a:pPr algn="l">
              <a:lnSpc>
                <a:spcPct val="100000"/>
              </a:lnSpc>
              <a:buNone/>
              <a:defRPr sz="1800" b="0" i="0">
                <a:solidFill>
                  <a:srgbClr val="CFE8F0"/>
                </a:solidFill>
                <a:latin typeface="Calibri"/>
                <a:ea typeface="Calibri"/>
                <a:cs typeface="Calibri"/>
              </a:defRPr>
            </a:pPr>
            <a:r>
              <a:rPr sz="1800" b="0" i="0">
                <a:solidFill>
                  <a:srgbClr val="CFE8F0"/>
                </a:solidFill>
                <a:latin typeface="Calibri"/>
                <a:ea typeface="Calibri"/>
                <a:cs typeface="Calibri"/>
              </a:rPr>
              <a:t>Python MemoryClient and TypeScript MemoryClient</a:t>
            </a:r>
          </a:p>
        </p:txBody>
      </p:sp>
      <p:sp>
        <p:nvSpPr>
          <p:cNvPr id="16" name="">
            <a:extLst xmlns:a="http://schemas.openxmlformats.org/drawingml/2006/main">
              <a:ext uri="{FF2B5EF4-FFF2-40B4-BE49-F238E27FC236}">
                <a16:creationId xmlns:a16="http://schemas.microsoft.com/office/drawing/2014/main" id="{BF1D8849-4BD2-488B-9291-D8283EACF532}"/>
              </a:ext>
            </a:extLst>
          </p:cNvPr>
          <p:cNvSpPr>
            <a:spLocks xmlns:a="http://schemas.openxmlformats.org/drawingml/2006/main" noGrp="1"/>
          </p:cNvSpPr>
          <p:nvPr/>
        </p:nvSpPr>
        <p:spPr>
          <a:xfrm xmlns:a="http://schemas.openxmlformats.org/drawingml/2006/main">
            <a:off x="9525000" y="40957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593"/>
          </a:bodyPr>
          <a:lstStyle xmlns:a="http://schemas.openxmlformats.org/drawingml/2006/main"/>
          <a:p xmlns:a="http://schemas.openxmlformats.org/drawingml/2006/main">
            <a:pPr algn="r">
              <a:lnSpc>
                <a:spcPct val="100000"/>
              </a:lnSpc>
              <a:buNone/>
              <a:defRPr sz="1350" b="1" i="0">
                <a:solidFill>
                  <a:srgbClr val="F4C95D"/>
                </a:solidFill>
                <a:latin typeface="Courier New"/>
                <a:ea typeface="Courier New"/>
                <a:cs typeface="Courier New"/>
              </a:defRPr>
            </a:pPr>
            <a:r>
              <a:rPr sz="1350" b="1" i="0">
                <a:solidFill>
                  <a:srgbClr val="F4C95D"/>
                </a:solidFill>
                <a:latin typeface="Courier New"/>
                <a:ea typeface="Courier New"/>
                <a:cs typeface="Courier New"/>
              </a:rPr>
              <a:t>Slides 10–12</a:t>
            </a:r>
          </a:p>
        </p:txBody>
      </p:sp>
      <p:sp>
        <p:nvSpPr>
          <p:cNvPr id="17" name="">
            <a:extLst xmlns:a="http://schemas.openxmlformats.org/drawingml/2006/main">
              <a:ext uri="{FF2B5EF4-FFF2-40B4-BE49-F238E27FC236}">
                <a16:creationId xmlns:a16="http://schemas.microsoft.com/office/drawing/2014/main" id="{B72AE854-3AA2-4D21-BF6D-796D6895AE1C}"/>
              </a:ext>
            </a:extLst>
          </p:cNvPr>
          <p:cNvSpPr>
            <a:spLocks xmlns:a="http://schemas.openxmlformats.org/drawingml/2006/main" noGrp="1"/>
          </p:cNvSpPr>
          <p:nvPr/>
        </p:nvSpPr>
        <p:spPr>
          <a:xfrm xmlns:a="http://schemas.openxmlformats.org/drawingml/2006/main">
            <a:off x="857250" y="4933950"/>
            <a:ext cx="10477500" cy="876300"/>
          </a:xfrm>
          <a:prstGeom xmlns:a="http://schemas.openxmlformats.org/drawingml/2006/main" prst="roundRect">
            <a:avLst>
              <a:gd name="adj" fmla="val 13043"/>
            </a:avLst>
          </a:prstGeom>
          <a:solidFill xmlns:a="http://schemas.openxmlformats.org/drawingml/2006/main">
            <a:srgbClr val="173F58"/>
          </a:solidFill>
          <a:ln xmlns:a="http://schemas.openxmlformats.org/drawingml/2006/main" w="14288">
            <a:solidFill>
              <a:srgbClr val="1C7293"/>
            </a:solidFill>
            <a:prstDash val="solid"/>
          </a:ln>
        </p:spPr>
      </p:sp>
      <p:sp>
        <p:nvSpPr>
          <p:cNvPr id="18" name="">
            <a:extLst xmlns:a="http://schemas.openxmlformats.org/drawingml/2006/main">
              <a:ext uri="{FF2B5EF4-FFF2-40B4-BE49-F238E27FC236}">
                <a16:creationId xmlns:a16="http://schemas.microsoft.com/office/drawing/2014/main" id="{284BFA37-AAD9-458B-8886-728B59592349}"/>
              </a:ext>
            </a:extLst>
          </p:cNvPr>
          <p:cNvSpPr>
            <a:spLocks xmlns:a="http://schemas.openxmlformats.org/drawingml/2006/main" noGrp="1"/>
          </p:cNvSpPr>
          <p:nvPr/>
        </p:nvSpPr>
        <p:spPr>
          <a:xfrm xmlns:a="http://schemas.openxmlformats.org/drawingml/2006/main">
            <a:off x="1104900" y="51720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MCP</a:t>
            </a:r>
          </a:p>
        </p:txBody>
      </p:sp>
      <p:sp>
        <p:nvSpPr>
          <p:cNvPr id="19" name="">
            <a:extLst xmlns:a="http://schemas.openxmlformats.org/drawingml/2006/main">
              <a:ext uri="{FF2B5EF4-FFF2-40B4-BE49-F238E27FC236}">
                <a16:creationId xmlns:a16="http://schemas.microsoft.com/office/drawing/2014/main" id="{2B935F73-F489-4C46-A0CC-8C44C8BAA4E8}"/>
              </a:ext>
            </a:extLst>
          </p:cNvPr>
          <p:cNvSpPr>
            <a:spLocks xmlns:a="http://schemas.openxmlformats.org/drawingml/2006/main" noGrp="1"/>
          </p:cNvSpPr>
          <p:nvPr/>
        </p:nvSpPr>
        <p:spPr>
          <a:xfrm xmlns:a="http://schemas.openxmlformats.org/drawingml/2006/main">
            <a:off x="4095750" y="5114925"/>
            <a:ext cx="523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86790"/>
          </a:bodyPr>
          <a:lstStyle xmlns:a="http://schemas.openxmlformats.org/drawingml/2006/main"/>
          <a:p xmlns:a="http://schemas.openxmlformats.org/drawingml/2006/main">
            <a:pPr algn="l">
              <a:lnSpc>
                <a:spcPct val="100000"/>
              </a:lnSpc>
              <a:buNone/>
              <a:defRPr sz="1800" b="0" i="0">
                <a:solidFill>
                  <a:srgbClr val="CFE8F0"/>
                </a:solidFill>
                <a:latin typeface="Calibri"/>
                <a:ea typeface="Calibri"/>
                <a:cs typeface="Calibri"/>
              </a:defRPr>
            </a:pPr>
            <a:r>
              <a:rPr sz="1800" b="0" i="0">
                <a:solidFill>
                  <a:srgbClr val="CFE8F0"/>
                </a:solidFill>
                <a:latin typeface="Calibri"/>
                <a:ea typeface="Calibri"/>
                <a:cs typeface="Calibri"/>
              </a:rPr>
              <a:t>server profiles register tools over the same memory model</a:t>
            </a:r>
          </a:p>
        </p:txBody>
      </p:sp>
      <p:sp>
        <p:nvSpPr>
          <p:cNvPr id="20" name="">
            <a:extLst xmlns:a="http://schemas.openxmlformats.org/drawingml/2006/main">
              <a:ext uri="{FF2B5EF4-FFF2-40B4-BE49-F238E27FC236}">
                <a16:creationId xmlns:a16="http://schemas.microsoft.com/office/drawing/2014/main" id="{7D4D8E71-4B5E-4FA7-A11E-FCCD3AC76D72}"/>
              </a:ext>
            </a:extLst>
          </p:cNvPr>
          <p:cNvSpPr>
            <a:spLocks xmlns:a="http://schemas.openxmlformats.org/drawingml/2006/main" noGrp="1"/>
          </p:cNvSpPr>
          <p:nvPr/>
        </p:nvSpPr>
        <p:spPr>
          <a:xfrm xmlns:a="http://schemas.openxmlformats.org/drawingml/2006/main">
            <a:off x="9525000" y="52006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593"/>
          </a:bodyPr>
          <a:lstStyle xmlns:a="http://schemas.openxmlformats.org/drawingml/2006/main"/>
          <a:p xmlns:a="http://schemas.openxmlformats.org/drawingml/2006/main">
            <a:pPr algn="r">
              <a:lnSpc>
                <a:spcPct val="100000"/>
              </a:lnSpc>
              <a:buNone/>
              <a:defRPr sz="1350" b="1" i="0">
                <a:solidFill>
                  <a:srgbClr val="F4C95D"/>
                </a:solidFill>
                <a:latin typeface="Courier New"/>
                <a:ea typeface="Courier New"/>
                <a:cs typeface="Courier New"/>
              </a:defRPr>
            </a:pPr>
            <a:r>
              <a:rPr sz="1350" b="1" i="0">
                <a:solidFill>
                  <a:srgbClr val="F4C95D"/>
                </a:solidFill>
                <a:latin typeface="Courier New"/>
                <a:ea typeface="Courier New"/>
                <a:cs typeface="Courier New"/>
              </a:rPr>
              <a:t>Slides 13–17</a:t>
            </a:r>
          </a:p>
        </p:txBody>
      </p:sp>
      <p:sp>
        <p:nvSpPr>
          <p:cNvPr id="21" name="">
            <a:extLst xmlns:a="http://schemas.openxmlformats.org/drawingml/2006/main">
              <a:ext uri="{FF2B5EF4-FFF2-40B4-BE49-F238E27FC236}">
                <a16:creationId xmlns:a16="http://schemas.microsoft.com/office/drawing/2014/main" id="{B58EE744-379F-4C19-B205-4F4457B89BA5}"/>
              </a:ext>
            </a:extLst>
          </p:cNvPr>
          <p:cNvSpPr>
            <a:spLocks xmlns:a="http://schemas.openxmlformats.org/drawingml/2006/main" noGrp="1"/>
          </p:cNvSpPr>
          <p:nvPr/>
        </p:nvSpPr>
        <p:spPr>
          <a:xfrm xmlns:a="http://schemas.openxmlformats.org/drawingml/2006/main">
            <a:off x="1371600" y="5905500"/>
            <a:ext cx="9448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3333"/>
          </a:bodyPr>
          <a:lstStyle xmlns:a="http://schemas.openxmlformats.org/drawingml/2006/main"/>
          <a:p xmlns:a="http://schemas.openxmlformats.org/drawingml/2006/main">
            <a:pPr algn="ctr">
              <a:lnSpc>
                <a:spcPct val="100000"/>
              </a:lnSpc>
              <a:buNone/>
              <a:defRPr sz="1875" b="1" i="0">
                <a:solidFill>
                  <a:srgbClr val="FFFFFF"/>
                </a:solidFill>
                <a:latin typeface="Calibri"/>
                <a:ea typeface="Calibri"/>
                <a:cs typeface="Calibri"/>
              </a:defRPr>
            </a:pPr>
            <a:r>
              <a:rPr sz="1875" b="1" i="0">
                <a:solidFill>
                  <a:srgbClr val="FFFFFF"/>
                </a:solidFill>
                <a:latin typeface="Calibri"/>
                <a:ea typeface="Calibri"/>
                <a:cs typeface="Calibri"/>
              </a:rPr>
              <a:t>From this slide onward, every mechanism is tied to a repository file, class, or function.</a:t>
            </a:r>
          </a:p>
        </p:txBody>
      </p:sp>
    </p:spTree>
    <p:extLst>
      <p:ext uri="{BB962C8B-B14F-4D97-AF65-F5344CB8AC3E}">
        <p14:creationId xmlns:p14="http://schemas.microsoft.com/office/powerpoint/2010/main" val="15713058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C0E2C4B-861D-4DFD-BED3-D4E187B9C805}"/>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9A00AB6D-E2BF-4245-BA3E-2E657EDCE1B6}"/>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Three Memory Types Share One Graph</a:t>
            </a:r>
          </a:p>
        </p:txBody>
      </p:sp>
      <p:sp>
        <p:nvSpPr>
          <p:cNvPr id="3" name="">
            <a:extLst xmlns:a="http://schemas.openxmlformats.org/drawingml/2006/main">
              <a:ext uri="{FF2B5EF4-FFF2-40B4-BE49-F238E27FC236}">
                <a16:creationId xmlns:a16="http://schemas.microsoft.com/office/drawing/2014/main" id="{A8208E6A-6C30-40A2-ADC7-59F8AD11A702}"/>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B7C3A3B3-D732-4FBB-8258-57D8FB6D305B}"/>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19</a:t>
            </a:r>
          </a:p>
        </p:txBody>
      </p:sp>
      <p:sp>
        <p:nvSpPr>
          <p:cNvPr id="5" name="">
            <a:extLst xmlns:a="http://schemas.openxmlformats.org/drawingml/2006/main">
              <a:ext uri="{FF2B5EF4-FFF2-40B4-BE49-F238E27FC236}">
                <a16:creationId xmlns:a16="http://schemas.microsoft.com/office/drawing/2014/main" id="{0A597211-B563-4713-96FF-03552673B4F3}"/>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9525">
            <a:solidFill>
              <a:srgbClr val="A6DAD0"/>
            </a:solidFill>
            <a:prstDash val="solid"/>
          </a:ln>
        </p:spPr>
      </p:sp>
      <p:sp>
        <p:nvSpPr>
          <p:cNvPr id="6" name="">
            <a:extLst xmlns:a="http://schemas.openxmlformats.org/drawingml/2006/main">
              <a:ext uri="{FF2B5EF4-FFF2-40B4-BE49-F238E27FC236}">
                <a16:creationId xmlns:a16="http://schemas.microsoft.com/office/drawing/2014/main" id="{CC02B5F9-75BC-456B-9EB6-590CE198DEB6}"/>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47"/>
          </a:bodyPr>
          <a:lstStyle xmlns:a="http://schemas.openxmlformats.org/drawingml/2006/main"/>
          <a:p xmlns:a="http://schemas.openxmlformats.org/drawingml/2006/main">
            <a:pPr algn="ctr">
              <a:lnSpc>
                <a:spcPct val="100000"/>
              </a:lnSpc>
              <a:buNone/>
              <a:defRPr sz="1200" b="1" i="0">
                <a:solidFill>
                  <a:srgbClr val="065A82"/>
                </a:solidFill>
                <a:latin typeface="Calibri"/>
                <a:ea typeface="Calibri"/>
                <a:cs typeface="Calibri"/>
              </a:defRPr>
            </a:pPr>
            <a:r>
              <a:rPr sz="1200" b="1" i="0">
                <a:solidFill>
                  <a:srgbClr val="065A82"/>
                </a:solidFill>
                <a:latin typeface="Calibri"/>
                <a:ea typeface="Calibri"/>
                <a:cs typeface="Calibri"/>
              </a:rPr>
              <a:t>← Background · Slides 4 + 9, Retrieval · Lifecycle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39fc304259d4ce8"/>
          <a:stretch xmlns:a="http://schemas.openxmlformats.org/drawingml/2006/main"/>
        </p:blipFill>
        <p:spPr>
          <a:xfrm xmlns:a="http://schemas.openxmlformats.org/drawingml/2006/main">
            <a:off x="552450" y="1576498"/>
            <a:ext cx="6191250" cy="3952655"/>
          </a:xfrm>
          <a:prstGeom xmlns:a="http://schemas.openxmlformats.org/drawingml/2006/main" prst="roundRect">
            <a:avLst>
              <a:gd name="adj" fmla="val 2791"/>
            </a:avLst>
          </a:prstGeom>
        </p:spPr>
      </p:pic>
      <p:sp>
        <p:nvSpPr>
          <p:cNvPr id="8" name="">
            <a:extLst xmlns:a="http://schemas.openxmlformats.org/drawingml/2006/main">
              <a:ext uri="{FF2B5EF4-FFF2-40B4-BE49-F238E27FC236}">
                <a16:creationId xmlns:a16="http://schemas.microsoft.com/office/drawing/2014/main" id="{63BC4501-C40B-4078-8E78-570CB095738C}"/>
              </a:ext>
            </a:extLst>
          </p:cNvPr>
          <p:cNvSpPr>
            <a:spLocks xmlns:a="http://schemas.openxmlformats.org/drawingml/2006/main" noGrp="1"/>
          </p:cNvSpPr>
          <p:nvPr/>
        </p:nvSpPr>
        <p:spPr>
          <a:xfrm xmlns:a="http://schemas.openxmlformats.org/drawingml/2006/main">
            <a:off x="7124700" y="1619250"/>
            <a:ext cx="4381500" cy="1200150"/>
          </a:xfrm>
          <a:prstGeom xmlns:a="http://schemas.openxmlformats.org/drawingml/2006/main" prst="roundRect">
            <a:avLst>
              <a:gd name="adj" fmla="val 9524"/>
            </a:avLst>
          </a:prstGeom>
          <a:solidFill xmlns:a="http://schemas.openxmlformats.org/drawingml/2006/main">
            <a:srgbClr val="F2F8FA"/>
          </a:solidFill>
          <a:ln xmlns:a="http://schemas.openxmlformats.org/drawingml/2006/main" w="9525">
            <a:solidFill>
              <a:srgbClr val="F2F8FA"/>
            </a:solidFill>
            <a:prstDash val="solid"/>
          </a:ln>
        </p:spPr>
      </p:sp>
      <p:sp>
        <p:nvSpPr>
          <p:cNvPr id="9" name="">
            <a:extLst xmlns:a="http://schemas.openxmlformats.org/drawingml/2006/main">
              <a:ext uri="{FF2B5EF4-FFF2-40B4-BE49-F238E27FC236}">
                <a16:creationId xmlns:a16="http://schemas.microsoft.com/office/drawing/2014/main" id="{7D7C245C-101C-4349-835D-FFC10460A690}"/>
              </a:ext>
            </a:extLst>
          </p:cNvPr>
          <p:cNvSpPr>
            <a:spLocks xmlns:a="http://schemas.openxmlformats.org/drawingml/2006/main" noGrp="1"/>
          </p:cNvSpPr>
          <p:nvPr/>
        </p:nvSpPr>
        <p:spPr>
          <a:xfrm xmlns:a="http://schemas.openxmlformats.org/drawingml/2006/main">
            <a:off x="7334250" y="1790700"/>
            <a:ext cx="3962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065A82"/>
                </a:solidFill>
                <a:latin typeface="Cambria"/>
                <a:ea typeface="Cambria"/>
                <a:cs typeface="Cambria"/>
              </a:defRPr>
            </a:pPr>
            <a:r>
              <a:rPr sz="1800" b="1" i="0">
                <a:solidFill>
                  <a:srgbClr val="065A82"/>
                </a:solidFill>
                <a:latin typeface="Cambria"/>
                <a:ea typeface="Cambria"/>
                <a:cs typeface="Cambria"/>
              </a:rPr>
              <a:t>SHORT-TERM</a:t>
            </a:r>
          </a:p>
        </p:txBody>
      </p:sp>
      <p:sp>
        <p:nvSpPr>
          <p:cNvPr id="10" name="">
            <a:extLst xmlns:a="http://schemas.openxmlformats.org/drawingml/2006/main">
              <a:ext uri="{FF2B5EF4-FFF2-40B4-BE49-F238E27FC236}">
                <a16:creationId xmlns:a16="http://schemas.microsoft.com/office/drawing/2014/main" id="{BD54E56E-7FBA-402F-B92A-A119EA69C409}"/>
              </a:ext>
            </a:extLst>
          </p:cNvPr>
          <p:cNvSpPr>
            <a:spLocks xmlns:a="http://schemas.openxmlformats.org/drawingml/2006/main" noGrp="1"/>
          </p:cNvSpPr>
          <p:nvPr/>
        </p:nvSpPr>
        <p:spPr>
          <a:xfrm xmlns:a="http://schemas.openxmlformats.org/drawingml/2006/main">
            <a:off x="7334250" y="2247900"/>
            <a:ext cx="3962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586"/>
          </a:bodyPr>
          <a:lstStyle xmlns:a="http://schemas.openxmlformats.org/drawingml/2006/main"/>
          <a:p xmlns:a="http://schemas.openxmlformats.org/drawingml/2006/main">
            <a:pPr algn="l">
              <a:lnSpc>
                <a:spcPct val="105000"/>
              </a:lnSpc>
              <a:buNone/>
              <a:defRPr sz="1575" b="0" i="0">
                <a:solidFill>
                  <a:srgbClr val="1B2733"/>
                </a:solidFill>
                <a:latin typeface="Calibri"/>
                <a:ea typeface="Calibri"/>
                <a:cs typeface="Calibri"/>
              </a:defRPr>
            </a:pPr>
            <a:r>
              <a:rPr sz="1575" b="0" i="0">
                <a:solidFill>
                  <a:srgbClr val="1B2733"/>
                </a:solidFill>
                <a:latin typeface="Calibri"/>
                <a:ea typeface="Calibri"/>
                <a:cs typeface="Calibri"/>
              </a:rPr>
              <a:t>Conversations and messages; ordered, session-scoped history.</a:t>
            </a:r>
          </a:p>
        </p:txBody>
      </p:sp>
      <p:sp>
        <p:nvSpPr>
          <p:cNvPr id="11" name="">
            <a:extLst xmlns:a="http://schemas.openxmlformats.org/drawingml/2006/main">
              <a:ext uri="{FF2B5EF4-FFF2-40B4-BE49-F238E27FC236}">
                <a16:creationId xmlns:a16="http://schemas.microsoft.com/office/drawing/2014/main" id="{366DA4F5-04E2-450E-8472-754435445195}"/>
              </a:ext>
            </a:extLst>
          </p:cNvPr>
          <p:cNvSpPr>
            <a:spLocks xmlns:a="http://schemas.openxmlformats.org/drawingml/2006/main" noGrp="1"/>
          </p:cNvSpPr>
          <p:nvPr/>
        </p:nvSpPr>
        <p:spPr>
          <a:xfrm xmlns:a="http://schemas.openxmlformats.org/drawingml/2006/main">
            <a:off x="7124700" y="3028950"/>
            <a:ext cx="4381500" cy="1200150"/>
          </a:xfrm>
          <a:prstGeom xmlns:a="http://schemas.openxmlformats.org/drawingml/2006/main" prst="roundRect">
            <a:avLst>
              <a:gd name="adj" fmla="val 9524"/>
            </a:avLst>
          </a:prstGeom>
          <a:solidFill xmlns:a="http://schemas.openxmlformats.org/drawingml/2006/main">
            <a:srgbClr val="DDF4EF"/>
          </a:solidFill>
          <a:ln xmlns:a="http://schemas.openxmlformats.org/drawingml/2006/main" w="9525">
            <a:solidFill>
              <a:srgbClr val="DDF4EF"/>
            </a:solidFill>
            <a:prstDash val="solid"/>
          </a:ln>
        </p:spPr>
      </p:sp>
      <p:sp>
        <p:nvSpPr>
          <p:cNvPr id="12" name="">
            <a:extLst xmlns:a="http://schemas.openxmlformats.org/drawingml/2006/main">
              <a:ext uri="{FF2B5EF4-FFF2-40B4-BE49-F238E27FC236}">
                <a16:creationId xmlns:a16="http://schemas.microsoft.com/office/drawing/2014/main" id="{08AD3C63-2939-4A43-8D4F-31846A4B804D}"/>
              </a:ext>
            </a:extLst>
          </p:cNvPr>
          <p:cNvSpPr>
            <a:spLocks xmlns:a="http://schemas.openxmlformats.org/drawingml/2006/main" noGrp="1"/>
          </p:cNvSpPr>
          <p:nvPr/>
        </p:nvSpPr>
        <p:spPr>
          <a:xfrm xmlns:a="http://schemas.openxmlformats.org/drawingml/2006/main">
            <a:off x="7334250" y="3200400"/>
            <a:ext cx="3962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C7293"/>
                </a:solidFill>
                <a:latin typeface="Cambria"/>
                <a:ea typeface="Cambria"/>
                <a:cs typeface="Cambria"/>
              </a:defRPr>
            </a:pPr>
            <a:r>
              <a:rPr sz="1800" b="1" i="0">
                <a:solidFill>
                  <a:srgbClr val="1C7293"/>
                </a:solidFill>
                <a:latin typeface="Cambria"/>
                <a:ea typeface="Cambria"/>
                <a:cs typeface="Cambria"/>
              </a:rPr>
              <a:t>LONG-TERM</a:t>
            </a:r>
          </a:p>
        </p:txBody>
      </p:sp>
      <p:sp>
        <p:nvSpPr>
          <p:cNvPr id="13" name="">
            <a:extLst xmlns:a="http://schemas.openxmlformats.org/drawingml/2006/main">
              <a:ext uri="{FF2B5EF4-FFF2-40B4-BE49-F238E27FC236}">
                <a16:creationId xmlns:a16="http://schemas.microsoft.com/office/drawing/2014/main" id="{8F23BB6A-57E2-4AB8-8244-64D96E337B2E}"/>
              </a:ext>
            </a:extLst>
          </p:cNvPr>
          <p:cNvSpPr>
            <a:spLocks xmlns:a="http://schemas.openxmlformats.org/drawingml/2006/main" noGrp="1"/>
          </p:cNvSpPr>
          <p:nvPr/>
        </p:nvSpPr>
        <p:spPr>
          <a:xfrm xmlns:a="http://schemas.openxmlformats.org/drawingml/2006/main">
            <a:off x="7334250" y="3657600"/>
            <a:ext cx="3962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586"/>
          </a:bodyPr>
          <a:lstStyle xmlns:a="http://schemas.openxmlformats.org/drawingml/2006/main"/>
          <a:p xmlns:a="http://schemas.openxmlformats.org/drawingml/2006/main">
            <a:pPr algn="l">
              <a:lnSpc>
                <a:spcPct val="105000"/>
              </a:lnSpc>
              <a:buNone/>
              <a:defRPr sz="1575" b="0" i="0">
                <a:solidFill>
                  <a:srgbClr val="1B2733"/>
                </a:solidFill>
                <a:latin typeface="Calibri"/>
                <a:ea typeface="Calibri"/>
                <a:cs typeface="Calibri"/>
              </a:defRPr>
            </a:pPr>
            <a:r>
              <a:rPr sz="1575" b="0" i="0">
                <a:solidFill>
                  <a:srgbClr val="1B2733"/>
                </a:solidFill>
                <a:latin typeface="Calibri"/>
                <a:ea typeface="Calibri"/>
                <a:cs typeface="Calibri"/>
              </a:rPr>
              <a:t>Entities, facts, preferences, and typed relationships across sessions.</a:t>
            </a:r>
          </a:p>
        </p:txBody>
      </p:sp>
      <p:sp>
        <p:nvSpPr>
          <p:cNvPr id="14" name="">
            <a:extLst xmlns:a="http://schemas.openxmlformats.org/drawingml/2006/main">
              <a:ext uri="{FF2B5EF4-FFF2-40B4-BE49-F238E27FC236}">
                <a16:creationId xmlns:a16="http://schemas.microsoft.com/office/drawing/2014/main" id="{A3441304-EEDA-45C0-9FCB-22D7D6182C68}"/>
              </a:ext>
            </a:extLst>
          </p:cNvPr>
          <p:cNvSpPr>
            <a:spLocks xmlns:a="http://schemas.openxmlformats.org/drawingml/2006/main" noGrp="1"/>
          </p:cNvSpPr>
          <p:nvPr/>
        </p:nvSpPr>
        <p:spPr>
          <a:xfrm xmlns:a="http://schemas.openxmlformats.org/drawingml/2006/main">
            <a:off x="7124700" y="4438650"/>
            <a:ext cx="4381500" cy="1200150"/>
          </a:xfrm>
          <a:prstGeom xmlns:a="http://schemas.openxmlformats.org/drawingml/2006/main" prst="roundRect">
            <a:avLst>
              <a:gd name="adj" fmla="val 9524"/>
            </a:avLst>
          </a:prstGeom>
          <a:solidFill xmlns:a="http://schemas.openxmlformats.org/drawingml/2006/main">
            <a:srgbClr val="FFF7DA"/>
          </a:solidFill>
          <a:ln xmlns:a="http://schemas.openxmlformats.org/drawingml/2006/main" w="9525">
            <a:solidFill>
              <a:srgbClr val="FFF7DA"/>
            </a:solidFill>
            <a:prstDash val="solid"/>
          </a:ln>
        </p:spPr>
      </p:sp>
      <p:sp>
        <p:nvSpPr>
          <p:cNvPr id="15" name="">
            <a:extLst xmlns:a="http://schemas.openxmlformats.org/drawingml/2006/main">
              <a:ext uri="{FF2B5EF4-FFF2-40B4-BE49-F238E27FC236}">
                <a16:creationId xmlns:a16="http://schemas.microsoft.com/office/drawing/2014/main" id="{737C5901-D697-487B-92FE-10F7750E565F}"/>
              </a:ext>
            </a:extLst>
          </p:cNvPr>
          <p:cNvSpPr>
            <a:spLocks xmlns:a="http://schemas.openxmlformats.org/drawingml/2006/main" noGrp="1"/>
          </p:cNvSpPr>
          <p:nvPr/>
        </p:nvSpPr>
        <p:spPr>
          <a:xfrm xmlns:a="http://schemas.openxmlformats.org/drawingml/2006/main">
            <a:off x="7334250" y="4610100"/>
            <a:ext cx="3962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1295C"/>
                </a:solidFill>
                <a:latin typeface="Cambria"/>
                <a:ea typeface="Cambria"/>
                <a:cs typeface="Cambria"/>
              </a:defRPr>
            </a:pPr>
            <a:r>
              <a:rPr sz="1800" b="1" i="0">
                <a:solidFill>
                  <a:srgbClr val="21295C"/>
                </a:solidFill>
                <a:latin typeface="Cambria"/>
                <a:ea typeface="Cambria"/>
                <a:cs typeface="Cambria"/>
              </a:rPr>
              <a:t>REASONING</a:t>
            </a:r>
          </a:p>
        </p:txBody>
      </p:sp>
      <p:sp>
        <p:nvSpPr>
          <p:cNvPr id="16" name="">
            <a:extLst xmlns:a="http://schemas.openxmlformats.org/drawingml/2006/main">
              <a:ext uri="{FF2B5EF4-FFF2-40B4-BE49-F238E27FC236}">
                <a16:creationId xmlns:a16="http://schemas.microsoft.com/office/drawing/2014/main" id="{A5D324EA-EC8A-48A5-9E34-303BF2256F90}"/>
              </a:ext>
            </a:extLst>
          </p:cNvPr>
          <p:cNvSpPr>
            <a:spLocks xmlns:a="http://schemas.openxmlformats.org/drawingml/2006/main" noGrp="1"/>
          </p:cNvSpPr>
          <p:nvPr/>
        </p:nvSpPr>
        <p:spPr>
          <a:xfrm xmlns:a="http://schemas.openxmlformats.org/drawingml/2006/main">
            <a:off x="7334250" y="5067300"/>
            <a:ext cx="3962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236"/>
          </a:bodyPr>
          <a:lstStyle xmlns:a="http://schemas.openxmlformats.org/drawingml/2006/main"/>
          <a:p xmlns:a="http://schemas.openxmlformats.org/drawingml/2006/main">
            <a:pPr algn="l">
              <a:lnSpc>
                <a:spcPct val="105000"/>
              </a:lnSpc>
              <a:buNone/>
              <a:defRPr sz="1575" b="0" i="0">
                <a:solidFill>
                  <a:srgbClr val="1B2733"/>
                </a:solidFill>
                <a:latin typeface="Calibri"/>
                <a:ea typeface="Calibri"/>
                <a:cs typeface="Calibri"/>
              </a:defRPr>
            </a:pPr>
            <a:r>
              <a:rPr sz="1575" b="0" i="0">
                <a:solidFill>
                  <a:srgbClr val="1B2733"/>
                </a:solidFill>
                <a:latin typeface="Calibri"/>
                <a:ea typeface="Calibri"/>
                <a:cs typeface="Calibri"/>
              </a:rPr>
              <a:t>Traces, steps, tool calls, observations, and outcomes.</a:t>
            </a:r>
          </a:p>
        </p:txBody>
      </p:sp>
    </p:spTree>
    <p:extLst>
      <p:ext uri="{BB962C8B-B14F-4D97-AF65-F5344CB8AC3E}">
        <p14:creationId xmlns:p14="http://schemas.microsoft.com/office/powerpoint/2010/main" val="1571083372"/>
      </p:ext>
    </p:extLst>
  </p:cSld>
</p:sld>
</file>

<file path=ppt/slides/slide20.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E6B2DCF-CE6F-4246-90D0-A935DA1CD440}"/>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CB85D3D2-C715-4E3B-881B-1D9CF7883B50}"/>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The Repository Is Polyglot, with Python at the Root</a:t>
            </a:r>
          </a:p>
        </p:txBody>
      </p:sp>
      <p:sp>
        <p:nvSpPr>
          <p:cNvPr id="3" name="">
            <a:extLst xmlns:a="http://schemas.openxmlformats.org/drawingml/2006/main">
              <a:ext uri="{FF2B5EF4-FFF2-40B4-BE49-F238E27FC236}">
                <a16:creationId xmlns:a16="http://schemas.microsoft.com/office/drawing/2014/main" id="{50E29DE7-0B80-4759-98EE-74ED704C4E4C}"/>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A2ECC956-C3F0-4AA9-B59C-94193A616F5B}"/>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20</a:t>
            </a:r>
          </a:p>
        </p:txBody>
      </p:sp>
      <p:sp>
        <p:nvSpPr>
          <p:cNvPr id="5" name="">
            <a:extLst xmlns:a="http://schemas.openxmlformats.org/drawingml/2006/main">
              <a:ext uri="{FF2B5EF4-FFF2-40B4-BE49-F238E27FC236}">
                <a16:creationId xmlns:a16="http://schemas.microsoft.com/office/drawing/2014/main" id="{54EFE854-92E1-46B9-A61F-5B0F698E1186}"/>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173F58"/>
          </a:solidFill>
          <a:ln xmlns:a="http://schemas.openxmlformats.org/drawingml/2006/main" w="9525">
            <a:solidFill>
              <a:srgbClr val="1C7293"/>
            </a:solidFill>
            <a:prstDash val="solid"/>
          </a:ln>
        </p:spPr>
      </p:sp>
      <p:sp>
        <p:nvSpPr>
          <p:cNvPr id="6" name="">
            <a:extLst xmlns:a="http://schemas.openxmlformats.org/drawingml/2006/main">
              <a:ext uri="{FF2B5EF4-FFF2-40B4-BE49-F238E27FC236}">
                <a16:creationId xmlns:a16="http://schemas.microsoft.com/office/drawing/2014/main" id="{B8B01884-32FE-46F5-BA03-69B6AD29732E}"/>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CFE8F0"/>
                </a:solidFill>
                <a:latin typeface="Calibri"/>
                <a:ea typeface="Calibri"/>
                <a:cs typeface="Calibri"/>
              </a:defRPr>
            </a:pPr>
            <a:r>
              <a:rPr sz="1200" b="1" i="0">
                <a:solidFill>
                  <a:srgbClr val="CFE8F0"/>
                </a:solidFill>
                <a:latin typeface="Calibri"/>
                <a:ea typeface="Calibri"/>
                <a:cs typeface="Calibri"/>
              </a:rPr>
              <a:t>← Background · Slide 12, API · SDK · Protocol</a:t>
            </a:r>
          </a:p>
        </p:txBody>
      </p:sp>
      <p:sp>
        <p:nvSpPr>
          <p:cNvPr id="7" name="">
            <a:extLst xmlns:a="http://schemas.openxmlformats.org/drawingml/2006/main">
              <a:ext uri="{FF2B5EF4-FFF2-40B4-BE49-F238E27FC236}">
                <a16:creationId xmlns:a16="http://schemas.microsoft.com/office/drawing/2014/main" id="{14448830-F0F2-4A05-9148-5A0B7E789157}"/>
              </a:ext>
            </a:extLst>
          </p:cNvPr>
          <p:cNvSpPr>
            <a:spLocks xmlns:a="http://schemas.openxmlformats.org/drawingml/2006/main" noGrp="1"/>
          </p:cNvSpPr>
          <p:nvPr/>
        </p:nvSpPr>
        <p:spPr>
          <a:xfrm xmlns:a="http://schemas.openxmlformats.org/drawingml/2006/main">
            <a:off x="666750" y="1571625"/>
            <a:ext cx="5334000" cy="4286250"/>
          </a:xfrm>
          <a:prstGeom xmlns:a="http://schemas.openxmlformats.org/drawingml/2006/main" prst="roundRect">
            <a:avLst>
              <a:gd name="adj" fmla="val 2667"/>
            </a:avLst>
          </a:prstGeom>
          <a:solidFill xmlns:a="http://schemas.openxmlformats.org/drawingml/2006/main">
            <a:srgbClr val="0B2942"/>
          </a:solidFill>
          <a:ln xmlns:a="http://schemas.openxmlformats.org/drawingml/2006/main" w="11430">
            <a:solidFill>
              <a:srgbClr val="065A82"/>
            </a:solidFill>
            <a:prstDash val="solid"/>
          </a:ln>
        </p:spPr>
      </p:sp>
      <p:sp>
        <p:nvSpPr>
          <p:cNvPr id="8" name="">
            <a:extLst xmlns:a="http://schemas.openxmlformats.org/drawingml/2006/main">
              <a:ext uri="{FF2B5EF4-FFF2-40B4-BE49-F238E27FC236}">
                <a16:creationId xmlns:a16="http://schemas.microsoft.com/office/drawing/2014/main" id="{B07D601F-23DE-4E4F-9ABB-79F9430EFB0C}"/>
              </a:ext>
            </a:extLst>
          </p:cNvPr>
          <p:cNvSpPr>
            <a:spLocks xmlns:a="http://schemas.openxmlformats.org/drawingml/2006/main" noGrp="1"/>
          </p:cNvSpPr>
          <p:nvPr/>
        </p:nvSpPr>
        <p:spPr>
          <a:xfrm xmlns:a="http://schemas.openxmlformats.org/drawingml/2006/main">
            <a:off x="838200" y="1704975"/>
            <a:ext cx="4991100" cy="401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.github/          CI + release workflows</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benchmarks/        retrieval evaluation utilities</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docs/              Antora documentation source</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examples/          runnable apps and integration demos</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img/               architecture diagrams</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src/               Python package</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tests/             Python unit, integration, typing tests</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typescript/        TypeScript SDK + its tests/docs</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pyproject.toml     Python package 0.5.0</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uv.lock            locked Python environment</a:t>
            </a:r>
          </a:p>
        </p:txBody>
      </p:sp>
      <p:sp>
        <p:nvSpPr>
          <p:cNvPr id="9" name="">
            <a:extLst xmlns:a="http://schemas.openxmlformats.org/drawingml/2006/main">
              <a:ext uri="{FF2B5EF4-FFF2-40B4-BE49-F238E27FC236}">
                <a16:creationId xmlns:a16="http://schemas.microsoft.com/office/drawing/2014/main" id="{2164C67F-8C63-4A19-8215-14F78C674028}"/>
              </a:ext>
            </a:extLst>
          </p:cNvPr>
          <p:cNvSpPr>
            <a:spLocks xmlns:a="http://schemas.openxmlformats.org/drawingml/2006/main" noGrp="1"/>
          </p:cNvSpPr>
          <p:nvPr/>
        </p:nvSpPr>
        <p:spPr>
          <a:xfrm xmlns:a="http://schemas.openxmlformats.org/drawingml/2006/main">
            <a:off x="6381750" y="1571625"/>
            <a:ext cx="5143500" cy="4286250"/>
          </a:xfrm>
          <a:prstGeom xmlns:a="http://schemas.openxmlformats.org/drawingml/2006/main" prst="roundRect">
            <a:avLst>
              <a:gd name="adj" fmla="val 2667"/>
            </a:avLst>
          </a:prstGeom>
          <a:solidFill xmlns:a="http://schemas.openxmlformats.org/drawingml/2006/main">
            <a:srgbClr val="123A55"/>
          </a:solidFill>
          <a:ln xmlns:a="http://schemas.openxmlformats.org/drawingml/2006/main" w="11430">
            <a:solidFill>
              <a:srgbClr val="1C7293"/>
            </a:solidFill>
            <a:prstDash val="solid"/>
          </a:ln>
        </p:spPr>
      </p:sp>
      <p:sp>
        <p:nvSpPr>
          <p:cNvPr id="10" name="">
            <a:extLst xmlns:a="http://schemas.openxmlformats.org/drawingml/2006/main">
              <a:ext uri="{FF2B5EF4-FFF2-40B4-BE49-F238E27FC236}">
                <a16:creationId xmlns:a16="http://schemas.microsoft.com/office/drawing/2014/main" id="{D21EF9D9-D693-41EE-B8C8-0C8834E3950F}"/>
              </a:ext>
            </a:extLst>
          </p:cNvPr>
          <p:cNvSpPr>
            <a:spLocks xmlns:a="http://schemas.openxmlformats.org/drawingml/2006/main" noGrp="1"/>
          </p:cNvSpPr>
          <p:nvPr/>
        </p:nvSpPr>
        <p:spPr>
          <a:xfrm xmlns:a="http://schemas.openxmlformats.org/drawingml/2006/main">
            <a:off x="6553200" y="1704975"/>
            <a:ext cx="4800600" cy="401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src/neo4j_agent_memory/</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 __init__.py       MemoryClient + get_graph()</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 config/           settings + backend selection</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 graph/            driver, schema, Cypher</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 memory/           short_term / long_term / reasoning</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 mcp/              server, tools, resources, prompts</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 nams/             hosted REST backend</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 integrations/     agent framework adapters</a:t>
            </a:r>
          </a:p>
          <a:p xmlns:a="http://schemas.openxmlformats.org/drawingml/2006/main">
            <a:pPr algn="l">
              <a:lnSpc>
                <a:spcPct val="100000"/>
              </a:lnSpc>
              <a:buNone/>
              <a:defRPr sz="1200" b="0" i="0">
                <a:solidFill>
                  <a:srgbClr val="CFE8F0"/>
                </a:solidFill>
                <a:latin typeface="Courier New"/>
                <a:ea typeface="Courier New"/>
                <a:cs typeface="Courier New"/>
              </a:defRPr>
            </a:pPr>
            <a:r>
              <a:rPr sz="1200" b="0" i="0">
                <a:solidFill>
                  <a:srgbClr val="CFE8F0"/>
                </a:solidFill>
                <a:latin typeface="Courier New"/>
                <a:ea typeface="Courier New"/>
                <a:cs typeface="Courier New"/>
              </a:rPr>
              <a:t>└── llm/              provider protocols + adapters</a:t>
            </a:r>
          </a:p>
        </p:txBody>
      </p:sp>
    </p:spTree>
    <p:extLst>
      <p:ext uri="{BB962C8B-B14F-4D97-AF65-F5344CB8AC3E}">
        <p14:creationId xmlns:p14="http://schemas.microsoft.com/office/powerpoint/2010/main" val="224088090"/>
      </p:ext>
    </p:extLst>
  </p:cSld>
</p:sld>
</file>

<file path=ppt/slides/slide21.xml><?xml version="1.0" encoding="utf-8"?>
<p:sld xmlns:p="http://schemas.openxmlformats.org/presentationml/2006/main">
  <p:cSld>
    <p:bg>
      <p:bgPr>
        <a:solidFill xmlns:a="http://schemas.openxmlformats.org/drawingml/2006/main">
          <a:srgbClr val="F2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372AC3-00A2-44EE-8828-EB692CAA53EE}"/>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EA3A4285-245F-41E0-93EE-4A2431866558}"/>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MemoryClient Selects a Backend at Connect Time</a:t>
            </a:r>
          </a:p>
        </p:txBody>
      </p:sp>
      <p:sp>
        <p:nvSpPr>
          <p:cNvPr id="3" name="">
            <a:extLst xmlns:a="http://schemas.openxmlformats.org/drawingml/2006/main">
              <a:ext uri="{FF2B5EF4-FFF2-40B4-BE49-F238E27FC236}">
                <a16:creationId xmlns:a16="http://schemas.microsoft.com/office/drawing/2014/main" id="{FF9BB82C-E83A-4256-A85F-2E8B34ECD198}"/>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4F7C5180-A0EF-4C4C-BCAC-B0AD24FD8AF1}"/>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21</a:t>
            </a:r>
          </a:p>
        </p:txBody>
      </p:sp>
      <p:sp>
        <p:nvSpPr>
          <p:cNvPr id="5" name="">
            <a:extLst xmlns:a="http://schemas.openxmlformats.org/drawingml/2006/main">
              <a:ext uri="{FF2B5EF4-FFF2-40B4-BE49-F238E27FC236}">
                <a16:creationId xmlns:a16="http://schemas.microsoft.com/office/drawing/2014/main" id="{0F370AD2-7A04-474A-995C-57514151D61A}"/>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9525">
            <a:solidFill>
              <a:srgbClr val="A6DAD0"/>
            </a:solidFill>
            <a:prstDash val="solid"/>
          </a:ln>
        </p:spPr>
      </p:sp>
      <p:sp>
        <p:nvSpPr>
          <p:cNvPr id="6" name="">
            <a:extLst xmlns:a="http://schemas.openxmlformats.org/drawingml/2006/main">
              <a:ext uri="{FF2B5EF4-FFF2-40B4-BE49-F238E27FC236}">
                <a16:creationId xmlns:a16="http://schemas.microsoft.com/office/drawing/2014/main" id="{B5399F36-4D1C-4354-B7CF-33B4D7187A34}"/>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65A82"/>
                </a:solidFill>
                <a:latin typeface="Calibri"/>
                <a:ea typeface="Calibri"/>
                <a:cs typeface="Calibri"/>
              </a:defRPr>
            </a:pPr>
            <a:r>
              <a:rPr sz="1200" b="1" i="0">
                <a:solidFill>
                  <a:srgbClr val="065A82"/>
                </a:solidFill>
                <a:latin typeface="Calibri"/>
                <a:ea typeface="Calibri"/>
                <a:cs typeface="Calibri"/>
              </a:rPr>
              <a:t>← Background · Slides 10–11, SDK Contract</a:t>
            </a:r>
          </a:p>
        </p:txBody>
      </p:sp>
      <p:sp>
        <p:nvSpPr>
          <p:cNvPr id="7" name="">
            <a:extLst xmlns:a="http://schemas.openxmlformats.org/drawingml/2006/main">
              <a:ext uri="{FF2B5EF4-FFF2-40B4-BE49-F238E27FC236}">
                <a16:creationId xmlns:a16="http://schemas.microsoft.com/office/drawing/2014/main" id="{187556C7-F100-4A12-A024-4A5BD5586F32}"/>
              </a:ext>
            </a:extLst>
          </p:cNvPr>
          <p:cNvSpPr>
            <a:spLocks xmlns:a="http://schemas.openxmlformats.org/drawingml/2006/main" noGrp="1"/>
          </p:cNvSpPr>
          <p:nvPr/>
        </p:nvSpPr>
        <p:spPr>
          <a:xfrm xmlns:a="http://schemas.openxmlformats.org/drawingml/2006/main">
            <a:off x="666750" y="1638300"/>
            <a:ext cx="5048250" cy="3714750"/>
          </a:xfrm>
          <a:prstGeom xmlns:a="http://schemas.openxmlformats.org/drawingml/2006/main" prst="roundRect">
            <a:avLst>
              <a:gd name="adj" fmla="val 3077"/>
            </a:avLst>
          </a:prstGeom>
          <a:solidFill xmlns:a="http://schemas.openxmlformats.org/drawingml/2006/main">
            <a:srgbClr val="0B2942"/>
          </a:solidFill>
          <a:ln xmlns:a="http://schemas.openxmlformats.org/drawingml/2006/main" w="11430">
            <a:solidFill>
              <a:srgbClr val="065A82"/>
            </a:solidFill>
            <a:prstDash val="solid"/>
          </a:ln>
        </p:spPr>
      </p:sp>
      <p:sp>
        <p:nvSpPr>
          <p:cNvPr id="8" name="">
            <a:extLst xmlns:a="http://schemas.openxmlformats.org/drawingml/2006/main">
              <a:ext uri="{FF2B5EF4-FFF2-40B4-BE49-F238E27FC236}">
                <a16:creationId xmlns:a16="http://schemas.microsoft.com/office/drawing/2014/main" id="{9159C20D-9F79-4016-B3E4-ABF877941A82}"/>
              </a:ext>
            </a:extLst>
          </p:cNvPr>
          <p:cNvSpPr>
            <a:spLocks xmlns:a="http://schemas.openxmlformats.org/drawingml/2006/main" noGrp="1"/>
          </p:cNvSpPr>
          <p:nvPr/>
        </p:nvSpPr>
        <p:spPr>
          <a:xfrm xmlns:a="http://schemas.openxmlformats.org/drawingml/2006/main">
            <a:off x="838200" y="1771650"/>
            <a:ext cx="4705350" cy="344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CFE8F0"/>
                </a:solidFill>
                <a:latin typeface="Courier New"/>
                <a:ea typeface="Courier New"/>
                <a:cs typeface="Courier New"/>
              </a:defRPr>
            </a:pPr>
            <a:r>
              <a:rPr sz="1275" b="0" i="0">
                <a:solidFill>
                  <a:srgbClr val="CFE8F0"/>
                </a:solidFill>
                <a:latin typeface="Courier New"/>
                <a:ea typeface="Courier New"/>
                <a:cs typeface="Courier New"/>
              </a:rPr>
              <a:t>settings = MemorySettings(...)</a:t>
            </a:r>
          </a:p>
          <a:p xmlns:a="http://schemas.openxmlformats.org/drawingml/2006/main">
            <a:r>
              <a:t/>
            </a:r>
          </a:p>
          <a:p xmlns:a="http://schemas.openxmlformats.org/drawingml/2006/main">
            <a:pPr algn="l">
              <a:lnSpc>
                <a:spcPct val="100000"/>
              </a:lnSpc>
              <a:buNone/>
              <a:defRPr sz="1275" b="0" i="0">
                <a:solidFill>
                  <a:srgbClr val="CFE8F0"/>
                </a:solidFill>
                <a:latin typeface="Courier New"/>
                <a:ea typeface="Courier New"/>
                <a:cs typeface="Courier New"/>
              </a:defRPr>
            </a:pPr>
            <a:r>
              <a:rPr sz="1275" b="0" i="0">
                <a:solidFill>
                  <a:srgbClr val="CFE8F0"/>
                </a:solidFill>
                <a:latin typeface="Courier New"/>
                <a:ea typeface="Courier New"/>
                <a:cs typeface="Courier New"/>
              </a:rPr>
              <a:t>async with MemoryClient(settings) as memory:</a:t>
            </a:r>
          </a:p>
          <a:p xmlns:a="http://schemas.openxmlformats.org/drawingml/2006/main">
            <a:pPr algn="l">
              <a:lnSpc>
                <a:spcPct val="100000"/>
              </a:lnSpc>
              <a:buNone/>
              <a:defRPr sz="1275" b="0" i="0">
                <a:solidFill>
                  <a:srgbClr val="CFE8F0"/>
                </a:solidFill>
                <a:latin typeface="Courier New"/>
                <a:ea typeface="Courier New"/>
                <a:cs typeface="Courier New"/>
              </a:defRPr>
            </a:pPr>
            <a:r>
              <a:rPr sz="1275" b="0" i="0">
                <a:solidFill>
                  <a:srgbClr val="CFE8F0"/>
                </a:solidFill>
                <a:latin typeface="Courier New"/>
                <a:ea typeface="Courier New"/>
                <a:cs typeface="Courier New"/>
              </a:rPr>
              <a:t>    await memory.long_term.add_entity(...)</a:t>
            </a:r>
          </a:p>
          <a:p xmlns:a="http://schemas.openxmlformats.org/drawingml/2006/main">
            <a:pPr algn="l">
              <a:lnSpc>
                <a:spcPct val="100000"/>
              </a:lnSpc>
              <a:buNone/>
              <a:defRPr sz="1275" b="0" i="0">
                <a:solidFill>
                  <a:srgbClr val="CFE8F0"/>
                </a:solidFill>
                <a:latin typeface="Courier New"/>
                <a:ea typeface="Courier New"/>
                <a:cs typeface="Courier New"/>
              </a:defRPr>
            </a:pPr>
            <a:r>
              <a:rPr sz="1275" b="0" i="0">
                <a:solidFill>
                  <a:srgbClr val="CFE8F0"/>
                </a:solidFill>
                <a:latin typeface="Courier New"/>
                <a:ea typeface="Courier New"/>
                <a:cs typeface="Courier New"/>
              </a:rPr>
              <a:t>    graph = await memory.get_graph(</a:t>
            </a:r>
          </a:p>
          <a:p xmlns:a="http://schemas.openxmlformats.org/drawingml/2006/main">
            <a:pPr algn="l">
              <a:lnSpc>
                <a:spcPct val="100000"/>
              </a:lnSpc>
              <a:buNone/>
              <a:defRPr sz="1275" b="0" i="0">
                <a:solidFill>
                  <a:srgbClr val="CFE8F0"/>
                </a:solidFill>
                <a:latin typeface="Courier New"/>
                <a:ea typeface="Courier New"/>
                <a:cs typeface="Courier New"/>
              </a:defRPr>
            </a:pPr>
            <a:r>
              <a:rPr sz="1275" b="0" i="0">
                <a:solidFill>
                  <a:srgbClr val="CFE8F0"/>
                </a:solidFill>
                <a:latin typeface="Courier New"/>
                <a:ea typeface="Courier New"/>
                <a:cs typeface="Courier New"/>
              </a:rPr>
              <a:t>        memory_types=["long_term"]</a:t>
            </a:r>
          </a:p>
          <a:p xmlns:a="http://schemas.openxmlformats.org/drawingml/2006/main">
            <a:pPr algn="l">
              <a:lnSpc>
                <a:spcPct val="100000"/>
              </a:lnSpc>
              <a:buNone/>
              <a:defRPr sz="1275" b="0" i="0">
                <a:solidFill>
                  <a:srgbClr val="CFE8F0"/>
                </a:solidFill>
                <a:latin typeface="Courier New"/>
                <a:ea typeface="Courier New"/>
                <a:cs typeface="Courier New"/>
              </a:defRPr>
            </a:pPr>
            <a:r>
              <a:rPr sz="1275" b="0" i="0">
                <a:solidFill>
                  <a:srgbClr val="CFE8F0"/>
                </a:solidFill>
                <a:latin typeface="Courier New"/>
                <a:ea typeface="Courier New"/>
                <a:cs typeface="Courier New"/>
              </a:rPr>
              <a:t>    )</a:t>
            </a:r>
          </a:p>
        </p:txBody>
      </p:sp>
      <p:sp>
        <p:nvSpPr>
          <p:cNvPr id="9" name="">
            <a:extLst xmlns:a="http://schemas.openxmlformats.org/drawingml/2006/main">
              <a:ext uri="{FF2B5EF4-FFF2-40B4-BE49-F238E27FC236}">
                <a16:creationId xmlns:a16="http://schemas.microsoft.com/office/drawing/2014/main" id="{30EF07BC-67FB-454B-BAE7-EF0625661C41}"/>
              </a:ext>
            </a:extLst>
          </p:cNvPr>
          <p:cNvSpPr>
            <a:spLocks xmlns:a="http://schemas.openxmlformats.org/drawingml/2006/main" noGrp="1"/>
          </p:cNvSpPr>
          <p:nvPr/>
        </p:nvSpPr>
        <p:spPr>
          <a:xfrm xmlns:a="http://schemas.openxmlformats.org/drawingml/2006/main">
            <a:off x="6286500" y="1619250"/>
            <a:ext cx="2381250" cy="3143250"/>
          </a:xfrm>
          <a:prstGeom xmlns:a="http://schemas.openxmlformats.org/drawingml/2006/main" prst="roundRect">
            <a:avLst>
              <a:gd name="adj" fmla="val 4800"/>
            </a:avLst>
          </a:prstGeom>
          <a:solidFill xmlns:a="http://schemas.openxmlformats.org/drawingml/2006/main">
            <a:srgbClr val="DDF4EF"/>
          </a:solidFill>
          <a:ln xmlns:a="http://schemas.openxmlformats.org/drawingml/2006/main" w="9525">
            <a:solidFill>
              <a:srgbClr val="DDF4EF"/>
            </a:solidFill>
            <a:prstDash val="solid"/>
          </a:ln>
        </p:spPr>
      </p:sp>
      <p:sp>
        <p:nvSpPr>
          <p:cNvPr id="10" name="">
            <a:extLst xmlns:a="http://schemas.openxmlformats.org/drawingml/2006/main">
              <a:ext uri="{FF2B5EF4-FFF2-40B4-BE49-F238E27FC236}">
                <a16:creationId xmlns:a16="http://schemas.microsoft.com/office/drawing/2014/main" id="{C63655A6-D67E-4DD8-82CA-679A89AB17CA}"/>
              </a:ext>
            </a:extLst>
          </p:cNvPr>
          <p:cNvSpPr>
            <a:spLocks xmlns:a="http://schemas.openxmlformats.org/drawingml/2006/main" noGrp="1"/>
          </p:cNvSpPr>
          <p:nvPr/>
        </p:nvSpPr>
        <p:spPr>
          <a:xfrm xmlns:a="http://schemas.openxmlformats.org/drawingml/2006/main">
            <a:off x="6496050" y="1790700"/>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C7293"/>
                </a:solidFill>
                <a:latin typeface="Cambria"/>
                <a:ea typeface="Cambria"/>
                <a:cs typeface="Cambria"/>
              </a:defRPr>
            </a:pPr>
            <a:r>
              <a:rPr sz="2025" b="1" i="0">
                <a:solidFill>
                  <a:srgbClr val="1C7293"/>
                </a:solidFill>
                <a:latin typeface="Cambria"/>
                <a:ea typeface="Cambria"/>
                <a:cs typeface="Cambria"/>
              </a:rPr>
              <a:t>BOLT</a:t>
            </a:r>
          </a:p>
        </p:txBody>
      </p:sp>
      <p:sp>
        <p:nvSpPr>
          <p:cNvPr id="11" name="">
            <a:extLst xmlns:a="http://schemas.openxmlformats.org/drawingml/2006/main">
              <a:ext uri="{FF2B5EF4-FFF2-40B4-BE49-F238E27FC236}">
                <a16:creationId xmlns:a16="http://schemas.microsoft.com/office/drawing/2014/main" id="{4765E8D3-A98A-4715-9185-E9CB6EBCD5E9}"/>
              </a:ext>
            </a:extLst>
          </p:cNvPr>
          <p:cNvSpPr>
            <a:spLocks xmlns:a="http://schemas.openxmlformats.org/drawingml/2006/main" noGrp="1"/>
          </p:cNvSpPr>
          <p:nvPr/>
        </p:nvSpPr>
        <p:spPr>
          <a:xfrm xmlns:a="http://schemas.openxmlformats.org/drawingml/2006/main">
            <a:off x="6496050" y="2247900"/>
            <a:ext cx="19621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Direct Neo4j driver</a:t>
            </a:r>
          </a:p>
          <a:p xmlns:a="http://schemas.openxmlformats.org/drawingml/2006/main">
            <a:r>
              <a:t/>
            </a:r>
          </a:p>
          <a:p xmlns:a="http://schemas.openxmlformats.org/drawingml/2006/main">
            <a:pPr algn="l">
              <a:lnSpc>
                <a:spcPct val="105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Client initializes schema, indexes, extraction, resolution, and graph export.</a:t>
            </a:r>
          </a:p>
        </p:txBody>
      </p:sp>
      <p:sp>
        <p:nvSpPr>
          <p:cNvPr id="12" name="">
            <a:extLst xmlns:a="http://schemas.openxmlformats.org/drawingml/2006/main">
              <a:ext uri="{FF2B5EF4-FFF2-40B4-BE49-F238E27FC236}">
                <a16:creationId xmlns:a16="http://schemas.microsoft.com/office/drawing/2014/main" id="{D6AB2158-96F3-4DF5-9549-C06895327728}"/>
              </a:ext>
            </a:extLst>
          </p:cNvPr>
          <p:cNvSpPr>
            <a:spLocks xmlns:a="http://schemas.openxmlformats.org/drawingml/2006/main" noGrp="1"/>
          </p:cNvSpPr>
          <p:nvPr/>
        </p:nvSpPr>
        <p:spPr>
          <a:xfrm xmlns:a="http://schemas.openxmlformats.org/drawingml/2006/main">
            <a:off x="8991600" y="1619250"/>
            <a:ext cx="2381250" cy="3143250"/>
          </a:xfrm>
          <a:prstGeom xmlns:a="http://schemas.openxmlformats.org/drawingml/2006/main" prst="roundRect">
            <a:avLst>
              <a:gd name="adj" fmla="val 4800"/>
            </a:avLst>
          </a:prstGeom>
          <a:solidFill xmlns:a="http://schemas.openxmlformats.org/drawingml/2006/main">
            <a:srgbClr val="FFF7DA"/>
          </a:solidFill>
          <a:ln xmlns:a="http://schemas.openxmlformats.org/drawingml/2006/main" w="9525">
            <a:solidFill>
              <a:srgbClr val="FFF7DA"/>
            </a:solidFill>
            <a:prstDash val="solid"/>
          </a:ln>
        </p:spPr>
      </p:sp>
      <p:sp>
        <p:nvSpPr>
          <p:cNvPr id="13" name="">
            <a:extLst xmlns:a="http://schemas.openxmlformats.org/drawingml/2006/main">
              <a:ext uri="{FF2B5EF4-FFF2-40B4-BE49-F238E27FC236}">
                <a16:creationId xmlns:a16="http://schemas.microsoft.com/office/drawing/2014/main" id="{4C165CEC-90F7-4DBB-928B-2ACFD15F7BC7}"/>
              </a:ext>
            </a:extLst>
          </p:cNvPr>
          <p:cNvSpPr>
            <a:spLocks xmlns:a="http://schemas.openxmlformats.org/drawingml/2006/main" noGrp="1"/>
          </p:cNvSpPr>
          <p:nvPr/>
        </p:nvSpPr>
        <p:spPr>
          <a:xfrm xmlns:a="http://schemas.openxmlformats.org/drawingml/2006/main">
            <a:off x="9201150" y="1790700"/>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21295C"/>
                </a:solidFill>
                <a:latin typeface="Cambria"/>
                <a:ea typeface="Cambria"/>
                <a:cs typeface="Cambria"/>
              </a:defRPr>
            </a:pPr>
            <a:r>
              <a:rPr sz="2025" b="1" i="0">
                <a:solidFill>
                  <a:srgbClr val="21295C"/>
                </a:solidFill>
                <a:latin typeface="Cambria"/>
                <a:ea typeface="Cambria"/>
                <a:cs typeface="Cambria"/>
              </a:rPr>
              <a:t>NAMS</a:t>
            </a:r>
          </a:p>
        </p:txBody>
      </p:sp>
      <p:sp>
        <p:nvSpPr>
          <p:cNvPr id="14" name="">
            <a:extLst xmlns:a="http://schemas.openxmlformats.org/drawingml/2006/main">
              <a:ext uri="{FF2B5EF4-FFF2-40B4-BE49-F238E27FC236}">
                <a16:creationId xmlns:a16="http://schemas.microsoft.com/office/drawing/2014/main" id="{2BD130A2-49E0-4575-B0B7-7AF13FBC2051}"/>
              </a:ext>
            </a:extLst>
          </p:cNvPr>
          <p:cNvSpPr>
            <a:spLocks xmlns:a="http://schemas.openxmlformats.org/drawingml/2006/main" noGrp="1"/>
          </p:cNvSpPr>
          <p:nvPr/>
        </p:nvSpPr>
        <p:spPr>
          <a:xfrm xmlns:a="http://schemas.openxmlformats.org/drawingml/2006/main">
            <a:off x="9201150" y="2247900"/>
            <a:ext cx="19621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48"/>
          </a:bodyPr>
          <a:lstStyle xmlns:a="http://schemas.openxmlformats.org/drawingml/2006/main"/>
          <a:p xmlns:a="http://schemas.openxmlformats.org/drawingml/2006/main">
            <a:pPr algn="l">
              <a:lnSpc>
                <a:spcPct val="105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Hosted REST service</a:t>
            </a:r>
          </a:p>
          <a:p xmlns:a="http://schemas.openxmlformats.org/drawingml/2006/main">
            <a:r>
              <a:t/>
            </a:r>
          </a:p>
          <a:p xmlns:a="http://schemas.openxmlformats.org/drawingml/2006/main">
            <a:pPr algn="l">
              <a:lnSpc>
                <a:spcPct val="105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Server manages embedding, extraction, and resolution; some bolt methods are unavailable.</a:t>
            </a:r>
          </a:p>
        </p:txBody>
      </p:sp>
      <p:sp>
        <p:nvSpPr>
          <p:cNvPr id="15" name="">
            <a:extLst xmlns:a="http://schemas.openxmlformats.org/drawingml/2006/main">
              <a:ext uri="{FF2B5EF4-FFF2-40B4-BE49-F238E27FC236}">
                <a16:creationId xmlns:a16="http://schemas.microsoft.com/office/drawing/2014/main" id="{24A4BF39-F9D6-4695-9D56-909D4794362F}"/>
              </a:ext>
            </a:extLst>
          </p:cNvPr>
          <p:cNvSpPr>
            <a:spLocks xmlns:a="http://schemas.openxmlformats.org/drawingml/2006/main" noGrp="1"/>
          </p:cNvSpPr>
          <p:nvPr/>
        </p:nvSpPr>
        <p:spPr>
          <a:xfrm xmlns:a="http://schemas.openxmlformats.org/drawingml/2006/main">
            <a:off x="1219200" y="5429250"/>
            <a:ext cx="9753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69543"/>
          </a:bodyPr>
          <a:lstStyle xmlns:a="http://schemas.openxmlformats.org/drawingml/2006/main"/>
          <a:p xmlns:a="http://schemas.openxmlformats.org/drawingml/2006/main">
            <a:pPr algn="ctr">
              <a:lnSpc>
                <a:spcPct val="100000"/>
              </a:lnSpc>
              <a:buNone/>
              <a:defRPr sz="2025" b="1" i="0">
                <a:solidFill>
                  <a:srgbClr val="0B2942"/>
                </a:solidFill>
                <a:latin typeface="Cambria"/>
                <a:ea typeface="Cambria"/>
                <a:cs typeface="Cambria"/>
              </a:defRPr>
            </a:pPr>
            <a:r>
              <a:rPr sz="2025" b="1" i="0">
                <a:solidFill>
                  <a:srgbClr val="0B2942"/>
                </a:solidFill>
                <a:latin typeface="Cambria"/>
                <a:ea typeface="Cambria"/>
                <a:cs typeface="Cambria"/>
              </a:rPr>
              <a:t>The public accessors stay stable—short_term, long_term, reasoning, and query—while backend capability differs.</a:t>
            </a:r>
          </a:p>
        </p:txBody>
      </p:sp>
    </p:spTree>
    <p:extLst>
      <p:ext uri="{BB962C8B-B14F-4D97-AF65-F5344CB8AC3E}">
        <p14:creationId xmlns:p14="http://schemas.microsoft.com/office/powerpoint/2010/main" val="171552855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EC9740C-1810-47FF-8183-1C58FE7C181A}"/>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A65C5C6A-2056-452E-BA60-91B0BD0EB147}"/>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add_entity() Turns an SDK Call into a Graph Write</a:t>
            </a:r>
          </a:p>
        </p:txBody>
      </p:sp>
      <p:sp>
        <p:nvSpPr>
          <p:cNvPr id="3" name="">
            <a:extLst xmlns:a="http://schemas.openxmlformats.org/drawingml/2006/main">
              <a:ext uri="{FF2B5EF4-FFF2-40B4-BE49-F238E27FC236}">
                <a16:creationId xmlns:a16="http://schemas.microsoft.com/office/drawing/2014/main" id="{E324068A-6426-4DAE-B076-2C6B2D55905C}"/>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1594C674-B194-4553-8BDC-086BF8B63970}"/>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22</a:t>
            </a:r>
          </a:p>
        </p:txBody>
      </p:sp>
      <p:sp>
        <p:nvSpPr>
          <p:cNvPr id="5" name="">
            <a:extLst xmlns:a="http://schemas.openxmlformats.org/drawingml/2006/main">
              <a:ext uri="{FF2B5EF4-FFF2-40B4-BE49-F238E27FC236}">
                <a16:creationId xmlns:a16="http://schemas.microsoft.com/office/drawing/2014/main" id="{E8D6D405-5C04-4A7B-9AE2-08DD9700C7F4}"/>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9525">
            <a:solidFill>
              <a:srgbClr val="A6DAD0"/>
            </a:solidFill>
            <a:prstDash val="solid"/>
          </a:ln>
        </p:spPr>
      </p:sp>
      <p:sp>
        <p:nvSpPr>
          <p:cNvPr id="6" name="">
            <a:extLst xmlns:a="http://schemas.openxmlformats.org/drawingml/2006/main">
              <a:ext uri="{FF2B5EF4-FFF2-40B4-BE49-F238E27FC236}">
                <a16:creationId xmlns:a16="http://schemas.microsoft.com/office/drawing/2014/main" id="{637DA697-CD72-4423-B572-F53E873EA529}"/>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478"/>
          </a:bodyPr>
          <a:lstStyle xmlns:a="http://schemas.openxmlformats.org/drawingml/2006/main"/>
          <a:p xmlns:a="http://schemas.openxmlformats.org/drawingml/2006/main">
            <a:pPr algn="ctr">
              <a:lnSpc>
                <a:spcPct val="100000"/>
              </a:lnSpc>
              <a:buNone/>
              <a:defRPr sz="1200" b="1" i="0">
                <a:solidFill>
                  <a:srgbClr val="065A82"/>
                </a:solidFill>
                <a:latin typeface="Calibri"/>
                <a:ea typeface="Calibri"/>
                <a:cs typeface="Calibri"/>
              </a:defRPr>
            </a:pPr>
            <a:r>
              <a:rPr sz="1200" b="1" i="0">
                <a:solidFill>
                  <a:srgbClr val="065A82"/>
                </a:solidFill>
                <a:latin typeface="Calibri"/>
                <a:ea typeface="Calibri"/>
                <a:cs typeface="Calibri"/>
              </a:rPr>
              <a:t>← Background · Slides 6–7 and 9, Vector + Graph + Lifecycle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b90cce41a334881"/>
          <a:stretch xmlns:a="http://schemas.openxmlformats.org/drawingml/2006/main"/>
        </p:blipFill>
        <p:spPr>
          <a:xfrm xmlns:a="http://schemas.openxmlformats.org/drawingml/2006/main">
            <a:off x="1203756" y="1714500"/>
            <a:ext cx="4164739" cy="3619500"/>
          </a:xfrm>
          <a:prstGeom xmlns:a="http://schemas.openxmlformats.org/drawingml/2006/main" prst="roundRect">
            <a:avLst>
              <a:gd name="adj" fmla="val 3158"/>
            </a:avLst>
          </a:prstGeom>
        </p:spPr>
      </p:pic>
      <p:sp>
        <p:nvSpPr>
          <p:cNvPr id="8" name="">
            <a:extLst xmlns:a="http://schemas.openxmlformats.org/drawingml/2006/main">
              <a:ext uri="{FF2B5EF4-FFF2-40B4-BE49-F238E27FC236}">
                <a16:creationId xmlns:a16="http://schemas.microsoft.com/office/drawing/2014/main" id="{6C7373C6-EEC6-4F23-A307-AE5F8FA51921}"/>
              </a:ext>
            </a:extLst>
          </p:cNvPr>
          <p:cNvSpPr>
            <a:spLocks xmlns:a="http://schemas.openxmlformats.org/drawingml/2006/main" noGrp="1"/>
          </p:cNvSpPr>
          <p:nvPr/>
        </p:nvSpPr>
        <p:spPr>
          <a:xfrm xmlns:a="http://schemas.openxmlformats.org/drawingml/2006/main">
            <a:off x="6477000" y="1571625"/>
            <a:ext cx="400050" cy="4000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0">
            <a:noFill/>
            <a:prstDash val="solid"/>
          </a:ln>
        </p:spPr>
        <p:txBody>
          <a:bodyPr xmlns:a="http://schemas.openxmlformats.org/drawingml/2006/main" wrap="square" lIns="38100" tIns="38100" rIns="38100" bIns="38100" anchor="ctr">
            <a:normAutofit fontScale="78618"/>
          </a:bodyPr>
          <a:lstStyle xmlns:a="http://schemas.openxmlformats.org/drawingml/2006/main"/>
          <a:p xmlns:a="http://schemas.openxmlformats.org/drawingml/2006/main">
            <a:pPr algn="ctr">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1</a:t>
            </a:r>
          </a:p>
        </p:txBody>
      </p:sp>
      <p:sp>
        <p:nvSpPr>
          <p:cNvPr id="9" name="">
            <a:extLst xmlns:a="http://schemas.openxmlformats.org/drawingml/2006/main">
              <a:ext uri="{FF2B5EF4-FFF2-40B4-BE49-F238E27FC236}">
                <a16:creationId xmlns:a16="http://schemas.microsoft.com/office/drawing/2014/main" id="{1A41AC4B-92C4-4075-8E63-1A32E5AE518E}"/>
              </a:ext>
            </a:extLst>
          </p:cNvPr>
          <p:cNvSpPr>
            <a:spLocks xmlns:a="http://schemas.openxmlformats.org/drawingml/2006/main" noGrp="1"/>
          </p:cNvSpPr>
          <p:nvPr/>
        </p:nvSpPr>
        <p:spPr>
          <a:xfrm xmlns:a="http://schemas.openxmlformats.org/drawingml/2006/main">
            <a:off x="7105650" y="15906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l">
              <a:lnSpc>
                <a:spcPct val="100000"/>
              </a:lnSpc>
              <a:buNone/>
              <a:defRPr sz="1650" b="1" i="0">
                <a:solidFill>
                  <a:srgbClr val="0B2942"/>
                </a:solidFill>
                <a:latin typeface="Courier New"/>
                <a:ea typeface="Courier New"/>
                <a:cs typeface="Courier New"/>
              </a:defRPr>
            </a:pPr>
            <a:r>
              <a:rPr sz="1650" b="1" i="0">
                <a:solidFill>
                  <a:srgbClr val="0B2942"/>
                </a:solidFill>
                <a:latin typeface="Courier New"/>
                <a:ea typeface="Courier New"/>
                <a:cs typeface="Courier New"/>
              </a:rPr>
              <a:t>TYPE</a:t>
            </a:r>
          </a:p>
        </p:txBody>
      </p:sp>
      <p:sp>
        <p:nvSpPr>
          <p:cNvPr id="10" name="">
            <a:extLst xmlns:a="http://schemas.openxmlformats.org/drawingml/2006/main">
              <a:ext uri="{FF2B5EF4-FFF2-40B4-BE49-F238E27FC236}">
                <a16:creationId xmlns:a16="http://schemas.microsoft.com/office/drawing/2014/main" id="{9840343B-3AAD-47C9-A9AD-EF0710FF91B0}"/>
              </a:ext>
            </a:extLst>
          </p:cNvPr>
          <p:cNvSpPr>
            <a:spLocks xmlns:a="http://schemas.openxmlformats.org/drawingml/2006/main" noGrp="1"/>
          </p:cNvSpPr>
          <p:nvPr/>
        </p:nvSpPr>
        <p:spPr>
          <a:xfrm xmlns:a="http://schemas.openxmlformats.org/drawingml/2006/main">
            <a:off x="8667750" y="159067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312"/>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normalize POLE+O entity type</a:t>
            </a:r>
          </a:p>
        </p:txBody>
      </p:sp>
      <p:sp>
        <p:nvSpPr>
          <p:cNvPr id="11" name="">
            <a:extLst xmlns:a="http://schemas.openxmlformats.org/drawingml/2006/main">
              <a:ext uri="{FF2B5EF4-FFF2-40B4-BE49-F238E27FC236}">
                <a16:creationId xmlns:a16="http://schemas.microsoft.com/office/drawing/2014/main" id="{271995B0-B4CB-43ED-913E-C00E908570EF}"/>
              </a:ext>
            </a:extLst>
          </p:cNvPr>
          <p:cNvSpPr>
            <a:spLocks xmlns:a="http://schemas.openxmlformats.org/drawingml/2006/main" noGrp="1"/>
          </p:cNvSpPr>
          <p:nvPr/>
        </p:nvSpPr>
        <p:spPr>
          <a:xfrm xmlns:a="http://schemas.openxmlformats.org/drawingml/2006/main">
            <a:off x="6477000" y="2409825"/>
            <a:ext cx="400050" cy="4000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0">
            <a:noFill/>
            <a:prstDash val="solid"/>
          </a:ln>
        </p:spPr>
        <p:txBody>
          <a:bodyPr xmlns:a="http://schemas.openxmlformats.org/drawingml/2006/main" wrap="square" lIns="38100" tIns="38100" rIns="38100" bIns="38100" anchor="ctr">
            <a:normAutofit fontScale="78618"/>
          </a:bodyPr>
          <a:lstStyle xmlns:a="http://schemas.openxmlformats.org/drawingml/2006/main"/>
          <a:p xmlns:a="http://schemas.openxmlformats.org/drawingml/2006/main">
            <a:pPr algn="ctr">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2</a:t>
            </a:r>
          </a:p>
        </p:txBody>
      </p:sp>
      <p:sp>
        <p:nvSpPr>
          <p:cNvPr id="12" name="">
            <a:extLst xmlns:a="http://schemas.openxmlformats.org/drawingml/2006/main">
              <a:ext uri="{FF2B5EF4-FFF2-40B4-BE49-F238E27FC236}">
                <a16:creationId xmlns:a16="http://schemas.microsoft.com/office/drawing/2014/main" id="{04CAAB04-BF7D-4E7E-95A4-46AC54DF194E}"/>
              </a:ext>
            </a:extLst>
          </p:cNvPr>
          <p:cNvSpPr>
            <a:spLocks xmlns:a="http://schemas.openxmlformats.org/drawingml/2006/main" noGrp="1"/>
          </p:cNvSpPr>
          <p:nvPr/>
        </p:nvSpPr>
        <p:spPr>
          <a:xfrm xmlns:a="http://schemas.openxmlformats.org/drawingml/2006/main">
            <a:off x="7105650" y="24288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l">
              <a:lnSpc>
                <a:spcPct val="100000"/>
              </a:lnSpc>
              <a:buNone/>
              <a:defRPr sz="1650" b="1" i="0">
                <a:solidFill>
                  <a:srgbClr val="0B2942"/>
                </a:solidFill>
                <a:latin typeface="Courier New"/>
                <a:ea typeface="Courier New"/>
                <a:cs typeface="Courier New"/>
              </a:defRPr>
            </a:pPr>
            <a:r>
              <a:rPr sz="1650" b="1" i="0">
                <a:solidFill>
                  <a:srgbClr val="0B2942"/>
                </a:solidFill>
                <a:latin typeface="Courier New"/>
                <a:ea typeface="Courier New"/>
                <a:cs typeface="Courier New"/>
              </a:rPr>
              <a:t>RESOLVE</a:t>
            </a:r>
          </a:p>
        </p:txBody>
      </p:sp>
      <p:sp>
        <p:nvSpPr>
          <p:cNvPr id="13" name="">
            <a:extLst xmlns:a="http://schemas.openxmlformats.org/drawingml/2006/main">
              <a:ext uri="{FF2B5EF4-FFF2-40B4-BE49-F238E27FC236}">
                <a16:creationId xmlns:a16="http://schemas.microsoft.com/office/drawing/2014/main" id="{44413533-0339-4BE1-BAB2-827DFAEE5427}"/>
              </a:ext>
            </a:extLst>
          </p:cNvPr>
          <p:cNvSpPr>
            <a:spLocks xmlns:a="http://schemas.openxmlformats.org/drawingml/2006/main" noGrp="1"/>
          </p:cNvSpPr>
          <p:nvPr/>
        </p:nvSpPr>
        <p:spPr>
          <a:xfrm xmlns:a="http://schemas.openxmlformats.org/drawingml/2006/main">
            <a:off x="8667750" y="242887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choose canonical identity</a:t>
            </a:r>
          </a:p>
        </p:txBody>
      </p:sp>
      <p:sp>
        <p:nvSpPr>
          <p:cNvPr id="14" name="">
            <a:extLst xmlns:a="http://schemas.openxmlformats.org/drawingml/2006/main">
              <a:ext uri="{FF2B5EF4-FFF2-40B4-BE49-F238E27FC236}">
                <a16:creationId xmlns:a16="http://schemas.microsoft.com/office/drawing/2014/main" id="{0CB54469-6746-4E15-B8FB-6F50A970448C}"/>
              </a:ext>
            </a:extLst>
          </p:cNvPr>
          <p:cNvSpPr>
            <a:spLocks xmlns:a="http://schemas.openxmlformats.org/drawingml/2006/main" noGrp="1"/>
          </p:cNvSpPr>
          <p:nvPr/>
        </p:nvSpPr>
        <p:spPr>
          <a:xfrm xmlns:a="http://schemas.openxmlformats.org/drawingml/2006/main">
            <a:off x="6477000" y="3248025"/>
            <a:ext cx="400050" cy="4000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0">
            <a:noFill/>
            <a:prstDash val="solid"/>
          </a:ln>
        </p:spPr>
        <p:txBody>
          <a:bodyPr xmlns:a="http://schemas.openxmlformats.org/drawingml/2006/main" wrap="square" lIns="38100" tIns="38100" rIns="38100" bIns="38100" anchor="ctr">
            <a:normAutofit fontScale="78618"/>
          </a:bodyPr>
          <a:lstStyle xmlns:a="http://schemas.openxmlformats.org/drawingml/2006/main"/>
          <a:p xmlns:a="http://schemas.openxmlformats.org/drawingml/2006/main">
            <a:pPr algn="ctr">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3</a:t>
            </a:r>
          </a:p>
        </p:txBody>
      </p:sp>
      <p:sp>
        <p:nvSpPr>
          <p:cNvPr id="15" name="">
            <a:extLst xmlns:a="http://schemas.openxmlformats.org/drawingml/2006/main">
              <a:ext uri="{FF2B5EF4-FFF2-40B4-BE49-F238E27FC236}">
                <a16:creationId xmlns:a16="http://schemas.microsoft.com/office/drawing/2014/main" id="{EA5B9104-0D20-4214-84A2-F2613427E6D3}"/>
              </a:ext>
            </a:extLst>
          </p:cNvPr>
          <p:cNvSpPr>
            <a:spLocks xmlns:a="http://schemas.openxmlformats.org/drawingml/2006/main" noGrp="1"/>
          </p:cNvSpPr>
          <p:nvPr/>
        </p:nvSpPr>
        <p:spPr>
          <a:xfrm xmlns:a="http://schemas.openxmlformats.org/drawingml/2006/main">
            <a:off x="7105650" y="32670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l">
              <a:lnSpc>
                <a:spcPct val="100000"/>
              </a:lnSpc>
              <a:buNone/>
              <a:defRPr sz="1650" b="1" i="0">
                <a:solidFill>
                  <a:srgbClr val="0B2942"/>
                </a:solidFill>
                <a:latin typeface="Courier New"/>
                <a:ea typeface="Courier New"/>
                <a:cs typeface="Courier New"/>
              </a:defRPr>
            </a:pPr>
            <a:r>
              <a:rPr sz="1650" b="1" i="0">
                <a:solidFill>
                  <a:srgbClr val="0B2942"/>
                </a:solidFill>
                <a:latin typeface="Courier New"/>
                <a:ea typeface="Courier New"/>
                <a:cs typeface="Courier New"/>
              </a:rPr>
              <a:t>EMBED</a:t>
            </a:r>
          </a:p>
        </p:txBody>
      </p:sp>
      <p:sp>
        <p:nvSpPr>
          <p:cNvPr id="16" name="">
            <a:extLst xmlns:a="http://schemas.openxmlformats.org/drawingml/2006/main">
              <a:ext uri="{FF2B5EF4-FFF2-40B4-BE49-F238E27FC236}">
                <a16:creationId xmlns:a16="http://schemas.microsoft.com/office/drawing/2014/main" id="{5C5B26EA-292C-4829-AFEE-FCAB356BBF4C}"/>
              </a:ext>
            </a:extLst>
          </p:cNvPr>
          <p:cNvSpPr>
            <a:spLocks xmlns:a="http://schemas.openxmlformats.org/drawingml/2006/main" noGrp="1"/>
          </p:cNvSpPr>
          <p:nvPr/>
        </p:nvSpPr>
        <p:spPr>
          <a:xfrm xmlns:a="http://schemas.openxmlformats.org/drawingml/2006/main">
            <a:off x="8667750" y="326707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optional vector + dedup</a:t>
            </a:r>
          </a:p>
        </p:txBody>
      </p:sp>
      <p:sp>
        <p:nvSpPr>
          <p:cNvPr id="17" name="">
            <a:extLst xmlns:a="http://schemas.openxmlformats.org/drawingml/2006/main">
              <a:ext uri="{FF2B5EF4-FFF2-40B4-BE49-F238E27FC236}">
                <a16:creationId xmlns:a16="http://schemas.microsoft.com/office/drawing/2014/main" id="{B018D2F7-BB5D-45AD-B7A9-501E63873341}"/>
              </a:ext>
            </a:extLst>
          </p:cNvPr>
          <p:cNvSpPr>
            <a:spLocks xmlns:a="http://schemas.openxmlformats.org/drawingml/2006/main" noGrp="1"/>
          </p:cNvSpPr>
          <p:nvPr/>
        </p:nvSpPr>
        <p:spPr>
          <a:xfrm xmlns:a="http://schemas.openxmlformats.org/drawingml/2006/main">
            <a:off x="6477000" y="4086225"/>
            <a:ext cx="400050" cy="4000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0">
            <a:noFill/>
            <a:prstDash val="solid"/>
          </a:ln>
        </p:spPr>
        <p:txBody>
          <a:bodyPr xmlns:a="http://schemas.openxmlformats.org/drawingml/2006/main" wrap="square" lIns="38100" tIns="38100" rIns="38100" bIns="38100" anchor="ctr">
            <a:normAutofit fontScale="78618"/>
          </a:bodyPr>
          <a:lstStyle xmlns:a="http://schemas.openxmlformats.org/drawingml/2006/main"/>
          <a:p xmlns:a="http://schemas.openxmlformats.org/drawingml/2006/main">
            <a:pPr algn="ctr">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4</a:t>
            </a:r>
          </a:p>
        </p:txBody>
      </p:sp>
      <p:sp>
        <p:nvSpPr>
          <p:cNvPr id="18" name="">
            <a:extLst xmlns:a="http://schemas.openxmlformats.org/drawingml/2006/main">
              <a:ext uri="{FF2B5EF4-FFF2-40B4-BE49-F238E27FC236}">
                <a16:creationId xmlns:a16="http://schemas.microsoft.com/office/drawing/2014/main" id="{91F1D599-0BFA-4778-80C1-2C4CE20FEB34}"/>
              </a:ext>
            </a:extLst>
          </p:cNvPr>
          <p:cNvSpPr>
            <a:spLocks xmlns:a="http://schemas.openxmlformats.org/drawingml/2006/main" noGrp="1"/>
          </p:cNvSpPr>
          <p:nvPr/>
        </p:nvSpPr>
        <p:spPr>
          <a:xfrm xmlns:a="http://schemas.openxmlformats.org/drawingml/2006/main">
            <a:off x="7105650" y="41052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l">
              <a:lnSpc>
                <a:spcPct val="100000"/>
              </a:lnSpc>
              <a:buNone/>
              <a:defRPr sz="1650" b="1" i="0">
                <a:solidFill>
                  <a:srgbClr val="0B2942"/>
                </a:solidFill>
                <a:latin typeface="Courier New"/>
                <a:ea typeface="Courier New"/>
                <a:cs typeface="Courier New"/>
              </a:defRPr>
            </a:pPr>
            <a:r>
              <a:rPr sz="1650" b="1" i="0">
                <a:solidFill>
                  <a:srgbClr val="0B2942"/>
                </a:solidFill>
                <a:latin typeface="Courier New"/>
                <a:ea typeface="Courier New"/>
                <a:cs typeface="Courier New"/>
              </a:rPr>
              <a:t>WRITE</a:t>
            </a:r>
          </a:p>
        </p:txBody>
      </p:sp>
      <p:sp>
        <p:nvSpPr>
          <p:cNvPr id="19" name="">
            <a:extLst xmlns:a="http://schemas.openxmlformats.org/drawingml/2006/main">
              <a:ext uri="{FF2B5EF4-FFF2-40B4-BE49-F238E27FC236}">
                <a16:creationId xmlns:a16="http://schemas.microsoft.com/office/drawing/2014/main" id="{6AA2E6B6-77F1-488B-9344-7914DEB2E34A}"/>
              </a:ext>
            </a:extLst>
          </p:cNvPr>
          <p:cNvSpPr>
            <a:spLocks xmlns:a="http://schemas.openxmlformats.org/drawingml/2006/main" noGrp="1"/>
          </p:cNvSpPr>
          <p:nvPr/>
        </p:nvSpPr>
        <p:spPr>
          <a:xfrm xmlns:a="http://schemas.openxmlformats.org/drawingml/2006/main">
            <a:off x="8667750" y="410527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dynamic labels + Cypher</a:t>
            </a:r>
          </a:p>
        </p:txBody>
      </p:sp>
      <p:sp>
        <p:nvSpPr>
          <p:cNvPr id="20" name="">
            <a:extLst xmlns:a="http://schemas.openxmlformats.org/drawingml/2006/main">
              <a:ext uri="{FF2B5EF4-FFF2-40B4-BE49-F238E27FC236}">
                <a16:creationId xmlns:a16="http://schemas.microsoft.com/office/drawing/2014/main" id="{8752FC1D-227B-480F-91D1-9C1024BBD00A}"/>
              </a:ext>
            </a:extLst>
          </p:cNvPr>
          <p:cNvSpPr>
            <a:spLocks xmlns:a="http://schemas.openxmlformats.org/drawingml/2006/main" noGrp="1"/>
          </p:cNvSpPr>
          <p:nvPr/>
        </p:nvSpPr>
        <p:spPr>
          <a:xfrm xmlns:a="http://schemas.openxmlformats.org/drawingml/2006/main">
            <a:off x="6477000" y="4924425"/>
            <a:ext cx="400050" cy="4000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0">
            <a:noFill/>
            <a:prstDash val="solid"/>
          </a:ln>
        </p:spPr>
        <p:txBody>
          <a:bodyPr xmlns:a="http://schemas.openxmlformats.org/drawingml/2006/main" wrap="square" lIns="38100" tIns="38100" rIns="38100" bIns="38100" anchor="ctr">
            <a:normAutofit fontScale="78618"/>
          </a:bodyPr>
          <a:lstStyle xmlns:a="http://schemas.openxmlformats.org/drawingml/2006/main"/>
          <a:p xmlns:a="http://schemas.openxmlformats.org/drawingml/2006/main">
            <a:pPr algn="ctr">
              <a:lnSpc>
                <a:spcPct val="100000"/>
              </a:lnSpc>
              <a:buNone/>
              <a:defRPr sz="1725" b="1" i="0">
                <a:solidFill>
                  <a:srgbClr val="065A82"/>
                </a:solidFill>
                <a:latin typeface="Courier New"/>
                <a:ea typeface="Courier New"/>
                <a:cs typeface="Courier New"/>
              </a:defRPr>
            </a:pPr>
            <a:r>
              <a:rPr sz="1725" b="1" i="0">
                <a:solidFill>
                  <a:srgbClr val="065A82"/>
                </a:solidFill>
                <a:latin typeface="Courier New"/>
                <a:ea typeface="Courier New"/>
                <a:cs typeface="Courier New"/>
              </a:rPr>
              <a:t>5</a:t>
            </a:r>
          </a:p>
        </p:txBody>
      </p:sp>
      <p:sp>
        <p:nvSpPr>
          <p:cNvPr id="21" name="">
            <a:extLst xmlns:a="http://schemas.openxmlformats.org/drawingml/2006/main">
              <a:ext uri="{FF2B5EF4-FFF2-40B4-BE49-F238E27FC236}">
                <a16:creationId xmlns:a16="http://schemas.microsoft.com/office/drawing/2014/main" id="{938E4345-8F04-404C-8524-40EA01888618}"/>
              </a:ext>
            </a:extLst>
          </p:cNvPr>
          <p:cNvSpPr>
            <a:spLocks xmlns:a="http://schemas.openxmlformats.org/drawingml/2006/main" noGrp="1"/>
          </p:cNvSpPr>
          <p:nvPr/>
        </p:nvSpPr>
        <p:spPr>
          <a:xfrm xmlns:a="http://schemas.openxmlformats.org/drawingml/2006/main">
            <a:off x="7105650" y="49434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l">
              <a:lnSpc>
                <a:spcPct val="100000"/>
              </a:lnSpc>
              <a:buNone/>
              <a:defRPr sz="1650" b="1" i="0">
                <a:solidFill>
                  <a:srgbClr val="0B2942"/>
                </a:solidFill>
                <a:latin typeface="Courier New"/>
                <a:ea typeface="Courier New"/>
                <a:cs typeface="Courier New"/>
              </a:defRPr>
            </a:pPr>
            <a:r>
              <a:rPr sz="1650" b="1" i="0">
                <a:solidFill>
                  <a:srgbClr val="0B2942"/>
                </a:solidFill>
                <a:latin typeface="Courier New"/>
                <a:ea typeface="Courier New"/>
                <a:cs typeface="Courier New"/>
              </a:rPr>
              <a:t>LINK</a:t>
            </a:r>
          </a:p>
        </p:txBody>
      </p:sp>
      <p:sp>
        <p:nvSpPr>
          <p:cNvPr id="22" name="">
            <a:extLst xmlns:a="http://schemas.openxmlformats.org/drawingml/2006/main">
              <a:ext uri="{FF2B5EF4-FFF2-40B4-BE49-F238E27FC236}">
                <a16:creationId xmlns:a16="http://schemas.microsoft.com/office/drawing/2014/main" id="{4FF89391-3268-4AC7-A47B-8A299299B5EA}"/>
              </a:ext>
            </a:extLst>
          </p:cNvPr>
          <p:cNvSpPr>
            <a:spLocks xmlns:a="http://schemas.openxmlformats.org/drawingml/2006/main" noGrp="1"/>
          </p:cNvSpPr>
          <p:nvPr/>
        </p:nvSpPr>
        <p:spPr>
          <a:xfrm xmlns:a="http://schemas.openxmlformats.org/drawingml/2006/main">
            <a:off x="8667750" y="494347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779"/>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typed relationships, provenance</a:t>
            </a:r>
          </a:p>
        </p:txBody>
      </p:sp>
      <p:sp>
        <p:nvSpPr>
          <p:cNvPr id="23" name="">
            <a:extLst xmlns:a="http://schemas.openxmlformats.org/drawingml/2006/main">
              <a:ext uri="{FF2B5EF4-FFF2-40B4-BE49-F238E27FC236}">
                <a16:creationId xmlns:a16="http://schemas.microsoft.com/office/drawing/2014/main" id="{2028C450-29A0-433C-AC91-AA2735AACA6F}"/>
              </a:ext>
            </a:extLst>
          </p:cNvPr>
          <p:cNvSpPr>
            <a:spLocks xmlns:a="http://schemas.openxmlformats.org/drawingml/2006/main" noGrp="1"/>
          </p:cNvSpPr>
          <p:nvPr/>
        </p:nvSpPr>
        <p:spPr>
          <a:xfrm xmlns:a="http://schemas.openxmlformats.org/drawingml/2006/main">
            <a:off x="1428750" y="57340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719"/>
          </a:bodyPr>
          <a:lstStyle xmlns:a="http://schemas.openxmlformats.org/drawingml/2006/main"/>
          <a:p xmlns:a="http://schemas.openxmlformats.org/drawingml/2006/main">
            <a:pPr algn="ctr">
              <a:lnSpc>
                <a:spcPct val="100000"/>
              </a:lnSpc>
              <a:buNone/>
              <a:defRPr sz="1800" b="1" i="0">
                <a:solidFill>
                  <a:srgbClr val="065A82"/>
                </a:solidFill>
                <a:latin typeface="Calibri"/>
                <a:ea typeface="Calibri"/>
                <a:cs typeface="Calibri"/>
              </a:defRPr>
            </a:pPr>
            <a:r>
              <a:rPr sz="1800" b="1" i="0">
                <a:solidFill>
                  <a:srgbClr val="065A82"/>
                </a:solidFill>
                <a:latin typeface="Calibri"/>
                <a:ea typeface="Calibri"/>
                <a:cs typeface="Calibri"/>
              </a:rPr>
              <a:t>add_relationship(source, target, type) stores type on a RELATED_TO edge between the two entity IDs.</a:t>
            </a:r>
          </a:p>
        </p:txBody>
      </p:sp>
    </p:spTree>
    <p:extLst>
      <p:ext uri="{BB962C8B-B14F-4D97-AF65-F5344CB8AC3E}">
        <p14:creationId xmlns:p14="http://schemas.microsoft.com/office/powerpoint/2010/main" val="2010927160"/>
      </p:ext>
    </p:extLst>
  </p:cSld>
</p:sld>
</file>

<file path=ppt/slides/slide23.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E6D3FE-AD73-419E-946C-086C1E433CAF}"/>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9134C642-D6D6-4857-97BB-35A96C36CA68}"/>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503"/>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get_graph() Produces Browser-Ready Nodes and Edges</a:t>
            </a:r>
          </a:p>
        </p:txBody>
      </p:sp>
      <p:sp>
        <p:nvSpPr>
          <p:cNvPr id="3" name="">
            <a:extLst xmlns:a="http://schemas.openxmlformats.org/drawingml/2006/main">
              <a:ext uri="{FF2B5EF4-FFF2-40B4-BE49-F238E27FC236}">
                <a16:creationId xmlns:a16="http://schemas.microsoft.com/office/drawing/2014/main" id="{91C22317-9FE8-4FAF-8A28-0F4C62479393}"/>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69939D09-BB22-45BA-9812-9AFB24BB661E}"/>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23</a:t>
            </a:r>
          </a:p>
        </p:txBody>
      </p:sp>
      <p:sp>
        <p:nvSpPr>
          <p:cNvPr id="5" name="">
            <a:extLst xmlns:a="http://schemas.openxmlformats.org/drawingml/2006/main">
              <a:ext uri="{FF2B5EF4-FFF2-40B4-BE49-F238E27FC236}">
                <a16:creationId xmlns:a16="http://schemas.microsoft.com/office/drawing/2014/main" id="{0DAEC398-5264-4A8F-884C-1865738E8ABB}"/>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173F58"/>
          </a:solidFill>
          <a:ln xmlns:a="http://schemas.openxmlformats.org/drawingml/2006/main" w="9525">
            <a:solidFill>
              <a:srgbClr val="1C7293"/>
            </a:solidFill>
            <a:prstDash val="solid"/>
          </a:ln>
        </p:spPr>
      </p:sp>
      <p:sp>
        <p:nvSpPr>
          <p:cNvPr id="6" name="">
            <a:extLst xmlns:a="http://schemas.openxmlformats.org/drawingml/2006/main">
              <a:ext uri="{FF2B5EF4-FFF2-40B4-BE49-F238E27FC236}">
                <a16:creationId xmlns:a16="http://schemas.microsoft.com/office/drawing/2014/main" id="{9AFB4D87-13A7-4B04-90DB-C71F0474358F}"/>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CFE8F0"/>
                </a:solidFill>
                <a:latin typeface="Calibri"/>
                <a:ea typeface="Calibri"/>
                <a:cs typeface="Calibri"/>
              </a:defRPr>
            </a:pPr>
            <a:r>
              <a:rPr sz="1200" b="1" i="0">
                <a:solidFill>
                  <a:srgbClr val="CFE8F0"/>
                </a:solidFill>
                <a:latin typeface="Calibri"/>
                <a:ea typeface="Calibri"/>
                <a:cs typeface="Calibri"/>
              </a:rPr>
              <a:t>← Background · Slide 7, Graph Memory</a:t>
            </a:r>
          </a:p>
        </p:txBody>
      </p:sp>
      <p:sp>
        <p:nvSpPr>
          <p:cNvPr id="7" name="">
            <a:extLst xmlns:a="http://schemas.openxmlformats.org/drawingml/2006/main">
              <a:ext uri="{FF2B5EF4-FFF2-40B4-BE49-F238E27FC236}">
                <a16:creationId xmlns:a16="http://schemas.microsoft.com/office/drawing/2014/main" id="{62EE28CF-4DB2-49CA-9240-08E94A624C47}"/>
              </a:ext>
            </a:extLst>
          </p:cNvPr>
          <p:cNvSpPr>
            <a:spLocks xmlns:a="http://schemas.openxmlformats.org/drawingml/2006/main" noGrp="1"/>
          </p:cNvSpPr>
          <p:nvPr/>
        </p:nvSpPr>
        <p:spPr>
          <a:xfrm xmlns:a="http://schemas.openxmlformats.org/drawingml/2006/main">
            <a:off x="685800" y="1619250"/>
            <a:ext cx="4762500" cy="3333750"/>
          </a:xfrm>
          <a:prstGeom xmlns:a="http://schemas.openxmlformats.org/drawingml/2006/main" prst="roundRect">
            <a:avLst>
              <a:gd name="adj" fmla="val 3429"/>
            </a:avLst>
          </a:prstGeom>
          <a:solidFill xmlns:a="http://schemas.openxmlformats.org/drawingml/2006/main">
            <a:srgbClr val="0B2942"/>
          </a:solidFill>
          <a:ln xmlns:a="http://schemas.openxmlformats.org/drawingml/2006/main" w="11430">
            <a:solidFill>
              <a:srgbClr val="065A82"/>
            </a:solidFill>
            <a:prstDash val="solid"/>
          </a:ln>
        </p:spPr>
      </p:sp>
      <p:sp>
        <p:nvSpPr>
          <p:cNvPr id="8" name="">
            <a:extLst xmlns:a="http://schemas.openxmlformats.org/drawingml/2006/main">
              <a:ext uri="{FF2B5EF4-FFF2-40B4-BE49-F238E27FC236}">
                <a16:creationId xmlns:a16="http://schemas.microsoft.com/office/drawing/2014/main" id="{A8D5CA58-1D18-4CAC-8A7D-43056CEBB2F5}"/>
              </a:ext>
            </a:extLst>
          </p:cNvPr>
          <p:cNvSpPr>
            <a:spLocks xmlns:a="http://schemas.openxmlformats.org/drawingml/2006/main" noGrp="1"/>
          </p:cNvSpPr>
          <p:nvPr/>
        </p:nvSpPr>
        <p:spPr>
          <a:xfrm xmlns:a="http://schemas.openxmlformats.org/drawingml/2006/main">
            <a:off x="857250" y="1752600"/>
            <a:ext cx="44196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CFE8F0"/>
                </a:solidFill>
                <a:latin typeface="Courier New"/>
                <a:ea typeface="Courier New"/>
                <a:cs typeface="Courier New"/>
              </a:defRPr>
            </a:pPr>
            <a:r>
              <a:rPr sz="1650" b="0" i="0">
                <a:solidFill>
                  <a:srgbClr val="CFE8F0"/>
                </a:solidFill>
                <a:latin typeface="Courier New"/>
                <a:ea typeface="Courier New"/>
                <a:cs typeface="Courier New"/>
              </a:rPr>
              <a:t>graph = await memory.get_graph(</a:t>
            </a:r>
          </a:p>
          <a:p xmlns:a="http://schemas.openxmlformats.org/drawingml/2006/main">
            <a:pPr algn="l">
              <a:lnSpc>
                <a:spcPct val="100000"/>
              </a:lnSpc>
              <a:buNone/>
              <a:defRPr sz="1650" b="0" i="0">
                <a:solidFill>
                  <a:srgbClr val="CFE8F0"/>
                </a:solidFill>
                <a:latin typeface="Courier New"/>
                <a:ea typeface="Courier New"/>
                <a:cs typeface="Courier New"/>
              </a:defRPr>
            </a:pPr>
            <a:r>
              <a:rPr sz="1650" b="0" i="0">
                <a:solidFill>
                  <a:srgbClr val="CFE8F0"/>
                </a:solidFill>
                <a:latin typeface="Courier New"/>
                <a:ea typeface="Courier New"/>
                <a:cs typeface="Courier New"/>
              </a:rPr>
              <a:t>    memory_types=["long_term"],</a:t>
            </a:r>
          </a:p>
          <a:p xmlns:a="http://schemas.openxmlformats.org/drawingml/2006/main">
            <a:pPr algn="l">
              <a:lnSpc>
                <a:spcPct val="100000"/>
              </a:lnSpc>
              <a:buNone/>
              <a:defRPr sz="1650" b="0" i="0">
                <a:solidFill>
                  <a:srgbClr val="CFE8F0"/>
                </a:solidFill>
                <a:latin typeface="Courier New"/>
                <a:ea typeface="Courier New"/>
                <a:cs typeface="Courier New"/>
              </a:defRPr>
            </a:pPr>
            <a:r>
              <a:rPr sz="1650" b="0" i="0">
                <a:solidFill>
                  <a:srgbClr val="CFE8F0"/>
                </a:solidFill>
                <a:latin typeface="Courier New"/>
                <a:ea typeface="Courier New"/>
                <a:cs typeface="Courier New"/>
              </a:rPr>
              <a:t>    include_embeddings=False,</a:t>
            </a:r>
          </a:p>
          <a:p xmlns:a="http://schemas.openxmlformats.org/drawingml/2006/main">
            <a:pPr algn="l">
              <a:lnSpc>
                <a:spcPct val="100000"/>
              </a:lnSpc>
              <a:buNone/>
              <a:defRPr sz="1650" b="0" i="0">
                <a:solidFill>
                  <a:srgbClr val="CFE8F0"/>
                </a:solidFill>
                <a:latin typeface="Courier New"/>
                <a:ea typeface="Courier New"/>
                <a:cs typeface="Courier New"/>
              </a:defRPr>
            </a:pPr>
            <a:r>
              <a:rPr sz="1650" b="0" i="0">
                <a:solidFill>
                  <a:srgbClr val="CFE8F0"/>
                </a:solidFill>
                <a:latin typeface="Courier New"/>
                <a:ea typeface="Courier New"/>
                <a:cs typeface="Courier New"/>
              </a:rPr>
              <a:t>)</a:t>
            </a:r>
          </a:p>
          <a:p xmlns:a="http://schemas.openxmlformats.org/drawingml/2006/main">
            <a:r>
              <a:t/>
            </a:r>
          </a:p>
          <a:p xmlns:a="http://schemas.openxmlformats.org/drawingml/2006/main">
            <a:pPr algn="l">
              <a:lnSpc>
                <a:spcPct val="100000"/>
              </a:lnSpc>
              <a:buNone/>
              <a:defRPr sz="1650" b="0" i="0">
                <a:solidFill>
                  <a:srgbClr val="CFE8F0"/>
                </a:solidFill>
                <a:latin typeface="Courier New"/>
                <a:ea typeface="Courier New"/>
                <a:cs typeface="Courier New"/>
              </a:defRPr>
            </a:pPr>
            <a:r>
              <a:rPr sz="1650" b="0" i="0">
                <a:solidFill>
                  <a:srgbClr val="CFE8F0"/>
                </a:solidFill>
                <a:latin typeface="Courier New"/>
                <a:ea typeface="Courier New"/>
                <a:cs typeface="Courier New"/>
              </a:rPr>
              <a:t>return graph.model_dump(mode="json")</a:t>
            </a:r>
          </a:p>
        </p:txBody>
      </p:sp>
      <p:sp>
        <p:nvSpPr>
          <p:cNvPr id="9" name="">
            <a:extLst xmlns:a="http://schemas.openxmlformats.org/drawingml/2006/main">
              <a:ext uri="{FF2B5EF4-FFF2-40B4-BE49-F238E27FC236}">
                <a16:creationId xmlns:a16="http://schemas.microsoft.com/office/drawing/2014/main" id="{FE799FC0-6F91-4A63-B2E8-5C35E583BD50}"/>
              </a:ext>
            </a:extLst>
          </p:cNvPr>
          <p:cNvSpPr>
            <a:spLocks xmlns:a="http://schemas.openxmlformats.org/drawingml/2006/main" noGrp="1"/>
          </p:cNvSpPr>
          <p:nvPr/>
        </p:nvSpPr>
        <p:spPr>
          <a:xfrm xmlns:a="http://schemas.openxmlformats.org/drawingml/2006/main">
            <a:off x="5905500" y="1619250"/>
            <a:ext cx="5619750" cy="3333750"/>
          </a:xfrm>
          <a:prstGeom xmlns:a="http://schemas.openxmlformats.org/drawingml/2006/main" prst="roundRect">
            <a:avLst>
              <a:gd name="adj" fmla="val 3429"/>
            </a:avLst>
          </a:prstGeom>
          <a:solidFill xmlns:a="http://schemas.openxmlformats.org/drawingml/2006/main">
            <a:srgbClr val="123A55"/>
          </a:solidFill>
          <a:ln xmlns:a="http://schemas.openxmlformats.org/drawingml/2006/main" w="11430">
            <a:solidFill>
              <a:srgbClr val="1C7293"/>
            </a:solidFill>
            <a:prstDash val="solid"/>
          </a:ln>
        </p:spPr>
      </p:sp>
      <p:sp>
        <p:nvSpPr>
          <p:cNvPr id="10" name="">
            <a:extLst xmlns:a="http://schemas.openxmlformats.org/drawingml/2006/main">
              <a:ext uri="{FF2B5EF4-FFF2-40B4-BE49-F238E27FC236}">
                <a16:creationId xmlns:a16="http://schemas.microsoft.com/office/drawing/2014/main" id="{AA1E779E-3FCC-49AB-9D31-4B2277652341}"/>
              </a:ext>
            </a:extLst>
          </p:cNvPr>
          <p:cNvSpPr>
            <a:spLocks xmlns:a="http://schemas.openxmlformats.org/drawingml/2006/main" noGrp="1"/>
          </p:cNvSpPr>
          <p:nvPr/>
        </p:nvSpPr>
        <p:spPr>
          <a:xfrm xmlns:a="http://schemas.openxmlformats.org/drawingml/2006/main">
            <a:off x="6076950" y="1752600"/>
            <a:ext cx="527685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"nodes": [</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{"id": "…", "labels": ["Entity"],</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"properties": {"name": "Ada", "type": "PERSON"}}</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"relationships": [</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{"type": "WROTE_ABOUT",</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"from_node": "…", "to_node": "…"}</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  "metadata": {"node_count": 2}</a:t>
            </a:r>
          </a:p>
          <a:p xmlns:a="http://schemas.openxmlformats.org/drawingml/2006/main">
            <a:pPr algn="l">
              <a:lnSpc>
                <a:spcPct val="100000"/>
              </a:lnSpc>
              <a:buNone/>
              <a:defRPr sz="1350" b="0" i="0">
                <a:solidFill>
                  <a:srgbClr val="CFE8F0"/>
                </a:solidFill>
                <a:latin typeface="Courier New"/>
                <a:ea typeface="Courier New"/>
                <a:cs typeface="Courier New"/>
              </a:defRPr>
            </a:pPr>
            <a:r>
              <a:rPr sz="1350" b="0" i="0">
                <a:solidFill>
                  <a:srgbClr val="CFE8F0"/>
                </a:solidFill>
                <a:latin typeface="Courier New"/>
                <a:ea typeface="Courier New"/>
                <a:cs typeface="Courier New"/>
              </a:rPr>
              <a:t>}</a:t>
            </a:r>
          </a:p>
        </p:txBody>
      </p:sp>
      <p:sp>
        <p:nvSpPr>
          <p:cNvPr id="11" name="">
            <a:extLst xmlns:a="http://schemas.openxmlformats.org/drawingml/2006/main">
              <a:ext uri="{FF2B5EF4-FFF2-40B4-BE49-F238E27FC236}">
                <a16:creationId xmlns:a16="http://schemas.microsoft.com/office/drawing/2014/main" id="{452CB906-3796-4760-B711-D763BD2D4226}"/>
              </a:ext>
            </a:extLst>
          </p:cNvPr>
          <p:cNvSpPr>
            <a:spLocks xmlns:a="http://schemas.openxmlformats.org/drawingml/2006/main" noGrp="1"/>
          </p:cNvSpPr>
          <p:nvPr/>
        </p:nvSpPr>
        <p:spPr>
          <a:xfrm xmlns:a="http://schemas.openxmlformats.org/drawingml/2006/main">
            <a:off x="1181100" y="5314950"/>
            <a:ext cx="982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2593"/>
          </a:bodyPr>
          <a:lstStyle xmlns:a="http://schemas.openxmlformats.org/drawingml/2006/main"/>
          <a:p xmlns:a="http://schemas.openxmlformats.org/drawingml/2006/main">
            <a:pPr algn="ctr">
              <a:lnSpc>
                <a:spcPct val="100000"/>
              </a:lnSpc>
              <a:buNone/>
              <a:defRPr sz="2025" b="1" i="0">
                <a:solidFill>
                  <a:srgbClr val="F4C95D"/>
                </a:solidFill>
                <a:latin typeface="Cambria"/>
                <a:ea typeface="Cambria"/>
                <a:cs typeface="Cambria"/>
              </a:defRPr>
            </a:pPr>
            <a:r>
              <a:rPr sz="2025" b="1" i="0">
                <a:solidFill>
                  <a:srgbClr val="F4C95D"/>
                </a:solidFill>
                <a:latin typeface="Cambria"/>
                <a:ea typeface="Cambria"/>
                <a:cs typeface="Cambria"/>
              </a:rPr>
              <a:t>The export omits embeddings by default and is designed for visualization libraries. In 0.5.0, this convenience method is bolt-only.</a:t>
            </a:r>
          </a:p>
        </p:txBody>
      </p:sp>
    </p:spTree>
    <p:extLst>
      <p:ext uri="{BB962C8B-B14F-4D97-AF65-F5344CB8AC3E}">
        <p14:creationId xmlns:p14="http://schemas.microsoft.com/office/powerpoint/2010/main" val="1680148970"/>
      </p:ext>
    </p:extLst>
  </p:cSld>
</p:sld>
</file>

<file path=ppt/slides/slide24.xml><?xml version="1.0" encoding="utf-8"?>
<p:sld xmlns:p="http://schemas.openxmlformats.org/presentationml/2006/main">
  <p:cSld>
    <p:bg>
      <p:bgPr>
        <a:solidFill xmlns:a="http://schemas.openxmlformats.org/drawingml/2006/main">
          <a:srgbClr val="F2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BDA3D2B-5108-4E71-98F6-55A16D8966BB}"/>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E2FD8874-EBA7-4335-9066-8177564EBE33}"/>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Search Methods Select a Retrieval Mechanism</a:t>
            </a:r>
          </a:p>
        </p:txBody>
      </p:sp>
      <p:sp>
        <p:nvSpPr>
          <p:cNvPr id="3" name="">
            <a:extLst xmlns:a="http://schemas.openxmlformats.org/drawingml/2006/main">
              <a:ext uri="{FF2B5EF4-FFF2-40B4-BE49-F238E27FC236}">
                <a16:creationId xmlns:a16="http://schemas.microsoft.com/office/drawing/2014/main" id="{A8BC3C85-58A8-4042-ACA3-797C6BDB30F6}"/>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4832508D-3D1C-44B2-B029-C3F000862B79}"/>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24</a:t>
            </a:r>
          </a:p>
        </p:txBody>
      </p:sp>
      <p:sp>
        <p:nvSpPr>
          <p:cNvPr id="5" name="">
            <a:extLst xmlns:a="http://schemas.openxmlformats.org/drawingml/2006/main">
              <a:ext uri="{FF2B5EF4-FFF2-40B4-BE49-F238E27FC236}">
                <a16:creationId xmlns:a16="http://schemas.microsoft.com/office/drawing/2014/main" id="{ACC4ADBB-943E-4831-BD61-EC3EAC62B46A}"/>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9525">
            <a:solidFill>
              <a:srgbClr val="A6DAD0"/>
            </a:solidFill>
            <a:prstDash val="solid"/>
          </a:ln>
        </p:spPr>
      </p:sp>
      <p:sp>
        <p:nvSpPr>
          <p:cNvPr id="6" name="">
            <a:extLst xmlns:a="http://schemas.openxmlformats.org/drawingml/2006/main">
              <a:ext uri="{FF2B5EF4-FFF2-40B4-BE49-F238E27FC236}">
                <a16:creationId xmlns:a16="http://schemas.microsoft.com/office/drawing/2014/main" id="{1D7C0C33-B4B7-4F24-8E82-8CEE903FC576}"/>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65A82"/>
                </a:solidFill>
                <a:latin typeface="Calibri"/>
                <a:ea typeface="Calibri"/>
                <a:cs typeface="Calibri"/>
              </a:defRPr>
            </a:pPr>
            <a:r>
              <a:rPr sz="1200" b="1" i="0">
                <a:solidFill>
                  <a:srgbClr val="065A82"/>
                </a:solidFill>
                <a:latin typeface="Calibri"/>
                <a:ea typeface="Calibri"/>
                <a:cs typeface="Calibri"/>
              </a:rPr>
              <a:t>← Background · Slides 4–8, Retrieval Systems</a:t>
            </a:r>
          </a:p>
        </p:txBody>
      </p:sp>
      <p:sp>
        <p:nvSpPr>
          <p:cNvPr id="7" name="">
            <a:extLst xmlns:a="http://schemas.openxmlformats.org/drawingml/2006/main">
              <a:ext uri="{FF2B5EF4-FFF2-40B4-BE49-F238E27FC236}">
                <a16:creationId xmlns:a16="http://schemas.microsoft.com/office/drawing/2014/main" id="{8B7D4829-8C33-4344-856B-774BFB76101F}"/>
              </a:ext>
            </a:extLst>
          </p:cNvPr>
          <p:cNvSpPr>
            <a:spLocks xmlns:a="http://schemas.openxmlformats.org/drawingml/2006/main" noGrp="1"/>
          </p:cNvSpPr>
          <p:nvPr/>
        </p:nvSpPr>
        <p:spPr>
          <a:xfrm xmlns:a="http://schemas.openxmlformats.org/drawingml/2006/main">
            <a:off x="704850" y="1543050"/>
            <a:ext cx="10782300" cy="685800"/>
          </a:xfrm>
          <a:prstGeom xmlns:a="http://schemas.openxmlformats.org/drawingml/2006/main" prst="roundRect">
            <a:avLst>
              <a:gd name="adj" fmla="val 16667"/>
            </a:avLst>
          </a:prstGeom>
          <a:solidFill xmlns:a="http://schemas.openxmlformats.org/drawingml/2006/main">
            <a:srgbClr val="DDF4EF"/>
          </a:solidFill>
          <a:ln xmlns:a="http://schemas.openxmlformats.org/drawingml/2006/main" w="9525">
            <a:solidFill>
              <a:srgbClr val="CFE8F0"/>
            </a:solidFill>
            <a:prstDash val="solid"/>
          </a:ln>
        </p:spPr>
      </p:sp>
      <p:sp>
        <p:nvSpPr>
          <p:cNvPr id="8" name="">
            <a:extLst xmlns:a="http://schemas.openxmlformats.org/drawingml/2006/main">
              <a:ext uri="{FF2B5EF4-FFF2-40B4-BE49-F238E27FC236}">
                <a16:creationId xmlns:a16="http://schemas.microsoft.com/office/drawing/2014/main" id="{073F6C64-3722-46CC-96F5-A99E1EE6D582}"/>
              </a:ext>
            </a:extLst>
          </p:cNvPr>
          <p:cNvSpPr>
            <a:spLocks xmlns:a="http://schemas.openxmlformats.org/drawingml/2006/main" noGrp="1"/>
          </p:cNvSpPr>
          <p:nvPr/>
        </p:nvSpPr>
        <p:spPr>
          <a:xfrm xmlns:a="http://schemas.openxmlformats.org/drawingml/2006/main">
            <a:off x="952500" y="17335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065A82"/>
                </a:solidFill>
                <a:latin typeface="Courier New"/>
                <a:ea typeface="Courier New"/>
                <a:cs typeface="Courier New"/>
              </a:defRPr>
            </a:pPr>
            <a:r>
              <a:rPr sz="1500" b="1" i="0">
                <a:solidFill>
                  <a:srgbClr val="065A82"/>
                </a:solidFill>
                <a:latin typeface="Courier New"/>
                <a:ea typeface="Courier New"/>
                <a:cs typeface="Courier New"/>
              </a:rPr>
              <a:t>search_entities(query)</a:t>
            </a:r>
          </a:p>
        </p:txBody>
      </p:sp>
      <p:sp>
        <p:nvSpPr>
          <p:cNvPr id="9" name="">
            <a:extLst xmlns:a="http://schemas.openxmlformats.org/drawingml/2006/main">
              <a:ext uri="{FF2B5EF4-FFF2-40B4-BE49-F238E27FC236}">
                <a16:creationId xmlns:a16="http://schemas.microsoft.com/office/drawing/2014/main" id="{E0D4C2F6-0A11-4F89-88BB-F22B10F59673}"/>
              </a:ext>
            </a:extLst>
          </p:cNvPr>
          <p:cNvSpPr>
            <a:spLocks xmlns:a="http://schemas.openxmlformats.org/drawingml/2006/main" noGrp="1"/>
          </p:cNvSpPr>
          <p:nvPr/>
        </p:nvSpPr>
        <p:spPr>
          <a:xfrm xmlns:a="http://schemas.openxmlformats.org/drawingml/2006/main">
            <a:off x="4762500" y="1685925"/>
            <a:ext cx="638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725" b="0" i="0">
                <a:solidFill>
                  <a:srgbClr val="1B2733"/>
                </a:solidFill>
                <a:latin typeface="Calibri"/>
                <a:ea typeface="Calibri"/>
                <a:cs typeface="Calibri"/>
              </a:defRPr>
            </a:pPr>
            <a:r>
              <a:rPr sz="1725" b="0" i="0">
                <a:solidFill>
                  <a:srgbClr val="1B2733"/>
                </a:solidFill>
                <a:latin typeface="Calibri"/>
                <a:ea typeface="Calibri"/>
                <a:cs typeface="Calibri"/>
              </a:rPr>
              <a:t>embed query → vector index → optional type filter</a:t>
            </a:r>
          </a:p>
        </p:txBody>
      </p:sp>
      <p:sp>
        <p:nvSpPr>
          <p:cNvPr id="10" name="">
            <a:extLst xmlns:a="http://schemas.openxmlformats.org/drawingml/2006/main">
              <a:ext uri="{FF2B5EF4-FFF2-40B4-BE49-F238E27FC236}">
                <a16:creationId xmlns:a16="http://schemas.microsoft.com/office/drawing/2014/main" id="{3D7F64C1-37B6-4D91-95DF-9409C9986E0A}"/>
              </a:ext>
            </a:extLst>
          </p:cNvPr>
          <p:cNvSpPr>
            <a:spLocks xmlns:a="http://schemas.openxmlformats.org/drawingml/2006/main" noGrp="1"/>
          </p:cNvSpPr>
          <p:nvPr/>
        </p:nvSpPr>
        <p:spPr>
          <a:xfrm xmlns:a="http://schemas.openxmlformats.org/drawingml/2006/main">
            <a:off x="704850" y="2419350"/>
            <a:ext cx="10782300" cy="685800"/>
          </a:xfrm>
          <a:prstGeom xmlns:a="http://schemas.openxmlformats.org/drawingml/2006/main" prst="roundRect">
            <a:avLst>
              <a:gd name="adj" fmla="val 16667"/>
            </a:avLst>
          </a:prstGeom>
          <a:solidFill xmlns:a="http://schemas.openxmlformats.org/drawingml/2006/main">
            <a:srgbClr val="FFF7DA"/>
          </a:solidFill>
          <a:ln xmlns:a="http://schemas.openxmlformats.org/drawingml/2006/main" w="9525">
            <a:solidFill>
              <a:srgbClr val="CFE8F0"/>
            </a:solidFill>
            <a:prstDash val="solid"/>
          </a:ln>
        </p:spPr>
      </p:sp>
      <p:sp>
        <p:nvSpPr>
          <p:cNvPr id="11" name="">
            <a:extLst xmlns:a="http://schemas.openxmlformats.org/drawingml/2006/main">
              <a:ext uri="{FF2B5EF4-FFF2-40B4-BE49-F238E27FC236}">
                <a16:creationId xmlns:a16="http://schemas.microsoft.com/office/drawing/2014/main" id="{070C6B45-2DEF-4449-A262-7F2662D047B4}"/>
              </a:ext>
            </a:extLst>
          </p:cNvPr>
          <p:cNvSpPr>
            <a:spLocks xmlns:a="http://schemas.openxmlformats.org/drawingml/2006/main" noGrp="1"/>
          </p:cNvSpPr>
          <p:nvPr/>
        </p:nvSpPr>
        <p:spPr>
          <a:xfrm xmlns:a="http://schemas.openxmlformats.org/drawingml/2006/main">
            <a:off x="952500" y="26098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065A82"/>
                </a:solidFill>
                <a:latin typeface="Courier New"/>
                <a:ea typeface="Courier New"/>
                <a:cs typeface="Courier New"/>
              </a:defRPr>
            </a:pPr>
            <a:r>
              <a:rPr sz="1500" b="1" i="0">
                <a:solidFill>
                  <a:srgbClr val="065A82"/>
                </a:solidFill>
                <a:latin typeface="Courier New"/>
                <a:ea typeface="Courier New"/>
                <a:cs typeface="Courier New"/>
              </a:rPr>
              <a:t>search_preferences(query)</a:t>
            </a:r>
          </a:p>
        </p:txBody>
      </p:sp>
      <p:sp>
        <p:nvSpPr>
          <p:cNvPr id="12" name="">
            <a:extLst xmlns:a="http://schemas.openxmlformats.org/drawingml/2006/main">
              <a:ext uri="{FF2B5EF4-FFF2-40B4-BE49-F238E27FC236}">
                <a16:creationId xmlns:a16="http://schemas.microsoft.com/office/drawing/2014/main" id="{56EE209A-F312-43D9-B384-EFE9E26FC3AC}"/>
              </a:ext>
            </a:extLst>
          </p:cNvPr>
          <p:cNvSpPr>
            <a:spLocks xmlns:a="http://schemas.openxmlformats.org/drawingml/2006/main" noGrp="1"/>
          </p:cNvSpPr>
          <p:nvPr/>
        </p:nvSpPr>
        <p:spPr>
          <a:xfrm xmlns:a="http://schemas.openxmlformats.org/drawingml/2006/main">
            <a:off x="4762500" y="2562225"/>
            <a:ext cx="638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725" b="0" i="0">
                <a:solidFill>
                  <a:srgbClr val="1B2733"/>
                </a:solidFill>
                <a:latin typeface="Calibri"/>
                <a:ea typeface="Calibri"/>
                <a:cs typeface="Calibri"/>
              </a:defRPr>
            </a:pPr>
            <a:r>
              <a:rPr sz="1725" b="0" i="0">
                <a:solidFill>
                  <a:srgbClr val="1B2733"/>
                </a:solidFill>
                <a:latin typeface="Calibri"/>
                <a:ea typeface="Calibri"/>
                <a:cs typeface="Calibri"/>
              </a:rPr>
              <a:t>vector index; category fallback when no embedder</a:t>
            </a:r>
          </a:p>
        </p:txBody>
      </p:sp>
      <p:sp>
        <p:nvSpPr>
          <p:cNvPr id="13" name="">
            <a:extLst xmlns:a="http://schemas.openxmlformats.org/drawingml/2006/main">
              <a:ext uri="{FF2B5EF4-FFF2-40B4-BE49-F238E27FC236}">
                <a16:creationId xmlns:a16="http://schemas.microsoft.com/office/drawing/2014/main" id="{7C056B83-8E95-4109-8F7C-8CE6746EE472}"/>
              </a:ext>
            </a:extLst>
          </p:cNvPr>
          <p:cNvSpPr>
            <a:spLocks xmlns:a="http://schemas.openxmlformats.org/drawingml/2006/main" noGrp="1"/>
          </p:cNvSpPr>
          <p:nvPr/>
        </p:nvSpPr>
        <p:spPr>
          <a:xfrm xmlns:a="http://schemas.openxmlformats.org/drawingml/2006/main">
            <a:off x="704850" y="3295650"/>
            <a:ext cx="10782300" cy="685800"/>
          </a:xfrm>
          <a:prstGeom xmlns:a="http://schemas.openxmlformats.org/drawingml/2006/main" prst="roundRect">
            <a:avLst>
              <a:gd name="adj" fmla="val 16667"/>
            </a:avLst>
          </a:prstGeom>
          <a:solidFill xmlns:a="http://schemas.openxmlformats.org/drawingml/2006/main">
            <a:srgbClr val="EDF1FA"/>
          </a:solidFill>
          <a:ln xmlns:a="http://schemas.openxmlformats.org/drawingml/2006/main" w="9525">
            <a:solidFill>
              <a:srgbClr val="CFE8F0"/>
            </a:solidFill>
            <a:prstDash val="solid"/>
          </a:ln>
        </p:spPr>
      </p:sp>
      <p:sp>
        <p:nvSpPr>
          <p:cNvPr id="14" name="">
            <a:extLst xmlns:a="http://schemas.openxmlformats.org/drawingml/2006/main">
              <a:ext uri="{FF2B5EF4-FFF2-40B4-BE49-F238E27FC236}">
                <a16:creationId xmlns:a16="http://schemas.microsoft.com/office/drawing/2014/main" id="{D1DE9798-554A-4E39-B35C-2E241B39192C}"/>
              </a:ext>
            </a:extLst>
          </p:cNvPr>
          <p:cNvSpPr>
            <a:spLocks xmlns:a="http://schemas.openxmlformats.org/drawingml/2006/main" noGrp="1"/>
          </p:cNvSpPr>
          <p:nvPr/>
        </p:nvSpPr>
        <p:spPr>
          <a:xfrm xmlns:a="http://schemas.openxmlformats.org/drawingml/2006/main">
            <a:off x="952500" y="34861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065A82"/>
                </a:solidFill>
                <a:latin typeface="Courier New"/>
                <a:ea typeface="Courier New"/>
                <a:cs typeface="Courier New"/>
              </a:defRPr>
            </a:pPr>
            <a:r>
              <a:rPr sz="1500" b="1" i="0">
                <a:solidFill>
                  <a:srgbClr val="065A82"/>
                </a:solidFill>
                <a:latin typeface="Courier New"/>
                <a:ea typeface="Courier New"/>
                <a:cs typeface="Courier New"/>
              </a:rPr>
              <a:t>get_related_entities(entity)</a:t>
            </a:r>
          </a:p>
        </p:txBody>
      </p:sp>
      <p:sp>
        <p:nvSpPr>
          <p:cNvPr id="15" name="">
            <a:extLst xmlns:a="http://schemas.openxmlformats.org/drawingml/2006/main">
              <a:ext uri="{FF2B5EF4-FFF2-40B4-BE49-F238E27FC236}">
                <a16:creationId xmlns:a16="http://schemas.microsoft.com/office/drawing/2014/main" id="{5965E996-B6E5-47D1-B5C5-DC8BC7A74551}"/>
              </a:ext>
            </a:extLst>
          </p:cNvPr>
          <p:cNvSpPr>
            <a:spLocks xmlns:a="http://schemas.openxmlformats.org/drawingml/2006/main" noGrp="1"/>
          </p:cNvSpPr>
          <p:nvPr/>
        </p:nvSpPr>
        <p:spPr>
          <a:xfrm xmlns:a="http://schemas.openxmlformats.org/drawingml/2006/main">
            <a:off x="4762500" y="3438525"/>
            <a:ext cx="638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725" b="0" i="0">
                <a:solidFill>
                  <a:srgbClr val="1B2733"/>
                </a:solidFill>
                <a:latin typeface="Calibri"/>
                <a:ea typeface="Calibri"/>
                <a:cs typeface="Calibri"/>
              </a:defRPr>
            </a:pPr>
            <a:r>
              <a:rPr sz="1725" b="0" i="0">
                <a:solidFill>
                  <a:srgbClr val="1B2733"/>
                </a:solidFill>
                <a:latin typeface="Calibri"/>
                <a:ea typeface="Calibri"/>
                <a:cs typeface="Calibri"/>
              </a:rPr>
              <a:t>graph neighborhood traversal</a:t>
            </a:r>
          </a:p>
        </p:txBody>
      </p:sp>
      <p:sp>
        <p:nvSpPr>
          <p:cNvPr id="16" name="">
            <a:extLst xmlns:a="http://schemas.openxmlformats.org/drawingml/2006/main">
              <a:ext uri="{FF2B5EF4-FFF2-40B4-BE49-F238E27FC236}">
                <a16:creationId xmlns:a16="http://schemas.microsoft.com/office/drawing/2014/main" id="{7EED7FBE-5B2A-4DAA-8D8E-9B23665D4646}"/>
              </a:ext>
            </a:extLst>
          </p:cNvPr>
          <p:cNvSpPr>
            <a:spLocks xmlns:a="http://schemas.openxmlformats.org/drawingml/2006/main" noGrp="1"/>
          </p:cNvSpPr>
          <p:nvPr/>
        </p:nvSpPr>
        <p:spPr>
          <a:xfrm xmlns:a="http://schemas.openxmlformats.org/drawingml/2006/main">
            <a:off x="704850" y="4171950"/>
            <a:ext cx="10782300" cy="685800"/>
          </a:xfrm>
          <a:prstGeom xmlns:a="http://schemas.openxmlformats.org/drawingml/2006/main" prst="roundRect">
            <a:avLst>
              <a:gd name="adj" fmla="val 16667"/>
            </a:avLst>
          </a:prstGeom>
          <a:solidFill xmlns:a="http://schemas.openxmlformats.org/drawingml/2006/main">
            <a:srgbClr val="FFF1ED"/>
          </a:solidFill>
          <a:ln xmlns:a="http://schemas.openxmlformats.org/drawingml/2006/main" w="9525">
            <a:solidFill>
              <a:srgbClr val="CFE8F0"/>
            </a:solidFill>
            <a:prstDash val="solid"/>
          </a:ln>
        </p:spPr>
      </p:sp>
      <p:sp>
        <p:nvSpPr>
          <p:cNvPr id="17" name="">
            <a:extLst xmlns:a="http://schemas.openxmlformats.org/drawingml/2006/main">
              <a:ext uri="{FF2B5EF4-FFF2-40B4-BE49-F238E27FC236}">
                <a16:creationId xmlns:a16="http://schemas.microsoft.com/office/drawing/2014/main" id="{7E0C34EE-126D-4CE1-9AD9-95552C8E65D3}"/>
              </a:ext>
            </a:extLst>
          </p:cNvPr>
          <p:cNvSpPr>
            <a:spLocks xmlns:a="http://schemas.openxmlformats.org/drawingml/2006/main" noGrp="1"/>
          </p:cNvSpPr>
          <p:nvPr/>
        </p:nvSpPr>
        <p:spPr>
          <a:xfrm xmlns:a="http://schemas.openxmlformats.org/drawingml/2006/main">
            <a:off x="952500" y="43624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065A82"/>
                </a:solidFill>
                <a:latin typeface="Courier New"/>
                <a:ea typeface="Courier New"/>
                <a:cs typeface="Courier New"/>
              </a:defRPr>
            </a:pPr>
            <a:r>
              <a:rPr sz="1500" b="1" i="0">
                <a:solidFill>
                  <a:srgbClr val="065A82"/>
                </a:solidFill>
                <a:latin typeface="Courier New"/>
                <a:ea typeface="Courier New"/>
                <a:cs typeface="Courier New"/>
              </a:rPr>
              <a:t>query.cypher(query, params)</a:t>
            </a:r>
          </a:p>
        </p:txBody>
      </p:sp>
      <p:sp>
        <p:nvSpPr>
          <p:cNvPr id="18" name="">
            <a:extLst xmlns:a="http://schemas.openxmlformats.org/drawingml/2006/main">
              <a:ext uri="{FF2B5EF4-FFF2-40B4-BE49-F238E27FC236}">
                <a16:creationId xmlns:a16="http://schemas.microsoft.com/office/drawing/2014/main" id="{AFC8AC2D-08D0-4D4C-B530-6AB105A3BB2B}"/>
              </a:ext>
            </a:extLst>
          </p:cNvPr>
          <p:cNvSpPr>
            <a:spLocks xmlns:a="http://schemas.openxmlformats.org/drawingml/2006/main" noGrp="1"/>
          </p:cNvSpPr>
          <p:nvPr/>
        </p:nvSpPr>
        <p:spPr>
          <a:xfrm xmlns:a="http://schemas.openxmlformats.org/drawingml/2006/main">
            <a:off x="4762500" y="4314825"/>
            <a:ext cx="638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725" b="0" i="0">
                <a:solidFill>
                  <a:srgbClr val="1B2733"/>
                </a:solidFill>
                <a:latin typeface="Calibri"/>
                <a:ea typeface="Calibri"/>
                <a:cs typeface="Calibri"/>
              </a:defRPr>
            </a:pPr>
            <a:r>
              <a:rPr sz="1725" b="0" i="0">
                <a:solidFill>
                  <a:srgbClr val="1B2733"/>
                </a:solidFill>
                <a:latin typeface="Calibri"/>
                <a:ea typeface="Calibri"/>
                <a:cs typeface="Calibri"/>
              </a:rPr>
              <a:t>validated read-only Cypher for custom patterns</a:t>
            </a:r>
          </a:p>
        </p:txBody>
      </p:sp>
      <p:sp>
        <p:nvSpPr>
          <p:cNvPr id="19" name="">
            <a:extLst xmlns:a="http://schemas.openxmlformats.org/drawingml/2006/main">
              <a:ext uri="{FF2B5EF4-FFF2-40B4-BE49-F238E27FC236}">
                <a16:creationId xmlns:a16="http://schemas.microsoft.com/office/drawing/2014/main" id="{B874BF23-FBE9-4AD5-97DA-B6874DB4E84E}"/>
              </a:ext>
            </a:extLst>
          </p:cNvPr>
          <p:cNvSpPr>
            <a:spLocks xmlns:a="http://schemas.openxmlformats.org/drawingml/2006/main" noGrp="1"/>
          </p:cNvSpPr>
          <p:nvPr/>
        </p:nvSpPr>
        <p:spPr>
          <a:xfrm xmlns:a="http://schemas.openxmlformats.org/drawingml/2006/main">
            <a:off x="704850" y="5048250"/>
            <a:ext cx="107823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FE8F0"/>
            </a:solidFill>
            <a:prstDash val="solid"/>
          </a:ln>
        </p:spPr>
      </p:sp>
      <p:sp>
        <p:nvSpPr>
          <p:cNvPr id="20" name="">
            <a:extLst xmlns:a="http://schemas.openxmlformats.org/drawingml/2006/main">
              <a:ext uri="{FF2B5EF4-FFF2-40B4-BE49-F238E27FC236}">
                <a16:creationId xmlns:a16="http://schemas.microsoft.com/office/drawing/2014/main" id="{48154F8C-E95C-4F3E-8A1D-5469212764E8}"/>
              </a:ext>
            </a:extLst>
          </p:cNvPr>
          <p:cNvSpPr>
            <a:spLocks xmlns:a="http://schemas.openxmlformats.org/drawingml/2006/main" noGrp="1"/>
          </p:cNvSpPr>
          <p:nvPr/>
        </p:nvSpPr>
        <p:spPr>
          <a:xfrm xmlns:a="http://schemas.openxmlformats.org/drawingml/2006/main">
            <a:off x="952500" y="52387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065A82"/>
                </a:solidFill>
                <a:latin typeface="Courier New"/>
                <a:ea typeface="Courier New"/>
                <a:cs typeface="Courier New"/>
              </a:defRPr>
            </a:pPr>
            <a:r>
              <a:rPr sz="1500" b="1" i="0">
                <a:solidFill>
                  <a:srgbClr val="065A82"/>
                </a:solidFill>
                <a:latin typeface="Courier New"/>
                <a:ea typeface="Courier New"/>
                <a:cs typeface="Courier New"/>
              </a:rPr>
              <a:t>get_context(query, session)</a:t>
            </a:r>
          </a:p>
        </p:txBody>
      </p:sp>
      <p:sp>
        <p:nvSpPr>
          <p:cNvPr id="21" name="">
            <a:extLst xmlns:a="http://schemas.openxmlformats.org/drawingml/2006/main">
              <a:ext uri="{FF2B5EF4-FFF2-40B4-BE49-F238E27FC236}">
                <a16:creationId xmlns:a16="http://schemas.microsoft.com/office/drawing/2014/main" id="{0DA8C186-1435-4D61-A894-168ABB4706FD}"/>
              </a:ext>
            </a:extLst>
          </p:cNvPr>
          <p:cNvSpPr>
            <a:spLocks xmlns:a="http://schemas.openxmlformats.org/drawingml/2006/main" noGrp="1"/>
          </p:cNvSpPr>
          <p:nvPr/>
        </p:nvSpPr>
        <p:spPr>
          <a:xfrm xmlns:a="http://schemas.openxmlformats.org/drawingml/2006/main">
            <a:off x="4762500" y="5191125"/>
            <a:ext cx="638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l">
              <a:lnSpc>
                <a:spcPct val="100000"/>
              </a:lnSpc>
              <a:buNone/>
              <a:defRPr sz="1725" b="0" i="0">
                <a:solidFill>
                  <a:srgbClr val="1B2733"/>
                </a:solidFill>
                <a:latin typeface="Calibri"/>
                <a:ea typeface="Calibri"/>
                <a:cs typeface="Calibri"/>
              </a:defRPr>
            </a:pPr>
            <a:r>
              <a:rPr sz="1725" b="0" i="0">
                <a:solidFill>
                  <a:srgbClr val="1B2733"/>
                </a:solidFill>
                <a:latin typeface="Calibri"/>
                <a:ea typeface="Calibri"/>
                <a:cs typeface="Calibri"/>
              </a:rPr>
              <a:t>assemble selected memory layers into prompt context</a:t>
            </a:r>
          </a:p>
        </p:txBody>
      </p:sp>
      <p:sp>
        <p:nvSpPr>
          <p:cNvPr id="22" name="">
            <a:extLst xmlns:a="http://schemas.openxmlformats.org/drawingml/2006/main">
              <a:ext uri="{FF2B5EF4-FFF2-40B4-BE49-F238E27FC236}">
                <a16:creationId xmlns:a16="http://schemas.microsoft.com/office/drawing/2014/main" id="{074AF2BC-B868-4F14-892B-12A157C837B6}"/>
              </a:ext>
            </a:extLst>
          </p:cNvPr>
          <p:cNvSpPr>
            <a:spLocks xmlns:a="http://schemas.openxmlformats.org/drawingml/2006/main" noGrp="1"/>
          </p:cNvSpPr>
          <p:nvPr/>
        </p:nvSpPr>
        <p:spPr>
          <a:xfrm xmlns:a="http://schemas.openxmlformats.org/drawingml/2006/main">
            <a:off x="1066800" y="5924550"/>
            <a:ext cx="1005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5623"/>
          </a:bodyPr>
          <a:lstStyle xmlns:a="http://schemas.openxmlformats.org/drawingml/2006/main"/>
          <a:p xmlns:a="http://schemas.openxmlformats.org/drawingml/2006/main">
            <a:pPr algn="ctr">
              <a:lnSpc>
                <a:spcPct val="100000"/>
              </a:lnSpc>
              <a:buNone/>
              <a:defRPr sz="1800" b="1" i="0">
                <a:solidFill>
                  <a:srgbClr val="E76F51"/>
                </a:solidFill>
                <a:latin typeface="Calibri"/>
                <a:ea typeface="Calibri"/>
                <a:cs typeface="Calibri"/>
              </a:defRPr>
            </a:pPr>
            <a:r>
              <a:rPr sz="1800" b="1" i="0">
                <a:solidFill>
                  <a:srgbClr val="E76F51"/>
                </a:solidFill>
                <a:latin typeface="Calibri"/>
                <a:ea typeface="Calibri"/>
                <a:cs typeface="Calibri"/>
              </a:rPr>
              <a:t>Neo4j's semantic indexes are not invoked automatically by ordinary Cypher; code must call the relevant index or method.</a:t>
            </a:r>
          </a:p>
        </p:txBody>
      </p:sp>
    </p:spTree>
    <p:extLst>
      <p:ext uri="{BB962C8B-B14F-4D97-AF65-F5344CB8AC3E}">
        <p14:creationId xmlns:p14="http://schemas.microsoft.com/office/powerpoint/2010/main" val="64175933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70324B3-B499-4E82-92D7-3801D8419579}"/>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15E3EE99-E264-430E-85D8-473C496612B8}"/>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MCP Tool Profiles Trade Breadth for Context Cost</a:t>
            </a:r>
          </a:p>
        </p:txBody>
      </p:sp>
      <p:sp>
        <p:nvSpPr>
          <p:cNvPr id="3" name="">
            <a:extLst xmlns:a="http://schemas.openxmlformats.org/drawingml/2006/main">
              <a:ext uri="{FF2B5EF4-FFF2-40B4-BE49-F238E27FC236}">
                <a16:creationId xmlns:a16="http://schemas.microsoft.com/office/drawing/2014/main" id="{D58482DF-292F-4F80-BBBF-56C939B14807}"/>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C01CBD1A-B3A2-4746-8F32-6581B65EA152}"/>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25</a:t>
            </a:r>
          </a:p>
        </p:txBody>
      </p:sp>
      <p:sp>
        <p:nvSpPr>
          <p:cNvPr id="5" name="">
            <a:extLst xmlns:a="http://schemas.openxmlformats.org/drawingml/2006/main">
              <a:ext uri="{FF2B5EF4-FFF2-40B4-BE49-F238E27FC236}">
                <a16:creationId xmlns:a16="http://schemas.microsoft.com/office/drawing/2014/main" id="{27B2408E-B900-4E34-9996-10AA03AFD99A}"/>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9525">
            <a:solidFill>
              <a:srgbClr val="A6DAD0"/>
            </a:solidFill>
            <a:prstDash val="solid"/>
          </a:ln>
        </p:spPr>
      </p:sp>
      <p:sp>
        <p:nvSpPr>
          <p:cNvPr id="6" name="">
            <a:extLst xmlns:a="http://schemas.openxmlformats.org/drawingml/2006/main">
              <a:ext uri="{FF2B5EF4-FFF2-40B4-BE49-F238E27FC236}">
                <a16:creationId xmlns:a16="http://schemas.microsoft.com/office/drawing/2014/main" id="{46FE4D82-B17C-48E3-8D2A-78B1F4E3441D}"/>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65A82"/>
                </a:solidFill>
                <a:latin typeface="Calibri"/>
                <a:ea typeface="Calibri"/>
                <a:cs typeface="Calibri"/>
              </a:defRPr>
            </a:pPr>
            <a:r>
              <a:rPr sz="1200" b="1" i="0">
                <a:solidFill>
                  <a:srgbClr val="065A82"/>
                </a:solidFill>
                <a:latin typeface="Calibri"/>
                <a:ea typeface="Calibri"/>
                <a:cs typeface="Calibri"/>
              </a:rPr>
              <a:t>← Background · Slides 15–16, Discovery + Tools</a:t>
            </a:r>
          </a:p>
        </p:txBody>
      </p:sp>
      <p:sp>
        <p:nvSpPr>
          <p:cNvPr id="7" name="">
            <a:extLst xmlns:a="http://schemas.openxmlformats.org/drawingml/2006/main">
              <a:ext uri="{FF2B5EF4-FFF2-40B4-BE49-F238E27FC236}">
                <a16:creationId xmlns:a16="http://schemas.microsoft.com/office/drawing/2014/main" id="{203584EB-9FCF-47CD-9968-8244FC3CEDF9}"/>
              </a:ext>
            </a:extLst>
          </p:cNvPr>
          <p:cNvSpPr>
            <a:spLocks xmlns:a="http://schemas.openxmlformats.org/drawingml/2006/main" noGrp="1"/>
          </p:cNvSpPr>
          <p:nvPr/>
        </p:nvSpPr>
        <p:spPr>
          <a:xfrm xmlns:a="http://schemas.openxmlformats.org/drawingml/2006/main">
            <a:off x="685800" y="1619250"/>
            <a:ext cx="4953000" cy="3714750"/>
          </a:xfrm>
          <a:prstGeom xmlns:a="http://schemas.openxmlformats.org/drawingml/2006/main" prst="roundRect">
            <a:avLst>
              <a:gd name="adj" fmla="val 3077"/>
            </a:avLst>
          </a:prstGeom>
          <a:solidFill xmlns:a="http://schemas.openxmlformats.org/drawingml/2006/main">
            <a:srgbClr val="DDF4EF"/>
          </a:solidFill>
          <a:ln xmlns:a="http://schemas.openxmlformats.org/drawingml/2006/main" w="9525">
            <a:solidFill>
              <a:srgbClr val="DDF4EF"/>
            </a:solidFill>
            <a:prstDash val="solid"/>
          </a:ln>
        </p:spPr>
      </p:sp>
      <p:sp>
        <p:nvSpPr>
          <p:cNvPr id="8" name="">
            <a:extLst xmlns:a="http://schemas.openxmlformats.org/drawingml/2006/main">
              <a:ext uri="{FF2B5EF4-FFF2-40B4-BE49-F238E27FC236}">
                <a16:creationId xmlns:a16="http://schemas.microsoft.com/office/drawing/2014/main" id="{38B86109-0D43-4442-8B20-7C20104270C9}"/>
              </a:ext>
            </a:extLst>
          </p:cNvPr>
          <p:cNvSpPr>
            <a:spLocks xmlns:a="http://schemas.openxmlformats.org/drawingml/2006/main" noGrp="1"/>
          </p:cNvSpPr>
          <p:nvPr/>
        </p:nvSpPr>
        <p:spPr>
          <a:xfrm xmlns:a="http://schemas.openxmlformats.org/drawingml/2006/main">
            <a:off x="895350" y="179070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C7293"/>
                </a:solidFill>
                <a:latin typeface="Cambria"/>
                <a:ea typeface="Cambria"/>
                <a:cs typeface="Cambria"/>
              </a:defRPr>
            </a:pPr>
            <a:r>
              <a:rPr sz="2025" b="1" i="0">
                <a:solidFill>
                  <a:srgbClr val="1C7293"/>
                </a:solidFill>
                <a:latin typeface="Cambria"/>
                <a:ea typeface="Cambria"/>
                <a:cs typeface="Cambria"/>
              </a:rPr>
              <a:t>CORE PROFILE · 6 TOOLS</a:t>
            </a:r>
          </a:p>
        </p:txBody>
      </p:sp>
      <p:sp>
        <p:nvSpPr>
          <p:cNvPr id="9" name="">
            <a:extLst xmlns:a="http://schemas.openxmlformats.org/drawingml/2006/main">
              <a:ext uri="{FF2B5EF4-FFF2-40B4-BE49-F238E27FC236}">
                <a16:creationId xmlns:a16="http://schemas.microsoft.com/office/drawing/2014/main" id="{F0EAC75F-D63D-4FF0-A42C-CA8CC93EB804}"/>
              </a:ext>
            </a:extLst>
          </p:cNvPr>
          <p:cNvSpPr>
            <a:spLocks xmlns:a="http://schemas.openxmlformats.org/drawingml/2006/main" noGrp="1"/>
          </p:cNvSpPr>
          <p:nvPr/>
        </p:nvSpPr>
        <p:spPr>
          <a:xfrm xmlns:a="http://schemas.openxmlformats.org/drawingml/2006/main">
            <a:off x="895350" y="2247900"/>
            <a:ext cx="453390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B2733"/>
                </a:solidFill>
                <a:latin typeface="Courier New"/>
                <a:ea typeface="Courier New"/>
                <a:cs typeface="Courier New"/>
              </a:defRPr>
            </a:pPr>
            <a:r>
              <a:rPr sz="1725" b="0" i="0">
                <a:solidFill>
                  <a:srgbClr val="1B2733"/>
                </a:solidFill>
                <a:latin typeface="Courier New"/>
                <a:ea typeface="Courier New"/>
                <a:cs typeface="Courier New"/>
              </a:rPr>
              <a:t>memory_search</a:t>
            </a:r>
          </a:p>
          <a:p xmlns:a="http://schemas.openxmlformats.org/drawingml/2006/main">
            <a:pPr algn="l">
              <a:lnSpc>
                <a:spcPct val="105000"/>
              </a:lnSpc>
              <a:buNone/>
              <a:defRPr sz="1725" b="0" i="0">
                <a:solidFill>
                  <a:srgbClr val="1B2733"/>
                </a:solidFill>
                <a:latin typeface="Courier New"/>
                <a:ea typeface="Courier New"/>
                <a:cs typeface="Courier New"/>
              </a:defRPr>
            </a:pPr>
            <a:r>
              <a:rPr sz="1725" b="0" i="0">
                <a:solidFill>
                  <a:srgbClr val="1B2733"/>
                </a:solidFill>
                <a:latin typeface="Courier New"/>
                <a:ea typeface="Courier New"/>
                <a:cs typeface="Courier New"/>
              </a:rPr>
              <a:t>memory_get_context</a:t>
            </a:r>
          </a:p>
          <a:p xmlns:a="http://schemas.openxmlformats.org/drawingml/2006/main">
            <a:pPr algn="l">
              <a:lnSpc>
                <a:spcPct val="105000"/>
              </a:lnSpc>
              <a:buNone/>
              <a:defRPr sz="1725" b="0" i="0">
                <a:solidFill>
                  <a:srgbClr val="1B2733"/>
                </a:solidFill>
                <a:latin typeface="Courier New"/>
                <a:ea typeface="Courier New"/>
                <a:cs typeface="Courier New"/>
              </a:defRPr>
            </a:pPr>
            <a:r>
              <a:rPr sz="1725" b="0" i="0">
                <a:solidFill>
                  <a:srgbClr val="1B2733"/>
                </a:solidFill>
                <a:latin typeface="Courier New"/>
                <a:ea typeface="Courier New"/>
                <a:cs typeface="Courier New"/>
              </a:rPr>
              <a:t>memory_store_message</a:t>
            </a:r>
          </a:p>
          <a:p xmlns:a="http://schemas.openxmlformats.org/drawingml/2006/main">
            <a:pPr algn="l">
              <a:lnSpc>
                <a:spcPct val="105000"/>
              </a:lnSpc>
              <a:buNone/>
              <a:defRPr sz="1725" b="0" i="0">
                <a:solidFill>
                  <a:srgbClr val="1B2733"/>
                </a:solidFill>
                <a:latin typeface="Courier New"/>
                <a:ea typeface="Courier New"/>
                <a:cs typeface="Courier New"/>
              </a:defRPr>
            </a:pPr>
            <a:r>
              <a:rPr sz="1725" b="0" i="0">
                <a:solidFill>
                  <a:srgbClr val="1B2733"/>
                </a:solidFill>
                <a:latin typeface="Courier New"/>
                <a:ea typeface="Courier New"/>
                <a:cs typeface="Courier New"/>
              </a:rPr>
              <a:t>memory_add_entity</a:t>
            </a:r>
          </a:p>
          <a:p xmlns:a="http://schemas.openxmlformats.org/drawingml/2006/main">
            <a:pPr algn="l">
              <a:lnSpc>
                <a:spcPct val="105000"/>
              </a:lnSpc>
              <a:buNone/>
              <a:defRPr sz="1725" b="0" i="0">
                <a:solidFill>
                  <a:srgbClr val="1B2733"/>
                </a:solidFill>
                <a:latin typeface="Courier New"/>
                <a:ea typeface="Courier New"/>
                <a:cs typeface="Courier New"/>
              </a:defRPr>
            </a:pPr>
            <a:r>
              <a:rPr sz="1725" b="0" i="0">
                <a:solidFill>
                  <a:srgbClr val="1B2733"/>
                </a:solidFill>
                <a:latin typeface="Courier New"/>
                <a:ea typeface="Courier New"/>
                <a:cs typeface="Courier New"/>
              </a:rPr>
              <a:t>memory_add_preference</a:t>
            </a:r>
          </a:p>
          <a:p xmlns:a="http://schemas.openxmlformats.org/drawingml/2006/main">
            <a:pPr algn="l">
              <a:lnSpc>
                <a:spcPct val="105000"/>
              </a:lnSpc>
              <a:buNone/>
              <a:defRPr sz="1725" b="0" i="0">
                <a:solidFill>
                  <a:srgbClr val="1B2733"/>
                </a:solidFill>
                <a:latin typeface="Courier New"/>
                <a:ea typeface="Courier New"/>
                <a:cs typeface="Courier New"/>
              </a:defRPr>
            </a:pPr>
            <a:r>
              <a:rPr sz="1725" b="0" i="0">
                <a:solidFill>
                  <a:srgbClr val="1B2733"/>
                </a:solidFill>
                <a:latin typeface="Courier New"/>
                <a:ea typeface="Courier New"/>
                <a:cs typeface="Courier New"/>
              </a:rPr>
              <a:t>memory_add_fact</a:t>
            </a:r>
          </a:p>
        </p:txBody>
      </p:sp>
      <p:sp>
        <p:nvSpPr>
          <p:cNvPr id="10" name="">
            <a:extLst xmlns:a="http://schemas.openxmlformats.org/drawingml/2006/main">
              <a:ext uri="{FF2B5EF4-FFF2-40B4-BE49-F238E27FC236}">
                <a16:creationId xmlns:a16="http://schemas.microsoft.com/office/drawing/2014/main" id="{19AD24DE-43CD-4361-939B-7DE02107D868}"/>
              </a:ext>
            </a:extLst>
          </p:cNvPr>
          <p:cNvSpPr>
            <a:spLocks xmlns:a="http://schemas.openxmlformats.org/drawingml/2006/main" noGrp="1"/>
          </p:cNvSpPr>
          <p:nvPr/>
        </p:nvSpPr>
        <p:spPr>
          <a:xfrm xmlns:a="http://schemas.openxmlformats.org/drawingml/2006/main">
            <a:off x="6553200" y="1619250"/>
            <a:ext cx="4953000" cy="3714750"/>
          </a:xfrm>
          <a:prstGeom xmlns:a="http://schemas.openxmlformats.org/drawingml/2006/main" prst="roundRect">
            <a:avLst>
              <a:gd name="adj" fmla="val 3077"/>
            </a:avLst>
          </a:prstGeom>
          <a:solidFill xmlns:a="http://schemas.openxmlformats.org/drawingml/2006/main">
            <a:srgbClr val="FFF7DA"/>
          </a:solidFill>
          <a:ln xmlns:a="http://schemas.openxmlformats.org/drawingml/2006/main" w="9525">
            <a:solidFill>
              <a:srgbClr val="FFF7DA"/>
            </a:solidFill>
            <a:prstDash val="solid"/>
          </a:ln>
        </p:spPr>
      </p:sp>
      <p:sp>
        <p:nvSpPr>
          <p:cNvPr id="11" name="">
            <a:extLst xmlns:a="http://schemas.openxmlformats.org/drawingml/2006/main">
              <a:ext uri="{FF2B5EF4-FFF2-40B4-BE49-F238E27FC236}">
                <a16:creationId xmlns:a16="http://schemas.microsoft.com/office/drawing/2014/main" id="{9E026450-4F99-40F7-A40A-1C43F42DE73F}"/>
              </a:ext>
            </a:extLst>
          </p:cNvPr>
          <p:cNvSpPr>
            <a:spLocks xmlns:a="http://schemas.openxmlformats.org/drawingml/2006/main" noGrp="1"/>
          </p:cNvSpPr>
          <p:nvPr/>
        </p:nvSpPr>
        <p:spPr>
          <a:xfrm xmlns:a="http://schemas.openxmlformats.org/drawingml/2006/main">
            <a:off x="6762750" y="179070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21295C"/>
                </a:solidFill>
                <a:latin typeface="Cambria"/>
                <a:ea typeface="Cambria"/>
                <a:cs typeface="Cambria"/>
              </a:defRPr>
            </a:pPr>
            <a:r>
              <a:rPr sz="2025" b="1" i="0">
                <a:solidFill>
                  <a:srgbClr val="21295C"/>
                </a:solidFill>
                <a:latin typeface="Cambria"/>
                <a:ea typeface="Cambria"/>
                <a:cs typeface="Cambria"/>
              </a:rPr>
              <a:t>EXTENDED PROFILE · 16 TOOLS</a:t>
            </a:r>
          </a:p>
        </p:txBody>
      </p:sp>
      <p:sp>
        <p:nvSpPr>
          <p:cNvPr id="12" name="">
            <a:extLst xmlns:a="http://schemas.openxmlformats.org/drawingml/2006/main">
              <a:ext uri="{FF2B5EF4-FFF2-40B4-BE49-F238E27FC236}">
                <a16:creationId xmlns:a16="http://schemas.microsoft.com/office/drawing/2014/main" id="{156993EB-B58D-43FD-B96C-034131787424}"/>
              </a:ext>
            </a:extLst>
          </p:cNvPr>
          <p:cNvSpPr>
            <a:spLocks xmlns:a="http://schemas.openxmlformats.org/drawingml/2006/main" noGrp="1"/>
          </p:cNvSpPr>
          <p:nvPr/>
        </p:nvSpPr>
        <p:spPr>
          <a:xfrm xmlns:a="http://schemas.openxmlformats.org/drawingml/2006/main">
            <a:off x="6762750" y="2247900"/>
            <a:ext cx="453390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1B2733"/>
                </a:solidFill>
                <a:latin typeface="Calibri"/>
                <a:ea typeface="Calibri"/>
                <a:cs typeface="Calibri"/>
              </a:defRPr>
            </a:pPr>
            <a:r>
              <a:rPr sz="1800" b="0" i="0">
                <a:solidFill>
                  <a:srgbClr val="1B2733"/>
                </a:solidFill>
                <a:latin typeface="Calibri"/>
                <a:ea typeface="Calibri"/>
                <a:cs typeface="Calibri"/>
              </a:rPr>
              <a:t>Core plus history, entity details, graph export, relationship creation, reasoning traces, observations, and read-only Cypher.</a:t>
            </a:r>
          </a:p>
        </p:txBody>
      </p:sp>
      <p:sp>
        <p:nvSpPr>
          <p:cNvPr id="13" name="">
            <a:extLst xmlns:a="http://schemas.openxmlformats.org/drawingml/2006/main">
              <a:ext uri="{FF2B5EF4-FFF2-40B4-BE49-F238E27FC236}">
                <a16:creationId xmlns:a16="http://schemas.microsoft.com/office/drawing/2014/main" id="{6BD1B0BE-A516-4F2C-AF8C-E9C7C0353286}"/>
              </a:ext>
            </a:extLst>
          </p:cNvPr>
          <p:cNvSpPr>
            <a:spLocks xmlns:a="http://schemas.openxmlformats.org/drawingml/2006/main" noGrp="1"/>
          </p:cNvSpPr>
          <p:nvPr/>
        </p:nvSpPr>
        <p:spPr>
          <a:xfrm xmlns:a="http://schemas.openxmlformats.org/drawingml/2006/main">
            <a:off x="1295400" y="5562600"/>
            <a:ext cx="9601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62709"/>
          </a:bodyPr>
          <a:lstStyle xmlns:a="http://schemas.openxmlformats.org/drawingml/2006/main"/>
          <a:p xmlns:a="http://schemas.openxmlformats.org/drawingml/2006/main">
            <a:pPr algn="ctr">
              <a:lnSpc>
                <a:spcPct val="100000"/>
              </a:lnSpc>
              <a:buNone/>
              <a:defRPr sz="2025" b="1" i="0">
                <a:solidFill>
                  <a:srgbClr val="0B2942"/>
                </a:solidFill>
                <a:latin typeface="Cambria"/>
                <a:ea typeface="Cambria"/>
                <a:cs typeface="Cambria"/>
              </a:defRPr>
            </a:pPr>
            <a:r>
              <a:rPr sz="2025" b="1" i="0">
                <a:solidFill>
                  <a:srgbClr val="0B2942"/>
                </a:solidFill>
                <a:latin typeface="Cambria"/>
                <a:ea typeface="Cambria"/>
                <a:cs typeface="Cambria"/>
              </a:rPr>
              <a:t>A smaller catalog reduces tool-description tokens and selection ambiguity; a larger catalog exposes more graph operations.</a:t>
            </a:r>
          </a:p>
        </p:txBody>
      </p:sp>
    </p:spTree>
    <p:extLst>
      <p:ext uri="{BB962C8B-B14F-4D97-AF65-F5344CB8AC3E}">
        <p14:creationId xmlns:p14="http://schemas.microsoft.com/office/powerpoint/2010/main" val="1717799751"/>
      </p:ext>
    </p:extLst>
  </p:cSld>
</p:sld>
</file>

<file path=ppt/slides/slide26.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EA12E54-F5F2-4648-914F-91676D9912E2}"/>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3A0A5F33-D3E9-437D-AF90-2FFB9B479C1F}"/>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SDK and MCP Use the Same Memory Differently</a:t>
            </a:r>
          </a:p>
        </p:txBody>
      </p:sp>
      <p:sp>
        <p:nvSpPr>
          <p:cNvPr id="3" name="">
            <a:extLst xmlns:a="http://schemas.openxmlformats.org/drawingml/2006/main">
              <a:ext uri="{FF2B5EF4-FFF2-40B4-BE49-F238E27FC236}">
                <a16:creationId xmlns:a16="http://schemas.microsoft.com/office/drawing/2014/main" id="{6E551838-3C40-461F-9374-A5A6B7AD180D}"/>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CB808B53-8860-497E-9ABF-26CF93454421}"/>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26</a:t>
            </a:r>
          </a:p>
        </p:txBody>
      </p:sp>
      <p:sp>
        <p:nvSpPr>
          <p:cNvPr id="5" name="">
            <a:extLst xmlns:a="http://schemas.openxmlformats.org/drawingml/2006/main">
              <a:ext uri="{FF2B5EF4-FFF2-40B4-BE49-F238E27FC236}">
                <a16:creationId xmlns:a16="http://schemas.microsoft.com/office/drawing/2014/main" id="{9A927F60-34BA-47C2-BA7D-A5C6ADB44971}"/>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173F58"/>
          </a:solidFill>
          <a:ln xmlns:a="http://schemas.openxmlformats.org/drawingml/2006/main" w="9525">
            <a:solidFill>
              <a:srgbClr val="1C7293"/>
            </a:solidFill>
            <a:prstDash val="solid"/>
          </a:ln>
        </p:spPr>
      </p:sp>
      <p:sp>
        <p:nvSpPr>
          <p:cNvPr id="6" name="">
            <a:extLst xmlns:a="http://schemas.openxmlformats.org/drawingml/2006/main">
              <a:ext uri="{FF2B5EF4-FFF2-40B4-BE49-F238E27FC236}">
                <a16:creationId xmlns:a16="http://schemas.microsoft.com/office/drawing/2014/main" id="{41888254-7EA8-4E70-A222-EF036380D8F1}"/>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CFE8F0"/>
                </a:solidFill>
                <a:latin typeface="Calibri"/>
                <a:ea typeface="Calibri"/>
                <a:cs typeface="Calibri"/>
              </a:defRPr>
            </a:pPr>
            <a:r>
              <a:rPr sz="1200" b="1" i="0">
                <a:solidFill>
                  <a:srgbClr val="CFE8F0"/>
                </a:solidFill>
                <a:latin typeface="Calibri"/>
                <a:ea typeface="Calibri"/>
                <a:cs typeface="Calibri"/>
              </a:rPr>
              <a:t>← Background · Slides 10–17, SDK + MCP</a:t>
            </a:r>
          </a:p>
        </p:txBody>
      </p:sp>
      <p:sp>
        <p:nvSpPr>
          <p:cNvPr id="7" name="">
            <a:extLst xmlns:a="http://schemas.openxmlformats.org/drawingml/2006/main">
              <a:ext uri="{FF2B5EF4-FFF2-40B4-BE49-F238E27FC236}">
                <a16:creationId xmlns:a16="http://schemas.microsoft.com/office/drawing/2014/main" id="{FE5604B1-040A-45D3-AB24-D2C0027E6E3E}"/>
              </a:ext>
            </a:extLst>
          </p:cNvPr>
          <p:cNvSpPr>
            <a:spLocks xmlns:a="http://schemas.openxmlformats.org/drawingml/2006/main" noGrp="1"/>
          </p:cNvSpPr>
          <p:nvPr/>
        </p:nvSpPr>
        <p:spPr>
          <a:xfrm xmlns:a="http://schemas.openxmlformats.org/drawingml/2006/main">
            <a:off x="685800" y="1657350"/>
            <a:ext cx="4286250" cy="3476625"/>
          </a:xfrm>
          <a:prstGeom xmlns:a="http://schemas.openxmlformats.org/drawingml/2006/main" prst="roundRect">
            <a:avLst>
              <a:gd name="adj" fmla="val 3288"/>
            </a:avLst>
          </a:prstGeom>
          <a:solidFill xmlns:a="http://schemas.openxmlformats.org/drawingml/2006/main">
            <a:srgbClr val="173F58"/>
          </a:solidFill>
          <a:ln xmlns:a="http://schemas.openxmlformats.org/drawingml/2006/main" w="9525">
            <a:solidFill>
              <a:srgbClr val="173F58"/>
            </a:solidFill>
            <a:prstDash val="solid"/>
          </a:ln>
        </p:spPr>
      </p:sp>
      <p:sp>
        <p:nvSpPr>
          <p:cNvPr id="8" name="">
            <a:extLst xmlns:a="http://schemas.openxmlformats.org/drawingml/2006/main">
              <a:ext uri="{FF2B5EF4-FFF2-40B4-BE49-F238E27FC236}">
                <a16:creationId xmlns:a16="http://schemas.microsoft.com/office/drawing/2014/main" id="{B8DE2DB9-47B3-49A9-9E74-F94E14845A6F}"/>
              </a:ext>
            </a:extLst>
          </p:cNvPr>
          <p:cNvSpPr>
            <a:spLocks xmlns:a="http://schemas.openxmlformats.org/drawingml/2006/main" noGrp="1"/>
          </p:cNvSpPr>
          <p:nvPr/>
        </p:nvSpPr>
        <p:spPr>
          <a:xfrm xmlns:a="http://schemas.openxmlformats.org/drawingml/2006/main">
            <a:off x="895350" y="1828800"/>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CFE8F0"/>
                </a:solidFill>
                <a:latin typeface="Cambria"/>
                <a:ea typeface="Cambria"/>
                <a:cs typeface="Cambria"/>
              </a:defRPr>
            </a:pPr>
            <a:r>
              <a:rPr sz="2025" b="1" i="0">
                <a:solidFill>
                  <a:srgbClr val="CFE8F0"/>
                </a:solidFill>
                <a:latin typeface="Cambria"/>
                <a:ea typeface="Cambria"/>
                <a:cs typeface="Cambria"/>
              </a:rPr>
              <a:t>SDK PATH</a:t>
            </a:r>
          </a:p>
        </p:txBody>
      </p:sp>
      <p:sp>
        <p:nvSpPr>
          <p:cNvPr id="9" name="">
            <a:extLst xmlns:a="http://schemas.openxmlformats.org/drawingml/2006/main">
              <a:ext uri="{FF2B5EF4-FFF2-40B4-BE49-F238E27FC236}">
                <a16:creationId xmlns:a16="http://schemas.microsoft.com/office/drawing/2014/main" id="{1EBA8E73-1CB6-4326-9160-F8A9C0AB9C98}"/>
              </a:ext>
            </a:extLst>
          </p:cNvPr>
          <p:cNvSpPr>
            <a:spLocks xmlns:a="http://schemas.openxmlformats.org/drawingml/2006/main" noGrp="1"/>
          </p:cNvSpPr>
          <p:nvPr/>
        </p:nvSpPr>
        <p:spPr>
          <a:xfrm xmlns:a="http://schemas.openxmlformats.org/drawingml/2006/main">
            <a:off x="895350" y="2286000"/>
            <a:ext cx="386715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FFFFFF"/>
                </a:solidFill>
                <a:latin typeface="Calibri"/>
                <a:ea typeface="Calibri"/>
                <a:cs typeface="Calibri"/>
              </a:defRPr>
            </a:pPr>
            <a:r>
              <a:rPr sz="1800" b="0" i="0">
                <a:solidFill>
                  <a:srgbClr val="FFFFFF"/>
                </a:solidFill>
                <a:latin typeface="Calibri"/>
                <a:ea typeface="Calibri"/>
                <a:cs typeface="Calibri"/>
              </a:rPr>
              <a:t>Your application imports MemoryClient, calls typed async methods, and owns connection lifecycle, input validation, routes, and user experience.</a:t>
            </a:r>
          </a:p>
        </p:txBody>
      </p:sp>
      <p:sp>
        <p:nvSpPr>
          <p:cNvPr id="10" name="">
            <a:extLst xmlns:a="http://schemas.openxmlformats.org/drawingml/2006/main">
              <a:ext uri="{FF2B5EF4-FFF2-40B4-BE49-F238E27FC236}">
                <a16:creationId xmlns:a16="http://schemas.microsoft.com/office/drawing/2014/main" id="{081BD06B-7C17-4373-A86D-BE51690EDB7B}"/>
              </a:ext>
            </a:extLst>
          </p:cNvPr>
          <p:cNvSpPr>
            <a:spLocks xmlns:a="http://schemas.openxmlformats.org/drawingml/2006/main" noGrp="1"/>
          </p:cNvSpPr>
          <p:nvPr/>
        </p:nvSpPr>
        <p:spPr>
          <a:xfrm xmlns:a="http://schemas.openxmlformats.org/drawingml/2006/main">
            <a:off x="7219950" y="1657350"/>
            <a:ext cx="4286250" cy="3476625"/>
          </a:xfrm>
          <a:prstGeom xmlns:a="http://schemas.openxmlformats.org/drawingml/2006/main" prst="roundRect">
            <a:avLst>
              <a:gd name="adj" fmla="val 3288"/>
            </a:avLst>
          </a:prstGeom>
          <a:solidFill xmlns:a="http://schemas.openxmlformats.org/drawingml/2006/main">
            <a:srgbClr val="123A55"/>
          </a:solidFill>
          <a:ln xmlns:a="http://schemas.openxmlformats.org/drawingml/2006/main" w="9525">
            <a:solidFill>
              <a:srgbClr val="123A55"/>
            </a:solidFill>
            <a:prstDash val="solid"/>
          </a:ln>
        </p:spPr>
      </p:sp>
      <p:sp>
        <p:nvSpPr>
          <p:cNvPr id="11" name="">
            <a:extLst xmlns:a="http://schemas.openxmlformats.org/drawingml/2006/main">
              <a:ext uri="{FF2B5EF4-FFF2-40B4-BE49-F238E27FC236}">
                <a16:creationId xmlns:a16="http://schemas.microsoft.com/office/drawing/2014/main" id="{86D7DD4F-EBBB-4820-B25A-499B05A87C21}"/>
              </a:ext>
            </a:extLst>
          </p:cNvPr>
          <p:cNvSpPr>
            <a:spLocks xmlns:a="http://schemas.openxmlformats.org/drawingml/2006/main" noGrp="1"/>
          </p:cNvSpPr>
          <p:nvPr/>
        </p:nvSpPr>
        <p:spPr>
          <a:xfrm xmlns:a="http://schemas.openxmlformats.org/drawingml/2006/main">
            <a:off x="7429500" y="1828800"/>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CFE8F0"/>
                </a:solidFill>
                <a:latin typeface="Cambria"/>
                <a:ea typeface="Cambria"/>
                <a:cs typeface="Cambria"/>
              </a:defRPr>
            </a:pPr>
            <a:r>
              <a:rPr sz="2025" b="1" i="0">
                <a:solidFill>
                  <a:srgbClr val="CFE8F0"/>
                </a:solidFill>
                <a:latin typeface="Cambria"/>
                <a:ea typeface="Cambria"/>
                <a:cs typeface="Cambria"/>
              </a:rPr>
              <a:t>MCP PATH</a:t>
            </a:r>
          </a:p>
        </p:txBody>
      </p:sp>
      <p:sp>
        <p:nvSpPr>
          <p:cNvPr id="12" name="">
            <a:extLst xmlns:a="http://schemas.openxmlformats.org/drawingml/2006/main">
              <a:ext uri="{FF2B5EF4-FFF2-40B4-BE49-F238E27FC236}">
                <a16:creationId xmlns:a16="http://schemas.microsoft.com/office/drawing/2014/main" id="{81D4F954-7A33-4343-878C-4C896F5CD8B0}"/>
              </a:ext>
            </a:extLst>
          </p:cNvPr>
          <p:cNvSpPr>
            <a:spLocks xmlns:a="http://schemas.openxmlformats.org/drawingml/2006/main" noGrp="1"/>
          </p:cNvSpPr>
          <p:nvPr/>
        </p:nvSpPr>
        <p:spPr>
          <a:xfrm xmlns:a="http://schemas.openxmlformats.org/drawingml/2006/main">
            <a:off x="7429500" y="2286000"/>
            <a:ext cx="386715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FFFFFF"/>
                </a:solidFill>
                <a:latin typeface="Calibri"/>
                <a:ea typeface="Calibri"/>
                <a:cs typeface="Calibri"/>
              </a:defRPr>
            </a:pPr>
            <a:r>
              <a:rPr sz="1800" b="0" i="0">
                <a:solidFill>
                  <a:srgbClr val="FFFFFF"/>
                </a:solidFill>
                <a:latin typeface="Calibri"/>
                <a:ea typeface="Calibri"/>
                <a:cs typeface="Calibri"/>
              </a:rPr>
              <a:t>An MCP host discovers tools, presents eligible schemas to a model, validates the requested call, and sends it to a memory server process.</a:t>
            </a:r>
          </a:p>
        </p:txBody>
      </p:sp>
      <p:sp>
        <p:nvSpPr>
          <p:cNvPr id="13" name="">
            <a:extLst xmlns:a="http://schemas.openxmlformats.org/drawingml/2006/main">
              <a:ext uri="{FF2B5EF4-FFF2-40B4-BE49-F238E27FC236}">
                <a16:creationId xmlns:a16="http://schemas.microsoft.com/office/drawing/2014/main" id="{EA1F3B2C-28BF-4DD3-B3E8-1B62B24B4ABE}"/>
              </a:ext>
            </a:extLst>
          </p:cNvPr>
          <p:cNvSpPr>
            <a:spLocks xmlns:a="http://schemas.openxmlformats.org/drawingml/2006/main" noGrp="1"/>
          </p:cNvSpPr>
          <p:nvPr/>
        </p:nvSpPr>
        <p:spPr>
          <a:xfrm xmlns:a="http://schemas.openxmlformats.org/drawingml/2006/main">
            <a:off x="5219700" y="2686050"/>
            <a:ext cx="1752600" cy="1428750"/>
          </a:xfrm>
          <a:prstGeom xmlns:a="http://schemas.openxmlformats.org/drawingml/2006/main" prst="roundRect">
            <a:avLst>
              <a:gd name="adj" fmla="val 8000"/>
            </a:avLst>
          </a:prstGeom>
          <a:solidFill xmlns:a="http://schemas.openxmlformats.org/drawingml/2006/main">
            <a:srgbClr val="1C729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3FA3204-B10E-4F40-B3B9-F74D7421CB95}"/>
              </a:ext>
            </a:extLst>
          </p:cNvPr>
          <p:cNvSpPr>
            <a:spLocks xmlns:a="http://schemas.openxmlformats.org/drawingml/2006/main" noGrp="1"/>
          </p:cNvSpPr>
          <p:nvPr/>
        </p:nvSpPr>
        <p:spPr>
          <a:xfrm xmlns:a="http://schemas.openxmlformats.org/drawingml/2006/main">
            <a:off x="5448300" y="2895600"/>
            <a:ext cx="12954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rmAutofit fontScale="100000"/>
          </a:bodyPr>
          <a:lstStyle xmlns:a="http://schemas.openxmlformats.org/drawingml/2006/main"/>
          <a:p xmlns:a="http://schemas.openxmlformats.org/drawingml/2006/main">
            <a:pPr algn="ctr">
              <a:lnSpc>
                <a:spcPct val="85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ONE</a:t>
            </a:r>
          </a:p>
          <a:p xmlns:a="http://schemas.openxmlformats.org/drawingml/2006/main">
            <a:pPr algn="ctr">
              <a:lnSpc>
                <a:spcPct val="85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MEMORY</a:t>
            </a:r>
          </a:p>
          <a:p xmlns:a="http://schemas.openxmlformats.org/drawingml/2006/main">
            <a:pPr algn="ctr">
              <a:lnSpc>
                <a:spcPct val="85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GRAPH</a:t>
            </a:r>
          </a:p>
        </p:txBody>
      </p:sp>
      <p:sp>
        <p:nvSpPr>
          <p:cNvPr id="15" name="">
            <a:extLst xmlns:a="http://schemas.openxmlformats.org/drawingml/2006/main">
              <a:ext uri="{FF2B5EF4-FFF2-40B4-BE49-F238E27FC236}">
                <a16:creationId xmlns:a16="http://schemas.microsoft.com/office/drawing/2014/main" id="{885323CF-9EE7-4A4E-B24C-C766A328B831}"/>
              </a:ext>
            </a:extLst>
          </p:cNvPr>
          <p:cNvSpPr>
            <a:spLocks xmlns:a="http://schemas.openxmlformats.org/drawingml/2006/main" noGrp="1"/>
          </p:cNvSpPr>
          <p:nvPr/>
        </p:nvSpPr>
        <p:spPr>
          <a:xfrm xmlns:a="http://schemas.openxmlformats.org/drawingml/2006/main">
            <a:off x="1200150" y="5486400"/>
            <a:ext cx="979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0247"/>
          </a:bodyPr>
          <a:lstStyle xmlns:a="http://schemas.openxmlformats.org/drawingml/2006/main"/>
          <a:p xmlns:a="http://schemas.openxmlformats.org/drawingml/2006/main">
            <a:pPr algn="ctr">
              <a:lnSpc>
                <a:spcPct val="100000"/>
              </a:lnSpc>
              <a:buNone/>
              <a:defRPr sz="2025" b="1" i="0">
                <a:solidFill>
                  <a:srgbClr val="F4C95D"/>
                </a:solidFill>
                <a:latin typeface="Cambria"/>
                <a:ea typeface="Cambria"/>
                <a:cs typeface="Cambria"/>
              </a:defRPr>
            </a:pPr>
            <a:r>
              <a:rPr sz="2025" b="1" i="0">
                <a:solidFill>
                  <a:srgbClr val="F4C95D"/>
                </a:solidFill>
                <a:latin typeface="Cambria"/>
                <a:ea typeface="Cambria"/>
                <a:cs typeface="Cambria"/>
              </a:rPr>
              <a:t>Choose the SDK when your code owns the workflow. Choose MCP when an external compatible host should discover and invoke the capability.</a:t>
            </a:r>
          </a:p>
        </p:txBody>
      </p:sp>
    </p:spTree>
    <p:extLst>
      <p:ext uri="{BB962C8B-B14F-4D97-AF65-F5344CB8AC3E}">
        <p14:creationId xmlns:p14="http://schemas.microsoft.com/office/powerpoint/2010/main" val="1467734830"/>
      </p:ext>
    </p:extLst>
  </p:cSld>
</p:sld>
</file>

<file path=ppt/slides/slide27.xml><?xml version="1.0" encoding="utf-8"?>
<p:sld xmlns:p="http://schemas.openxmlformats.org/presentationml/2006/main">
  <p:cSld>
    <p:bg>
      <p:bgPr>
        <a:solidFill xmlns:a="http://schemas.openxmlformats.org/drawingml/2006/main">
          <a:srgbClr val="F2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2FE0049-FFC4-40A4-B620-2934765234CE}"/>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FEFE95E5-3027-44EC-9F6D-F55E90E98F98}"/>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Released SDKs Differ from Main-Branch Source</a:t>
            </a:r>
          </a:p>
        </p:txBody>
      </p:sp>
      <p:sp>
        <p:nvSpPr>
          <p:cNvPr id="3" name="">
            <a:extLst xmlns:a="http://schemas.openxmlformats.org/drawingml/2006/main">
              <a:ext uri="{FF2B5EF4-FFF2-40B4-BE49-F238E27FC236}">
                <a16:creationId xmlns:a16="http://schemas.microsoft.com/office/drawing/2014/main" id="{795A18B6-458B-44EE-A5ED-EF27A5EDF70A}"/>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7D1D67C4-B14A-42BC-9C99-C9C054E6B45C}"/>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27</a:t>
            </a:r>
          </a:p>
        </p:txBody>
      </p:sp>
      <p:sp>
        <p:nvSpPr>
          <p:cNvPr id="5" name="">
            <a:extLst xmlns:a="http://schemas.openxmlformats.org/drawingml/2006/main">
              <a:ext uri="{FF2B5EF4-FFF2-40B4-BE49-F238E27FC236}">
                <a16:creationId xmlns:a16="http://schemas.microsoft.com/office/drawing/2014/main" id="{04EBB0B4-F75B-48F2-A6C1-7C76E9E8CB83}"/>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9525">
            <a:solidFill>
              <a:srgbClr val="A6DAD0"/>
            </a:solidFill>
            <a:prstDash val="solid"/>
          </a:ln>
        </p:spPr>
      </p:sp>
      <p:sp>
        <p:nvSpPr>
          <p:cNvPr id="6" name="">
            <a:extLst xmlns:a="http://schemas.openxmlformats.org/drawingml/2006/main">
              <a:ext uri="{FF2B5EF4-FFF2-40B4-BE49-F238E27FC236}">
                <a16:creationId xmlns:a16="http://schemas.microsoft.com/office/drawing/2014/main" id="{E4D01CF4-0DA9-4086-A258-12C4CAB6A2C7}"/>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65A82"/>
                </a:solidFill>
                <a:latin typeface="Calibri"/>
                <a:ea typeface="Calibri"/>
                <a:cs typeface="Calibri"/>
              </a:defRPr>
            </a:pPr>
            <a:r>
              <a:rPr sz="1200" b="1" i="0">
                <a:solidFill>
                  <a:srgbClr val="065A82"/>
                </a:solidFill>
                <a:latin typeface="Calibri"/>
                <a:ea typeface="Calibri"/>
                <a:cs typeface="Calibri"/>
              </a:rPr>
              <a:t>← Background · Slide 11, SDK Contracts</a:t>
            </a:r>
          </a:p>
        </p:txBody>
      </p:sp>
      <p:sp>
        <p:nvSpPr>
          <p:cNvPr id="7" name="">
            <a:extLst xmlns:a="http://schemas.openxmlformats.org/drawingml/2006/main">
              <a:ext uri="{FF2B5EF4-FFF2-40B4-BE49-F238E27FC236}">
                <a16:creationId xmlns:a16="http://schemas.microsoft.com/office/drawing/2014/main" id="{DBE6E465-6326-42F5-80A2-8C56D916AE0D}"/>
              </a:ext>
            </a:extLst>
          </p:cNvPr>
          <p:cNvSpPr>
            <a:spLocks xmlns:a="http://schemas.openxmlformats.org/drawingml/2006/main" noGrp="1"/>
          </p:cNvSpPr>
          <p:nvPr/>
        </p:nvSpPr>
        <p:spPr>
          <a:xfrm xmlns:a="http://schemas.openxmlformats.org/drawingml/2006/main">
            <a:off x="666750" y="1485900"/>
            <a:ext cx="10858500" cy="723900"/>
          </a:xfrm>
          <a:prstGeom xmlns:a="http://schemas.openxmlformats.org/drawingml/2006/main" prst="roundRect">
            <a:avLst>
              <a:gd name="adj" fmla="val 15789"/>
            </a:avLst>
          </a:prstGeom>
          <a:solidFill xmlns:a="http://schemas.openxmlformats.org/drawingml/2006/main">
            <a:srgbClr val="DDF4EF"/>
          </a:solidFill>
          <a:ln xmlns:a="http://schemas.openxmlformats.org/drawingml/2006/main" w="9525">
            <a:solidFill>
              <a:srgbClr val="CFE8F0"/>
            </a:solidFill>
            <a:prstDash val="solid"/>
          </a:ln>
        </p:spPr>
      </p:sp>
      <p:sp>
        <p:nvSpPr>
          <p:cNvPr id="8" name="">
            <a:extLst xmlns:a="http://schemas.openxmlformats.org/drawingml/2006/main">
              <a:ext uri="{FF2B5EF4-FFF2-40B4-BE49-F238E27FC236}">
                <a16:creationId xmlns:a16="http://schemas.microsoft.com/office/drawing/2014/main" id="{35EF89AE-1A3A-4E9C-A622-1D64A40A9C30}"/>
              </a:ext>
            </a:extLst>
          </p:cNvPr>
          <p:cNvSpPr>
            <a:spLocks xmlns:a="http://schemas.openxmlformats.org/drawingml/2006/main" noGrp="1"/>
          </p:cNvSpPr>
          <p:nvPr/>
        </p:nvSpPr>
        <p:spPr>
          <a:xfrm xmlns:a="http://schemas.openxmlformats.org/drawingml/2006/main">
            <a:off x="895350" y="16764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485"/>
          </a:bodyPr>
          <a:lstStyle xmlns:a="http://schemas.openxmlformats.org/drawingml/2006/main"/>
          <a:p xmlns:a="http://schemas.openxmlformats.org/drawingml/2006/main">
            <a:pPr algn="l">
              <a:lnSpc>
                <a:spcPct val="100000"/>
              </a:lnSpc>
              <a:buNone/>
              <a:defRPr sz="1650" b="1" i="0">
                <a:solidFill>
                  <a:srgbClr val="065A82"/>
                </a:solidFill>
                <a:latin typeface="Courier New"/>
                <a:ea typeface="Courier New"/>
                <a:cs typeface="Courier New"/>
              </a:defRPr>
            </a:pPr>
            <a:r>
              <a:rPr sz="1650" b="1" i="0">
                <a:solidFill>
                  <a:srgbClr val="065A82"/>
                </a:solidFill>
                <a:latin typeface="Courier New"/>
                <a:ea typeface="Courier New"/>
                <a:cs typeface="Courier New"/>
              </a:rPr>
              <a:t>Python package</a:t>
            </a:r>
          </a:p>
        </p:txBody>
      </p:sp>
      <p:sp>
        <p:nvSpPr>
          <p:cNvPr id="9" name="">
            <a:extLst xmlns:a="http://schemas.openxmlformats.org/drawingml/2006/main">
              <a:ext uri="{FF2B5EF4-FFF2-40B4-BE49-F238E27FC236}">
                <a16:creationId xmlns:a16="http://schemas.microsoft.com/office/drawing/2014/main" id="{C333E9D6-CCF9-4AE4-BAA6-AEB20C888F17}"/>
              </a:ext>
            </a:extLst>
          </p:cNvPr>
          <p:cNvSpPr>
            <a:spLocks xmlns:a="http://schemas.openxmlformats.org/drawingml/2006/main" noGrp="1"/>
          </p:cNvSpPr>
          <p:nvPr/>
        </p:nvSpPr>
        <p:spPr>
          <a:xfrm xmlns:a="http://schemas.openxmlformats.org/drawingml/2006/main">
            <a:off x="3429000" y="16573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725" b="1" i="0">
                <a:solidFill>
                  <a:srgbClr val="0B2942"/>
                </a:solidFill>
                <a:latin typeface="Calibri"/>
                <a:ea typeface="Calibri"/>
                <a:cs typeface="Calibri"/>
              </a:defRPr>
            </a:pPr>
            <a:r>
              <a:rPr sz="1725" b="1" i="0">
                <a:solidFill>
                  <a:srgbClr val="0B2942"/>
                </a:solidFill>
                <a:latin typeface="Calibri"/>
                <a:ea typeface="Calibri"/>
                <a:cs typeface="Calibri"/>
              </a:rPr>
              <a:t>neo4j-agent-memory 0.5.0</a:t>
            </a:r>
          </a:p>
        </p:txBody>
      </p:sp>
      <p:sp>
        <p:nvSpPr>
          <p:cNvPr id="10" name="">
            <a:extLst xmlns:a="http://schemas.openxmlformats.org/drawingml/2006/main">
              <a:ext uri="{FF2B5EF4-FFF2-40B4-BE49-F238E27FC236}">
                <a16:creationId xmlns:a16="http://schemas.microsoft.com/office/drawing/2014/main" id="{B180FD2F-EA0F-46C2-B962-18959BE2049F}"/>
              </a:ext>
            </a:extLst>
          </p:cNvPr>
          <p:cNvSpPr>
            <a:spLocks xmlns:a="http://schemas.openxmlformats.org/drawingml/2006/main" noGrp="1"/>
          </p:cNvSpPr>
          <p:nvPr/>
        </p:nvSpPr>
        <p:spPr>
          <a:xfrm xmlns:a="http://schemas.openxmlformats.org/drawingml/2006/main">
            <a:off x="6762750" y="1628775"/>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PyPI import verified on Python 3.12</a:t>
            </a:r>
          </a:p>
        </p:txBody>
      </p:sp>
      <p:sp>
        <p:nvSpPr>
          <p:cNvPr id="11" name="">
            <a:extLst xmlns:a="http://schemas.openxmlformats.org/drawingml/2006/main">
              <a:ext uri="{FF2B5EF4-FFF2-40B4-BE49-F238E27FC236}">
                <a16:creationId xmlns:a16="http://schemas.microsoft.com/office/drawing/2014/main" id="{688CA3A7-56E5-4541-A3FF-1243BFC7E84E}"/>
              </a:ext>
            </a:extLst>
          </p:cNvPr>
          <p:cNvSpPr>
            <a:spLocks xmlns:a="http://schemas.openxmlformats.org/drawingml/2006/main" noGrp="1"/>
          </p:cNvSpPr>
          <p:nvPr/>
        </p:nvSpPr>
        <p:spPr>
          <a:xfrm xmlns:a="http://schemas.openxmlformats.org/drawingml/2006/main">
            <a:off x="666750" y="2381250"/>
            <a:ext cx="10858500" cy="723900"/>
          </a:xfrm>
          <a:prstGeom xmlns:a="http://schemas.openxmlformats.org/drawingml/2006/main" prst="roundRect">
            <a:avLst>
              <a:gd name="adj" fmla="val 15789"/>
            </a:avLst>
          </a:prstGeom>
          <a:solidFill xmlns:a="http://schemas.openxmlformats.org/drawingml/2006/main">
            <a:srgbClr val="FFF7DA"/>
          </a:solidFill>
          <a:ln xmlns:a="http://schemas.openxmlformats.org/drawingml/2006/main" w="9525">
            <a:solidFill>
              <a:srgbClr val="CFE8F0"/>
            </a:solidFill>
            <a:prstDash val="solid"/>
          </a:ln>
        </p:spPr>
      </p:sp>
      <p:sp>
        <p:nvSpPr>
          <p:cNvPr id="12" name="">
            <a:extLst xmlns:a="http://schemas.openxmlformats.org/drawingml/2006/main">
              <a:ext uri="{FF2B5EF4-FFF2-40B4-BE49-F238E27FC236}">
                <a16:creationId xmlns:a16="http://schemas.microsoft.com/office/drawing/2014/main" id="{320A78E8-96C3-4A4E-98D4-B061773D16AD}"/>
              </a:ext>
            </a:extLst>
          </p:cNvPr>
          <p:cNvSpPr>
            <a:spLocks xmlns:a="http://schemas.openxmlformats.org/drawingml/2006/main" noGrp="1"/>
          </p:cNvSpPr>
          <p:nvPr/>
        </p:nvSpPr>
        <p:spPr>
          <a:xfrm xmlns:a="http://schemas.openxmlformats.org/drawingml/2006/main">
            <a:off x="895350" y="2571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485"/>
          </a:bodyPr>
          <a:lstStyle xmlns:a="http://schemas.openxmlformats.org/drawingml/2006/main"/>
          <a:p xmlns:a="http://schemas.openxmlformats.org/drawingml/2006/main">
            <a:pPr algn="l">
              <a:lnSpc>
                <a:spcPct val="100000"/>
              </a:lnSpc>
              <a:buNone/>
              <a:defRPr sz="1650" b="1" i="0">
                <a:solidFill>
                  <a:srgbClr val="065A82"/>
                </a:solidFill>
                <a:latin typeface="Courier New"/>
                <a:ea typeface="Courier New"/>
                <a:cs typeface="Courier New"/>
              </a:defRPr>
            </a:pPr>
            <a:r>
              <a:rPr sz="1650" b="1" i="0">
                <a:solidFill>
                  <a:srgbClr val="065A82"/>
                </a:solidFill>
                <a:latin typeface="Courier New"/>
                <a:ea typeface="Courier New"/>
                <a:cs typeface="Courier New"/>
              </a:rPr>
              <a:t>TypeScript package</a:t>
            </a:r>
          </a:p>
        </p:txBody>
      </p:sp>
      <p:sp>
        <p:nvSpPr>
          <p:cNvPr id="13" name="">
            <a:extLst xmlns:a="http://schemas.openxmlformats.org/drawingml/2006/main">
              <a:ext uri="{FF2B5EF4-FFF2-40B4-BE49-F238E27FC236}">
                <a16:creationId xmlns:a16="http://schemas.microsoft.com/office/drawing/2014/main" id="{852F9209-C59B-4C71-89F9-85E7A458C4BE}"/>
              </a:ext>
            </a:extLst>
          </p:cNvPr>
          <p:cNvSpPr>
            <a:spLocks xmlns:a="http://schemas.openxmlformats.org/drawingml/2006/main" noGrp="1"/>
          </p:cNvSpPr>
          <p:nvPr/>
        </p:nvSpPr>
        <p:spPr>
          <a:xfrm xmlns:a="http://schemas.openxmlformats.org/drawingml/2006/main">
            <a:off x="3429000" y="25527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9263"/>
          </a:bodyPr>
          <a:lstStyle xmlns:a="http://schemas.openxmlformats.org/drawingml/2006/main"/>
          <a:p xmlns:a="http://schemas.openxmlformats.org/drawingml/2006/main">
            <a:pPr algn="l">
              <a:lnSpc>
                <a:spcPct val="100000"/>
              </a:lnSpc>
              <a:buNone/>
              <a:defRPr sz="1725" b="1" i="0">
                <a:solidFill>
                  <a:srgbClr val="0B2942"/>
                </a:solidFill>
                <a:latin typeface="Calibri"/>
                <a:ea typeface="Calibri"/>
                <a:cs typeface="Calibri"/>
              </a:defRPr>
            </a:pPr>
            <a:r>
              <a:rPr sz="1725" b="1" i="0">
                <a:solidFill>
                  <a:srgbClr val="0B2942"/>
                </a:solidFill>
                <a:latin typeface="Calibri"/>
                <a:ea typeface="Calibri"/>
                <a:cs typeface="Calibri"/>
              </a:rPr>
              <a:t>@neo4j-labs/agent-memory 0.4.1</a:t>
            </a:r>
          </a:p>
        </p:txBody>
      </p:sp>
      <p:sp>
        <p:nvSpPr>
          <p:cNvPr id="14" name="">
            <a:extLst xmlns:a="http://schemas.openxmlformats.org/drawingml/2006/main">
              <a:ext uri="{FF2B5EF4-FFF2-40B4-BE49-F238E27FC236}">
                <a16:creationId xmlns:a16="http://schemas.microsoft.com/office/drawing/2014/main" id="{44D09C71-097D-4276-BB68-C4A2E9F34454}"/>
              </a:ext>
            </a:extLst>
          </p:cNvPr>
          <p:cNvSpPr>
            <a:spLocks xmlns:a="http://schemas.openxmlformats.org/drawingml/2006/main" noGrp="1"/>
          </p:cNvSpPr>
          <p:nvPr/>
        </p:nvSpPr>
        <p:spPr>
          <a:xfrm xmlns:a="http://schemas.openxmlformats.org/drawingml/2006/main">
            <a:off x="6762750" y="2524125"/>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npm ESM import verified on Node 26</a:t>
            </a:r>
          </a:p>
        </p:txBody>
      </p:sp>
      <p:sp>
        <p:nvSpPr>
          <p:cNvPr id="15" name="">
            <a:extLst xmlns:a="http://schemas.openxmlformats.org/drawingml/2006/main">
              <a:ext uri="{FF2B5EF4-FFF2-40B4-BE49-F238E27FC236}">
                <a16:creationId xmlns:a16="http://schemas.microsoft.com/office/drawing/2014/main" id="{77CE126A-CCB6-4A31-9616-B5C40C36E461}"/>
              </a:ext>
            </a:extLst>
          </p:cNvPr>
          <p:cNvSpPr>
            <a:spLocks xmlns:a="http://schemas.openxmlformats.org/drawingml/2006/main" noGrp="1"/>
          </p:cNvSpPr>
          <p:nvPr/>
        </p:nvSpPr>
        <p:spPr>
          <a:xfrm xmlns:a="http://schemas.openxmlformats.org/drawingml/2006/main">
            <a:off x="666750" y="3276600"/>
            <a:ext cx="10858500" cy="723900"/>
          </a:xfrm>
          <a:prstGeom xmlns:a="http://schemas.openxmlformats.org/drawingml/2006/main" prst="roundRect">
            <a:avLst>
              <a:gd name="adj" fmla="val 15789"/>
            </a:avLst>
          </a:prstGeom>
          <a:solidFill xmlns:a="http://schemas.openxmlformats.org/drawingml/2006/main">
            <a:srgbClr val="EDF1FA"/>
          </a:solidFill>
          <a:ln xmlns:a="http://schemas.openxmlformats.org/drawingml/2006/main" w="9525">
            <a:solidFill>
              <a:srgbClr val="CFE8F0"/>
            </a:solidFill>
            <a:prstDash val="solid"/>
          </a:ln>
        </p:spPr>
      </p:sp>
      <p:sp>
        <p:nvSpPr>
          <p:cNvPr id="16" name="">
            <a:extLst xmlns:a="http://schemas.openxmlformats.org/drawingml/2006/main">
              <a:ext uri="{FF2B5EF4-FFF2-40B4-BE49-F238E27FC236}">
                <a16:creationId xmlns:a16="http://schemas.microsoft.com/office/drawing/2014/main" id="{3C9E0C96-4414-4A5F-A26F-FEA86ECA456D}"/>
              </a:ext>
            </a:extLst>
          </p:cNvPr>
          <p:cNvSpPr>
            <a:spLocks xmlns:a="http://schemas.openxmlformats.org/drawingml/2006/main" noGrp="1"/>
          </p:cNvSpPr>
          <p:nvPr/>
        </p:nvSpPr>
        <p:spPr>
          <a:xfrm xmlns:a="http://schemas.openxmlformats.org/drawingml/2006/main">
            <a:off x="895350" y="3467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485"/>
          </a:bodyPr>
          <a:lstStyle xmlns:a="http://schemas.openxmlformats.org/drawingml/2006/main"/>
          <a:p xmlns:a="http://schemas.openxmlformats.org/drawingml/2006/main">
            <a:pPr algn="l">
              <a:lnSpc>
                <a:spcPct val="100000"/>
              </a:lnSpc>
              <a:buNone/>
              <a:defRPr sz="1650" b="1" i="0">
                <a:solidFill>
                  <a:srgbClr val="065A82"/>
                </a:solidFill>
                <a:latin typeface="Courier New"/>
                <a:ea typeface="Courier New"/>
                <a:cs typeface="Courier New"/>
              </a:defRPr>
            </a:pPr>
            <a:r>
              <a:rPr sz="1650" b="1" i="0">
                <a:solidFill>
                  <a:srgbClr val="065A82"/>
                </a:solidFill>
                <a:latin typeface="Courier New"/>
                <a:ea typeface="Courier New"/>
                <a:cs typeface="Courier New"/>
              </a:rPr>
              <a:t>Repository main</a:t>
            </a:r>
          </a:p>
        </p:txBody>
      </p:sp>
      <p:sp>
        <p:nvSpPr>
          <p:cNvPr id="17" name="">
            <a:extLst xmlns:a="http://schemas.openxmlformats.org/drawingml/2006/main">
              <a:ext uri="{FF2B5EF4-FFF2-40B4-BE49-F238E27FC236}">
                <a16:creationId xmlns:a16="http://schemas.microsoft.com/office/drawing/2014/main" id="{146391B1-92C4-4809-B855-3F16856545F3}"/>
              </a:ext>
            </a:extLst>
          </p:cNvPr>
          <p:cNvSpPr>
            <a:spLocks xmlns:a="http://schemas.openxmlformats.org/drawingml/2006/main" noGrp="1"/>
          </p:cNvSpPr>
          <p:nvPr/>
        </p:nvSpPr>
        <p:spPr>
          <a:xfrm xmlns:a="http://schemas.openxmlformats.org/drawingml/2006/main">
            <a:off x="3429000" y="34480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725" b="1" i="0">
                <a:solidFill>
                  <a:srgbClr val="0B2942"/>
                </a:solidFill>
                <a:latin typeface="Calibri"/>
                <a:ea typeface="Calibri"/>
                <a:cs typeface="Calibri"/>
              </a:defRPr>
            </a:pPr>
            <a:r>
              <a:rPr sz="1725" b="1" i="0">
                <a:solidFill>
                  <a:srgbClr val="0B2942"/>
                </a:solidFill>
                <a:latin typeface="Calibri"/>
                <a:ea typeface="Calibri"/>
                <a:cs typeface="Calibri"/>
              </a:rPr>
              <a:t>commit 231d60e…</a:t>
            </a:r>
          </a:p>
        </p:txBody>
      </p:sp>
      <p:sp>
        <p:nvSpPr>
          <p:cNvPr id="18" name="">
            <a:extLst xmlns:a="http://schemas.openxmlformats.org/drawingml/2006/main">
              <a:ext uri="{FF2B5EF4-FFF2-40B4-BE49-F238E27FC236}">
                <a16:creationId xmlns:a16="http://schemas.microsoft.com/office/drawing/2014/main" id="{A41B80E9-AAF8-4804-A25A-55B5B6F12B86}"/>
              </a:ext>
            </a:extLst>
          </p:cNvPr>
          <p:cNvSpPr>
            <a:spLocks xmlns:a="http://schemas.openxmlformats.org/drawingml/2006/main" noGrp="1"/>
          </p:cNvSpPr>
          <p:nvPr/>
        </p:nvSpPr>
        <p:spPr>
          <a:xfrm xmlns:a="http://schemas.openxmlformats.org/drawingml/2006/main">
            <a:off x="6762750" y="3419475"/>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contains changes after published tags</a:t>
            </a:r>
          </a:p>
        </p:txBody>
      </p:sp>
      <p:sp>
        <p:nvSpPr>
          <p:cNvPr id="19" name="">
            <a:extLst xmlns:a="http://schemas.openxmlformats.org/drawingml/2006/main">
              <a:ext uri="{FF2B5EF4-FFF2-40B4-BE49-F238E27FC236}">
                <a16:creationId xmlns:a16="http://schemas.microsoft.com/office/drawing/2014/main" id="{6E5E4779-C380-46BB-8649-1995D96BC3D8}"/>
              </a:ext>
            </a:extLst>
          </p:cNvPr>
          <p:cNvSpPr>
            <a:spLocks xmlns:a="http://schemas.openxmlformats.org/drawingml/2006/main" noGrp="1"/>
          </p:cNvSpPr>
          <p:nvPr/>
        </p:nvSpPr>
        <p:spPr>
          <a:xfrm xmlns:a="http://schemas.openxmlformats.org/drawingml/2006/main">
            <a:off x="666750" y="4171950"/>
            <a:ext cx="108585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CFE8F0"/>
            </a:solidFill>
            <a:prstDash val="solid"/>
          </a:ln>
        </p:spPr>
      </p:sp>
      <p:sp>
        <p:nvSpPr>
          <p:cNvPr id="20" name="">
            <a:extLst xmlns:a="http://schemas.openxmlformats.org/drawingml/2006/main">
              <a:ext uri="{FF2B5EF4-FFF2-40B4-BE49-F238E27FC236}">
                <a16:creationId xmlns:a16="http://schemas.microsoft.com/office/drawing/2014/main" id="{AAD70197-A8EA-4F6F-9091-85BA213B5AA1}"/>
              </a:ext>
            </a:extLst>
          </p:cNvPr>
          <p:cNvSpPr>
            <a:spLocks xmlns:a="http://schemas.openxmlformats.org/drawingml/2006/main" noGrp="1"/>
          </p:cNvSpPr>
          <p:nvPr/>
        </p:nvSpPr>
        <p:spPr>
          <a:xfrm xmlns:a="http://schemas.openxmlformats.org/drawingml/2006/main">
            <a:off x="895350" y="43624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485"/>
          </a:bodyPr>
          <a:lstStyle xmlns:a="http://schemas.openxmlformats.org/drawingml/2006/main"/>
          <a:p xmlns:a="http://schemas.openxmlformats.org/drawingml/2006/main">
            <a:pPr algn="l">
              <a:lnSpc>
                <a:spcPct val="100000"/>
              </a:lnSpc>
              <a:buNone/>
              <a:defRPr sz="1650" b="1" i="0">
                <a:solidFill>
                  <a:srgbClr val="065A82"/>
                </a:solidFill>
                <a:latin typeface="Courier New"/>
                <a:ea typeface="Courier New"/>
                <a:cs typeface="Courier New"/>
              </a:defRPr>
            </a:pPr>
            <a:r>
              <a:rPr sz="1650" b="1" i="0">
                <a:solidFill>
                  <a:srgbClr val="065A82"/>
                </a:solidFill>
                <a:latin typeface="Courier New"/>
                <a:ea typeface="Courier New"/>
                <a:cs typeface="Courier New"/>
              </a:rPr>
              <a:t>Bolt backend</a:t>
            </a:r>
          </a:p>
        </p:txBody>
      </p:sp>
      <p:sp>
        <p:nvSpPr>
          <p:cNvPr id="21" name="">
            <a:extLst xmlns:a="http://schemas.openxmlformats.org/drawingml/2006/main">
              <a:ext uri="{FF2B5EF4-FFF2-40B4-BE49-F238E27FC236}">
                <a16:creationId xmlns:a16="http://schemas.microsoft.com/office/drawing/2014/main" id="{93EBE913-B076-4DA7-AD22-84CD574D66C2}"/>
              </a:ext>
            </a:extLst>
          </p:cNvPr>
          <p:cNvSpPr>
            <a:spLocks xmlns:a="http://schemas.openxmlformats.org/drawingml/2006/main" noGrp="1"/>
          </p:cNvSpPr>
          <p:nvPr/>
        </p:nvSpPr>
        <p:spPr>
          <a:xfrm xmlns:a="http://schemas.openxmlformats.org/drawingml/2006/main">
            <a:off x="3429000" y="43434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725" b="1" i="0">
                <a:solidFill>
                  <a:srgbClr val="0B2942"/>
                </a:solidFill>
                <a:latin typeface="Calibri"/>
                <a:ea typeface="Calibri"/>
                <a:cs typeface="Calibri"/>
              </a:defRPr>
            </a:pPr>
            <a:r>
              <a:rPr sz="1725" b="1" i="0">
                <a:solidFill>
                  <a:srgbClr val="0B2942"/>
                </a:solidFill>
                <a:latin typeface="Calibri"/>
                <a:ea typeface="Calibri"/>
                <a:cs typeface="Calibri"/>
              </a:rPr>
              <a:t>direct Neo4j</a:t>
            </a:r>
          </a:p>
        </p:txBody>
      </p:sp>
      <p:sp>
        <p:nvSpPr>
          <p:cNvPr id="22" name="">
            <a:extLst xmlns:a="http://schemas.openxmlformats.org/drawingml/2006/main">
              <a:ext uri="{FF2B5EF4-FFF2-40B4-BE49-F238E27FC236}">
                <a16:creationId xmlns:a16="http://schemas.microsoft.com/office/drawing/2014/main" id="{024E9A12-0756-4B56-8FC2-116FA32C7AEE}"/>
              </a:ext>
            </a:extLst>
          </p:cNvPr>
          <p:cNvSpPr>
            <a:spLocks xmlns:a="http://schemas.openxmlformats.org/drawingml/2006/main" noGrp="1"/>
          </p:cNvSpPr>
          <p:nvPr/>
        </p:nvSpPr>
        <p:spPr>
          <a:xfrm xmlns:a="http://schemas.openxmlformats.org/drawingml/2006/main">
            <a:off x="6762750" y="4314825"/>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graph export, schema, geospatial, write Cypher</a:t>
            </a:r>
          </a:p>
        </p:txBody>
      </p:sp>
      <p:sp>
        <p:nvSpPr>
          <p:cNvPr id="23" name="">
            <a:extLst xmlns:a="http://schemas.openxmlformats.org/drawingml/2006/main">
              <a:ext uri="{FF2B5EF4-FFF2-40B4-BE49-F238E27FC236}">
                <a16:creationId xmlns:a16="http://schemas.microsoft.com/office/drawing/2014/main" id="{B45E9A24-7D2C-47F2-8BDA-7B36B7D20B75}"/>
              </a:ext>
            </a:extLst>
          </p:cNvPr>
          <p:cNvSpPr>
            <a:spLocks xmlns:a="http://schemas.openxmlformats.org/drawingml/2006/main" noGrp="1"/>
          </p:cNvSpPr>
          <p:nvPr/>
        </p:nvSpPr>
        <p:spPr>
          <a:xfrm xmlns:a="http://schemas.openxmlformats.org/drawingml/2006/main">
            <a:off x="666750" y="5067300"/>
            <a:ext cx="10858500" cy="723900"/>
          </a:xfrm>
          <a:prstGeom xmlns:a="http://schemas.openxmlformats.org/drawingml/2006/main" prst="roundRect">
            <a:avLst>
              <a:gd name="adj" fmla="val 15789"/>
            </a:avLst>
          </a:prstGeom>
          <a:solidFill xmlns:a="http://schemas.openxmlformats.org/drawingml/2006/main">
            <a:srgbClr val="FFF1ED"/>
          </a:solidFill>
          <a:ln xmlns:a="http://schemas.openxmlformats.org/drawingml/2006/main" w="9525">
            <a:solidFill>
              <a:srgbClr val="CFE8F0"/>
            </a:solidFill>
            <a:prstDash val="solid"/>
          </a:ln>
        </p:spPr>
      </p:sp>
      <p:sp>
        <p:nvSpPr>
          <p:cNvPr id="24" name="">
            <a:extLst xmlns:a="http://schemas.openxmlformats.org/drawingml/2006/main">
              <a:ext uri="{FF2B5EF4-FFF2-40B4-BE49-F238E27FC236}">
                <a16:creationId xmlns:a16="http://schemas.microsoft.com/office/drawing/2014/main" id="{0A3EF768-337D-42FB-B088-168800C43FCA}"/>
              </a:ext>
            </a:extLst>
          </p:cNvPr>
          <p:cNvSpPr>
            <a:spLocks xmlns:a="http://schemas.openxmlformats.org/drawingml/2006/main" noGrp="1"/>
          </p:cNvSpPr>
          <p:nvPr/>
        </p:nvSpPr>
        <p:spPr>
          <a:xfrm xmlns:a="http://schemas.openxmlformats.org/drawingml/2006/main">
            <a:off x="895350" y="5257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8485"/>
          </a:bodyPr>
          <a:lstStyle xmlns:a="http://schemas.openxmlformats.org/drawingml/2006/main"/>
          <a:p xmlns:a="http://schemas.openxmlformats.org/drawingml/2006/main">
            <a:pPr algn="l">
              <a:lnSpc>
                <a:spcPct val="100000"/>
              </a:lnSpc>
              <a:buNone/>
              <a:defRPr sz="1650" b="1" i="0">
                <a:solidFill>
                  <a:srgbClr val="065A82"/>
                </a:solidFill>
                <a:latin typeface="Courier New"/>
                <a:ea typeface="Courier New"/>
                <a:cs typeface="Courier New"/>
              </a:defRPr>
            </a:pPr>
            <a:r>
              <a:rPr sz="1650" b="1" i="0">
                <a:solidFill>
                  <a:srgbClr val="065A82"/>
                </a:solidFill>
                <a:latin typeface="Courier New"/>
                <a:ea typeface="Courier New"/>
                <a:cs typeface="Courier New"/>
              </a:rPr>
              <a:t>NAMS backend</a:t>
            </a:r>
          </a:p>
        </p:txBody>
      </p:sp>
      <p:sp>
        <p:nvSpPr>
          <p:cNvPr id="25" name="">
            <a:extLst xmlns:a="http://schemas.openxmlformats.org/drawingml/2006/main">
              <a:ext uri="{FF2B5EF4-FFF2-40B4-BE49-F238E27FC236}">
                <a16:creationId xmlns:a16="http://schemas.microsoft.com/office/drawing/2014/main" id="{64DD8D3B-2A96-4D08-B66F-DDF5A2D25AAA}"/>
              </a:ext>
            </a:extLst>
          </p:cNvPr>
          <p:cNvSpPr>
            <a:spLocks xmlns:a="http://schemas.openxmlformats.org/drawingml/2006/main" noGrp="1"/>
          </p:cNvSpPr>
          <p:nvPr/>
        </p:nvSpPr>
        <p:spPr>
          <a:xfrm xmlns:a="http://schemas.openxmlformats.org/drawingml/2006/main">
            <a:off x="3429000" y="5238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725" b="1" i="0">
                <a:solidFill>
                  <a:srgbClr val="0B2942"/>
                </a:solidFill>
                <a:latin typeface="Calibri"/>
                <a:ea typeface="Calibri"/>
                <a:cs typeface="Calibri"/>
              </a:defRPr>
            </a:pPr>
            <a:r>
              <a:rPr sz="1725" b="1" i="0">
                <a:solidFill>
                  <a:srgbClr val="0B2942"/>
                </a:solidFill>
                <a:latin typeface="Calibri"/>
                <a:ea typeface="Calibri"/>
                <a:cs typeface="Calibri"/>
              </a:rPr>
              <a:t>hosted REST</a:t>
            </a:r>
          </a:p>
        </p:txBody>
      </p:sp>
      <p:sp>
        <p:nvSpPr>
          <p:cNvPr id="26" name="">
            <a:extLst xmlns:a="http://schemas.openxmlformats.org/drawingml/2006/main">
              <a:ext uri="{FF2B5EF4-FFF2-40B4-BE49-F238E27FC236}">
                <a16:creationId xmlns:a16="http://schemas.microsoft.com/office/drawing/2014/main" id="{18580011-C9FB-4170-AA59-173F04F0A164}"/>
              </a:ext>
            </a:extLst>
          </p:cNvPr>
          <p:cNvSpPr>
            <a:spLocks xmlns:a="http://schemas.openxmlformats.org/drawingml/2006/main" noGrp="1"/>
          </p:cNvSpPr>
          <p:nvPr/>
        </p:nvSpPr>
        <p:spPr>
          <a:xfrm xmlns:a="http://schemas.openxmlformats.org/drawingml/2006/main">
            <a:off x="6762750" y="5210175"/>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0" i="0">
                <a:solidFill>
                  <a:srgbClr val="5C7080"/>
                </a:solidFill>
                <a:latin typeface="Calibri"/>
                <a:ea typeface="Calibri"/>
                <a:cs typeface="Calibri"/>
              </a:defRPr>
            </a:pPr>
            <a:r>
              <a:rPr sz="1575" b="0" i="0">
                <a:solidFill>
                  <a:srgbClr val="5C7080"/>
                </a:solidFill>
                <a:latin typeface="Calibri"/>
                <a:ea typeface="Calibri"/>
                <a:cs typeface="Calibri"/>
              </a:rPr>
              <a:t>server-managed layers; method support differs</a:t>
            </a:r>
          </a:p>
        </p:txBody>
      </p:sp>
      <p:sp>
        <p:nvSpPr>
          <p:cNvPr id="27" name="">
            <a:extLst xmlns:a="http://schemas.openxmlformats.org/drawingml/2006/main">
              <a:ext uri="{FF2B5EF4-FFF2-40B4-BE49-F238E27FC236}">
                <a16:creationId xmlns:a16="http://schemas.microsoft.com/office/drawing/2014/main" id="{897D90B2-109D-404A-9611-0F5A311CB039}"/>
              </a:ext>
            </a:extLst>
          </p:cNvPr>
          <p:cNvSpPr>
            <a:spLocks xmlns:a="http://schemas.openxmlformats.org/drawingml/2006/main" noGrp="1"/>
          </p:cNvSpPr>
          <p:nvPr/>
        </p:nvSpPr>
        <p:spPr>
          <a:xfrm xmlns:a="http://schemas.openxmlformats.org/drawingml/2006/main">
            <a:off x="1219200" y="5981700"/>
            <a:ext cx="975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1650" b="1" i="0">
                <a:solidFill>
                  <a:srgbClr val="E76F51"/>
                </a:solidFill>
                <a:latin typeface="Calibri"/>
                <a:ea typeface="Calibri"/>
                <a:cs typeface="Calibri"/>
              </a:defRPr>
            </a:pPr>
            <a:r>
              <a:rPr sz="1650" b="1" i="0">
                <a:solidFill>
                  <a:srgbClr val="E76F51"/>
                </a:solidFill>
                <a:latin typeface="Calibri"/>
                <a:ea typeface="Calibri"/>
                <a:cs typeface="Calibri"/>
              </a:rPr>
              <a:t>This slide was checked on 13 August 2026. Re-run the install and capability checks before teaching it again.</a:t>
            </a:r>
          </a:p>
        </p:txBody>
      </p:sp>
    </p:spTree>
    <p:extLst>
      <p:ext uri="{BB962C8B-B14F-4D97-AF65-F5344CB8AC3E}">
        <p14:creationId xmlns:p14="http://schemas.microsoft.com/office/powerpoint/2010/main" val="187801593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37F5B5D-1659-4514-9DE3-02C77CFA65C2}"/>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DCD24389-F301-460F-97EE-3669E4B2C8F8}"/>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151"/>
          </a:bodyPr>
          <a:lstStyle xmlns:a="http://schemas.openxmlformats.org/drawingml/2006/main"/>
          <a:p xmlns:a="http://schemas.openxmlformats.org/drawingml/2006/main">
            <a:pPr algn="l">
              <a:lnSpc>
                <a:spcPct val="100000"/>
              </a:lnSpc>
              <a:buNone/>
              <a:defRPr sz="3450" b="1" i="0">
                <a:solidFill>
                  <a:srgbClr val="0B2942"/>
                </a:solidFill>
                <a:latin typeface="Cambria"/>
                <a:ea typeface="Cambria"/>
                <a:cs typeface="Cambria"/>
              </a:defRPr>
            </a:pPr>
            <a:r>
              <a:rPr sz="3450" b="1" i="0">
                <a:solidFill>
                  <a:srgbClr val="0B2942"/>
                </a:solidFill>
                <a:latin typeface="Cambria"/>
                <a:ea typeface="Cambria"/>
                <a:cs typeface="Cambria"/>
              </a:rPr>
              <a:t>Experimental Memory Still Has Isolation and Time Risks</a:t>
            </a:r>
          </a:p>
        </p:txBody>
      </p:sp>
      <p:sp>
        <p:nvSpPr>
          <p:cNvPr id="3" name="">
            <a:extLst xmlns:a="http://schemas.openxmlformats.org/drawingml/2006/main">
              <a:ext uri="{FF2B5EF4-FFF2-40B4-BE49-F238E27FC236}">
                <a16:creationId xmlns:a16="http://schemas.microsoft.com/office/drawing/2014/main" id="{9FAEFECF-BAAC-4E85-A825-80A4904CB7F5}"/>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7080"/>
                </a:solidFill>
                <a:latin typeface="Courier New"/>
                <a:ea typeface="Courier New"/>
                <a:cs typeface="Courier New"/>
              </a:defRPr>
            </a:pPr>
            <a:r>
              <a:rPr sz="1125" b="0" i="0">
                <a:solidFill>
                  <a:srgbClr val="5C7080"/>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596EF610-386C-4E55-ACC9-5862A6365297}"/>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065A82"/>
                </a:solidFill>
                <a:latin typeface="Courier New"/>
                <a:ea typeface="Courier New"/>
                <a:cs typeface="Courier New"/>
              </a:defRPr>
            </a:pPr>
            <a:r>
              <a:rPr sz="1275" b="1" i="0">
                <a:solidFill>
                  <a:srgbClr val="065A82"/>
                </a:solidFill>
                <a:latin typeface="Courier New"/>
                <a:ea typeface="Courier New"/>
                <a:cs typeface="Courier New"/>
              </a:rPr>
              <a:t>28</a:t>
            </a:r>
          </a:p>
        </p:txBody>
      </p:sp>
      <p:sp>
        <p:nvSpPr>
          <p:cNvPr id="5" name="">
            <a:extLst xmlns:a="http://schemas.openxmlformats.org/drawingml/2006/main">
              <a:ext uri="{FF2B5EF4-FFF2-40B4-BE49-F238E27FC236}">
                <a16:creationId xmlns:a16="http://schemas.microsoft.com/office/drawing/2014/main" id="{F1ABC952-EDBA-4D8E-93F7-44A189971C39}"/>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DDF4EF"/>
          </a:solidFill>
          <a:ln xmlns:a="http://schemas.openxmlformats.org/drawingml/2006/main" w="9525">
            <a:solidFill>
              <a:srgbClr val="A6DAD0"/>
            </a:solidFill>
            <a:prstDash val="solid"/>
          </a:ln>
        </p:spPr>
      </p:sp>
      <p:sp>
        <p:nvSpPr>
          <p:cNvPr id="6" name="">
            <a:extLst xmlns:a="http://schemas.openxmlformats.org/drawingml/2006/main">
              <a:ext uri="{FF2B5EF4-FFF2-40B4-BE49-F238E27FC236}">
                <a16:creationId xmlns:a16="http://schemas.microsoft.com/office/drawing/2014/main" id="{042833D1-A59B-4489-BBC2-41B4990A9F5F}"/>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65A82"/>
                </a:solidFill>
                <a:latin typeface="Calibri"/>
                <a:ea typeface="Calibri"/>
                <a:cs typeface="Calibri"/>
              </a:defRPr>
            </a:pPr>
            <a:r>
              <a:rPr sz="1200" b="1" i="0">
                <a:solidFill>
                  <a:srgbClr val="065A82"/>
                </a:solidFill>
                <a:latin typeface="Calibri"/>
                <a:ea typeface="Calibri"/>
                <a:cs typeface="Calibri"/>
              </a:rPr>
              <a:t>← Background · Slides 9 + 17, Lifecycle · Trust</a:t>
            </a:r>
          </a:p>
        </p:txBody>
      </p:sp>
      <p:sp>
        <p:nvSpPr>
          <p:cNvPr id="7" name="">
            <a:extLst xmlns:a="http://schemas.openxmlformats.org/drawingml/2006/main">
              <a:ext uri="{FF2B5EF4-FFF2-40B4-BE49-F238E27FC236}">
                <a16:creationId xmlns:a16="http://schemas.microsoft.com/office/drawing/2014/main" id="{E2633567-79EA-4939-8CAF-391BCD98CEC4}"/>
              </a:ext>
            </a:extLst>
          </p:cNvPr>
          <p:cNvSpPr>
            <a:spLocks xmlns:a="http://schemas.openxmlformats.org/drawingml/2006/main" noGrp="1"/>
          </p:cNvSpPr>
          <p:nvPr/>
        </p:nvSpPr>
        <p:spPr>
          <a:xfrm xmlns:a="http://schemas.openxmlformats.org/drawingml/2006/main">
            <a:off x="647700" y="1466850"/>
            <a:ext cx="108966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CFE8F0"/>
            </a:solidFill>
            <a:prstDash val="solid"/>
          </a:ln>
        </p:spPr>
      </p:sp>
      <p:sp>
        <p:nvSpPr>
          <p:cNvPr id="8" name="">
            <a:extLst xmlns:a="http://schemas.openxmlformats.org/drawingml/2006/main">
              <a:ext uri="{FF2B5EF4-FFF2-40B4-BE49-F238E27FC236}">
                <a16:creationId xmlns:a16="http://schemas.microsoft.com/office/drawing/2014/main" id="{CB621893-EC2F-451A-A92B-6BECBE6E0EF5}"/>
              </a:ext>
            </a:extLst>
          </p:cNvPr>
          <p:cNvSpPr>
            <a:spLocks xmlns:a="http://schemas.openxmlformats.org/drawingml/2006/main" noGrp="1"/>
          </p:cNvSpPr>
          <p:nvPr/>
        </p:nvSpPr>
        <p:spPr>
          <a:xfrm xmlns:a="http://schemas.openxmlformats.org/drawingml/2006/main">
            <a:off x="895350" y="16478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065A82"/>
                </a:solidFill>
                <a:latin typeface="Courier New"/>
                <a:ea typeface="Courier New"/>
                <a:cs typeface="Courier New"/>
              </a:defRPr>
            </a:pPr>
            <a:r>
              <a:rPr sz="1500" b="1" i="0">
                <a:solidFill>
                  <a:srgbClr val="065A82"/>
                </a:solidFill>
                <a:latin typeface="Courier New"/>
                <a:ea typeface="Courier New"/>
                <a:cs typeface="Courier New"/>
              </a:rPr>
              <a:t>PROJECT STATUS</a:t>
            </a:r>
          </a:p>
        </p:txBody>
      </p:sp>
      <p:sp>
        <p:nvSpPr>
          <p:cNvPr id="9" name="">
            <a:extLst xmlns:a="http://schemas.openxmlformats.org/drawingml/2006/main">
              <a:ext uri="{FF2B5EF4-FFF2-40B4-BE49-F238E27FC236}">
                <a16:creationId xmlns:a16="http://schemas.microsoft.com/office/drawing/2014/main" id="{FD5ABE95-11DC-4235-9CA6-003190C590EB}"/>
              </a:ext>
            </a:extLst>
          </p:cNvPr>
          <p:cNvSpPr>
            <a:spLocks xmlns:a="http://schemas.openxmlformats.org/drawingml/2006/main" noGrp="1"/>
          </p:cNvSpPr>
          <p:nvPr/>
        </p:nvSpPr>
        <p:spPr>
          <a:xfrm xmlns:a="http://schemas.openxmlformats.org/drawingml/2006/main">
            <a:off x="3143250" y="160020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6602"/>
          </a:bodyPr>
          <a:lstStyle xmlns:a="http://schemas.openxmlformats.org/drawingml/2006/main"/>
          <a:p xmlns:a="http://schemas.openxmlformats.org/drawingml/2006/main">
            <a:pPr algn="l">
              <a:lnSpc>
                <a:spcPct val="100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Neo4j Labs, experimental, community supported</a:t>
            </a:r>
          </a:p>
        </p:txBody>
      </p:sp>
      <p:sp>
        <p:nvSpPr>
          <p:cNvPr id="10" name="">
            <a:extLst xmlns:a="http://schemas.openxmlformats.org/drawingml/2006/main">
              <a:ext uri="{FF2B5EF4-FFF2-40B4-BE49-F238E27FC236}">
                <a16:creationId xmlns:a16="http://schemas.microsoft.com/office/drawing/2014/main" id="{D9FFDBF4-D383-4F5C-B4AC-1EFDCFC1F5B6}"/>
              </a:ext>
            </a:extLst>
          </p:cNvPr>
          <p:cNvSpPr>
            <a:spLocks xmlns:a="http://schemas.openxmlformats.org/drawingml/2006/main" noGrp="1"/>
          </p:cNvSpPr>
          <p:nvPr/>
        </p:nvSpPr>
        <p:spPr>
          <a:xfrm xmlns:a="http://schemas.openxmlformats.org/drawingml/2006/main">
            <a:off x="7810500" y="16002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75" b="1" i="0">
                <a:solidFill>
                  <a:srgbClr val="0B2942"/>
                </a:solidFill>
                <a:latin typeface="Calibri"/>
                <a:ea typeface="Calibri"/>
                <a:cs typeface="Calibri"/>
              </a:defRPr>
            </a:pPr>
            <a:r>
              <a:rPr sz="1575" b="1" i="0">
                <a:solidFill>
                  <a:srgbClr val="0B2942"/>
                </a:solidFill>
                <a:latin typeface="Calibri"/>
                <a:ea typeface="Calibri"/>
                <a:cs typeface="Calibri"/>
              </a:rPr>
              <a:t>APIs and defaults may move</a:t>
            </a:r>
          </a:p>
        </p:txBody>
      </p:sp>
      <p:sp>
        <p:nvSpPr>
          <p:cNvPr id="11" name="">
            <a:extLst xmlns:a="http://schemas.openxmlformats.org/drawingml/2006/main">
              <a:ext uri="{FF2B5EF4-FFF2-40B4-BE49-F238E27FC236}">
                <a16:creationId xmlns:a16="http://schemas.microsoft.com/office/drawing/2014/main" id="{B1625DD1-A91D-4BD8-B64A-94965A787DB1}"/>
              </a:ext>
            </a:extLst>
          </p:cNvPr>
          <p:cNvSpPr>
            <a:spLocks xmlns:a="http://schemas.openxmlformats.org/drawingml/2006/main" noGrp="1"/>
          </p:cNvSpPr>
          <p:nvPr/>
        </p:nvSpPr>
        <p:spPr>
          <a:xfrm xmlns:a="http://schemas.openxmlformats.org/drawingml/2006/main">
            <a:off x="647700" y="2362200"/>
            <a:ext cx="10896600" cy="723900"/>
          </a:xfrm>
          <a:prstGeom xmlns:a="http://schemas.openxmlformats.org/drawingml/2006/main" prst="roundRect">
            <a:avLst>
              <a:gd name="adj" fmla="val 15789"/>
            </a:avLst>
          </a:prstGeom>
          <a:solidFill xmlns:a="http://schemas.openxmlformats.org/drawingml/2006/main">
            <a:srgbClr val="F2F8FA"/>
          </a:solidFill>
          <a:ln xmlns:a="http://schemas.openxmlformats.org/drawingml/2006/main" w="9525">
            <a:solidFill>
              <a:srgbClr val="CFE8F0"/>
            </a:solidFill>
            <a:prstDash val="solid"/>
          </a:ln>
        </p:spPr>
      </p:sp>
      <p:sp>
        <p:nvSpPr>
          <p:cNvPr id="12" name="">
            <a:extLst xmlns:a="http://schemas.openxmlformats.org/drawingml/2006/main">
              <a:ext uri="{FF2B5EF4-FFF2-40B4-BE49-F238E27FC236}">
                <a16:creationId xmlns:a16="http://schemas.microsoft.com/office/drawing/2014/main" id="{A7265E50-497E-4660-9E86-B055B29C5D3B}"/>
              </a:ext>
            </a:extLst>
          </p:cNvPr>
          <p:cNvSpPr>
            <a:spLocks xmlns:a="http://schemas.openxmlformats.org/drawingml/2006/main" noGrp="1"/>
          </p:cNvSpPr>
          <p:nvPr/>
        </p:nvSpPr>
        <p:spPr>
          <a:xfrm xmlns:a="http://schemas.openxmlformats.org/drawingml/2006/main">
            <a:off x="895350" y="25431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E76F51"/>
                </a:solidFill>
                <a:latin typeface="Courier New"/>
                <a:ea typeface="Courier New"/>
                <a:cs typeface="Courier New"/>
              </a:defRPr>
            </a:pPr>
            <a:r>
              <a:rPr sz="1500" b="1" i="0">
                <a:solidFill>
                  <a:srgbClr val="E76F51"/>
                </a:solidFill>
                <a:latin typeface="Courier New"/>
                <a:ea typeface="Courier New"/>
                <a:cs typeface="Courier New"/>
              </a:rPr>
              <a:t>USER ISOLATION</a:t>
            </a:r>
          </a:p>
        </p:txBody>
      </p:sp>
      <p:sp>
        <p:nvSpPr>
          <p:cNvPr id="13" name="">
            <a:extLst xmlns:a="http://schemas.openxmlformats.org/drawingml/2006/main">
              <a:ext uri="{FF2B5EF4-FFF2-40B4-BE49-F238E27FC236}">
                <a16:creationId xmlns:a16="http://schemas.microsoft.com/office/drawing/2014/main" id="{393DA8FC-ED4A-4B5D-9BE5-0F00A8AC2553}"/>
              </a:ext>
            </a:extLst>
          </p:cNvPr>
          <p:cNvSpPr>
            <a:spLocks xmlns:a="http://schemas.openxmlformats.org/drawingml/2006/main" noGrp="1"/>
          </p:cNvSpPr>
          <p:nvPr/>
        </p:nvSpPr>
        <p:spPr>
          <a:xfrm xmlns:a="http://schemas.openxmlformats.org/drawingml/2006/main">
            <a:off x="3143250" y="24955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7184"/>
          </a:bodyPr>
          <a:lstStyle xmlns:a="http://schemas.openxmlformats.org/drawingml/2006/main"/>
          <a:p xmlns:a="http://schemas.openxmlformats.org/drawingml/2006/main">
            <a:pPr algn="l">
              <a:lnSpc>
                <a:spcPct val="100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open issues describe unscoped long-term reads</a:t>
            </a:r>
          </a:p>
        </p:txBody>
      </p:sp>
      <p:sp>
        <p:nvSpPr>
          <p:cNvPr id="14" name="">
            <a:extLst xmlns:a="http://schemas.openxmlformats.org/drawingml/2006/main">
              <a:ext uri="{FF2B5EF4-FFF2-40B4-BE49-F238E27FC236}">
                <a16:creationId xmlns:a16="http://schemas.microsoft.com/office/drawing/2014/main" id="{C5022EF3-02B1-44CE-999A-197365340F3B}"/>
              </a:ext>
            </a:extLst>
          </p:cNvPr>
          <p:cNvSpPr>
            <a:spLocks xmlns:a="http://schemas.openxmlformats.org/drawingml/2006/main" noGrp="1"/>
          </p:cNvSpPr>
          <p:nvPr/>
        </p:nvSpPr>
        <p:spPr>
          <a:xfrm xmlns:a="http://schemas.openxmlformats.org/drawingml/2006/main">
            <a:off x="7810500" y="24955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1459"/>
          </a:bodyPr>
          <a:lstStyle xmlns:a="http://schemas.openxmlformats.org/drawingml/2006/main"/>
          <a:p xmlns:a="http://schemas.openxmlformats.org/drawingml/2006/main">
            <a:pPr algn="l">
              <a:lnSpc>
                <a:spcPct val="100000"/>
              </a:lnSpc>
              <a:buNone/>
              <a:defRPr sz="1575" b="1" i="0">
                <a:solidFill>
                  <a:srgbClr val="0B2942"/>
                </a:solidFill>
                <a:latin typeface="Calibri"/>
                <a:ea typeface="Calibri"/>
                <a:cs typeface="Calibri"/>
              </a:defRPr>
            </a:pPr>
            <a:r>
              <a:rPr sz="1575" b="1" i="0">
                <a:solidFill>
                  <a:srgbClr val="0B2942"/>
                </a:solidFill>
                <a:latin typeface="Calibri"/>
                <a:ea typeface="Calibri"/>
                <a:cs typeface="Calibri"/>
              </a:rPr>
              <a:t>enforce tenant identity in application policy</a:t>
            </a:r>
          </a:p>
        </p:txBody>
      </p:sp>
      <p:sp>
        <p:nvSpPr>
          <p:cNvPr id="15" name="">
            <a:extLst xmlns:a="http://schemas.openxmlformats.org/drawingml/2006/main">
              <a:ext uri="{FF2B5EF4-FFF2-40B4-BE49-F238E27FC236}">
                <a16:creationId xmlns:a16="http://schemas.microsoft.com/office/drawing/2014/main" id="{E829118C-EEAE-4E83-B705-195269B0A153}"/>
              </a:ext>
            </a:extLst>
          </p:cNvPr>
          <p:cNvSpPr>
            <a:spLocks xmlns:a="http://schemas.openxmlformats.org/drawingml/2006/main" noGrp="1"/>
          </p:cNvSpPr>
          <p:nvPr/>
        </p:nvSpPr>
        <p:spPr>
          <a:xfrm xmlns:a="http://schemas.openxmlformats.org/drawingml/2006/main">
            <a:off x="647700" y="3257550"/>
            <a:ext cx="108966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CFE8F0"/>
            </a:solidFill>
            <a:prstDash val="solid"/>
          </a:ln>
        </p:spPr>
      </p:sp>
      <p:sp>
        <p:nvSpPr>
          <p:cNvPr id="16" name="">
            <a:extLst xmlns:a="http://schemas.openxmlformats.org/drawingml/2006/main">
              <a:ext uri="{FF2B5EF4-FFF2-40B4-BE49-F238E27FC236}">
                <a16:creationId xmlns:a16="http://schemas.microsoft.com/office/drawing/2014/main" id="{A6DDDBBA-A59C-430A-89C7-084CCE44EC43}"/>
              </a:ext>
            </a:extLst>
          </p:cNvPr>
          <p:cNvSpPr>
            <a:spLocks xmlns:a="http://schemas.openxmlformats.org/drawingml/2006/main" noGrp="1"/>
          </p:cNvSpPr>
          <p:nvPr/>
        </p:nvSpPr>
        <p:spPr>
          <a:xfrm xmlns:a="http://schemas.openxmlformats.org/drawingml/2006/main">
            <a:off x="895350" y="34385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21295C"/>
                </a:solidFill>
                <a:latin typeface="Courier New"/>
                <a:ea typeface="Courier New"/>
                <a:cs typeface="Courier New"/>
              </a:defRPr>
            </a:pPr>
            <a:r>
              <a:rPr sz="1500" b="1" i="0">
                <a:solidFill>
                  <a:srgbClr val="21295C"/>
                </a:solidFill>
                <a:latin typeface="Courier New"/>
                <a:ea typeface="Courier New"/>
                <a:cs typeface="Courier New"/>
              </a:rPr>
              <a:t>GRAPH POISONING</a:t>
            </a:r>
          </a:p>
        </p:txBody>
      </p:sp>
      <p:sp>
        <p:nvSpPr>
          <p:cNvPr id="17" name="">
            <a:extLst xmlns:a="http://schemas.openxmlformats.org/drawingml/2006/main">
              <a:ext uri="{FF2B5EF4-FFF2-40B4-BE49-F238E27FC236}">
                <a16:creationId xmlns:a16="http://schemas.microsoft.com/office/drawing/2014/main" id="{64D68823-7F44-44C2-A79D-AA81FF57B81B}"/>
              </a:ext>
            </a:extLst>
          </p:cNvPr>
          <p:cNvSpPr>
            <a:spLocks xmlns:a="http://schemas.openxmlformats.org/drawingml/2006/main" noGrp="1"/>
          </p:cNvSpPr>
          <p:nvPr/>
        </p:nvSpPr>
        <p:spPr>
          <a:xfrm xmlns:a="http://schemas.openxmlformats.org/drawingml/2006/main">
            <a:off x="3143250" y="339090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902"/>
          </a:bodyPr>
          <a:lstStyle xmlns:a="http://schemas.openxmlformats.org/drawingml/2006/main"/>
          <a:p xmlns:a="http://schemas.openxmlformats.org/drawingml/2006/main">
            <a:pPr algn="l">
              <a:lnSpc>
                <a:spcPct val="100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shared entity neighborhoods can cross trust boundaries</a:t>
            </a:r>
          </a:p>
        </p:txBody>
      </p:sp>
      <p:sp>
        <p:nvSpPr>
          <p:cNvPr id="18" name="">
            <a:extLst xmlns:a="http://schemas.openxmlformats.org/drawingml/2006/main">
              <a:ext uri="{FF2B5EF4-FFF2-40B4-BE49-F238E27FC236}">
                <a16:creationId xmlns:a16="http://schemas.microsoft.com/office/drawing/2014/main" id="{45378BD4-3F91-4050-AE26-C66C36F44679}"/>
              </a:ext>
            </a:extLst>
          </p:cNvPr>
          <p:cNvSpPr>
            <a:spLocks xmlns:a="http://schemas.openxmlformats.org/drawingml/2006/main" noGrp="1"/>
          </p:cNvSpPr>
          <p:nvPr/>
        </p:nvSpPr>
        <p:spPr>
          <a:xfrm xmlns:a="http://schemas.openxmlformats.org/drawingml/2006/main">
            <a:off x="7810500" y="33909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417"/>
          </a:bodyPr>
          <a:lstStyle xmlns:a="http://schemas.openxmlformats.org/drawingml/2006/main"/>
          <a:p xmlns:a="http://schemas.openxmlformats.org/drawingml/2006/main">
            <a:pPr algn="l">
              <a:lnSpc>
                <a:spcPct val="100000"/>
              </a:lnSpc>
              <a:buNone/>
              <a:defRPr sz="1575" b="1" i="0">
                <a:solidFill>
                  <a:srgbClr val="0B2942"/>
                </a:solidFill>
                <a:latin typeface="Calibri"/>
                <a:ea typeface="Calibri"/>
                <a:cs typeface="Calibri"/>
              </a:defRPr>
            </a:pPr>
            <a:r>
              <a:rPr sz="1575" b="1" i="0">
                <a:solidFill>
                  <a:srgbClr val="0B2942"/>
                </a:solidFill>
                <a:latin typeface="Calibri"/>
                <a:ea typeface="Calibri"/>
                <a:cs typeface="Calibri"/>
              </a:rPr>
              <a:t>scope writes, reads, and merge behavior</a:t>
            </a:r>
          </a:p>
        </p:txBody>
      </p:sp>
      <p:sp>
        <p:nvSpPr>
          <p:cNvPr id="19" name="">
            <a:extLst xmlns:a="http://schemas.openxmlformats.org/drawingml/2006/main">
              <a:ext uri="{FF2B5EF4-FFF2-40B4-BE49-F238E27FC236}">
                <a16:creationId xmlns:a16="http://schemas.microsoft.com/office/drawing/2014/main" id="{EC8DB4E4-B742-4947-A971-FA09CB9F85DE}"/>
              </a:ext>
            </a:extLst>
          </p:cNvPr>
          <p:cNvSpPr>
            <a:spLocks xmlns:a="http://schemas.openxmlformats.org/drawingml/2006/main" noGrp="1"/>
          </p:cNvSpPr>
          <p:nvPr/>
        </p:nvSpPr>
        <p:spPr>
          <a:xfrm xmlns:a="http://schemas.openxmlformats.org/drawingml/2006/main">
            <a:off x="647700" y="4152900"/>
            <a:ext cx="10896600" cy="723900"/>
          </a:xfrm>
          <a:prstGeom xmlns:a="http://schemas.openxmlformats.org/drawingml/2006/main" prst="roundRect">
            <a:avLst>
              <a:gd name="adj" fmla="val 15789"/>
            </a:avLst>
          </a:prstGeom>
          <a:solidFill xmlns:a="http://schemas.openxmlformats.org/drawingml/2006/main">
            <a:srgbClr val="F2F8FA"/>
          </a:solidFill>
          <a:ln xmlns:a="http://schemas.openxmlformats.org/drawingml/2006/main" w="9525">
            <a:solidFill>
              <a:srgbClr val="CFE8F0"/>
            </a:solidFill>
            <a:prstDash val="solid"/>
          </a:ln>
        </p:spPr>
      </p:sp>
      <p:sp>
        <p:nvSpPr>
          <p:cNvPr id="20" name="">
            <a:extLst xmlns:a="http://schemas.openxmlformats.org/drawingml/2006/main">
              <a:ext uri="{FF2B5EF4-FFF2-40B4-BE49-F238E27FC236}">
                <a16:creationId xmlns:a16="http://schemas.microsoft.com/office/drawing/2014/main" id="{C5A6AF5E-81BF-4A9F-A0A1-4224F9870F39}"/>
              </a:ext>
            </a:extLst>
          </p:cNvPr>
          <p:cNvSpPr>
            <a:spLocks xmlns:a="http://schemas.openxmlformats.org/drawingml/2006/main" noGrp="1"/>
          </p:cNvSpPr>
          <p:nvPr/>
        </p:nvSpPr>
        <p:spPr>
          <a:xfrm xmlns:a="http://schemas.openxmlformats.org/drawingml/2006/main">
            <a:off x="895350" y="43338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7837"/>
          </a:bodyPr>
          <a:lstStyle xmlns:a="http://schemas.openxmlformats.org/drawingml/2006/main"/>
          <a:p xmlns:a="http://schemas.openxmlformats.org/drawingml/2006/main">
            <a:pPr algn="l">
              <a:lnSpc>
                <a:spcPct val="100000"/>
              </a:lnSpc>
              <a:buNone/>
              <a:defRPr sz="1500" b="1" i="0">
                <a:solidFill>
                  <a:srgbClr val="1C7293"/>
                </a:solidFill>
                <a:latin typeface="Courier New"/>
                <a:ea typeface="Courier New"/>
                <a:cs typeface="Courier New"/>
              </a:defRPr>
            </a:pPr>
            <a:r>
              <a:rPr sz="1500" b="1" i="0">
                <a:solidFill>
                  <a:srgbClr val="1C7293"/>
                </a:solidFill>
                <a:latin typeface="Courier New"/>
                <a:ea typeface="Courier New"/>
                <a:cs typeface="Courier New"/>
              </a:rPr>
              <a:t>TEMPORAL OVERWRITE</a:t>
            </a:r>
          </a:p>
        </p:txBody>
      </p:sp>
      <p:sp>
        <p:nvSpPr>
          <p:cNvPr id="21" name="">
            <a:extLst xmlns:a="http://schemas.openxmlformats.org/drawingml/2006/main">
              <a:ext uri="{FF2B5EF4-FFF2-40B4-BE49-F238E27FC236}">
                <a16:creationId xmlns:a16="http://schemas.microsoft.com/office/drawing/2014/main" id="{F33C8F14-78CB-4FBC-A407-07F228272C53}"/>
              </a:ext>
            </a:extLst>
          </p:cNvPr>
          <p:cNvSpPr>
            <a:spLocks xmlns:a="http://schemas.openxmlformats.org/drawingml/2006/main" noGrp="1"/>
          </p:cNvSpPr>
          <p:nvPr/>
        </p:nvSpPr>
        <p:spPr>
          <a:xfrm xmlns:a="http://schemas.openxmlformats.org/drawingml/2006/main">
            <a:off x="3143250" y="42862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facts can change or conflict across time</a:t>
            </a:r>
          </a:p>
        </p:txBody>
      </p:sp>
      <p:sp>
        <p:nvSpPr>
          <p:cNvPr id="22" name="">
            <a:extLst xmlns:a="http://schemas.openxmlformats.org/drawingml/2006/main">
              <a:ext uri="{FF2B5EF4-FFF2-40B4-BE49-F238E27FC236}">
                <a16:creationId xmlns:a16="http://schemas.microsoft.com/office/drawing/2014/main" id="{81CC088A-2A2D-474B-B40E-0B736780E587}"/>
              </a:ext>
            </a:extLst>
          </p:cNvPr>
          <p:cNvSpPr>
            <a:spLocks xmlns:a="http://schemas.openxmlformats.org/drawingml/2006/main" noGrp="1"/>
          </p:cNvSpPr>
          <p:nvPr/>
        </p:nvSpPr>
        <p:spPr>
          <a:xfrm xmlns:a="http://schemas.openxmlformats.org/drawingml/2006/main">
            <a:off x="7810500" y="42862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79631"/>
          </a:bodyPr>
          <a:lstStyle xmlns:a="http://schemas.openxmlformats.org/drawingml/2006/main"/>
          <a:p xmlns:a="http://schemas.openxmlformats.org/drawingml/2006/main">
            <a:pPr algn="l">
              <a:lnSpc>
                <a:spcPct val="100000"/>
              </a:lnSpc>
              <a:buNone/>
              <a:defRPr sz="1575" b="1" i="0">
                <a:solidFill>
                  <a:srgbClr val="0B2942"/>
                </a:solidFill>
                <a:latin typeface="Calibri"/>
                <a:ea typeface="Calibri"/>
                <a:cs typeface="Calibri"/>
              </a:defRPr>
            </a:pPr>
            <a:r>
              <a:rPr sz="1575" b="1" i="0">
                <a:solidFill>
                  <a:srgbClr val="0B2942"/>
                </a:solidFill>
                <a:latin typeface="Calibri"/>
                <a:ea typeface="Calibri"/>
                <a:cs typeface="Calibri"/>
              </a:rPr>
              <a:t>preserve validity and supersession evidence</a:t>
            </a:r>
          </a:p>
        </p:txBody>
      </p:sp>
      <p:sp>
        <p:nvSpPr>
          <p:cNvPr id="23" name="">
            <a:extLst xmlns:a="http://schemas.openxmlformats.org/drawingml/2006/main">
              <a:ext uri="{FF2B5EF4-FFF2-40B4-BE49-F238E27FC236}">
                <a16:creationId xmlns:a16="http://schemas.microsoft.com/office/drawing/2014/main" id="{09FD69EE-39A4-4402-80CB-D96CAB6BBC15}"/>
              </a:ext>
            </a:extLst>
          </p:cNvPr>
          <p:cNvSpPr>
            <a:spLocks xmlns:a="http://schemas.openxmlformats.org/drawingml/2006/main" noGrp="1"/>
          </p:cNvSpPr>
          <p:nvPr/>
        </p:nvSpPr>
        <p:spPr>
          <a:xfrm xmlns:a="http://schemas.openxmlformats.org/drawingml/2006/main">
            <a:off x="647700" y="5048250"/>
            <a:ext cx="108966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CFE8F0"/>
            </a:solidFill>
            <a:prstDash val="solid"/>
          </a:ln>
        </p:spPr>
      </p:sp>
      <p:sp>
        <p:nvSpPr>
          <p:cNvPr id="24" name="">
            <a:extLst xmlns:a="http://schemas.openxmlformats.org/drawingml/2006/main">
              <a:ext uri="{FF2B5EF4-FFF2-40B4-BE49-F238E27FC236}">
                <a16:creationId xmlns:a16="http://schemas.microsoft.com/office/drawing/2014/main" id="{BD0E664A-937F-4716-AC84-3D87C9E174A0}"/>
              </a:ext>
            </a:extLst>
          </p:cNvPr>
          <p:cNvSpPr>
            <a:spLocks xmlns:a="http://schemas.openxmlformats.org/drawingml/2006/main" noGrp="1"/>
          </p:cNvSpPr>
          <p:nvPr/>
        </p:nvSpPr>
        <p:spPr>
          <a:xfrm xmlns:a="http://schemas.openxmlformats.org/drawingml/2006/main">
            <a:off x="895350" y="52292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500" b="1" i="0">
                <a:solidFill>
                  <a:srgbClr val="1E7A5F"/>
                </a:solidFill>
                <a:latin typeface="Courier New"/>
                <a:ea typeface="Courier New"/>
                <a:cs typeface="Courier New"/>
              </a:defRPr>
            </a:pPr>
            <a:r>
              <a:rPr sz="1500" b="1" i="0">
                <a:solidFill>
                  <a:srgbClr val="1E7A5F"/>
                </a:solidFill>
                <a:latin typeface="Courier New"/>
                <a:ea typeface="Courier New"/>
                <a:cs typeface="Courier New"/>
              </a:rPr>
              <a:t>BACKEND SKEW</a:t>
            </a:r>
          </a:p>
        </p:txBody>
      </p:sp>
      <p:sp>
        <p:nvSpPr>
          <p:cNvPr id="25" name="">
            <a:extLst xmlns:a="http://schemas.openxmlformats.org/drawingml/2006/main">
              <a:ext uri="{FF2B5EF4-FFF2-40B4-BE49-F238E27FC236}">
                <a16:creationId xmlns:a16="http://schemas.microsoft.com/office/drawing/2014/main" id="{4721E0B4-1A11-4713-8A0C-D20D5F161B1B}"/>
              </a:ext>
            </a:extLst>
          </p:cNvPr>
          <p:cNvSpPr>
            <a:spLocks xmlns:a="http://schemas.openxmlformats.org/drawingml/2006/main" noGrp="1"/>
          </p:cNvSpPr>
          <p:nvPr/>
        </p:nvSpPr>
        <p:spPr>
          <a:xfrm xmlns:a="http://schemas.openxmlformats.org/drawingml/2006/main">
            <a:off x="3143250" y="518160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020"/>
          </a:bodyPr>
          <a:lstStyle xmlns:a="http://schemas.openxmlformats.org/drawingml/2006/main"/>
          <a:p xmlns:a="http://schemas.openxmlformats.org/drawingml/2006/main">
            <a:pPr algn="l">
              <a:lnSpc>
                <a:spcPct val="100000"/>
              </a:lnSpc>
              <a:buNone/>
              <a:defRPr sz="1650" b="0" i="0">
                <a:solidFill>
                  <a:srgbClr val="1B2733"/>
                </a:solidFill>
                <a:latin typeface="Calibri"/>
                <a:ea typeface="Calibri"/>
                <a:cs typeface="Calibri"/>
              </a:defRPr>
            </a:pPr>
            <a:r>
              <a:rPr sz="1650" b="0" i="0">
                <a:solidFill>
                  <a:srgbClr val="1B2733"/>
                </a:solidFill>
                <a:latin typeface="Calibri"/>
                <a:ea typeface="Calibri"/>
                <a:cs typeface="Calibri"/>
              </a:rPr>
              <a:t>bolt and NAMS do not expose every method equally</a:t>
            </a:r>
          </a:p>
        </p:txBody>
      </p:sp>
      <p:sp>
        <p:nvSpPr>
          <p:cNvPr id="26" name="">
            <a:extLst xmlns:a="http://schemas.openxmlformats.org/drawingml/2006/main">
              <a:ext uri="{FF2B5EF4-FFF2-40B4-BE49-F238E27FC236}">
                <a16:creationId xmlns:a16="http://schemas.microsoft.com/office/drawing/2014/main" id="{C84E954F-52B8-4F11-9A11-BB47FB742F71}"/>
              </a:ext>
            </a:extLst>
          </p:cNvPr>
          <p:cNvSpPr>
            <a:spLocks xmlns:a="http://schemas.openxmlformats.org/drawingml/2006/main" noGrp="1"/>
          </p:cNvSpPr>
          <p:nvPr/>
        </p:nvSpPr>
        <p:spPr>
          <a:xfrm xmlns:a="http://schemas.openxmlformats.org/drawingml/2006/main">
            <a:off x="7810500" y="51816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1279"/>
          </a:bodyPr>
          <a:lstStyle xmlns:a="http://schemas.openxmlformats.org/drawingml/2006/main"/>
          <a:p xmlns:a="http://schemas.openxmlformats.org/drawingml/2006/main">
            <a:pPr algn="l">
              <a:lnSpc>
                <a:spcPct val="100000"/>
              </a:lnSpc>
              <a:buNone/>
              <a:defRPr sz="1575" b="1" i="0">
                <a:solidFill>
                  <a:srgbClr val="0B2942"/>
                </a:solidFill>
                <a:latin typeface="Calibri"/>
                <a:ea typeface="Calibri"/>
                <a:cs typeface="Calibri"/>
              </a:defRPr>
            </a:pPr>
            <a:r>
              <a:rPr sz="1575" b="1" i="0">
                <a:solidFill>
                  <a:srgbClr val="0B2942"/>
                </a:solidFill>
                <a:latin typeface="Calibri"/>
                <a:ea typeface="Calibri"/>
                <a:cs typeface="Calibri"/>
              </a:rPr>
              <a:t>capability-test instead of version-assuming</a:t>
            </a:r>
          </a:p>
        </p:txBody>
      </p:sp>
      <p:sp>
        <p:nvSpPr>
          <p:cNvPr id="27" name="">
            <a:extLst xmlns:a="http://schemas.openxmlformats.org/drawingml/2006/main">
              <a:ext uri="{FF2B5EF4-FFF2-40B4-BE49-F238E27FC236}">
                <a16:creationId xmlns:a16="http://schemas.microsoft.com/office/drawing/2014/main" id="{DEE48EAB-C1E3-4D26-A836-3B7080927679}"/>
              </a:ext>
            </a:extLst>
          </p:cNvPr>
          <p:cNvSpPr>
            <a:spLocks xmlns:a="http://schemas.openxmlformats.org/drawingml/2006/main" noGrp="1"/>
          </p:cNvSpPr>
          <p:nvPr/>
        </p:nvSpPr>
        <p:spPr>
          <a:xfrm xmlns:a="http://schemas.openxmlformats.org/drawingml/2006/main">
            <a:off x="1143000" y="598170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1650" b="0" i="0">
                <a:solidFill>
                  <a:srgbClr val="5C7080"/>
                </a:solidFill>
                <a:latin typeface="Calibri"/>
                <a:ea typeface="Calibri"/>
                <a:cs typeface="Calibri"/>
              </a:defRPr>
            </a:pPr>
            <a:r>
              <a:rPr sz="1650" b="0" i="0">
                <a:solidFill>
                  <a:srgbClr val="5C7080"/>
                </a:solidFill>
                <a:latin typeface="Calibri"/>
                <a:ea typeface="Calibri"/>
                <a:cs typeface="Calibri"/>
              </a:rPr>
              <a:t>Open-issue evidence is a limitation signal, not proof that every deployment is exploitable in the same way.</a:t>
            </a:r>
          </a:p>
        </p:txBody>
      </p:sp>
    </p:spTree>
    <p:extLst>
      <p:ext uri="{BB962C8B-B14F-4D97-AF65-F5344CB8AC3E}">
        <p14:creationId xmlns:p14="http://schemas.microsoft.com/office/powerpoint/2010/main" val="710996773"/>
      </p:ext>
    </p:extLst>
  </p:cSld>
</p:sld>
</file>

<file path=ppt/slides/slide29.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67D1BBB-36B3-4C04-A8D5-7A7D71700BE6}"/>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37CE2744-3B87-4F38-8823-DE0C3E3CBD51}"/>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Assignment: Build a Persistent Memory Map</a:t>
            </a:r>
          </a:p>
        </p:txBody>
      </p:sp>
      <p:sp>
        <p:nvSpPr>
          <p:cNvPr id="3" name="">
            <a:extLst xmlns:a="http://schemas.openxmlformats.org/drawingml/2006/main">
              <a:ext uri="{FF2B5EF4-FFF2-40B4-BE49-F238E27FC236}">
                <a16:creationId xmlns:a16="http://schemas.microsoft.com/office/drawing/2014/main" id="{8FA97A09-B210-450E-94F8-BD38E27DDCB6}"/>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1BC31344-300D-411D-AB5E-E83D2023E07E}"/>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29</a:t>
            </a:r>
          </a:p>
        </p:txBody>
      </p:sp>
      <p:sp>
        <p:nvSpPr>
          <p:cNvPr id="5" name="">
            <a:extLst xmlns:a="http://schemas.openxmlformats.org/drawingml/2006/main">
              <a:ext uri="{FF2B5EF4-FFF2-40B4-BE49-F238E27FC236}">
                <a16:creationId xmlns:a16="http://schemas.microsoft.com/office/drawing/2014/main" id="{44395306-9AD7-4334-ACE8-6E9580630217}"/>
              </a:ext>
            </a:extLst>
          </p:cNvPr>
          <p:cNvSpPr>
            <a:spLocks xmlns:a="http://schemas.openxmlformats.org/drawingml/2006/main" noGrp="1"/>
          </p:cNvSpPr>
          <p:nvPr/>
        </p:nvSpPr>
        <p:spPr>
          <a:xfrm xmlns:a="http://schemas.openxmlformats.org/drawingml/2006/main">
            <a:off x="7810500" y="352425"/>
            <a:ext cx="3771900" cy="285750"/>
          </a:xfrm>
          <a:prstGeom xmlns:a="http://schemas.openxmlformats.org/drawingml/2006/main" prst="roundRect">
            <a:avLst>
              <a:gd name="adj" fmla="val 50000"/>
            </a:avLst>
          </a:prstGeom>
          <a:solidFill xmlns:a="http://schemas.openxmlformats.org/drawingml/2006/main">
            <a:srgbClr val="173F58"/>
          </a:solidFill>
          <a:ln xmlns:a="http://schemas.openxmlformats.org/drawingml/2006/main" w="9525">
            <a:solidFill>
              <a:srgbClr val="1C7293"/>
            </a:solidFill>
            <a:prstDash val="solid"/>
          </a:ln>
        </p:spPr>
      </p:sp>
      <p:sp>
        <p:nvSpPr>
          <p:cNvPr id="6" name="">
            <a:extLst xmlns:a="http://schemas.openxmlformats.org/drawingml/2006/main">
              <a:ext uri="{FF2B5EF4-FFF2-40B4-BE49-F238E27FC236}">
                <a16:creationId xmlns:a16="http://schemas.microsoft.com/office/drawing/2014/main" id="{AC03884C-C28E-4C90-9F62-A683154E166B}"/>
              </a:ext>
            </a:extLst>
          </p:cNvPr>
          <p:cNvSpPr>
            <a:spLocks xmlns:a="http://schemas.openxmlformats.org/drawingml/2006/main" noGrp="1"/>
          </p:cNvSpPr>
          <p:nvPr/>
        </p:nvSpPr>
        <p:spPr>
          <a:xfrm xmlns:a="http://schemas.openxmlformats.org/drawingml/2006/main">
            <a:off x="7943850" y="390525"/>
            <a:ext cx="350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CFE8F0"/>
                </a:solidFill>
                <a:latin typeface="Calibri"/>
                <a:ea typeface="Calibri"/>
                <a:cs typeface="Calibri"/>
              </a:defRPr>
            </a:pPr>
            <a:r>
              <a:rPr sz="1200" b="1" i="0">
                <a:solidFill>
                  <a:srgbClr val="CFE8F0"/>
                </a:solidFill>
                <a:latin typeface="Calibri"/>
                <a:ea typeface="Calibri"/>
                <a:cs typeface="Calibri"/>
              </a:rPr>
              <a:t>← Background · Slides 21–26, SDK · Graph</a:t>
            </a:r>
          </a:p>
        </p:txBody>
      </p:sp>
      <p:sp>
        <p:nvSpPr>
          <p:cNvPr id="7" name="">
            <a:extLst xmlns:a="http://schemas.openxmlformats.org/drawingml/2006/main">
              <a:ext uri="{FF2B5EF4-FFF2-40B4-BE49-F238E27FC236}">
                <a16:creationId xmlns:a16="http://schemas.microsoft.com/office/drawing/2014/main" id="{FC5A4F62-7EFF-48CD-B826-C1C552EDEC1B}"/>
              </a:ext>
            </a:extLst>
          </p:cNvPr>
          <p:cNvSpPr>
            <a:spLocks xmlns:a="http://schemas.openxmlformats.org/drawingml/2006/main" noGrp="1"/>
          </p:cNvSpPr>
          <p:nvPr/>
        </p:nvSpPr>
        <p:spPr>
          <a:xfrm xmlns:a="http://schemas.openxmlformats.org/drawingml/2006/main">
            <a:off x="590550" y="2381250"/>
            <a:ext cx="2190750" cy="2095500"/>
          </a:xfrm>
          <a:prstGeom xmlns:a="http://schemas.openxmlformats.org/drawingml/2006/main" prst="roundRect">
            <a:avLst>
              <a:gd name="adj" fmla="val 5455"/>
            </a:avLst>
          </a:prstGeom>
          <a:solidFill xmlns:a="http://schemas.openxmlformats.org/drawingml/2006/main">
            <a:srgbClr val="065A8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C5F108-9A9C-4280-92A7-5EDDE0268B09}"/>
              </a:ext>
            </a:extLst>
          </p:cNvPr>
          <p:cNvSpPr>
            <a:spLocks xmlns:a="http://schemas.openxmlformats.org/drawingml/2006/main" noGrp="1"/>
          </p:cNvSpPr>
          <p:nvPr/>
        </p:nvSpPr>
        <p:spPr>
          <a:xfrm xmlns:a="http://schemas.openxmlformats.org/drawingml/2006/main">
            <a:off x="3524250" y="2381250"/>
            <a:ext cx="2190750" cy="2095500"/>
          </a:xfrm>
          <a:prstGeom xmlns:a="http://schemas.openxmlformats.org/drawingml/2006/main" prst="roundRect">
            <a:avLst>
              <a:gd name="adj" fmla="val 5455"/>
            </a:avLst>
          </a:prstGeom>
          <a:solidFill xmlns:a="http://schemas.openxmlformats.org/drawingml/2006/main">
            <a:srgbClr val="1C729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8A4FA39-BA4F-43A5-8CEC-D66C8E4584F5}"/>
              </a:ext>
            </a:extLst>
          </p:cNvPr>
          <p:cNvSpPr>
            <a:spLocks xmlns:a="http://schemas.openxmlformats.org/drawingml/2006/main" noGrp="1"/>
          </p:cNvSpPr>
          <p:nvPr/>
        </p:nvSpPr>
        <p:spPr>
          <a:xfrm xmlns:a="http://schemas.openxmlformats.org/drawingml/2006/main">
            <a:off x="6457950" y="2381250"/>
            <a:ext cx="2190750" cy="2095500"/>
          </a:xfrm>
          <a:prstGeom xmlns:a="http://schemas.openxmlformats.org/drawingml/2006/main" prst="roundRect">
            <a:avLst>
              <a:gd name="adj" fmla="val 5455"/>
            </a:avLst>
          </a:prstGeom>
          <a:solidFill xmlns:a="http://schemas.openxmlformats.org/drawingml/2006/main">
            <a:srgbClr val="2129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C30BBC-89AD-48BF-9B27-B38DEC1A8D23}"/>
              </a:ext>
            </a:extLst>
          </p:cNvPr>
          <p:cNvSpPr>
            <a:spLocks xmlns:a="http://schemas.openxmlformats.org/drawingml/2006/main" noGrp="1"/>
          </p:cNvSpPr>
          <p:nvPr/>
        </p:nvSpPr>
        <p:spPr>
          <a:xfrm xmlns:a="http://schemas.openxmlformats.org/drawingml/2006/main">
            <a:off x="9391650" y="2381250"/>
            <a:ext cx="2190750" cy="2095500"/>
          </a:xfrm>
          <a:prstGeom xmlns:a="http://schemas.openxmlformats.org/drawingml/2006/main" prst="roundRect">
            <a:avLst>
              <a:gd name="adj" fmla="val 5455"/>
            </a:avLst>
          </a:prstGeom>
          <a:solidFill xmlns:a="http://schemas.openxmlformats.org/drawingml/2006/main">
            <a:srgbClr val="1E7A5F"/>
          </a:solidFill>
          <a:ln xmlns:a="http://schemas.openxmlformats.org/drawingml/2006/main" w="0">
            <a:noFill/>
            <a:prstDash val="solid"/>
          </a:ln>
        </p:spPr>
      </p: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2781300" y="3429000"/>
            <a:ext cx="742950"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cxnSp>
        <p:nvCxnSpPr>
          <p:cNvPr id="34" name=""/>
          <p:cNvCxnSpPr>
            <a:stCxn xmlns:a="http://schemas.openxmlformats.org/drawingml/2006/main" id="8" idx="3"/>
            <a:endCxn xmlns:a="http://schemas.openxmlformats.org/drawingml/2006/main" id="9" idx="1"/>
          </p:cNvCxnSpPr>
          <p:nvPr/>
        </p:nvCxnSpPr>
        <p:spPr>
          <a:xfrm xmlns:a="http://schemas.openxmlformats.org/drawingml/2006/main">
            <a:off x="5715000" y="3429000"/>
            <a:ext cx="742950"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cxnSp>
        <p:nvCxnSpPr>
          <p:cNvPr id="35" name=""/>
          <p:cNvCxnSpPr>
            <a:stCxn xmlns:a="http://schemas.openxmlformats.org/drawingml/2006/main" id="9" idx="3"/>
            <a:endCxn xmlns:a="http://schemas.openxmlformats.org/drawingml/2006/main" id="10" idx="1"/>
          </p:cNvCxnSpPr>
          <p:nvPr/>
        </p:nvCxnSpPr>
        <p:spPr>
          <a:xfrm xmlns:a="http://schemas.openxmlformats.org/drawingml/2006/main">
            <a:off x="8648700" y="3429000"/>
            <a:ext cx="742950" cy="0"/>
          </a:xfrm>
          <a:prstGeom xmlns:a="http://schemas.openxmlformats.org/drawingml/2006/main" prst="straightConnector1">
            <a:avLst/>
          </a:prstGeom>
          <a:ln xmlns:a="http://schemas.openxmlformats.org/drawingml/2006/main" w="19050">
            <a:solidFill>
              <a:srgbClr val="8FAAB8"/>
            </a:solidFill>
            <a:prstDash val="solid"/>
            <a:tailEnd type="triangle" w="sm" len="sm"/>
          </a:ln>
        </p:spPr>
      </p:cxnSp>
      <p:sp>
        <p:nvSpPr>
          <p:cNvPr id="14" name="">
            <a:extLst xmlns:a="http://schemas.openxmlformats.org/drawingml/2006/main">
              <a:ext uri="{FF2B5EF4-FFF2-40B4-BE49-F238E27FC236}">
                <a16:creationId xmlns:a16="http://schemas.microsoft.com/office/drawing/2014/main" id="{A3385FC1-F44E-45F8-AB82-FA23C24F71F2}"/>
              </a:ext>
            </a:extLst>
          </p:cNvPr>
          <p:cNvSpPr>
            <a:spLocks xmlns:a="http://schemas.openxmlformats.org/drawingml/2006/main" noGrp="1"/>
          </p:cNvSpPr>
          <p:nvPr/>
        </p:nvSpPr>
        <p:spPr>
          <a:xfrm xmlns:a="http://schemas.openxmlformats.org/drawingml/2006/main">
            <a:off x="857250" y="27241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1950" b="1" i="0">
                <a:solidFill>
                  <a:srgbClr val="FFFFFF"/>
                </a:solidFill>
                <a:latin typeface="Courier New"/>
                <a:ea typeface="Courier New"/>
                <a:cs typeface="Courier New"/>
              </a:defRPr>
            </a:pPr>
            <a:r>
              <a:rPr sz="1950" b="1" i="0">
                <a:solidFill>
                  <a:srgbClr val="FFFFFF"/>
                </a:solidFill>
                <a:latin typeface="Courier New"/>
                <a:ea typeface="Courier New"/>
                <a:cs typeface="Courier New"/>
              </a:rPr>
              <a:t>BROWSER</a:t>
            </a:r>
          </a:p>
        </p:txBody>
      </p:sp>
      <p:sp>
        <p:nvSpPr>
          <p:cNvPr id="15" name="">
            <a:extLst xmlns:a="http://schemas.openxmlformats.org/drawingml/2006/main">
              <a:ext uri="{FF2B5EF4-FFF2-40B4-BE49-F238E27FC236}">
                <a16:creationId xmlns:a16="http://schemas.microsoft.com/office/drawing/2014/main" id="{06057845-0650-4C38-8703-F726D683AB7A}"/>
              </a:ext>
            </a:extLst>
          </p:cNvPr>
          <p:cNvSpPr>
            <a:spLocks xmlns:a="http://schemas.openxmlformats.org/drawingml/2006/main" noGrp="1"/>
          </p:cNvSpPr>
          <p:nvPr/>
        </p:nvSpPr>
        <p:spPr>
          <a:xfrm xmlns:a="http://schemas.openxmlformats.org/drawingml/2006/main">
            <a:off x="857250" y="3381375"/>
            <a:ext cx="1657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3011"/>
          </a:bodyPr>
          <a:lstStyle xmlns:a="http://schemas.openxmlformats.org/drawingml/2006/main"/>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form + SVG graph</a:t>
            </a:r>
          </a:p>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neighbor lookup</a:t>
            </a:r>
          </a:p>
        </p:txBody>
      </p:sp>
      <p:sp>
        <p:nvSpPr>
          <p:cNvPr id="16" name="">
            <a:extLst xmlns:a="http://schemas.openxmlformats.org/drawingml/2006/main">
              <a:ext uri="{FF2B5EF4-FFF2-40B4-BE49-F238E27FC236}">
                <a16:creationId xmlns:a16="http://schemas.microsoft.com/office/drawing/2014/main" id="{7BC1B353-DB91-429B-98D1-39C8F59AB203}"/>
              </a:ext>
            </a:extLst>
          </p:cNvPr>
          <p:cNvSpPr>
            <a:spLocks xmlns:a="http://schemas.openxmlformats.org/drawingml/2006/main" noGrp="1"/>
          </p:cNvSpPr>
          <p:nvPr/>
        </p:nvSpPr>
        <p:spPr>
          <a:xfrm xmlns:a="http://schemas.openxmlformats.org/drawingml/2006/main">
            <a:off x="3790950" y="27241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1950" b="1" i="0">
                <a:solidFill>
                  <a:srgbClr val="FFFFFF"/>
                </a:solidFill>
                <a:latin typeface="Courier New"/>
                <a:ea typeface="Courier New"/>
                <a:cs typeface="Courier New"/>
              </a:defRPr>
            </a:pPr>
            <a:r>
              <a:rPr sz="1950" b="1" i="0">
                <a:solidFill>
                  <a:srgbClr val="FFFFFF"/>
                </a:solidFill>
                <a:latin typeface="Courier New"/>
                <a:ea typeface="Courier New"/>
                <a:cs typeface="Courier New"/>
              </a:rPr>
              <a:t>FASTAPI</a:t>
            </a:r>
          </a:p>
        </p:txBody>
      </p:sp>
      <p:sp>
        <p:nvSpPr>
          <p:cNvPr id="17" name="">
            <a:extLst xmlns:a="http://schemas.openxmlformats.org/drawingml/2006/main">
              <a:ext uri="{FF2B5EF4-FFF2-40B4-BE49-F238E27FC236}">
                <a16:creationId xmlns:a16="http://schemas.microsoft.com/office/drawing/2014/main" id="{A49D1068-D7DC-4FB5-B418-D7A9E8DC28BF}"/>
              </a:ext>
            </a:extLst>
          </p:cNvPr>
          <p:cNvSpPr>
            <a:spLocks xmlns:a="http://schemas.openxmlformats.org/drawingml/2006/main" noGrp="1"/>
          </p:cNvSpPr>
          <p:nvPr/>
        </p:nvSpPr>
        <p:spPr>
          <a:xfrm xmlns:a="http://schemas.openxmlformats.org/drawingml/2006/main">
            <a:off x="3790950" y="3381375"/>
            <a:ext cx="1657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validated routes</a:t>
            </a:r>
          </a:p>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async lifecycle</a:t>
            </a:r>
          </a:p>
        </p:txBody>
      </p:sp>
      <p:sp>
        <p:nvSpPr>
          <p:cNvPr id="18" name="">
            <a:extLst xmlns:a="http://schemas.openxmlformats.org/drawingml/2006/main">
              <a:ext uri="{FF2B5EF4-FFF2-40B4-BE49-F238E27FC236}">
                <a16:creationId xmlns:a16="http://schemas.microsoft.com/office/drawing/2014/main" id="{27CDF5C4-C241-4560-A867-D5EEA23BD064}"/>
              </a:ext>
            </a:extLst>
          </p:cNvPr>
          <p:cNvSpPr>
            <a:spLocks xmlns:a="http://schemas.openxmlformats.org/drawingml/2006/main" noGrp="1"/>
          </p:cNvSpPr>
          <p:nvPr/>
        </p:nvSpPr>
        <p:spPr>
          <a:xfrm xmlns:a="http://schemas.openxmlformats.org/drawingml/2006/main">
            <a:off x="6591300" y="27241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4203"/>
          </a:bodyPr>
          <a:lstStyle xmlns:a="http://schemas.openxmlformats.org/drawingml/2006/main"/>
          <a:p xmlns:a="http://schemas.openxmlformats.org/drawingml/2006/main">
            <a:pPr algn="ctr">
              <a:lnSpc>
                <a:spcPct val="100000"/>
              </a:lnSpc>
              <a:buNone/>
              <a:defRPr sz="1725" b="1" i="0">
                <a:solidFill>
                  <a:srgbClr val="FFFFFF"/>
                </a:solidFill>
                <a:latin typeface="Courier New"/>
                <a:ea typeface="Courier New"/>
                <a:cs typeface="Courier New"/>
              </a:defRPr>
            </a:pPr>
            <a:r>
              <a:rPr sz="1725" b="1" i="0">
                <a:solidFill>
                  <a:srgbClr val="FFFFFF"/>
                </a:solidFill>
                <a:latin typeface="Courier New"/>
                <a:ea typeface="Courier New"/>
                <a:cs typeface="Courier New"/>
              </a:rPr>
              <a:t>MEMORYCLIENT</a:t>
            </a:r>
          </a:p>
        </p:txBody>
      </p:sp>
      <p:sp>
        <p:nvSpPr>
          <p:cNvPr id="19" name="">
            <a:extLst xmlns:a="http://schemas.openxmlformats.org/drawingml/2006/main">
              <a:ext uri="{FF2B5EF4-FFF2-40B4-BE49-F238E27FC236}">
                <a16:creationId xmlns:a16="http://schemas.microsoft.com/office/drawing/2014/main" id="{F7E7CBB6-C9A1-4672-8ACB-4CF62A525CFA}"/>
              </a:ext>
            </a:extLst>
          </p:cNvPr>
          <p:cNvSpPr>
            <a:spLocks xmlns:a="http://schemas.openxmlformats.org/drawingml/2006/main" noGrp="1"/>
          </p:cNvSpPr>
          <p:nvPr/>
        </p:nvSpPr>
        <p:spPr>
          <a:xfrm xmlns:a="http://schemas.openxmlformats.org/drawingml/2006/main">
            <a:off x="6743700" y="3381375"/>
            <a:ext cx="1657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4970"/>
          </a:bodyPr>
          <a:lstStyle xmlns:a="http://schemas.openxmlformats.org/drawingml/2006/main"/>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entities + edge</a:t>
            </a:r>
          </a:p>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get_graph + Cypher</a:t>
            </a:r>
          </a:p>
        </p:txBody>
      </p:sp>
      <p:sp>
        <p:nvSpPr>
          <p:cNvPr id="20" name="">
            <a:extLst xmlns:a="http://schemas.openxmlformats.org/drawingml/2006/main">
              <a:ext uri="{FF2B5EF4-FFF2-40B4-BE49-F238E27FC236}">
                <a16:creationId xmlns:a16="http://schemas.microsoft.com/office/drawing/2014/main" id="{EE08AAD9-881F-4772-9C71-5C211766316D}"/>
              </a:ext>
            </a:extLst>
          </p:cNvPr>
          <p:cNvSpPr>
            <a:spLocks xmlns:a="http://schemas.openxmlformats.org/drawingml/2006/main" noGrp="1"/>
          </p:cNvSpPr>
          <p:nvPr/>
        </p:nvSpPr>
        <p:spPr>
          <a:xfrm xmlns:a="http://schemas.openxmlformats.org/drawingml/2006/main">
            <a:off x="9658350" y="27241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3333"/>
          </a:bodyPr>
          <a:lstStyle xmlns:a="http://schemas.openxmlformats.org/drawingml/2006/main"/>
          <a:p xmlns:a="http://schemas.openxmlformats.org/drawingml/2006/main">
            <a:pPr algn="ctr">
              <a:lnSpc>
                <a:spcPct val="100000"/>
              </a:lnSpc>
              <a:buNone/>
              <a:defRPr sz="1950" b="1" i="0">
                <a:solidFill>
                  <a:srgbClr val="FFFFFF"/>
                </a:solidFill>
                <a:latin typeface="Courier New"/>
                <a:ea typeface="Courier New"/>
                <a:cs typeface="Courier New"/>
              </a:defRPr>
            </a:pPr>
            <a:r>
              <a:rPr sz="1950" b="1" i="0">
                <a:solidFill>
                  <a:srgbClr val="FFFFFF"/>
                </a:solidFill>
                <a:latin typeface="Courier New"/>
                <a:ea typeface="Courier New"/>
                <a:cs typeface="Courier New"/>
              </a:rPr>
              <a:t>NEO4J</a:t>
            </a:r>
          </a:p>
        </p:txBody>
      </p:sp>
      <p:sp>
        <p:nvSpPr>
          <p:cNvPr id="21" name="">
            <a:extLst xmlns:a="http://schemas.openxmlformats.org/drawingml/2006/main">
              <a:ext uri="{FF2B5EF4-FFF2-40B4-BE49-F238E27FC236}">
                <a16:creationId xmlns:a16="http://schemas.microsoft.com/office/drawing/2014/main" id="{7E8D2294-CC62-4FD9-A23B-749E3D7B68F5}"/>
              </a:ext>
            </a:extLst>
          </p:cNvPr>
          <p:cNvSpPr>
            <a:spLocks xmlns:a="http://schemas.openxmlformats.org/drawingml/2006/main" noGrp="1"/>
          </p:cNvSpPr>
          <p:nvPr/>
        </p:nvSpPr>
        <p:spPr>
          <a:xfrm xmlns:a="http://schemas.openxmlformats.org/drawingml/2006/main">
            <a:off x="9658350" y="3381375"/>
            <a:ext cx="1657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named volume</a:t>
            </a:r>
          </a:p>
          <a:p xmlns:a="http://schemas.openxmlformats.org/drawingml/2006/main">
            <a:pPr algn="ctr">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survives restart</a:t>
            </a:r>
          </a:p>
        </p:txBody>
      </p:sp>
      <p:sp>
        <p:nvSpPr>
          <p:cNvPr id="22" name="">
            <a:extLst xmlns:a="http://schemas.openxmlformats.org/drawingml/2006/main">
              <a:ext uri="{FF2B5EF4-FFF2-40B4-BE49-F238E27FC236}">
                <a16:creationId xmlns:a16="http://schemas.microsoft.com/office/drawing/2014/main" id="{48F9FCAD-4AFD-41B1-B693-24838AC288AB}"/>
              </a:ext>
            </a:extLst>
          </p:cNvPr>
          <p:cNvSpPr>
            <a:spLocks xmlns:a="http://schemas.openxmlformats.org/drawingml/2006/main" noGrp="1"/>
          </p:cNvSpPr>
          <p:nvPr/>
        </p:nvSpPr>
        <p:spPr>
          <a:xfrm xmlns:a="http://schemas.openxmlformats.org/drawingml/2006/main">
            <a:off x="1295400" y="5219700"/>
            <a:ext cx="9601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6591"/>
          </a:bodyPr>
          <a:lstStyle xmlns:a="http://schemas.openxmlformats.org/drawingml/2006/main"/>
          <a:p xmlns:a="http://schemas.openxmlformats.org/drawingml/2006/main">
            <a:pPr algn="ctr">
              <a:lnSpc>
                <a:spcPct val="100000"/>
              </a:lnSpc>
              <a:buNone/>
              <a:defRPr sz="2100" b="1" i="0">
                <a:solidFill>
                  <a:srgbClr val="F4C95D"/>
                </a:solidFill>
                <a:latin typeface="Cambria"/>
                <a:ea typeface="Cambria"/>
                <a:cs typeface="Cambria"/>
              </a:defRPr>
            </a:pPr>
            <a:r>
              <a:rPr sz="2100" b="1" i="0">
                <a:solidFill>
                  <a:srgbClr val="F4C95D"/>
                </a:solidFill>
                <a:latin typeface="Cambria"/>
                <a:ea typeface="Cambria"/>
                <a:cs typeface="Cambria"/>
              </a:rPr>
              <a:t>Required proof: store → render → stop app → restart → retrieve the same relationship.</a:t>
            </a:r>
          </a:p>
        </p:txBody>
      </p:sp>
    </p:spTree>
    <p:extLst>
      <p:ext uri="{BB962C8B-B14F-4D97-AF65-F5344CB8AC3E}">
        <p14:creationId xmlns:p14="http://schemas.microsoft.com/office/powerpoint/2010/main" val="1385486893"/>
      </p:ext>
    </p:extLst>
  </p:cSld>
</p:sld>
</file>

<file path=ppt/slides/slide30.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D3F3B4-C365-4011-B3BE-7A09D39A3224}"/>
              </a:ext>
            </a:extLst>
          </p:cNvPr>
          <p:cNvSpPr>
            <a:spLocks xmlns:a="http://schemas.openxmlformats.org/drawingml/2006/main" noGrp="1"/>
          </p:cNvSpPr>
          <p:nvPr/>
        </p:nvSpPr>
        <p:spPr>
          <a:xfrm xmlns:a="http://schemas.openxmlformats.org/drawingml/2006/main">
            <a:off x="609600" y="3619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8235"/>
          </a:bodyPr>
          <a:lstStyle xmlns:a="http://schemas.openxmlformats.org/drawingml/2006/main"/>
          <a:p xmlns:a="http://schemas.openxmlformats.org/drawingml/2006/main">
            <a:pPr algn="l">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NEO4J AGENT MEMORY</a:t>
            </a:r>
          </a:p>
        </p:txBody>
      </p:sp>
      <p:sp>
        <p:nvSpPr>
          <p:cNvPr id="2" name="">
            <a:extLst xmlns:a="http://schemas.openxmlformats.org/drawingml/2006/main">
              <a:ext uri="{FF2B5EF4-FFF2-40B4-BE49-F238E27FC236}">
                <a16:creationId xmlns:a16="http://schemas.microsoft.com/office/drawing/2014/main" id="{50CE9728-565C-4425-ABF5-BE528A47EE59}"/>
              </a:ext>
            </a:extLst>
          </p:cNvPr>
          <p:cNvSpPr>
            <a:spLocks xmlns:a="http://schemas.openxmlformats.org/drawingml/2006/main" noGrp="1"/>
          </p:cNvSpPr>
          <p:nvPr/>
        </p:nvSpPr>
        <p:spPr>
          <a:xfrm xmlns:a="http://schemas.openxmlformats.org/drawingml/2006/main">
            <a:off x="609600" y="6858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450" b="1" i="0">
                <a:solidFill>
                  <a:srgbClr val="FFFFFF"/>
                </a:solidFill>
                <a:latin typeface="Cambria"/>
                <a:ea typeface="Cambria"/>
                <a:cs typeface="Cambria"/>
              </a:defRPr>
            </a:pPr>
            <a:r>
              <a:rPr sz="3450" b="1" i="0">
                <a:solidFill>
                  <a:srgbClr val="FFFFFF"/>
                </a:solidFill>
                <a:latin typeface="Cambria"/>
                <a:ea typeface="Cambria"/>
                <a:cs typeface="Cambria"/>
              </a:rPr>
              <a:t>Conclusion</a:t>
            </a:r>
          </a:p>
        </p:txBody>
      </p:sp>
      <p:sp>
        <p:nvSpPr>
          <p:cNvPr id="3" name="">
            <a:extLst xmlns:a="http://schemas.openxmlformats.org/drawingml/2006/main">
              <a:ext uri="{FF2B5EF4-FFF2-40B4-BE49-F238E27FC236}">
                <a16:creationId xmlns:a16="http://schemas.microsoft.com/office/drawing/2014/main" id="{CBCB456E-5769-4A3A-927F-37A5B97A3C35}"/>
              </a:ext>
            </a:extLst>
          </p:cNvPr>
          <p:cNvSpPr>
            <a:spLocks xmlns:a="http://schemas.openxmlformats.org/drawingml/2006/main" noGrp="1"/>
          </p:cNvSpPr>
          <p:nvPr/>
        </p:nvSpPr>
        <p:spPr>
          <a:xfrm xmlns:a="http://schemas.openxmlformats.org/drawingml/2006/main">
            <a:off x="6096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8FAAB8"/>
                </a:solidFill>
                <a:latin typeface="Courier New"/>
                <a:ea typeface="Courier New"/>
                <a:cs typeface="Courier New"/>
              </a:defRPr>
            </a:pPr>
            <a:r>
              <a:rPr sz="1125" b="0" i="0">
                <a:solidFill>
                  <a:srgbClr val="8FAAB8"/>
                </a:solidFill>
                <a:latin typeface="Courier New"/>
                <a:ea typeface="Courier New"/>
                <a:cs typeface="Courier New"/>
              </a:rPr>
              <a:t>AGENT MEMORY · AI SEMINAR, LECTURE 7</a:t>
            </a:r>
          </a:p>
        </p:txBody>
      </p:sp>
      <p:sp>
        <p:nvSpPr>
          <p:cNvPr id="4" name="">
            <a:extLst xmlns:a="http://schemas.openxmlformats.org/drawingml/2006/main">
              <a:ext uri="{FF2B5EF4-FFF2-40B4-BE49-F238E27FC236}">
                <a16:creationId xmlns:a16="http://schemas.microsoft.com/office/drawing/2014/main" id="{E5D8B263-BD02-4225-87F1-C041B251B160}"/>
              </a:ext>
            </a:extLst>
          </p:cNvPr>
          <p:cNvSpPr>
            <a:spLocks xmlns:a="http://schemas.openxmlformats.org/drawingml/2006/main" noGrp="1"/>
          </p:cNvSpPr>
          <p:nvPr/>
        </p:nvSpPr>
        <p:spPr>
          <a:xfrm xmlns:a="http://schemas.openxmlformats.org/drawingml/2006/main">
            <a:off x="11029950" y="64579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i="0">
                <a:solidFill>
                  <a:srgbClr val="CFE8F0"/>
                </a:solidFill>
                <a:latin typeface="Courier New"/>
                <a:ea typeface="Courier New"/>
                <a:cs typeface="Courier New"/>
              </a:defRPr>
            </a:pPr>
            <a:r>
              <a:rPr sz="1275" b="1" i="0">
                <a:solidFill>
                  <a:srgbClr val="CFE8F0"/>
                </a:solidFill>
                <a:latin typeface="Courier New"/>
                <a:ea typeface="Courier New"/>
                <a:cs typeface="Courier New"/>
              </a:rPr>
              <a:t>30</a:t>
            </a:r>
          </a:p>
        </p:txBody>
      </p:sp>
      <p:sp>
        <p:nvSpPr>
          <p:cNvPr id="5" name="">
            <a:extLst xmlns:a="http://schemas.openxmlformats.org/drawingml/2006/main">
              <a:ext uri="{FF2B5EF4-FFF2-40B4-BE49-F238E27FC236}">
                <a16:creationId xmlns:a16="http://schemas.microsoft.com/office/drawing/2014/main" id="{4EC057F2-B7D4-42FA-AB21-F4EDB7E734B8}"/>
              </a:ext>
            </a:extLst>
          </p:cNvPr>
          <p:cNvSpPr>
            <a:spLocks xmlns:a="http://schemas.openxmlformats.org/drawingml/2006/main" noGrp="1"/>
          </p:cNvSpPr>
          <p:nvPr/>
        </p:nvSpPr>
        <p:spPr>
          <a:xfrm xmlns:a="http://schemas.openxmlformats.org/drawingml/2006/main">
            <a:off x="857250" y="1428750"/>
            <a:ext cx="457200" cy="457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prstDash val="solid"/>
          </a:ln>
        </p:spPr>
        <p:txBody>
          <a:bodyPr xmlns:a="http://schemas.openxmlformats.org/drawingml/2006/main" wrap="square" lIns="38100" tIns="38100" rIns="38100" bIns="38100" anchor="ctr">
            <a:normAutofit fontScale="83145"/>
          </a:bodyPr>
          <a:lstStyle xmlns:a="http://schemas.openxmlformats.org/drawingml/2006/main"/>
          <a:p xmlns:a="http://schemas.openxmlformats.org/drawingml/2006/main">
            <a:pPr algn="ctr">
              <a:lnSpc>
                <a:spcPct val="100000"/>
              </a:lnSpc>
              <a:buNone/>
              <a:defRPr sz="1950" b="1" i="0">
                <a:solidFill>
                  <a:srgbClr val="0B2942"/>
                </a:solidFill>
                <a:latin typeface="Courier New"/>
                <a:ea typeface="Courier New"/>
                <a:cs typeface="Courier New"/>
              </a:defRPr>
            </a:pPr>
            <a:r>
              <a:rPr sz="1950" b="1" i="0">
                <a:solidFill>
                  <a:srgbClr val="0B2942"/>
                </a:solidFill>
                <a:latin typeface="Courier New"/>
                <a:ea typeface="Courier New"/>
                <a:cs typeface="Courier New"/>
              </a:rPr>
              <a:t>1</a:t>
            </a:r>
          </a:p>
        </p:txBody>
      </p:sp>
      <p:sp>
        <p:nvSpPr>
          <p:cNvPr id="6" name="">
            <a:extLst xmlns:a="http://schemas.openxmlformats.org/drawingml/2006/main">
              <a:ext uri="{FF2B5EF4-FFF2-40B4-BE49-F238E27FC236}">
                <a16:creationId xmlns:a16="http://schemas.microsoft.com/office/drawing/2014/main" id="{485DEFE6-FFB4-49D3-966A-9E9D830B3F62}"/>
              </a:ext>
            </a:extLst>
          </p:cNvPr>
          <p:cNvSpPr>
            <a:spLocks xmlns:a="http://schemas.openxmlformats.org/drawingml/2006/main" noGrp="1"/>
          </p:cNvSpPr>
          <p:nvPr/>
        </p:nvSpPr>
        <p:spPr>
          <a:xfrm xmlns:a="http://schemas.openxmlformats.org/drawingml/2006/main">
            <a:off x="1581150" y="1428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l">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MATCH RETRIEVAL TO THE QUESTION</a:t>
            </a:r>
          </a:p>
        </p:txBody>
      </p:sp>
      <p:sp>
        <p:nvSpPr>
          <p:cNvPr id="7" name="">
            <a:extLst xmlns:a="http://schemas.openxmlformats.org/drawingml/2006/main">
              <a:ext uri="{FF2B5EF4-FFF2-40B4-BE49-F238E27FC236}">
                <a16:creationId xmlns:a16="http://schemas.microsoft.com/office/drawing/2014/main" id="{2EC5B180-60DA-4C0B-8A5E-FDE1ECD18C4E}"/>
              </a:ext>
            </a:extLst>
          </p:cNvPr>
          <p:cNvSpPr>
            <a:spLocks xmlns:a="http://schemas.openxmlformats.org/drawingml/2006/main" noGrp="1"/>
          </p:cNvSpPr>
          <p:nvPr/>
        </p:nvSpPr>
        <p:spPr>
          <a:xfrm xmlns:a="http://schemas.openxmlformats.org/drawingml/2006/main">
            <a:off x="1581150" y="18002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Text preserves words; vectors rank meaning; graphs traverse relationships.</a:t>
            </a:r>
          </a:p>
        </p:txBody>
      </p:sp>
      <p:sp>
        <p:nvSpPr>
          <p:cNvPr id="8" name="">
            <a:extLst xmlns:a="http://schemas.openxmlformats.org/drawingml/2006/main">
              <a:ext uri="{FF2B5EF4-FFF2-40B4-BE49-F238E27FC236}">
                <a16:creationId xmlns:a16="http://schemas.microsoft.com/office/drawing/2014/main" id="{FADB71F9-B335-429C-8FAE-5FC8565E06E0}"/>
              </a:ext>
            </a:extLst>
          </p:cNvPr>
          <p:cNvSpPr>
            <a:spLocks xmlns:a="http://schemas.openxmlformats.org/drawingml/2006/main" noGrp="1"/>
          </p:cNvSpPr>
          <p:nvPr/>
        </p:nvSpPr>
        <p:spPr>
          <a:xfrm xmlns:a="http://schemas.openxmlformats.org/drawingml/2006/main">
            <a:off x="857250" y="2428875"/>
            <a:ext cx="457200" cy="457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prstDash val="solid"/>
          </a:ln>
        </p:spPr>
        <p:txBody>
          <a:bodyPr xmlns:a="http://schemas.openxmlformats.org/drawingml/2006/main" wrap="square" lIns="38100" tIns="38100" rIns="38100" bIns="38100" anchor="ctr">
            <a:normAutofit fontScale="83145"/>
          </a:bodyPr>
          <a:lstStyle xmlns:a="http://schemas.openxmlformats.org/drawingml/2006/main"/>
          <a:p xmlns:a="http://schemas.openxmlformats.org/drawingml/2006/main">
            <a:pPr algn="ctr">
              <a:lnSpc>
                <a:spcPct val="100000"/>
              </a:lnSpc>
              <a:buNone/>
              <a:defRPr sz="1950" b="1" i="0">
                <a:solidFill>
                  <a:srgbClr val="0B2942"/>
                </a:solidFill>
                <a:latin typeface="Courier New"/>
                <a:ea typeface="Courier New"/>
                <a:cs typeface="Courier New"/>
              </a:defRPr>
            </a:pPr>
            <a:r>
              <a:rPr sz="1950" b="1" i="0">
                <a:solidFill>
                  <a:srgbClr val="0B2942"/>
                </a:solidFill>
                <a:latin typeface="Courier New"/>
                <a:ea typeface="Courier New"/>
                <a:cs typeface="Courier New"/>
              </a:rPr>
              <a:t>2</a:t>
            </a:r>
          </a:p>
        </p:txBody>
      </p:sp>
      <p:sp>
        <p:nvSpPr>
          <p:cNvPr id="9" name="">
            <a:extLst xmlns:a="http://schemas.openxmlformats.org/drawingml/2006/main">
              <a:ext uri="{FF2B5EF4-FFF2-40B4-BE49-F238E27FC236}">
                <a16:creationId xmlns:a16="http://schemas.microsoft.com/office/drawing/2014/main" id="{6A04CBCF-272D-480D-967E-06D5BC831F2F}"/>
              </a:ext>
            </a:extLst>
          </p:cNvPr>
          <p:cNvSpPr>
            <a:spLocks xmlns:a="http://schemas.openxmlformats.org/drawingml/2006/main" noGrp="1"/>
          </p:cNvSpPr>
          <p:nvPr/>
        </p:nvSpPr>
        <p:spPr>
          <a:xfrm xmlns:a="http://schemas.openxmlformats.org/drawingml/2006/main">
            <a:off x="1581150" y="24288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l">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USE THE SDK INSIDE YOUR APP</a:t>
            </a:r>
          </a:p>
        </p:txBody>
      </p:sp>
      <p:sp>
        <p:nvSpPr>
          <p:cNvPr id="10" name="">
            <a:extLst xmlns:a="http://schemas.openxmlformats.org/drawingml/2006/main">
              <a:ext uri="{FF2B5EF4-FFF2-40B4-BE49-F238E27FC236}">
                <a16:creationId xmlns:a16="http://schemas.microsoft.com/office/drawing/2014/main" id="{C6F9BD4F-CEC4-4F91-9A82-DB1932A0D9C4}"/>
              </a:ext>
            </a:extLst>
          </p:cNvPr>
          <p:cNvSpPr>
            <a:spLocks xmlns:a="http://schemas.openxmlformats.org/drawingml/2006/main" noGrp="1"/>
          </p:cNvSpPr>
          <p:nvPr/>
        </p:nvSpPr>
        <p:spPr>
          <a:xfrm xmlns:a="http://schemas.openxmlformats.org/drawingml/2006/main">
            <a:off x="1581150" y="280035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It packages typed async calls, backend selection, errors, and lifecycle.</a:t>
            </a:r>
          </a:p>
        </p:txBody>
      </p:sp>
      <p:sp>
        <p:nvSpPr>
          <p:cNvPr id="11" name="">
            <a:extLst xmlns:a="http://schemas.openxmlformats.org/drawingml/2006/main">
              <a:ext uri="{FF2B5EF4-FFF2-40B4-BE49-F238E27FC236}">
                <a16:creationId xmlns:a16="http://schemas.microsoft.com/office/drawing/2014/main" id="{9DD27419-F2A5-42D9-88EA-56AD5E60E717}"/>
              </a:ext>
            </a:extLst>
          </p:cNvPr>
          <p:cNvSpPr>
            <a:spLocks xmlns:a="http://schemas.openxmlformats.org/drawingml/2006/main" noGrp="1"/>
          </p:cNvSpPr>
          <p:nvPr/>
        </p:nvSpPr>
        <p:spPr>
          <a:xfrm xmlns:a="http://schemas.openxmlformats.org/drawingml/2006/main">
            <a:off x="857250" y="3429000"/>
            <a:ext cx="457200" cy="457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prstDash val="solid"/>
          </a:ln>
        </p:spPr>
        <p:txBody>
          <a:bodyPr xmlns:a="http://schemas.openxmlformats.org/drawingml/2006/main" wrap="square" lIns="38100" tIns="38100" rIns="38100" bIns="38100" anchor="ctr">
            <a:normAutofit fontScale="83145"/>
          </a:bodyPr>
          <a:lstStyle xmlns:a="http://schemas.openxmlformats.org/drawingml/2006/main"/>
          <a:p xmlns:a="http://schemas.openxmlformats.org/drawingml/2006/main">
            <a:pPr algn="ctr">
              <a:lnSpc>
                <a:spcPct val="100000"/>
              </a:lnSpc>
              <a:buNone/>
              <a:defRPr sz="1950" b="1" i="0">
                <a:solidFill>
                  <a:srgbClr val="0B2942"/>
                </a:solidFill>
                <a:latin typeface="Courier New"/>
                <a:ea typeface="Courier New"/>
                <a:cs typeface="Courier New"/>
              </a:defRPr>
            </a:pPr>
            <a:r>
              <a:rPr sz="1950" b="1" i="0">
                <a:solidFill>
                  <a:srgbClr val="0B2942"/>
                </a:solidFill>
                <a:latin typeface="Courier New"/>
                <a:ea typeface="Courier New"/>
                <a:cs typeface="Courier New"/>
              </a:rPr>
              <a:t>3</a:t>
            </a:r>
          </a:p>
        </p:txBody>
      </p:sp>
      <p:sp>
        <p:nvSpPr>
          <p:cNvPr id="12" name="">
            <a:extLst xmlns:a="http://schemas.openxmlformats.org/drawingml/2006/main">
              <a:ext uri="{FF2B5EF4-FFF2-40B4-BE49-F238E27FC236}">
                <a16:creationId xmlns:a16="http://schemas.microsoft.com/office/drawing/2014/main" id="{8EE4A7EA-7BE5-45AA-A1FB-8981B8A30ED0}"/>
              </a:ext>
            </a:extLst>
          </p:cNvPr>
          <p:cNvSpPr>
            <a:spLocks xmlns:a="http://schemas.openxmlformats.org/drawingml/2006/main" noGrp="1"/>
          </p:cNvSpPr>
          <p:nvPr/>
        </p:nvSpPr>
        <p:spPr>
          <a:xfrm xmlns:a="http://schemas.openxmlformats.org/drawingml/2006/main">
            <a:off x="1581150" y="34290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l">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USE MCP ACROSS HOST BOUNDARIES</a:t>
            </a:r>
          </a:p>
        </p:txBody>
      </p:sp>
      <p:sp>
        <p:nvSpPr>
          <p:cNvPr id="13" name="">
            <a:extLst xmlns:a="http://schemas.openxmlformats.org/drawingml/2006/main">
              <a:ext uri="{FF2B5EF4-FFF2-40B4-BE49-F238E27FC236}">
                <a16:creationId xmlns:a16="http://schemas.microsoft.com/office/drawing/2014/main" id="{D9B5FFFE-F1F7-403D-AE5A-1C83000CE865}"/>
              </a:ext>
            </a:extLst>
          </p:cNvPr>
          <p:cNvSpPr>
            <a:spLocks xmlns:a="http://schemas.openxmlformats.org/drawingml/2006/main" noGrp="1"/>
          </p:cNvSpPr>
          <p:nvPr/>
        </p:nvSpPr>
        <p:spPr>
          <a:xfrm xmlns:a="http://schemas.openxmlformats.org/drawingml/2006/main">
            <a:off x="1581150" y="380047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It standardizes discovery and invocation while the host retains policy.</a:t>
            </a:r>
          </a:p>
        </p:txBody>
      </p:sp>
      <p:sp>
        <p:nvSpPr>
          <p:cNvPr id="14" name="">
            <a:extLst xmlns:a="http://schemas.openxmlformats.org/drawingml/2006/main">
              <a:ext uri="{FF2B5EF4-FFF2-40B4-BE49-F238E27FC236}">
                <a16:creationId xmlns:a16="http://schemas.microsoft.com/office/drawing/2014/main" id="{ED7F6867-2704-4D25-824D-E5B2C9BF9006}"/>
              </a:ext>
            </a:extLst>
          </p:cNvPr>
          <p:cNvSpPr>
            <a:spLocks xmlns:a="http://schemas.openxmlformats.org/drawingml/2006/main" noGrp="1"/>
          </p:cNvSpPr>
          <p:nvPr/>
        </p:nvSpPr>
        <p:spPr>
          <a:xfrm xmlns:a="http://schemas.openxmlformats.org/drawingml/2006/main">
            <a:off x="857250" y="4429125"/>
            <a:ext cx="457200" cy="457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prstDash val="solid"/>
          </a:ln>
        </p:spPr>
        <p:txBody>
          <a:bodyPr xmlns:a="http://schemas.openxmlformats.org/drawingml/2006/main" wrap="square" lIns="38100" tIns="38100" rIns="38100" bIns="38100" anchor="ctr">
            <a:normAutofit fontScale="83145"/>
          </a:bodyPr>
          <a:lstStyle xmlns:a="http://schemas.openxmlformats.org/drawingml/2006/main"/>
          <a:p xmlns:a="http://schemas.openxmlformats.org/drawingml/2006/main">
            <a:pPr algn="ctr">
              <a:lnSpc>
                <a:spcPct val="100000"/>
              </a:lnSpc>
              <a:buNone/>
              <a:defRPr sz="1950" b="1" i="0">
                <a:solidFill>
                  <a:srgbClr val="0B2942"/>
                </a:solidFill>
                <a:latin typeface="Courier New"/>
                <a:ea typeface="Courier New"/>
                <a:cs typeface="Courier New"/>
              </a:defRPr>
            </a:pPr>
            <a:r>
              <a:rPr sz="1950" b="1" i="0">
                <a:solidFill>
                  <a:srgbClr val="0B2942"/>
                </a:solidFill>
                <a:latin typeface="Courier New"/>
                <a:ea typeface="Courier New"/>
                <a:cs typeface="Courier New"/>
              </a:rPr>
              <a:t>4</a:t>
            </a:r>
          </a:p>
        </p:txBody>
      </p:sp>
      <p:sp>
        <p:nvSpPr>
          <p:cNvPr id="15" name="">
            <a:extLst xmlns:a="http://schemas.openxmlformats.org/drawingml/2006/main">
              <a:ext uri="{FF2B5EF4-FFF2-40B4-BE49-F238E27FC236}">
                <a16:creationId xmlns:a16="http://schemas.microsoft.com/office/drawing/2014/main" id="{E3B77AC4-5974-4639-87E2-45CBE287CB11}"/>
              </a:ext>
            </a:extLst>
          </p:cNvPr>
          <p:cNvSpPr>
            <a:spLocks xmlns:a="http://schemas.openxmlformats.org/drawingml/2006/main" noGrp="1"/>
          </p:cNvSpPr>
          <p:nvPr/>
        </p:nvSpPr>
        <p:spPr>
          <a:xfrm xmlns:a="http://schemas.openxmlformats.org/drawingml/2006/main">
            <a:off x="1581150" y="4429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90278"/>
          </a:bodyPr>
          <a:lstStyle xmlns:a="http://schemas.openxmlformats.org/drawingml/2006/main"/>
          <a:p xmlns:a="http://schemas.openxmlformats.org/drawingml/2006/main">
            <a:pPr algn="l">
              <a:lnSpc>
                <a:spcPct val="100000"/>
              </a:lnSpc>
              <a:buNone/>
              <a:defRPr sz="1800" b="1" i="0">
                <a:solidFill>
                  <a:srgbClr val="FFFFFF"/>
                </a:solidFill>
                <a:latin typeface="Courier New"/>
                <a:ea typeface="Courier New"/>
                <a:cs typeface="Courier New"/>
              </a:defRPr>
            </a:pPr>
            <a:r>
              <a:rPr sz="1800" b="1" i="0">
                <a:solidFill>
                  <a:srgbClr val="FFFFFF"/>
                </a:solidFill>
                <a:latin typeface="Courier New"/>
                <a:ea typeface="Courier New"/>
                <a:cs typeface="Courier New"/>
              </a:rPr>
              <a:t>PROVE PERSISTENCE AND ISOLATION</a:t>
            </a:r>
          </a:p>
        </p:txBody>
      </p:sp>
      <p:sp>
        <p:nvSpPr>
          <p:cNvPr id="16" name="">
            <a:extLst xmlns:a="http://schemas.openxmlformats.org/drawingml/2006/main">
              <a:ext uri="{FF2B5EF4-FFF2-40B4-BE49-F238E27FC236}">
                <a16:creationId xmlns:a16="http://schemas.microsoft.com/office/drawing/2014/main" id="{8238B989-E6AD-483E-B4EA-56DB83014FA1}"/>
              </a:ext>
            </a:extLst>
          </p:cNvPr>
          <p:cNvSpPr>
            <a:spLocks xmlns:a="http://schemas.openxmlformats.org/drawingml/2006/main" noGrp="1"/>
          </p:cNvSpPr>
          <p:nvPr/>
        </p:nvSpPr>
        <p:spPr>
          <a:xfrm xmlns:a="http://schemas.openxmlformats.org/drawingml/2006/main">
            <a:off x="1581150" y="480060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100000"/>
          </a:bodyPr>
          <a:lstStyle xmlns:a="http://schemas.openxmlformats.org/drawingml/2006/main"/>
          <a:p xmlns:a="http://schemas.openxmlformats.org/drawingml/2006/main">
            <a:pPr algn="l">
              <a:lnSpc>
                <a:spcPct val="100000"/>
              </a:lnSpc>
              <a:buNone/>
              <a:defRPr sz="1650" b="0" i="0">
                <a:solidFill>
                  <a:srgbClr val="CFE8F0"/>
                </a:solidFill>
                <a:latin typeface="Calibri"/>
                <a:ea typeface="Calibri"/>
                <a:cs typeface="Calibri"/>
              </a:defRPr>
            </a:pPr>
            <a:r>
              <a:rPr sz="1650" b="0" i="0">
                <a:solidFill>
                  <a:srgbClr val="CFE8F0"/>
                </a:solidFill>
                <a:latin typeface="Calibri"/>
                <a:ea typeface="Calibri"/>
                <a:cs typeface="Calibri"/>
              </a:rPr>
              <a:t>A memory feature is only as reliable as its write, scope, and retrieval evidence.</a:t>
            </a:r>
          </a:p>
        </p:txBody>
      </p:sp>
      <p:sp>
        <p:nvSpPr>
          <p:cNvPr id="17" name="">
            <a:extLst xmlns:a="http://schemas.openxmlformats.org/drawingml/2006/main">
              <a:ext uri="{FF2B5EF4-FFF2-40B4-BE49-F238E27FC236}">
                <a16:creationId xmlns:a16="http://schemas.microsoft.com/office/drawing/2014/main" id="{46BBD4B2-ED66-4E76-B4FE-8E0F4CB3FB31}"/>
              </a:ext>
            </a:extLst>
          </p:cNvPr>
          <p:cNvSpPr>
            <a:spLocks xmlns:a="http://schemas.openxmlformats.org/drawingml/2006/main" noGrp="1"/>
          </p:cNvSpPr>
          <p:nvPr/>
        </p:nvSpPr>
        <p:spPr>
          <a:xfrm xmlns:a="http://schemas.openxmlformats.org/drawingml/2006/main">
            <a:off x="876300" y="5619750"/>
            <a:ext cx="10439400" cy="552450"/>
          </a:xfrm>
          <a:prstGeom xmlns:a="http://schemas.openxmlformats.org/drawingml/2006/main" prst="roundRect">
            <a:avLst>
              <a:gd name="adj" fmla="val 20690"/>
            </a:avLst>
          </a:prstGeom>
          <a:solidFill xmlns:a="http://schemas.openxmlformats.org/drawingml/2006/main">
            <a:srgbClr val="173F58"/>
          </a:solidFill>
          <a:ln xmlns:a="http://schemas.openxmlformats.org/drawingml/2006/main" w="9525">
            <a:solidFill>
              <a:srgbClr val="1C7293"/>
            </a:solidFill>
            <a:prstDash val="solid"/>
          </a:ln>
        </p:spPr>
      </p:sp>
      <p:sp>
        <p:nvSpPr>
          <p:cNvPr id="18" name="">
            <a:extLst xmlns:a="http://schemas.openxmlformats.org/drawingml/2006/main">
              <a:ext uri="{FF2B5EF4-FFF2-40B4-BE49-F238E27FC236}">
                <a16:creationId xmlns:a16="http://schemas.microsoft.com/office/drawing/2014/main" id="{E08A4255-2297-4BA1-9779-BC60F6AAEED4}"/>
              </a:ext>
            </a:extLst>
          </p:cNvPr>
          <p:cNvSpPr>
            <a:spLocks xmlns:a="http://schemas.openxmlformats.org/drawingml/2006/main" noGrp="1"/>
          </p:cNvSpPr>
          <p:nvPr/>
        </p:nvSpPr>
        <p:spPr>
          <a:xfrm xmlns:a="http://schemas.openxmlformats.org/drawingml/2006/main">
            <a:off x="1143000" y="576262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rmAutofit fontScale="87302"/>
          </a:bodyPr>
          <a:lstStyle xmlns:a="http://schemas.openxmlformats.org/drawingml/2006/main"/>
          <a:p xmlns:a="http://schemas.openxmlformats.org/drawingml/2006/main">
            <a:pPr algn="ctr">
              <a:lnSpc>
                <a:spcPct val="100000"/>
              </a:lnSpc>
              <a:buNone/>
              <a:defRPr sz="1575" b="1" i="0">
                <a:solidFill>
                  <a:srgbClr val="F4C95D"/>
                </a:solidFill>
                <a:latin typeface="Courier New"/>
                <a:ea typeface="Courier New"/>
                <a:cs typeface="Courier New"/>
              </a:defRPr>
            </a:pPr>
            <a:r>
              <a:rPr sz="1575" b="1" i="0">
                <a:solidFill>
                  <a:srgbClr val="F4C95D"/>
                </a:solidFill>
                <a:latin typeface="Courier New"/>
                <a:ea typeface="Courier New"/>
                <a:cs typeface="Courier New"/>
              </a:rPr>
              <a:t>NEXT · python3 quiz.py --mode post   ·   agent_memory_assignment.md</a:t>
            </a:r>
          </a:p>
        </p:txBody>
      </p:sp>
    </p:spTree>
    <p:extLst>
      <p:ext uri="{BB962C8B-B14F-4D97-AF65-F5344CB8AC3E}">
        <p14:creationId xmlns:p14="http://schemas.microsoft.com/office/powerpoint/2010/main" val="1463113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2026-08-13T09:28:50.5800000Z</dcterms:created>
  <dcterms:modified xsi:type="dcterms:W3CDTF">2026-08-13T09:28:50.5800000Z</dcterms:modified>
</coreProperties>
</file>