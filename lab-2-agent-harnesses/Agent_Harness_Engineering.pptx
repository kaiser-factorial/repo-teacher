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28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D94A1F-0D5C-429E-9125-0E4F7DAE886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by separating model capability from system reliability. The deck builds the surrounding runtime one control surface at a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same model can behave like a chatbot, a classifier, a coding agent, or a workflow component depending on the harness around it. Reliability claims therefore belong to the system, not to the model alone.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https://openai.com/business/guides-and-resources/a-practical-guide-to-building-ai-agents/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https://openai.com/index/harness-engineering/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layers prevent vocabulary collapse. A model is not a tool; a tool is not a workflow; MCP is not an orchestrator; and a user interface is not the harness by itself.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https://openai.com/business/guides-and-resources/a-practical-guide-to-building-ai-agents/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https://modelcontextprotocol.io/docs/2026-07-28/learn/architecture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smallest agentic runtime. ReAct established the interleaving of reasoning and environment actions; production runners make the loop explicit and add terminal states, validation, and limits.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https://arxiv.org/abs/2210.03629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control-plane framing explains why better prompting alone cannot fix missing tools, inaccessible logs, unsafe execution, or absent tests. Harness engineering makes needed capabilities legible and enforceable.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https://openai.com/index/harness-engineering/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Context is assembled, not merely accumulated. Progressive disclosure keeps the entry point small and loads deeper instructions or references only when the task needs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https://openai.com/index/harness-engineering/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https://learn.chatgpt.com/docs/build-skills.md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Instructions improve model decisions, but controls such as allowed paths, schemas, approval rules, and maximum turns should be represented in runtime policy when possible.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https://openai.com/business/guides-and-resources/a-practical-guide-to-building-ai-agents/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https://openai.com/index/harness-engineering/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https://openai.github.io/openai-agents-python/guardrails/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deck's reusable instruction template. The short entry point should route to deeper, versioned sources rather than repeat every policy inline.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https://openai.com/index/harness-engineering/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https://learn.chatgpt.com/docs/build-skills.md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https://learn.chatgpt.com/docs/agent-configuration/agents-md.md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 tools and MCP tools expose machine-readable schemas. Descriptions still matter because they guide model selection; schemas then constrain arguments and enable validation.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https://openai.github.io/openai-agents-python/tools/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https://modelcontextprotocol.io/docs/2026-07-28/learn/architecture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Conversation state, application context, and persistent memory are separate surfaces. Current agent runtimes support manual histories, session stores, and server-managed conversation IDs; the harness chooses which lifecycle fits.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Maximum turns are the simplest bound. Production systems also need limits for repeated actions, elapsed time, spend, missing evidence, and risk escalation.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https://openai.com/business/guides-and-resources/a-practical-guide-to-building-ai-agents/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Treat each capability as a security boundary. Sandboxes, scoped credentials, allowlists, protected paths, and explicit external-write approvals reduce the downside of both mistakes and prompt injection.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https://openai.com/index/designing-agents-to-resist-prompt-injection/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https://openai.github.io/openai-agents-python/human_in_the_loop/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https://openai.com/index/harness-engineering/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Errors are observations in the agent loop. Structured errors support targeted revision, while side-effect metadata and idempotency keys prevent a retry from duplicating completed actions.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https://openai.github.io/openai-agents-python/tools/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traces need more than application logs: model calls, tool arguments/results, guardrails, handoffs, usage, and state transitions. Sensitive inputs and outputs require explicit data-handling choices.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https://openai.github.io/openai-agents-python/tracing/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Evaluate the artifact and the trajectory. Deterministic graders are best for objective invariants; model or human grading can assess judgment, but should be calibrated and paired with concrete criteria.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https://platform.openai.com/docs/api-reference/evals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https://openai.github.io/openai-agents-python/tracing/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https://openai.github.io/openai-agents-python/multi_agent/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bridge turns the background anatomy into a comparison framework. Later slides carry back-reference pills to the relevant control surface.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https://openai.github.io/openai-agents-python/multi_agent/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https://resources.anthropic.com/hubfs/Building%20Effective%20AI%20Agents-%20Architecture%20Patterns%20and%20Implementation%20Frameworks.pdf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 orchestration is appropriate when the path is known. Structured model outputs can classify or plan within a deterministic graph while the host controls sequence and retries.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https://openai.github.io/openai-agents-python/multi_agent/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https://resources.anthropic.com/hubfs/Building%20Effective%20AI%20Agents-%20Architecture%20Patterns%20and%20Implementation%20Frameworks.pdf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single agent is often the simplest adaptive architecture. Add tools and strong boundaries before adding agents; evaluation and maintenance remain easier with one owner.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https://openai.com/business/guides-and-resources/a-practical-guide-to-building-ai-agents/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https://resources.anthropic.com/hubfs/Building%20Effective%20AI%20Agents-%20Architecture%20Patterns%20and%20Implementation%20Frameworks.pdf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router can be deterministic or model-based. Structured classification is a common pattern: the model selects a bounded route, then code activates only that route's context and tools.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https://openai.github.io/openai-agents-python/multi_agent/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https://resources.anthropic.com/hubfs/Building%20Effective%20AI%20Agents-%20Architecture%20Patterns%20and%20Implementation%20Frameworks.pdf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Evaluator-optimizer patterns are useful when criteria are explicit and revision improves measurable quality. Without a rubric and cap, critique can add cost without reliable improvement.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https://openai.github.io/openai-agents-python/multi_agent/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https://resources.anthropic.com/hubfs/Building%20Effective%20AI%20Agents-%20Architecture%20Patterns%20and%20Implementation%20Frameworks.pdf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Current agent SDKs distinguish manager-style agents-as-tools from handoffs. The former keeps the manager active; the latter changes the active agent and instruction context.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https://openai.github.io/openai-agents-python/multi_agent/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Parallel workers can reduce elapsed time, but each consumes its own model and tool budget. Shared writes create conflicts; good worker tasks are independent and return compact summaries or artifacts.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https://resources.anthropic.com/hubfs/Building%20Effective%20AI%20Agents-%20Architecture%20Patterns%20and%20Implementation%20Frameworks.pdf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https://learn.chatgpt.com/docs/agent-configuration/subagents.md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Long-running workflows must be resumable across human waits and process failures. Frameworks such as LangGraph and durable workflow integrations checkpoint state and resume from a stored cursor.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https://langchain-ai.github.io/langgraph/concepts/breakpoints/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https://openai.github.io/openai-agents-python/human_in_the_loop/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SWE-agent paper names this layer the Agent-Computer Interface and reports that interface design materially changes behavior and benchmark performance. Harness engineering similarly emphasizes making application state, logs, and tests legible to agents.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https://arxiv.org/abs/2405.15793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https://openai.com/index/harness-engineering/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Multi-agent architectures add context boundaries, routing, coordination, synthesis, latency, and token use. Start with the simplest architecture that passes the evals; add specialists only for a measured reason.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https://openai.com/business/guides-and-resources/a-practical-guide-to-building-ai-agents/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https://resources.anthropic.com/hubfs/Building%20Effective%20AI%20Agents-%20Architecture%20Patterns%20and%20Implementation%20Frameworks.pdf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https://learn.chatgpt.com/docs/agent-configuration/subagents.md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framework choice is secondary to the control-surface choices. Direct APIs maximize ownership; SDKs package the loop; graph runtimes package topology and persistence; durable engines package long-lived execution.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https://openai.github.io/openai-agents-python/multi_agent/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https://langchain-ai.github.io/langgraph/concepts/breakpoints/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 defines a client-server protocol for discovering capabilities and invoking primitives. The host still owns context assembly, tool registration, orchestration, authorization, and lifecycle.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https://modelcontextprotocol.io/docs/2026-07-28/learn/architecture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Skills use progressive disclosure: the host sees a short description, then loads the selected SKILL.md and any referenced materials. For the visualization lab, a skill can encode chart-design procedure while retrieval selects relevant slides from a larger PPT corpus.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https://learn.chatgpt.com/docs/build-skills.md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https://openai.github.io/openai-agents-python/tools/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 injection places instructions inside external content. The model may still be influenced, so defense is layered: separate policy from data, minimize capabilities, validate outputs, sandbox execution, and require approval for consequential actions.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https://openai.com/index/designing-agents-to-resist-prompt-injection/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https://openai.github.io/openai-agents-python/guardrails/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https://openai.github.io/openai-agents-python/human_in_the_loop/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Human-in-the-loop runtimes pause before a sensitive call, surface the exact tool and arguments, store the decision, and resume the original run. Gate actions by consequence, not by whether the model sounds confident.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https://openai.github.io/openai-agents-python/human_in_the_loop/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https://openai.com/business/guides-and-resources/a-practical-guide-to-building-ai-agents/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assignment uses a constrained Vega-Lite specification rather than arbitrary plotting code. That makes field validation, rendering, artifact checks, and held-out evaluation concrete while preserving a real revise-after-observation loop.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https://vega.github.io/vega-lite/docs/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https://openai.github.io/openai-agents-python/running_agents/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https://learn.chatgpt.com/docs/build-skills.md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by returning to the opening distinction: the model is a decision engine; reliable agency is a systems property. Students take quiz.py in pre mode, build part-a-visualization-harness, then return to the same quiz in post mode for the comparison.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https://openai.com/index/harness-engineering/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https://openai.com/business/guides-and-resources/a-practical-guide-to-building-ai-agents/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7905600" y="0"/>
            <a:ext cx="4190760" cy="41907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8858160" y="2762280"/>
            <a:ext cx="3333240" cy="33332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143840" y="2857680"/>
            <a:ext cx="2095200" cy="209520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85800" y="704880"/>
            <a:ext cx="5714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AI TOOLING SEMINAR · LAB 2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1428840"/>
            <a:ext cx="685764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94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Agent Harness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Engineering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23960" y="3524400"/>
            <a:ext cx="647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How models become bounded, observable systems that can act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23960" y="5381640"/>
            <a:ext cx="7238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Models propose. Harnesses control what happens next.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The Model Is Only the Decision Engine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81200" y="1504800"/>
            <a:ext cx="105724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1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A model produces candidate text, structured outputs, or tool calls. The harness decides whether those candidates become actions.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238400" y="2857680"/>
            <a:ext cx="2095200" cy="2095200"/>
          </a:xfrm>
          <a:prstGeom prst="ellipse">
            <a:avLst/>
          </a:prstGeom>
          <a:solidFill>
            <a:srgbClr val="0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523880" y="3467160"/>
            <a:ext cx="1523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581120" y="3943440"/>
            <a:ext cx="1409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proposes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572000" y="2571840"/>
            <a:ext cx="6190920" cy="2666520"/>
          </a:xfrm>
          <a:prstGeom prst="roundRect">
            <a:avLst>
              <a:gd name="adj" fmla="val 5714"/>
            </a:avLst>
          </a:prstGeom>
          <a:solidFill>
            <a:srgbClr val="F2F8FA"/>
          </a:solidFill>
          <a:ln w="19050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4952880" y="2876400"/>
            <a:ext cx="2285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HARNESS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933800" y="3352680"/>
            <a:ext cx="5333760" cy="16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normAutofit fontScale="92500" lnSpcReduction="9999"/>
          </a:bodyPr>
          <a:p>
            <a:pPr>
              <a:lnSpc>
                <a:spcPct val="108000"/>
              </a:lnSpc>
              <a:spcAft>
                <a:spcPts val="6"/>
              </a:spcAft>
              <a:tabLst>
                <a:tab pos="0" algn="l"/>
              </a:tabLst>
            </a:pPr>
            <a:r>
              <a:rPr lang="en-US" sz="1729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assembles context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6"/>
              </a:spcAft>
              <a:tabLst>
                <a:tab pos="0" algn="l"/>
              </a:tabLst>
            </a:pPr>
            <a:r>
              <a:rPr lang="en-US" sz="1729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exposes tools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6"/>
              </a:spcAft>
              <a:tabLst>
                <a:tab pos="0" algn="l"/>
              </a:tabLst>
            </a:pPr>
            <a:r>
              <a:rPr lang="en-US" sz="1729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executes or refuses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6"/>
              </a:spcAft>
              <a:tabLst>
                <a:tab pos="0" algn="l"/>
              </a:tabLst>
            </a:pPr>
            <a:r>
              <a:rPr lang="en-US" sz="1729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stores state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6"/>
              </a:spcAft>
              <a:tabLst>
                <a:tab pos="0" algn="l"/>
              </a:tabLst>
            </a:pPr>
            <a:r>
              <a:rPr lang="en-US" sz="1729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stops, retries, or escalates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6"/>
              </a:spcAft>
              <a:tabLst>
                <a:tab pos="0" algn="l"/>
              </a:tabLst>
            </a:pPr>
            <a:r>
              <a:rPr lang="en-US" sz="1729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records evidence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" name=""/>
          <p:cNvCxnSpPr>
            <a:stCxn id="24" idx="6"/>
            <a:endCxn id="27" idx="1"/>
          </p:cNvCxnSpPr>
          <p:nvPr/>
        </p:nvCxnSpPr>
        <p:spPr>
          <a:xfrm>
            <a:off x="3333600" y="3905280"/>
            <a:ext cx="1238760" cy="360"/>
          </a:xfrm>
          <a:prstGeom prst="straightConnector1">
            <a:avLst/>
          </a:prstGeom>
          <a:ln w="19050">
            <a:solidFill>
              <a:srgbClr val="1C7293"/>
            </a:solidFill>
            <a:round/>
            <a:tailEnd len="sm" type="triangle" w="sm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Five Layers Separate an Agent System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428840" y="1504800"/>
            <a:ext cx="9334080" cy="666360"/>
          </a:xfrm>
          <a:prstGeom prst="roundRect">
            <a:avLst>
              <a:gd name="adj" fmla="val 17143"/>
            </a:avLst>
          </a:prstGeom>
          <a:solidFill>
            <a:srgbClr val="173F58"/>
          </a:solidFill>
          <a:ln w="0">
            <a:solidFill>
              <a:srgbClr val="173F5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714680" y="166680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EXPERIENCE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191120" y="1666800"/>
            <a:ext cx="5905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65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User interface, API, or event that supplies the task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695600" y="2371680"/>
            <a:ext cx="8800920" cy="66636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981080" y="253368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ORCHESTRATION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343400" y="2533680"/>
            <a:ext cx="5543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65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Loop, routing, handoffs, parallelism, stop policy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962000" y="3238560"/>
            <a:ext cx="8267400" cy="66636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247840" y="340056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CAPABILITIES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495680" y="3400560"/>
            <a:ext cx="5181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Tools, MCP servers, code execution, computer use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228760" y="4105440"/>
            <a:ext cx="7733880" cy="666360"/>
          </a:xfrm>
          <a:prstGeom prst="roundRect">
            <a:avLst>
              <a:gd name="adj" fmla="val 17143"/>
            </a:avLst>
          </a:prstGeom>
          <a:solidFill>
            <a:srgbClr val="21295C"/>
          </a:solidFill>
          <a:ln w="0">
            <a:solidFill>
              <a:srgbClr val="21295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514600" y="426708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CONTEXT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648320" y="4267080"/>
            <a:ext cx="4819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65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Instructions, history, retrieval, skills, runtime facts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495520" y="4971960"/>
            <a:ext cx="7200720" cy="666360"/>
          </a:xfrm>
          <a:prstGeom prst="roundRect">
            <a:avLst>
              <a:gd name="adj" fmla="val 17143"/>
            </a:avLst>
          </a:prstGeom>
          <a:solidFill>
            <a:srgbClr val="071E30"/>
          </a:solidFill>
          <a:ln w="0">
            <a:solidFill>
              <a:srgbClr val="071E3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781360" y="513396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MODEL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800600" y="5133960"/>
            <a:ext cx="4457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65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Generates decisions under the context it receives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The Loop Converts Model Output into Work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04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85800" y="2610000"/>
            <a:ext cx="1866600" cy="1580760"/>
          </a:xfrm>
          <a:prstGeom prst="roundRect">
            <a:avLst>
              <a:gd name="adj" fmla="val 7229"/>
            </a:avLst>
          </a:prstGeom>
          <a:solidFill>
            <a:srgbClr val="F2F8FA"/>
          </a:solidFill>
          <a:ln w="11430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38080" y="2762280"/>
            <a:ext cx="323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57160" y="3133800"/>
            <a:ext cx="152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ASSEMBLE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857160" y="3552840"/>
            <a:ext cx="15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instructions + state + observations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2952720" y="2610000"/>
            <a:ext cx="1866600" cy="1580760"/>
          </a:xfrm>
          <a:prstGeom prst="roundRect">
            <a:avLst>
              <a:gd name="adj" fmla="val 7229"/>
            </a:avLst>
          </a:prstGeom>
          <a:solidFill>
            <a:srgbClr val="0B2942"/>
          </a:solidFill>
          <a:ln w="11430">
            <a:solidFill>
              <a:srgbClr val="0B2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105000" y="2762280"/>
            <a:ext cx="323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124080" y="3133800"/>
            <a:ext cx="152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CALL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124080" y="3552840"/>
            <a:ext cx="15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model returns final output or an action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"/>
          <p:cNvCxnSpPr>
            <a:stCxn id="54" idx="3"/>
            <a:endCxn id="58" idx="1"/>
          </p:cNvCxnSpPr>
          <p:nvPr/>
        </p:nvCxnSpPr>
        <p:spPr>
          <a:xfrm>
            <a:off x="2552400" y="3400560"/>
            <a:ext cx="40068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63" name=""/>
          <p:cNvSpPr/>
          <p:nvPr/>
        </p:nvSpPr>
        <p:spPr>
          <a:xfrm>
            <a:off x="5219640" y="2610000"/>
            <a:ext cx="1866600" cy="1580760"/>
          </a:xfrm>
          <a:prstGeom prst="roundRect">
            <a:avLst>
              <a:gd name="adj" fmla="val 7229"/>
            </a:avLst>
          </a:prstGeom>
          <a:solidFill>
            <a:srgbClr val="F2F8FA"/>
          </a:solidFill>
          <a:ln w="11430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372280" y="2762280"/>
            <a:ext cx="323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391000" y="3133800"/>
            <a:ext cx="152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INTERPRET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391000" y="3552840"/>
            <a:ext cx="15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validate structure and policy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"/>
          <p:cNvCxnSpPr>
            <a:stCxn id="58" idx="3"/>
            <a:endCxn id="63" idx="1"/>
          </p:cNvCxnSpPr>
          <p:nvPr/>
        </p:nvCxnSpPr>
        <p:spPr>
          <a:xfrm>
            <a:off x="4819320" y="3400560"/>
            <a:ext cx="40068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68" name=""/>
          <p:cNvSpPr/>
          <p:nvPr/>
        </p:nvSpPr>
        <p:spPr>
          <a:xfrm>
            <a:off x="7486560" y="2610000"/>
            <a:ext cx="1866600" cy="1580760"/>
          </a:xfrm>
          <a:prstGeom prst="roundRect">
            <a:avLst>
              <a:gd name="adj" fmla="val 7229"/>
            </a:avLst>
          </a:prstGeom>
          <a:solidFill>
            <a:srgbClr val="F2F8FA"/>
          </a:solidFill>
          <a:ln w="11430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639200" y="2762280"/>
            <a:ext cx="323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658280" y="3133800"/>
            <a:ext cx="152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EXECUTE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658280" y="3552840"/>
            <a:ext cx="15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run an allowed capability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"/>
          <p:cNvCxnSpPr>
            <a:stCxn id="63" idx="3"/>
            <a:endCxn id="68" idx="1"/>
          </p:cNvCxnSpPr>
          <p:nvPr/>
        </p:nvCxnSpPr>
        <p:spPr>
          <a:xfrm>
            <a:off x="7086240" y="3400560"/>
            <a:ext cx="40068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73" name=""/>
          <p:cNvSpPr/>
          <p:nvPr/>
        </p:nvSpPr>
        <p:spPr>
          <a:xfrm>
            <a:off x="9753480" y="2610000"/>
            <a:ext cx="1866600" cy="1580760"/>
          </a:xfrm>
          <a:prstGeom prst="roundRect">
            <a:avLst>
              <a:gd name="adj" fmla="val 7229"/>
            </a:avLst>
          </a:prstGeom>
          <a:solidFill>
            <a:srgbClr val="F2F8FA"/>
          </a:solidFill>
          <a:ln w="11430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906120" y="2762280"/>
            <a:ext cx="323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925200" y="3133800"/>
            <a:ext cx="1523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OBSERVE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925200" y="3552840"/>
            <a:ext cx="15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append result, error, or approval state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"/>
          <p:cNvCxnSpPr>
            <a:stCxn id="68" idx="3"/>
            <a:endCxn id="73" idx="1"/>
          </p:cNvCxnSpPr>
          <p:nvPr/>
        </p:nvCxnSpPr>
        <p:spPr>
          <a:xfrm>
            <a:off x="9353160" y="3400560"/>
            <a:ext cx="40068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78" name=""/>
          <p:cNvSpPr/>
          <p:nvPr/>
        </p:nvSpPr>
        <p:spPr>
          <a:xfrm>
            <a:off x="2381400" y="4762440"/>
            <a:ext cx="7429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The loop ends only when the harness recognizes a valid terminal state.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152800" y="5276880"/>
            <a:ext cx="7886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final output · explicit stop · limit exceeded · approval pause · unrecoverable 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The Harness Owns the Control Plane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05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914400" y="1562040"/>
            <a:ext cx="2857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MODEL PLANE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914400" y="2000160"/>
            <a:ext cx="285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Probabilistic judgment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914400" y="2610000"/>
            <a:ext cx="390492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18000"/>
              </a:lnSpc>
            </a:pPr>
            <a:r>
              <a:rPr lang="en-US" sz="19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Which chart best answers the question?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19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Which tool should run next?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19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Is the evidence sufficient?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505480" y="1476360"/>
            <a:ext cx="18720" cy="4095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191280" y="1562040"/>
            <a:ext cx="39049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HARNESS PLANE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191280" y="2000160"/>
            <a:ext cx="3047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Deterministic control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076800" y="2552760"/>
            <a:ext cx="4762080" cy="23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normAutofit/>
          </a:bodyPr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Context: </a:t>
            </a: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what enters the call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Capability: </a:t>
            </a: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what actions exist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Policy: </a:t>
            </a: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what may execute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Lifecycle: </a:t>
            </a: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when to continue or stop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Evidence: </a:t>
            </a: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what is logged and graded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191280" y="5143680"/>
            <a:ext cx="4762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E76F51"/>
                </a:solidFill>
                <a:effectLst/>
                <a:uFillTx/>
                <a:latin typeface="Cambria"/>
                <a:ea typeface="Cambria"/>
              </a:rPr>
              <a:t>Move requirements into code whenever they can be checked mechanically.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Context Assembly Is Runtime Behavior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06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047600" y="2000160"/>
            <a:ext cx="3142800" cy="837720"/>
          </a:xfrm>
          <a:prstGeom prst="roundRect">
            <a:avLst>
              <a:gd name="adj" fmla="val 13636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219320" y="213372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POLICY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219320" y="2457360"/>
            <a:ext cx="27810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system + developer instructions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047600" y="3238560"/>
            <a:ext cx="3142800" cy="837720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0">
            <a:solidFill>
              <a:srgbClr val="1C729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219320" y="337176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TASK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219320" y="3695760"/>
            <a:ext cx="27810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current user request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047600" y="4476600"/>
            <a:ext cx="3142800" cy="837720"/>
          </a:xfrm>
          <a:prstGeom prst="roundRect">
            <a:avLst>
              <a:gd name="adj" fmla="val 13636"/>
            </a:avLst>
          </a:prstGeom>
          <a:solidFill>
            <a:srgbClr val="21295C"/>
          </a:solidFill>
          <a:ln w="0">
            <a:solidFill>
              <a:srgbClr val="21295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219320" y="461016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STATE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219320" y="4933800"/>
            <a:ext cx="27810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history + working memory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7429680" y="2000160"/>
            <a:ext cx="3142800" cy="837720"/>
          </a:xfrm>
          <a:prstGeom prst="roundRect">
            <a:avLst>
              <a:gd name="adj" fmla="val 13636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601040" y="213372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EVIDENCE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7601040" y="2457360"/>
            <a:ext cx="27810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retrieval + tool results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429680" y="3238560"/>
            <a:ext cx="3142800" cy="837720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 w="0">
            <a:solidFill>
              <a:srgbClr val="1C729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601040" y="337176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SKILLS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601040" y="3695760"/>
            <a:ext cx="27810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selected workflows + references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7429680" y="4476600"/>
            <a:ext cx="3142800" cy="837720"/>
          </a:xfrm>
          <a:prstGeom prst="roundRect">
            <a:avLst>
              <a:gd name="adj" fmla="val 13636"/>
            </a:avLst>
          </a:prstGeom>
          <a:solidFill>
            <a:srgbClr val="21295C"/>
          </a:solidFill>
          <a:ln w="0">
            <a:solidFill>
              <a:srgbClr val="21295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7601040" y="461016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BUDGET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601040" y="4933800"/>
            <a:ext cx="27810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remaining turns, time, cost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905360" y="2800440"/>
            <a:ext cx="2381040" cy="2381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315040" y="3314880"/>
            <a:ext cx="156168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90000"/>
              </a:lnSpc>
            </a:pPr>
            <a:r>
              <a:rPr lang="en-US" sz="255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NEXT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255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MODEL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lang="en-US" sz="255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CALL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714680" y="5572080"/>
            <a:ext cx="8762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870" b="0" u="none" strike="noStrike">
                <a:solidFill>
                  <a:srgbClr val="F4C95D"/>
                </a:solidFill>
                <a:effectLst/>
                <a:uFillTx/>
                <a:latin typeface="Calibri"/>
                <a:ea typeface="Calibri"/>
              </a:rPr>
              <a:t>Selection is a design decision: relevance, authority, freshness, and token cost compete.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Instructions Are Contracts, Not Wishes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07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723960" y="1619280"/>
            <a:ext cx="5028840" cy="3714480"/>
          </a:xfrm>
          <a:prstGeom prst="roundRect">
            <a:avLst>
              <a:gd name="adj" fmla="val 3077"/>
            </a:avLst>
          </a:prstGeom>
          <a:solidFill>
            <a:srgbClr val="F2F8FA"/>
          </a:solidFill>
          <a:ln w="9525">
            <a:solidFill>
              <a:srgbClr val="F2F8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933480" y="1790640"/>
            <a:ext cx="4609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Good instruction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933480" y="2209680"/>
            <a:ext cx="4609800" cy="29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“Write the chart to output/chart.png and return the selected fields.”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It states the intended behavior and output contract.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6438960" y="1619280"/>
            <a:ext cx="5028840" cy="3714480"/>
          </a:xfrm>
          <a:prstGeom prst="roundRect">
            <a:avLst>
              <a:gd name="adj" fmla="val 3077"/>
            </a:avLst>
          </a:prstGeom>
          <a:solidFill>
            <a:srgbClr val="FFF4EF"/>
          </a:solidFill>
          <a:ln w="9525">
            <a:solidFill>
              <a:srgbClr val="FFF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648480" y="1790640"/>
            <a:ext cx="4609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E76F51"/>
                </a:solidFill>
                <a:effectLst/>
                <a:uFillTx/>
                <a:latin typeface="Cambria"/>
                <a:ea typeface="Cambria"/>
              </a:rPr>
              <a:t>Mechanical enforcement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648480" y="2209680"/>
            <a:ext cx="4609800" cy="29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Allow writes only under output/.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Validate every referenced field.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Require chart.png before success.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Reject a third revision.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It makes the contract testable.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619280" y="5638680"/>
            <a:ext cx="8953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Reliable harnesses pair semantic guidance with deterministic checks.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Critical Instructions Specify Seven Boundaries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08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723960" y="1542960"/>
            <a:ext cx="437760" cy="43776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1333440" y="154296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OUTCOME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333440" y="1866960"/>
            <a:ext cx="43812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The artifact or decision the run must produce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23960" y="2647800"/>
            <a:ext cx="437760" cy="43776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333440" y="264780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AUTHORITY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1333440" y="2971800"/>
            <a:ext cx="43812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Which sources outrank others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723960" y="3753000"/>
            <a:ext cx="437760" cy="43776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333440" y="375300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PROCESS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333440" y="4076640"/>
            <a:ext cx="43812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Required checks and order dependencies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723960" y="4857840"/>
            <a:ext cx="437760" cy="43776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333440" y="485784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TOOLS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1333440" y="5181480"/>
            <a:ext cx="43812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When each capability should be used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286680" y="1542960"/>
            <a:ext cx="437760" cy="43776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896160" y="154296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PERMISSION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896160" y="1866960"/>
            <a:ext cx="43812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Actions allowed now versus after approval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6286680" y="2647800"/>
            <a:ext cx="437760" cy="43776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6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896160" y="264780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FAILURE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896160" y="2971800"/>
            <a:ext cx="43812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Retry, ask, stop, or degrade behavior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286680" y="3753000"/>
            <a:ext cx="437760" cy="43776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7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896160" y="375300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OUTPUT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896160" y="4076640"/>
            <a:ext cx="43812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Schema, evidence, and completion signal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2724120" y="5829480"/>
            <a:ext cx="6743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E76F51"/>
                </a:solidFill>
                <a:effectLst/>
                <a:uFillTx/>
                <a:latin typeface="Calibri"/>
                <a:ea typeface="Calibri"/>
              </a:rPr>
              <a:t>One instruction per rule. Short entry point. Deeper sources on demand.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Tools Are Typed Capabilities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09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85800" y="1562040"/>
            <a:ext cx="5810040" cy="4095360"/>
          </a:xfrm>
          <a:prstGeom prst="roundRect">
            <a:avLst>
              <a:gd name="adj" fmla="val 2791"/>
            </a:avLst>
          </a:prstGeom>
          <a:solidFill>
            <a:srgbClr val="0B2942"/>
          </a:solidFill>
          <a:ln w="1143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857160" y="1695600"/>
            <a:ext cx="5466960" cy="38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  "name": "render_chart",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  "description": "Render one validated Vega-Lite spec",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  "input": {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    "spec": "VegaLiteSpec",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    "output_path": "safe relative path"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  },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  "returns": { "path": "string", "warnings": "string[]" },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  "errors": ["INVALID_FIELD", "UNSAFE_PATH", "RENDER_FAILED"]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7048440" y="1695600"/>
            <a:ext cx="40953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tool contract tells the model—and the runtime—five things: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953400" y="2533680"/>
            <a:ext cx="428580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normAutofit/>
          </a:bodyPr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what the capability does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when it applies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which inputs are valid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what the result contains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how failure is represented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086600" y="5219640"/>
            <a:ext cx="4000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F4C95D"/>
                </a:solidFill>
                <a:effectLst/>
                <a:uFillTx/>
                <a:latin typeface="Calibri"/>
                <a:ea typeface="Calibri"/>
              </a:rPr>
              <a:t>A vague tool description is an ambiguous API.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State Is Four Different Things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23960" y="1562040"/>
            <a:ext cx="10743840" cy="866520"/>
          </a:xfrm>
          <a:prstGeom prst="roundRect">
            <a:avLst>
              <a:gd name="adj" fmla="val 13187"/>
            </a:avLst>
          </a:prstGeom>
          <a:solidFill>
            <a:srgbClr val="F2F8FA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933480" y="175248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CONVERSATION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086280" y="1714680"/>
            <a:ext cx="44762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Messages and tool results carried between turns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7905600" y="1714680"/>
            <a:ext cx="32382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Does the next call need this transcript?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723960" y="2619360"/>
            <a:ext cx="10743840" cy="866520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933480" y="280980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WORKING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086280" y="2771640"/>
            <a:ext cx="44762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Plan, intermediate artifacts, pending calls, counters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905600" y="2771640"/>
            <a:ext cx="32382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Can the run resume without replaying work?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723960" y="3676680"/>
            <a:ext cx="10743840" cy="866520"/>
          </a:xfrm>
          <a:prstGeom prst="roundRect">
            <a:avLst>
              <a:gd name="adj" fmla="val 13187"/>
            </a:avLst>
          </a:prstGeom>
          <a:solidFill>
            <a:srgbClr val="F2F8FA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933480" y="386712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APPLICATION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3086280" y="3828960"/>
            <a:ext cx="44762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User profile, records, permissions, dependencies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7905600" y="3828960"/>
            <a:ext cx="32382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Does the model need this—or only the tool?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723960" y="4734000"/>
            <a:ext cx="10743840" cy="866520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933480" y="4924440"/>
            <a:ext cx="1999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LONG-TERM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086280" y="4886280"/>
            <a:ext cx="44762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Retrieved memories or durable knowledge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7905600" y="4886280"/>
            <a:ext cx="32382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Who wrote it, when, and for which scope?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790640" y="5905440"/>
            <a:ext cx="8610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E76F51"/>
                </a:solidFill>
                <a:effectLst/>
                <a:uFillTx/>
                <a:latin typeface="Calibri"/>
                <a:ea typeface="Calibri"/>
              </a:rPr>
              <a:t>Do not call all of these “memory.” Their ownership, lifetime, and privacy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Stop Conditions Bound Autonomy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11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800280" y="1523880"/>
            <a:ext cx="10362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1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A model can always suggest another step. The harness decides when another step is justified.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81200" y="2590920"/>
            <a:ext cx="1904760" cy="224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419120" y="2800440"/>
            <a:ext cx="628200" cy="628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562040" y="2943360"/>
            <a:ext cx="34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933480" y="3638520"/>
            <a:ext cx="15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SUCCESS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971640" y="4076640"/>
            <a:ext cx="15235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typed final output passes validation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2981160" y="2590920"/>
            <a:ext cx="1904760" cy="224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619440" y="2800440"/>
            <a:ext cx="628200" cy="628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3762360" y="2943360"/>
            <a:ext cx="34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3133800" y="3638520"/>
            <a:ext cx="15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BUDGET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171960" y="4076640"/>
            <a:ext cx="15235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turn, token, time, or spend limit reached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5181480" y="2590920"/>
            <a:ext cx="1904760" cy="224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5819760" y="2800440"/>
            <a:ext cx="628200" cy="62820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5962680" y="2943360"/>
            <a:ext cx="34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5334120" y="3638520"/>
            <a:ext cx="15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STALL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372280" y="4076640"/>
            <a:ext cx="15235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same action or error repeats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7381800" y="2590920"/>
            <a:ext cx="1904760" cy="224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8020080" y="2800440"/>
            <a:ext cx="628200" cy="628200"/>
          </a:xfrm>
          <a:prstGeom prst="ellipse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8163000" y="2943360"/>
            <a:ext cx="34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534440" y="3638520"/>
            <a:ext cx="15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E76F51"/>
                </a:solidFill>
                <a:effectLst/>
                <a:uFillTx/>
                <a:latin typeface="Courier New"/>
                <a:ea typeface="Courier New"/>
              </a:rPr>
              <a:t>RISK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572240" y="4076640"/>
            <a:ext cx="15235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next action crosses an approval boundary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9582120" y="2590920"/>
            <a:ext cx="1904760" cy="224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A6A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10220400" y="2800440"/>
            <a:ext cx="628200" cy="628200"/>
          </a:xfrm>
          <a:prstGeom prst="ellipse">
            <a:avLst/>
          </a:prstGeom>
          <a:solidFill>
            <a:srgbClr val="7A6A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10363320" y="2943360"/>
            <a:ext cx="34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9734400" y="3638520"/>
            <a:ext cx="15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7A6A1F"/>
                </a:solidFill>
                <a:effectLst/>
                <a:uFillTx/>
                <a:latin typeface="Courier New"/>
                <a:ea typeface="Courier New"/>
              </a:rPr>
              <a:t>UNCERTAINTY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9772560" y="4076640"/>
            <a:ext cx="15235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required evidence is unavailable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2952720" y="5334120"/>
            <a:ext cx="6286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32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A stop is part of the algorithm—not an afterthought.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Execution Boundaries Limit Consequences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12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486080" y="2400480"/>
            <a:ext cx="2285640" cy="1104480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0">
            <a:solidFill>
              <a:srgbClr val="1C729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1657440" y="2571840"/>
            <a:ext cx="194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READ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657440" y="2952720"/>
            <a:ext cx="1942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inspect approved inputs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095720" y="1657440"/>
            <a:ext cx="2285640" cy="1104480"/>
          </a:xfrm>
          <a:prstGeom prst="roundRect">
            <a:avLst>
              <a:gd name="adj" fmla="val 10345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267080" y="1828800"/>
            <a:ext cx="194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TRANSFORM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4267080" y="2209680"/>
            <a:ext cx="1942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compute in a sandbox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8420040" y="2400480"/>
            <a:ext cx="2285640" cy="1104480"/>
          </a:xfrm>
          <a:prstGeom prst="roundRect">
            <a:avLst>
              <a:gd name="adj" fmla="val 10345"/>
            </a:avLst>
          </a:prstGeom>
          <a:solidFill>
            <a:srgbClr val="21295C"/>
          </a:solidFill>
          <a:ln w="0">
            <a:solidFill>
              <a:srgbClr val="21295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8591400" y="2571840"/>
            <a:ext cx="194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8591400" y="2952720"/>
            <a:ext cx="1942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restricted paths only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095720" y="4095720"/>
            <a:ext cx="2285640" cy="1104480"/>
          </a:xfrm>
          <a:prstGeom prst="roundRect">
            <a:avLst>
              <a:gd name="adj" fmla="val 10345"/>
            </a:avLst>
          </a:prstGeom>
          <a:solidFill>
            <a:srgbClr val="E76F51"/>
          </a:solidFill>
          <a:ln w="0">
            <a:solidFill>
              <a:srgbClr val="E76F5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4267080" y="4267080"/>
            <a:ext cx="194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PUBLISH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4267080" y="4648320"/>
            <a:ext cx="1942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external side effect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524480" y="2705040"/>
            <a:ext cx="3142800" cy="1428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857840" y="3143160"/>
            <a:ext cx="2476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32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LEAST PRIVILEGE</a:t>
            </a:r>
            <a:endParaRPr lang="en-US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2362320" y="5600880"/>
            <a:ext cx="7467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identity · filesystem · network · credentials · spend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Errors Must Become Structured Observations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13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762120" y="1695600"/>
            <a:ext cx="3238200" cy="3123720"/>
          </a:xfrm>
          <a:prstGeom prst="roundRect">
            <a:avLst>
              <a:gd name="adj" fmla="val 3659"/>
            </a:avLst>
          </a:prstGeom>
          <a:solidFill>
            <a:srgbClr val="FFF4EF"/>
          </a:solidFill>
          <a:ln w="9525">
            <a:solidFill>
              <a:srgbClr val="FFF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971640" y="1866960"/>
            <a:ext cx="2819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E76F51"/>
                </a:solidFill>
                <a:effectLst/>
                <a:uFillTx/>
                <a:latin typeface="Cambria"/>
                <a:ea typeface="Cambria"/>
              </a:rPr>
              <a:t>Opaque failure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971640" y="2286000"/>
            <a:ext cx="2819160" cy="23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“Render failed.”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The model cannot identify the violated contract, so retries become guesses.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4476600" y="1695600"/>
            <a:ext cx="6953040" cy="3123720"/>
          </a:xfrm>
          <a:prstGeom prst="roundRect">
            <a:avLst>
              <a:gd name="adj" fmla="val 3659"/>
            </a:avLst>
          </a:prstGeom>
          <a:solidFill>
            <a:srgbClr val="F2F8FA"/>
          </a:solidFill>
          <a:ln w="9525">
            <a:solidFill>
              <a:srgbClr val="F2F8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4686480" y="1866960"/>
            <a:ext cx="6533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25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Recoverable observation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4686480" y="2286000"/>
            <a:ext cx="6533640" cy="23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5000"/>
              </a:lnSpc>
            </a:pPr>
            <a:r>
              <a:rPr lang="en-US" sz="158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58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  "code": "INVALID_FIELD",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58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  "field": "rating",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58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  "available_fields": ["user_rating", "critic_rating"],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58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  "retryable": true,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58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  "completed_side_effects": []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sz="158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390680" y="5257800"/>
            <a:ext cx="94104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1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Retry only when the next attempt can use new information—and when repeating is safe.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Traces Reconstruct the Run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14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914400" y="1523880"/>
            <a:ext cx="1036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1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A final answer hides the path. A trace preserves enough evidence to debug the path.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952560" y="2247840"/>
            <a:ext cx="1047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00:00.0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2171880" y="2209680"/>
            <a:ext cx="1104480" cy="323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2247840" y="2257560"/>
            <a:ext cx="9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INPUT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3543480" y="2247840"/>
            <a:ext cx="714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question + dataset path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2724120" y="2543040"/>
            <a:ext cx="360" cy="190440"/>
          </a:xfrm>
          <a:prstGeom prst="line">
            <a:avLst/>
          </a:prstGeom>
          <a:ln w="19050">
            <a:solidFill>
              <a:srgbClr val="8FAA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952560" y="2771640"/>
            <a:ext cx="1047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00:00.4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2171880" y="2733840"/>
            <a:ext cx="1104480" cy="323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2247840" y="2781360"/>
            <a:ext cx="9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MODEL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543480" y="2771640"/>
            <a:ext cx="714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requests profile_dataset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2724120" y="3066840"/>
            <a:ext cx="360" cy="190440"/>
          </a:xfrm>
          <a:prstGeom prst="line">
            <a:avLst/>
          </a:prstGeom>
          <a:ln w="19050">
            <a:solidFill>
              <a:srgbClr val="8FAA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952560" y="3295800"/>
            <a:ext cx="1047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00:00.5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2171880" y="3257640"/>
            <a:ext cx="1104480" cy="323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2247840" y="3305160"/>
            <a:ext cx="9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TOOL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543480" y="3295800"/>
            <a:ext cx="714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12 fields · 3 missing values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2724120" y="3590640"/>
            <a:ext cx="360" cy="190440"/>
          </a:xfrm>
          <a:prstGeom prst="line">
            <a:avLst/>
          </a:prstGeom>
          <a:ln w="19050">
            <a:solidFill>
              <a:srgbClr val="8FAA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952560" y="3819600"/>
            <a:ext cx="1047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00:01.3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2171880" y="3781440"/>
            <a:ext cx="1104480" cy="323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2247840" y="3828960"/>
            <a:ext cx="9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MODEL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543480" y="3819600"/>
            <a:ext cx="714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emits ChartPlan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724120" y="4114800"/>
            <a:ext cx="360" cy="190440"/>
          </a:xfrm>
          <a:prstGeom prst="line">
            <a:avLst/>
          </a:prstGeom>
          <a:ln w="19050">
            <a:solidFill>
              <a:srgbClr val="8FAA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952560" y="4343400"/>
            <a:ext cx="1047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00:01.4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2171880" y="4305240"/>
            <a:ext cx="1104480" cy="32364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0">
            <a:solidFill>
              <a:srgbClr val="E76F5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2247840" y="4352760"/>
            <a:ext cx="9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CHECK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3543480" y="4343400"/>
            <a:ext cx="714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INVALID_FIELD: rating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2724120" y="4638600"/>
            <a:ext cx="360" cy="190440"/>
          </a:xfrm>
          <a:prstGeom prst="line">
            <a:avLst/>
          </a:prstGeom>
          <a:ln w="19050">
            <a:solidFill>
              <a:srgbClr val="8FAA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952560" y="4867200"/>
            <a:ext cx="1047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00:02.1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2171880" y="4829040"/>
            <a:ext cx="1104480" cy="323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0">
            <a:solidFill>
              <a:srgbClr val="065A82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2247840" y="4876920"/>
            <a:ext cx="9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MODEL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3543480" y="4867200"/>
            <a:ext cx="714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revises to user_rating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2724120" y="5162400"/>
            <a:ext cx="360" cy="190440"/>
          </a:xfrm>
          <a:prstGeom prst="line">
            <a:avLst/>
          </a:prstGeom>
          <a:ln w="19050">
            <a:solidFill>
              <a:srgbClr val="8FAA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952560" y="5391000"/>
            <a:ext cx="1047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00:02.3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2171880" y="5353200"/>
            <a:ext cx="1104480" cy="323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0">
            <a:solidFill>
              <a:srgbClr val="1C7293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2247840" y="5400720"/>
            <a:ext cx="9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OUTPUT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3543480" y="5391000"/>
            <a:ext cx="714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chart.png + spec.json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1657440" y="6019920"/>
            <a:ext cx="88768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Record model calls, tool calls, guardrails, approvals, usage, and terminal state—without leaking secrets.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Evals Define Whether “Done” Is Correct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15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685800" y="1809720"/>
            <a:ext cx="3333240" cy="3428640"/>
          </a:xfrm>
          <a:prstGeom prst="roundRect">
            <a:avLst>
              <a:gd name="adj" fmla="val 3429"/>
            </a:avLst>
          </a:prstGeom>
          <a:solidFill>
            <a:srgbClr val="123B53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914400" y="2095560"/>
            <a:ext cx="2876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DETERMINISTIC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1047600" y="2762280"/>
            <a:ext cx="260964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Spec parses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Fields exist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Output file exists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Writes stay in scope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4495680" y="1809720"/>
            <a:ext cx="3333240" cy="3428640"/>
          </a:xfrm>
          <a:prstGeom prst="roundRect">
            <a:avLst>
              <a:gd name="adj" fmla="val 3429"/>
            </a:avLst>
          </a:prstGeom>
          <a:solidFill>
            <a:srgbClr val="123B53"/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4724280" y="2095560"/>
            <a:ext cx="2876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TASK QUALITY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4857840" y="2762280"/>
            <a:ext cx="260964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Chart answers question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Aggregation is honest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Labels are readable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Caveats are stated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8305920" y="1809720"/>
            <a:ext cx="3333240" cy="3428640"/>
          </a:xfrm>
          <a:prstGeom prst="roundRect">
            <a:avLst>
              <a:gd name="adj" fmla="val 3429"/>
            </a:avLst>
          </a:prstGeom>
          <a:solidFill>
            <a:srgbClr val="123B53"/>
          </a:solidFill>
          <a:ln w="1905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8534520" y="2095560"/>
            <a:ext cx="2876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TRAJECTORY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8667720" y="2762280"/>
            <a:ext cx="260964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Right tools used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Retries stay bounded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Evidence precedes claims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5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duplicate side effects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771560" y="5657760"/>
            <a:ext cx="8648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F4C95D"/>
                </a:solidFill>
                <a:effectLst/>
                <a:uFillTx/>
                <a:latin typeface="Cambria"/>
                <a:ea typeface="Cambria"/>
              </a:rPr>
              <a:t>An eval set is the executable definition of the harness contract.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BRIDGE · BACKGROUND → ARCHITECTURE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The Same Controls Generate Every Harness Form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16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876240" y="158112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Slide 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2514600" y="156204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LOOP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4362120" y="1723680"/>
            <a:ext cx="838440" cy="360"/>
          </a:xfrm>
          <a:prstGeom prst="line">
            <a:avLst/>
          </a:prstGeom>
          <a:ln w="2857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5467320" y="1533600"/>
            <a:ext cx="5428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Who chooses the next step?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876240" y="232416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Slide 6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2514600" y="230508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CONTEXT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4362120" y="2466720"/>
            <a:ext cx="838440" cy="360"/>
          </a:xfrm>
          <a:prstGeom prst="line">
            <a:avLst/>
          </a:prstGeom>
          <a:ln w="2857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5467320" y="2276640"/>
            <a:ext cx="5428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What does each decision see?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76240" y="306720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Slide 9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2514600" y="304812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4362120" y="3209760"/>
            <a:ext cx="838440" cy="360"/>
          </a:xfrm>
          <a:prstGeom prst="line">
            <a:avLst/>
          </a:prstGeom>
          <a:ln w="2857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467320" y="3019320"/>
            <a:ext cx="5428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Which actions can be taken?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876240" y="380988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Slide 10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2514600" y="379080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4362120" y="3952800"/>
            <a:ext cx="838440" cy="360"/>
          </a:xfrm>
          <a:prstGeom prst="line">
            <a:avLst/>
          </a:prstGeom>
          <a:ln w="2857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5467320" y="3762360"/>
            <a:ext cx="5428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What survives between steps?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876240" y="455292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Slide 11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2514600" y="453384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STOPS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4362120" y="4695480"/>
            <a:ext cx="838440" cy="360"/>
          </a:xfrm>
          <a:prstGeom prst="line">
            <a:avLst/>
          </a:prstGeom>
          <a:ln w="2857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5467320" y="4505400"/>
            <a:ext cx="5428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Where does autonomy end?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876240" y="529596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30" b="1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Slides 12–15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2514600" y="5276880"/>
            <a:ext cx="1809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4362120" y="5438520"/>
            <a:ext cx="838440" cy="360"/>
          </a:xfrm>
          <a:prstGeom prst="line">
            <a:avLst/>
          </a:prstGeom>
          <a:ln w="2857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5467320" y="5248440"/>
            <a:ext cx="5428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How is execution bounded and judged?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1600200" y="5943600"/>
            <a:ext cx="899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E76F51"/>
                </a:solidFill>
                <a:effectLst/>
                <a:uFillTx/>
                <a:latin typeface="Calibri"/>
                <a:ea typeface="Calibri"/>
              </a:rPr>
              <a:t>The forms differ mainly in who controls sequencing, state, and delegation.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Deterministic Workflows Constrain the Path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17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 4, Loop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685800" y="2743200"/>
            <a:ext cx="180936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4288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800280" y="3067200"/>
            <a:ext cx="1580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CLASSIFY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2933640" y="2743200"/>
            <a:ext cx="180936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4288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3048120" y="3067200"/>
            <a:ext cx="1580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PROFILE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8" name=""/>
          <p:cNvCxnSpPr>
            <a:stCxn id="334" idx="3"/>
            <a:endCxn id="336" idx="1"/>
          </p:cNvCxnSpPr>
          <p:nvPr/>
        </p:nvCxnSpPr>
        <p:spPr>
          <a:xfrm>
            <a:off x="2495160" y="3267000"/>
            <a:ext cx="43884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339" name=""/>
          <p:cNvSpPr/>
          <p:nvPr/>
        </p:nvSpPr>
        <p:spPr>
          <a:xfrm>
            <a:off x="5181480" y="2743200"/>
            <a:ext cx="1809360" cy="1047240"/>
          </a:xfrm>
          <a:prstGeom prst="roundRect">
            <a:avLst>
              <a:gd name="adj" fmla="val 10909"/>
            </a:avLst>
          </a:prstGeom>
          <a:solidFill>
            <a:srgbClr val="0B2942"/>
          </a:solidFill>
          <a:ln w="14288">
            <a:solidFill>
              <a:srgbClr val="0B2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5295960" y="3067200"/>
            <a:ext cx="1580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PLAN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1" name=""/>
          <p:cNvCxnSpPr>
            <a:stCxn id="336" idx="3"/>
            <a:endCxn id="339" idx="1"/>
          </p:cNvCxnSpPr>
          <p:nvPr/>
        </p:nvCxnSpPr>
        <p:spPr>
          <a:xfrm>
            <a:off x="4743000" y="3267000"/>
            <a:ext cx="43884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342" name=""/>
          <p:cNvSpPr/>
          <p:nvPr/>
        </p:nvSpPr>
        <p:spPr>
          <a:xfrm>
            <a:off x="7429680" y="2743200"/>
            <a:ext cx="180936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4288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7543800" y="3067200"/>
            <a:ext cx="1580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RENDER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4" name=""/>
          <p:cNvCxnSpPr>
            <a:stCxn id="339" idx="3"/>
            <a:endCxn id="342" idx="1"/>
          </p:cNvCxnSpPr>
          <p:nvPr/>
        </p:nvCxnSpPr>
        <p:spPr>
          <a:xfrm>
            <a:off x="6990840" y="3267000"/>
            <a:ext cx="43920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345" name=""/>
          <p:cNvSpPr/>
          <p:nvPr/>
        </p:nvSpPr>
        <p:spPr>
          <a:xfrm>
            <a:off x="9677520" y="2743200"/>
            <a:ext cx="180936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4288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9791640" y="3067200"/>
            <a:ext cx="1580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GRADE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7" name=""/>
          <p:cNvCxnSpPr>
            <a:stCxn id="342" idx="3"/>
            <a:endCxn id="345" idx="1"/>
          </p:cNvCxnSpPr>
          <p:nvPr/>
        </p:nvCxnSpPr>
        <p:spPr>
          <a:xfrm>
            <a:off x="9239040" y="3267000"/>
            <a:ext cx="43884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348" name=""/>
          <p:cNvSpPr/>
          <p:nvPr/>
        </p:nvSpPr>
        <p:spPr>
          <a:xfrm>
            <a:off x="1600200" y="4476600"/>
            <a:ext cx="899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Code fixes the order; models supply judgment inside selected steps.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1905120" y="5105520"/>
            <a:ext cx="8381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Use when the process is known, auditable, and should have predictable latency and cost.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Single-Agent Loops Adapt the Path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18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173F58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← Background · Slide 11, Stops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4476600" y="2095560"/>
            <a:ext cx="3238200" cy="32382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5048280" y="2876400"/>
            <a:ext cx="2095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55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ONE AGENT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4991040" y="3524400"/>
            <a:ext cx="22093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chooses tools, reads results,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and revises its plan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1523880" y="1847880"/>
            <a:ext cx="2095200" cy="875880"/>
          </a:xfrm>
          <a:prstGeom prst="roundRect">
            <a:avLst>
              <a:gd name="adj" fmla="val 130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1695600" y="2095560"/>
            <a:ext cx="1752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SEARCH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1523880" y="4438800"/>
            <a:ext cx="2095200" cy="875880"/>
          </a:xfrm>
          <a:prstGeom prst="roundRect">
            <a:avLst>
              <a:gd name="adj" fmla="val 13043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1695600" y="4686480"/>
            <a:ext cx="1752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8572680" y="1847880"/>
            <a:ext cx="2095200" cy="875880"/>
          </a:xfrm>
          <a:prstGeom prst="roundRect">
            <a:avLst>
              <a:gd name="adj" fmla="val 130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8744040" y="2095560"/>
            <a:ext cx="1752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CODE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8572680" y="4438800"/>
            <a:ext cx="2095200" cy="875880"/>
          </a:xfrm>
          <a:prstGeom prst="roundRect">
            <a:avLst>
              <a:gd name="adj" fmla="val 13043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8744040" y="4686480"/>
            <a:ext cx="1752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1828800" y="5753160"/>
            <a:ext cx="8534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870" b="0" u="none" strike="noStrike">
                <a:solidFill>
                  <a:srgbClr val="F4C95D"/>
                </a:solidFill>
                <a:effectLst/>
                <a:uFillTx/>
                <a:latin typeface="Calibri"/>
                <a:ea typeface="Calibri"/>
              </a:rPr>
              <a:t>Best default for open-ended work when one context and one owner are enough.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Routers Choose Among Bounded Paths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19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 6, 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619280" y="2610000"/>
            <a:ext cx="2095200" cy="1714320"/>
          </a:xfrm>
          <a:prstGeom prst="diamond">
            <a:avLst/>
          </a:prstGeom>
          <a:solidFill>
            <a:srgbClr val="0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2019240" y="3191040"/>
            <a:ext cx="1294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ROUTER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5905440" y="1657440"/>
            <a:ext cx="4000320" cy="952200"/>
          </a:xfrm>
          <a:prstGeom prst="roundRect">
            <a:avLst>
              <a:gd name="adj" fmla="val 12000"/>
            </a:avLst>
          </a:prstGeom>
          <a:solidFill>
            <a:srgbClr val="F2F8FA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6134040" y="1828800"/>
            <a:ext cx="1809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SUMMARIZE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8001000" y="1828800"/>
            <a:ext cx="1580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65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text-only path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9" name=""/>
          <p:cNvCxnSpPr>
            <a:stCxn id="374" idx="3"/>
            <a:endCxn id="376" idx="1"/>
          </p:cNvCxnSpPr>
          <p:nvPr/>
        </p:nvCxnSpPr>
        <p:spPr>
          <a:xfrm flipV="1">
            <a:off x="3714480" y="2133720"/>
            <a:ext cx="2191320" cy="1333800"/>
          </a:xfrm>
          <a:prstGeom prst="bentConnector3">
            <a:avLst>
              <a:gd name="adj1" fmla="val 50000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380" name=""/>
          <p:cNvSpPr/>
          <p:nvPr/>
        </p:nvSpPr>
        <p:spPr>
          <a:xfrm>
            <a:off x="5905440" y="2933640"/>
            <a:ext cx="4000320" cy="952200"/>
          </a:xfrm>
          <a:prstGeom prst="roundRect">
            <a:avLst>
              <a:gd name="adj" fmla="val 12000"/>
            </a:avLst>
          </a:prstGeom>
          <a:solidFill>
            <a:srgbClr val="F2F8FA"/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6134040" y="3105000"/>
            <a:ext cx="1809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VISUALIZE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8001000" y="3105000"/>
            <a:ext cx="1580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65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data + renderer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3" name=""/>
          <p:cNvCxnSpPr>
            <a:stCxn id="374" idx="3"/>
            <a:endCxn id="380" idx="1"/>
          </p:cNvCxnSpPr>
          <p:nvPr/>
        </p:nvCxnSpPr>
        <p:spPr>
          <a:xfrm flipV="1">
            <a:off x="3714480" y="3409920"/>
            <a:ext cx="2191320" cy="57600"/>
          </a:xfrm>
          <a:prstGeom prst="bentConnector3">
            <a:avLst>
              <a:gd name="adj1" fmla="val 50000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384" name=""/>
          <p:cNvSpPr/>
          <p:nvPr/>
        </p:nvSpPr>
        <p:spPr>
          <a:xfrm>
            <a:off x="5905440" y="4210200"/>
            <a:ext cx="4000320" cy="952200"/>
          </a:xfrm>
          <a:prstGeom prst="roundRect">
            <a:avLst>
              <a:gd name="adj" fmla="val 12000"/>
            </a:avLst>
          </a:prstGeom>
          <a:solidFill>
            <a:srgbClr val="F2F8FA"/>
          </a:solidFill>
          <a:ln w="1905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6134040" y="4381560"/>
            <a:ext cx="1809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E76F51"/>
                </a:solidFill>
                <a:effectLst/>
                <a:uFillTx/>
                <a:latin typeface="Courier New"/>
                <a:ea typeface="Courier New"/>
              </a:rPr>
              <a:t>ESCALATE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8001000" y="4381560"/>
            <a:ext cx="1580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65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human review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7" name=""/>
          <p:cNvCxnSpPr>
            <a:stCxn id="374" idx="3"/>
            <a:endCxn id="384" idx="1"/>
          </p:cNvCxnSpPr>
          <p:nvPr/>
        </p:nvCxnSpPr>
        <p:spPr>
          <a:xfrm>
            <a:off x="3714480" y="3467160"/>
            <a:ext cx="2191320" cy="1219680"/>
          </a:xfrm>
          <a:prstGeom prst="bentConnector3">
            <a:avLst>
              <a:gd name="adj1" fmla="val 50000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388" name=""/>
          <p:cNvSpPr/>
          <p:nvPr/>
        </p:nvSpPr>
        <p:spPr>
          <a:xfrm>
            <a:off x="1600200" y="5619600"/>
            <a:ext cx="89913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1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Routing keeps each path’s instructions and tools narrower than one universal agent.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Planner–Executor–Critic Splits the Work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20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 15, Evals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895320" y="2476440"/>
            <a:ext cx="2857320" cy="1999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1181160" y="2800440"/>
            <a:ext cx="2285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PLANNER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1228680" y="3371760"/>
            <a:ext cx="21902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decomposes the goal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into explicit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4476600" y="2476440"/>
            <a:ext cx="2857320" cy="1999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4762440" y="2800440"/>
            <a:ext cx="2285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EXECUTOR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4809960" y="3371760"/>
            <a:ext cx="21902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uses tools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produces artifacts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8058240" y="2476440"/>
            <a:ext cx="2857320" cy="1999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8344080" y="2800440"/>
            <a:ext cx="2285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E76F51"/>
                </a:solidFill>
                <a:effectLst/>
                <a:uFillTx/>
                <a:latin typeface="Courier New"/>
                <a:ea typeface="Courier New"/>
              </a:rPr>
              <a:t>CRITIC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8391600" y="3371760"/>
            <a:ext cx="21902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checks the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against a rubric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4" name=""/>
          <p:cNvCxnSpPr>
            <a:stCxn id="395" idx="3"/>
            <a:endCxn id="398" idx="1"/>
          </p:cNvCxnSpPr>
          <p:nvPr/>
        </p:nvCxnSpPr>
        <p:spPr>
          <a:xfrm>
            <a:off x="3752640" y="3476520"/>
            <a:ext cx="72432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405" name=""/>
          <p:cNvCxnSpPr>
            <a:stCxn id="398" idx="3"/>
            <a:endCxn id="401" idx="1"/>
          </p:cNvCxnSpPr>
          <p:nvPr/>
        </p:nvCxnSpPr>
        <p:spPr>
          <a:xfrm>
            <a:off x="7333920" y="3476520"/>
            <a:ext cx="72468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406" name=""/>
          <p:cNvCxnSpPr>
            <a:stCxn id="401" idx="2"/>
            <a:endCxn id="398" idx="2"/>
          </p:cNvCxnSpPr>
          <p:nvPr/>
        </p:nvCxnSpPr>
        <p:spPr>
          <a:xfrm rot="16200000">
            <a:off x="7696080" y="2685240"/>
            <a:ext cx="360" cy="3582000"/>
          </a:xfrm>
          <a:prstGeom prst="curvedConnector3">
            <a:avLst>
              <a:gd name="adj1" fmla="val 0"/>
            </a:avLst>
          </a:prstGeom>
          <a:ln w="19050">
            <a:solidFill>
              <a:srgbClr val="E76F51"/>
            </a:solidFill>
            <a:prstDash val="dash"/>
            <a:round/>
            <a:tailEnd len="sm" type="triangle" w="sm"/>
          </a:ln>
        </p:spPr>
      </p:cxnSp>
      <p:sp>
        <p:nvSpPr>
          <p:cNvPr id="407" name=""/>
          <p:cNvSpPr/>
          <p:nvPr/>
        </p:nvSpPr>
        <p:spPr>
          <a:xfrm>
            <a:off x="1523880" y="5181480"/>
            <a:ext cx="9143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1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A rubric and a revision cap turn “critique yourself” into a bounded optimization loop.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Managers and Handoffs Assign Control Differently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21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173F58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← Background · Slide 4, Loop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857160" y="1619280"/>
            <a:ext cx="4571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MANAGER · agents as tools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857160" y="2114640"/>
            <a:ext cx="457164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One agent retains the conversation, calls specialists for bounded subtasks, and synthesizes the final answer.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857160" y="3714840"/>
            <a:ext cx="457164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Best when one place must own output format, shared guardrails, and user interaction.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5981760" y="1504800"/>
            <a:ext cx="18720" cy="400032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6667560" y="1619280"/>
            <a:ext cx="4571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HANDOFF · control transfer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6667560" y="2114640"/>
            <a:ext cx="457164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triage agent transfers the active conversation to a specialist whose instructions now govern the turn.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6667560" y="3714840"/>
            <a:ext cx="457164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Best when the specialist should respond directly and carry a focused context.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2095560" y="5467320"/>
            <a:ext cx="8000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Delegation changes ownership—not just who computes a subtask.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Parallel Workers Trade Tokens for Time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22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 10, State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857160" y="2800440"/>
            <a:ext cx="1809360" cy="1047240"/>
          </a:xfrm>
          <a:prstGeom prst="roundRect">
            <a:avLst>
              <a:gd name="adj" fmla="val 10909"/>
            </a:avLst>
          </a:prstGeom>
          <a:solidFill>
            <a:srgbClr val="0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1143000" y="3133800"/>
            <a:ext cx="12380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TASK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4095720" y="1619280"/>
            <a:ext cx="2285640" cy="875880"/>
          </a:xfrm>
          <a:prstGeom prst="roundRect">
            <a:avLst>
              <a:gd name="adj" fmla="val 13043"/>
            </a:avLst>
          </a:prstGeom>
          <a:solidFill>
            <a:srgbClr val="F2F8FA"/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4324320" y="1876320"/>
            <a:ext cx="1828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DATA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2" name=""/>
          <p:cNvCxnSpPr>
            <a:stCxn id="428" idx="3"/>
            <a:endCxn id="430" idx="1"/>
          </p:cNvCxnSpPr>
          <p:nvPr/>
        </p:nvCxnSpPr>
        <p:spPr>
          <a:xfrm flipV="1">
            <a:off x="2666520" y="2057400"/>
            <a:ext cx="1429560" cy="1267200"/>
          </a:xfrm>
          <a:prstGeom prst="bentConnector3">
            <a:avLst>
              <a:gd name="adj1" fmla="val 50025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433" name=""/>
          <p:cNvSpPr/>
          <p:nvPr/>
        </p:nvSpPr>
        <p:spPr>
          <a:xfrm>
            <a:off x="4095720" y="2838600"/>
            <a:ext cx="2285640" cy="875880"/>
          </a:xfrm>
          <a:prstGeom prst="roundRect">
            <a:avLst>
              <a:gd name="adj" fmla="val 13043"/>
            </a:avLst>
          </a:prstGeom>
          <a:solidFill>
            <a:srgbClr val="F2F8FA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4324320" y="3095640"/>
            <a:ext cx="1828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DESIGN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5" name=""/>
          <p:cNvCxnSpPr>
            <a:stCxn id="428" idx="3"/>
            <a:endCxn id="433" idx="1"/>
          </p:cNvCxnSpPr>
          <p:nvPr/>
        </p:nvCxnSpPr>
        <p:spPr>
          <a:xfrm flipV="1">
            <a:off x="2666520" y="3276720"/>
            <a:ext cx="1429560" cy="47880"/>
          </a:xfrm>
          <a:prstGeom prst="bentConnector3">
            <a:avLst>
              <a:gd name="adj1" fmla="val 50025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436" name=""/>
          <p:cNvSpPr/>
          <p:nvPr/>
        </p:nvSpPr>
        <p:spPr>
          <a:xfrm>
            <a:off x="4095720" y="4057560"/>
            <a:ext cx="2285640" cy="875880"/>
          </a:xfrm>
          <a:prstGeom prst="roundRect">
            <a:avLst>
              <a:gd name="adj" fmla="val 13043"/>
            </a:avLst>
          </a:prstGeom>
          <a:solidFill>
            <a:srgbClr val="F2F8FA"/>
          </a:solidFill>
          <a:ln w="1905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4324320" y="4314960"/>
            <a:ext cx="18284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RISK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8" name=""/>
          <p:cNvCxnSpPr>
            <a:stCxn id="428" idx="3"/>
            <a:endCxn id="436" idx="1"/>
          </p:cNvCxnSpPr>
          <p:nvPr/>
        </p:nvCxnSpPr>
        <p:spPr>
          <a:xfrm>
            <a:off x="2666520" y="3324240"/>
            <a:ext cx="1429560" cy="1171800"/>
          </a:xfrm>
          <a:prstGeom prst="bentConnector3">
            <a:avLst>
              <a:gd name="adj1" fmla="val 50025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439" name=""/>
          <p:cNvSpPr/>
          <p:nvPr/>
        </p:nvSpPr>
        <p:spPr>
          <a:xfrm>
            <a:off x="8477280" y="2800440"/>
            <a:ext cx="2666520" cy="1047240"/>
          </a:xfrm>
          <a:prstGeom prst="roundRect">
            <a:avLst>
              <a:gd name="adj" fmla="val 10909"/>
            </a:avLst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8763120" y="3133800"/>
            <a:ext cx="2095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SYNTHESIZE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1" name=""/>
          <p:cNvCxnSpPr>
            <a:stCxn id="430" idx="3"/>
            <a:endCxn id="439" idx="1"/>
          </p:cNvCxnSpPr>
          <p:nvPr/>
        </p:nvCxnSpPr>
        <p:spPr>
          <a:xfrm>
            <a:off x="6381360" y="2057400"/>
            <a:ext cx="2096280" cy="1267200"/>
          </a:xfrm>
          <a:prstGeom prst="bentConnector3">
            <a:avLst>
              <a:gd name="adj1" fmla="val 50017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442" name=""/>
          <p:cNvCxnSpPr>
            <a:stCxn id="433" idx="3"/>
            <a:endCxn id="439" idx="1"/>
          </p:cNvCxnSpPr>
          <p:nvPr/>
        </p:nvCxnSpPr>
        <p:spPr>
          <a:xfrm>
            <a:off x="6381360" y="3276720"/>
            <a:ext cx="2096280" cy="47880"/>
          </a:xfrm>
          <a:prstGeom prst="bentConnector3">
            <a:avLst>
              <a:gd name="adj1" fmla="val 50017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443" name=""/>
          <p:cNvCxnSpPr>
            <a:stCxn id="436" idx="3"/>
            <a:endCxn id="439" idx="1"/>
          </p:cNvCxnSpPr>
          <p:nvPr/>
        </p:nvCxnSpPr>
        <p:spPr>
          <a:xfrm flipV="1">
            <a:off x="6381360" y="3324240"/>
            <a:ext cx="2096280" cy="1171800"/>
          </a:xfrm>
          <a:prstGeom prst="bentConnector3">
            <a:avLst>
              <a:gd name="adj1" fmla="val 50017"/>
            </a:avLst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444" name=""/>
          <p:cNvSpPr/>
          <p:nvPr/>
        </p:nvSpPr>
        <p:spPr>
          <a:xfrm>
            <a:off x="1504800" y="5391000"/>
            <a:ext cx="91818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Parallelize independent work. Serialize work that shares mutable state or depends on prior results.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Durable Harnesses Survive Waiting and Restarts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23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 10, State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1047600" y="3429000"/>
            <a:ext cx="10001160" cy="360"/>
          </a:xfrm>
          <a:prstGeom prst="line">
            <a:avLst/>
          </a:prstGeom>
          <a:ln w="28575">
            <a:solidFill>
              <a:srgbClr val="8FAA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1238400" y="3162240"/>
            <a:ext cx="533160" cy="5331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1343160" y="3267000"/>
            <a:ext cx="323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762120" y="2438280"/>
            <a:ext cx="1485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RUN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714240" y="3886200"/>
            <a:ext cx="15807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agent begins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3429000" y="3162240"/>
            <a:ext cx="533160" cy="5331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3533760" y="3267000"/>
            <a:ext cx="323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2952720" y="2438280"/>
            <a:ext cx="1485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CHECKPOINT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2905200" y="3886200"/>
            <a:ext cx="15807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state persisted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5619600" y="3162240"/>
            <a:ext cx="533160" cy="533160"/>
          </a:xfrm>
          <a:prstGeom prst="ellipse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5724360" y="3267000"/>
            <a:ext cx="323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5143680" y="2438280"/>
            <a:ext cx="1485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E76F51"/>
                </a:solidFill>
                <a:effectLst/>
                <a:uFillTx/>
                <a:latin typeface="Courier New"/>
                <a:ea typeface="Courier New"/>
              </a:rPr>
              <a:t>PAUSE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5095800" y="3886200"/>
            <a:ext cx="15807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approval requested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7810560" y="3162240"/>
            <a:ext cx="533160" cy="53316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7915320" y="3267000"/>
            <a:ext cx="323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7334280" y="2438280"/>
            <a:ext cx="1485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RESUME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7286760" y="3886200"/>
            <a:ext cx="15807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new process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10001160" y="3162240"/>
            <a:ext cx="533160" cy="5331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10105920" y="3267000"/>
            <a:ext cx="323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9524880" y="2438280"/>
            <a:ext cx="1485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COMMIT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9477360" y="3886200"/>
            <a:ext cx="15807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effect recorded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1428840" y="5200560"/>
            <a:ext cx="933408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Durability requires persisted state, idempotent effects, and versioned resumes—not a longer timeout.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Environment Design Changes Agent Performance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24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173F58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← Background · Slide 12, Boundaries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990720" y="1504800"/>
            <a:ext cx="10210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1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A model does not act on a repository or desktop directly. It acts through an interface designed for its strengths and limits.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952560" y="2552760"/>
            <a:ext cx="4095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GENERAL-PURPOSE INTERFACE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1104840" y="3048120"/>
            <a:ext cx="3809520" cy="20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normAutofit/>
          </a:bodyPr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raw shell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unbounded files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long outputs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hidden app state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7124760" y="2552760"/>
            <a:ext cx="4095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AGENT-COMPUTER INTERFACE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7277040" y="3048120"/>
            <a:ext cx="3809520" cy="20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normAutofit/>
          </a:bodyPr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typed edit tools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workspace scope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summarized results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screenshots + DOM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2324160" y="5600880"/>
            <a:ext cx="7543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Better interfaces reduce search, ambiguity, and unsafe affordances.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Multi-Agent Complexity Must Earn Its Cost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25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 15, Evals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1523880" y="1523880"/>
            <a:ext cx="9143640" cy="685440"/>
          </a:xfrm>
          <a:prstGeom prst="roundRect">
            <a:avLst>
              <a:gd name="adj" fmla="val 16667"/>
            </a:avLst>
          </a:prstGeom>
          <a:solidFill>
            <a:srgbClr val="F2F8FA"/>
          </a:solidFill>
          <a:ln w="9525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1695600" y="1685880"/>
            <a:ext cx="361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2095560" y="1685880"/>
            <a:ext cx="2857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ONE CALL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6553080" y="1685880"/>
            <a:ext cx="3748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r">
              <a:lnSpc>
                <a:spcPct val="100000"/>
              </a:lnSpc>
            </a:pPr>
            <a:r>
              <a:rPr lang="en-US" sz="158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structured response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2362320" y="2381400"/>
            <a:ext cx="7467120" cy="685440"/>
          </a:xfrm>
          <a:prstGeom prst="roundRect">
            <a:avLst>
              <a:gd name="adj" fmla="val 16667"/>
            </a:avLst>
          </a:prstGeom>
          <a:solidFill>
            <a:srgbClr val="E9F5F8"/>
          </a:solidFill>
          <a:ln w="9525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2533680" y="2543040"/>
            <a:ext cx="361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2933640" y="2543040"/>
            <a:ext cx="2837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WORKFLOW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6469560" y="2543040"/>
            <a:ext cx="3061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r">
              <a:lnSpc>
                <a:spcPct val="100000"/>
              </a:lnSpc>
            </a:pPr>
            <a:r>
              <a:rPr lang="en-US" sz="158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code controls sequence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3200400" y="3333600"/>
            <a:ext cx="5790960" cy="685440"/>
          </a:xfrm>
          <a:prstGeom prst="roundRect">
            <a:avLst>
              <a:gd name="adj" fmla="val 16667"/>
            </a:avLst>
          </a:prstGeom>
          <a:solidFill>
            <a:srgbClr val="DDF4EF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3371760" y="3495600"/>
            <a:ext cx="361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3772080" y="3495600"/>
            <a:ext cx="2200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ONE AGENT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6385680" y="3495600"/>
            <a:ext cx="2374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r">
              <a:lnSpc>
                <a:spcPct val="100000"/>
              </a:lnSpc>
            </a:pPr>
            <a:r>
              <a:rPr lang="en-US" sz="158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model controls sequence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4038480" y="4286160"/>
            <a:ext cx="4114440" cy="685440"/>
          </a:xfrm>
          <a:prstGeom prst="roundRect">
            <a:avLst>
              <a:gd name="adj" fmla="val 16667"/>
            </a:avLst>
          </a:prstGeom>
          <a:solidFill>
            <a:srgbClr val="E9EAF6"/>
          </a:solidFill>
          <a:ln w="9525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4210200" y="4448160"/>
            <a:ext cx="361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4610160" y="4448160"/>
            <a:ext cx="1563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SPECIALISTS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6301800" y="4448160"/>
            <a:ext cx="1686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158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manager or handoff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4381560" y="5238720"/>
            <a:ext cx="3428640" cy="685440"/>
          </a:xfrm>
          <a:prstGeom prst="roundRect">
            <a:avLst>
              <a:gd name="adj" fmla="val 16667"/>
            </a:avLst>
          </a:prstGeom>
          <a:solidFill>
            <a:srgbClr val="FFF1EA"/>
          </a:solidFill>
          <a:ln w="9525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4552920" y="5400720"/>
            <a:ext cx="361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E76F51"/>
                </a:solidFill>
                <a:effectLst/>
                <a:uFillTx/>
                <a:latin typeface="Courier New"/>
                <a:ea typeface="Courier New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4952880" y="5400720"/>
            <a:ext cx="1333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70000" lnSpcReduction="1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PARALLEL FLEET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6267600" y="5400720"/>
            <a:ext cx="1405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77500" lnSpcReduction="19999"/>
          </a:bodyPr>
          <a:p>
            <a:pPr algn="r">
              <a:lnSpc>
                <a:spcPct val="100000"/>
              </a:lnSpc>
            </a:pPr>
            <a:r>
              <a:rPr lang="en-US" sz="135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coordination + synthesis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1295280" y="6000840"/>
            <a:ext cx="9600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E76F51"/>
                </a:solidFill>
                <a:effectLst/>
                <a:uFillTx/>
                <a:latin typeface="Calibri"/>
                <a:ea typeface="Calibri"/>
              </a:rPr>
              <a:t>Advance only when evals show a measurable gain in quality, latency, isolation, or recoverability.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Frameworks Package Recurring Harness Decisions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26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Slides 4–15, Controls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762120" y="1542960"/>
            <a:ext cx="10667520" cy="856800"/>
          </a:xfrm>
          <a:prstGeom prst="roundRect">
            <a:avLst>
              <a:gd name="adj" fmla="val 13333"/>
            </a:avLst>
          </a:prstGeom>
          <a:solidFill>
            <a:srgbClr val="E9F5F8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990720" y="1714680"/>
            <a:ext cx="2095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DIRECT API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3257640" y="1676520"/>
            <a:ext cx="552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You own loop, dispatch, state, retries, and traces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9048600" y="1676520"/>
            <a:ext cx="209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maximum visibility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762120" y="2600280"/>
            <a:ext cx="10667520" cy="856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990720" y="2771640"/>
            <a:ext cx="2095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SDK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3257640" y="2733840"/>
            <a:ext cx="552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Runner manages turns, tools, sessions, guardrails, handoffs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9048600" y="2733840"/>
            <a:ext cx="209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fewer custom primitives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762120" y="3657600"/>
            <a:ext cx="10667520" cy="856800"/>
          </a:xfrm>
          <a:prstGeom prst="roundRect">
            <a:avLst>
              <a:gd name="adj" fmla="val 13333"/>
            </a:avLst>
          </a:prstGeom>
          <a:solidFill>
            <a:srgbClr val="E9F5F8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990720" y="3828960"/>
            <a:ext cx="2095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GRAPH RUNTIME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3257640" y="3790800"/>
            <a:ext cx="552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Nodes, edges, checkpoints, interrupts, persistence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9048600" y="3790800"/>
            <a:ext cx="209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explicit workflow topology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762120" y="4714920"/>
            <a:ext cx="10667520" cy="856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990720" y="4886280"/>
            <a:ext cx="2095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6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DURABLE ENGINE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3257640" y="4848120"/>
            <a:ext cx="552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Retries, timers, queues, resumable external work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9048600" y="4848120"/>
            <a:ext cx="209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r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long-lived reliability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1714680" y="5905440"/>
            <a:ext cx="8762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0B2942"/>
                </a:solidFill>
                <a:effectLst/>
                <a:uFillTx/>
                <a:latin typeface="Calibri"/>
                <a:ea typeface="Calibri"/>
              </a:rPr>
              <a:t>A framework is a bundle of defaults. Read the defaults before trusting the abstraction.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MCP Standardizes Discovery—not Orchestration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27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173F58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← Background · Slide 9, Tools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876240" y="2571840"/>
            <a:ext cx="2952360" cy="1809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1162080" y="2895480"/>
            <a:ext cx="2381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HOST / HARNESS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1352520" y="3409920"/>
            <a:ext cx="199980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chooses servers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registers tools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runs the loop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4629240" y="2152800"/>
            <a:ext cx="2933280" cy="2647440"/>
          </a:xfrm>
          <a:prstGeom prst="roundRect">
            <a:avLst>
              <a:gd name="adj" fmla="val 4317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5295960" y="2571840"/>
            <a:ext cx="15998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78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MCP</a:t>
            </a:r>
            <a:endParaRPr lang="en-US" sz="2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5048280" y="3276720"/>
            <a:ext cx="209520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version + identity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capability discovery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tools · resources · prompts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8362800" y="2571840"/>
            <a:ext cx="2952360" cy="180936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8877240" y="2895480"/>
            <a:ext cx="1923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SERVER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8839080" y="3409920"/>
            <a:ext cx="199980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publishes schemas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returns results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reports capabilities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50" name=""/>
          <p:cNvCxnSpPr>
            <a:stCxn id="541" idx="3"/>
            <a:endCxn id="544" idx="1"/>
          </p:cNvCxnSpPr>
          <p:nvPr/>
        </p:nvCxnSpPr>
        <p:spPr>
          <a:xfrm>
            <a:off x="3828600" y="3476520"/>
            <a:ext cx="80100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551" name=""/>
          <p:cNvCxnSpPr>
            <a:stCxn id="544" idx="3"/>
            <a:endCxn id="547" idx="1"/>
          </p:cNvCxnSpPr>
          <p:nvPr/>
        </p:nvCxnSpPr>
        <p:spPr>
          <a:xfrm>
            <a:off x="7562520" y="3476520"/>
            <a:ext cx="80064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552" name=""/>
          <p:cNvSpPr/>
          <p:nvPr/>
        </p:nvSpPr>
        <p:spPr>
          <a:xfrm>
            <a:off x="1467000" y="5467320"/>
            <a:ext cx="92581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F4C95D"/>
                </a:solidFill>
                <a:effectLst/>
                <a:uFillTx/>
                <a:latin typeface="Cambria"/>
                <a:ea typeface="Cambria"/>
              </a:rPr>
              <a:t>MCP does not decide the next action, the stop policy, permissions, or success criteria.</a:t>
            </a:r>
            <a:endParaRPr lang="en-US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Skills, RAG, and Memory Serve Different Roles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28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 6, 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609480" y="1581120"/>
            <a:ext cx="3428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SKILL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838080" y="2133720"/>
            <a:ext cx="2971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Reusable workflow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933480" y="2781360"/>
            <a:ext cx="27810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Stable procedures, rubrics, templates, scripts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1371600" y="3828960"/>
            <a:ext cx="1904760" cy="360"/>
          </a:xfrm>
          <a:prstGeom prst="line">
            <a:avLst/>
          </a:prstGeom>
          <a:ln w="19050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933480" y="4114800"/>
            <a:ext cx="27810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Loaded when the task matches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4467240" y="1581120"/>
            <a:ext cx="3428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RAG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4695840" y="2133720"/>
            <a:ext cx="2971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Selective evidence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4791240" y="2781360"/>
            <a:ext cx="27810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Large corpora where only a few passages matter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5229000" y="3828960"/>
            <a:ext cx="1905120" cy="360"/>
          </a:xfrm>
          <a:prstGeom prst="line">
            <a:avLst/>
          </a:prstGeom>
          <a:ln w="19050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4791240" y="4114800"/>
            <a:ext cx="27810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Retrieved per question with provenance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8325000" y="1581120"/>
            <a:ext cx="3428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MEMORY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8553600" y="2133720"/>
            <a:ext cx="2971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Prior state or preference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8648640" y="2781360"/>
            <a:ext cx="27810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6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Facts meant to survive beyond one run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9086760" y="3828960"/>
            <a:ext cx="1904760" cy="360"/>
          </a:xfrm>
          <a:prstGeom prst="line">
            <a:avLst/>
          </a:prstGeom>
          <a:ln w="19050">
            <a:solidFill>
              <a:srgbClr val="CF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8648640" y="4114800"/>
            <a:ext cx="27810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80" b="0" u="none" strike="noStrike">
                <a:solidFill>
                  <a:srgbClr val="5C7080"/>
                </a:solidFill>
                <a:effectLst/>
                <a:uFillTx/>
                <a:latin typeface="Calibri"/>
                <a:ea typeface="Calibri"/>
              </a:rPr>
              <a:t>Scoped by owner, project, and freshness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1085760" y="5543640"/>
            <a:ext cx="100198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E76F51"/>
                </a:solidFill>
                <a:effectLst/>
                <a:uFillTx/>
                <a:latin typeface="Cambria"/>
                <a:ea typeface="Cambria"/>
              </a:rPr>
              <a:t>Use a skill to control the process; use retrieval to supply evidence; use memory only when persistence is intentional.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Untrusted Content Cannot Become Policy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29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DDF4EF"/>
          </a:solidFill>
          <a:ln w="9525">
            <a:solidFill>
              <a:srgbClr val="A6D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← Background · Slides 6 &amp; 12, Context + Boundaries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800280" y="1600200"/>
            <a:ext cx="41907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TRUSTED CONTROL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876240" y="2133720"/>
            <a:ext cx="4000320" cy="21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normAutofit/>
          </a:bodyPr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system and developer policy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tool permissions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approval rules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output and validation contract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5524560" y="1542960"/>
            <a:ext cx="28080" cy="3885840"/>
          </a:xfrm>
          <a:prstGeom prst="rect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6210360" y="1600200"/>
            <a:ext cx="4762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E76F51"/>
                </a:solidFill>
                <a:effectLst/>
                <a:uFillTx/>
                <a:latin typeface="Courier New"/>
                <a:ea typeface="Courier New"/>
              </a:rPr>
              <a:t>UNTRUSTED EVIDENCE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6438960" y="2133720"/>
            <a:ext cx="4190760" cy="21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normAutofit/>
          </a:bodyPr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web pages and emails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retrieved documents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uploaded slides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tool-returned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6343560" y="4648320"/>
            <a:ext cx="43430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E76F51"/>
                </a:solidFill>
                <a:effectLst/>
                <a:uFillTx/>
                <a:latin typeface="Calibri"/>
                <a:ea typeface="Calibri"/>
              </a:rPr>
              <a:t>Treat retrieved text as data—even when it contains imperative language.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1371600" y="5715000"/>
            <a:ext cx="9448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Minimize exposed tools · constrain outputs · sandbox execution · confirm consequential actions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Human Approval Gates Consequential Actions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30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8096400" y="352440"/>
            <a:ext cx="3485880" cy="285480"/>
          </a:xfrm>
          <a:prstGeom prst="roundRect">
            <a:avLst>
              <a:gd name="adj" fmla="val 50000"/>
            </a:avLst>
          </a:prstGeom>
          <a:solidFill>
            <a:srgbClr val="173F58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8229600" y="390600"/>
            <a:ext cx="32191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← Background · Slide 12, Boundaries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876240" y="2724120"/>
            <a:ext cx="2190240" cy="180936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1104840" y="2933640"/>
            <a:ext cx="1733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AUTO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1104840" y="3371760"/>
            <a:ext cx="1733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READ DATA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1162080" y="3943440"/>
            <a:ext cx="1618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reversible · internal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3524400" y="2724120"/>
            <a:ext cx="2190240" cy="1809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3753000" y="2933640"/>
            <a:ext cx="1733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AUTO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3753000" y="3371760"/>
            <a:ext cx="1733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WRITE DRAFT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3809880" y="3943440"/>
            <a:ext cx="1618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scoped · recoverable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6172200" y="2724120"/>
            <a:ext cx="2190240" cy="1809360"/>
          </a:xfrm>
          <a:prstGeom prst="roundRect">
            <a:avLst>
              <a:gd name="adj" fmla="val 6316"/>
            </a:avLst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6400800" y="2933640"/>
            <a:ext cx="1733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PAUSE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6400800" y="3371760"/>
            <a:ext cx="1733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SEND / DELETE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6458040" y="3943440"/>
            <a:ext cx="1618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external or destructive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8820000" y="2724120"/>
            <a:ext cx="2190240" cy="180936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9048600" y="2933640"/>
            <a:ext cx="1733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4C95D"/>
                </a:solidFill>
                <a:effectLst/>
                <a:uFillTx/>
                <a:latin typeface="Courier New"/>
                <a:ea typeface="Courier New"/>
              </a:rPr>
              <a:t>HUMAN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9048600" y="3371760"/>
            <a:ext cx="17330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RESUME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9105840" y="3943440"/>
            <a:ext cx="1618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decision stored in run state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10" name=""/>
          <p:cNvCxnSpPr>
            <a:stCxn id="594" idx="3"/>
            <a:endCxn id="598" idx="1"/>
          </p:cNvCxnSpPr>
          <p:nvPr/>
        </p:nvCxnSpPr>
        <p:spPr>
          <a:xfrm>
            <a:off x="3066480" y="3628800"/>
            <a:ext cx="45828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611" name=""/>
          <p:cNvCxnSpPr>
            <a:stCxn id="598" idx="3"/>
            <a:endCxn id="602" idx="1"/>
          </p:cNvCxnSpPr>
          <p:nvPr/>
        </p:nvCxnSpPr>
        <p:spPr>
          <a:xfrm>
            <a:off x="5714640" y="3628800"/>
            <a:ext cx="45792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612" name=""/>
          <p:cNvCxnSpPr>
            <a:stCxn id="602" idx="3"/>
            <a:endCxn id="606" idx="1"/>
          </p:cNvCxnSpPr>
          <p:nvPr/>
        </p:nvCxnSpPr>
        <p:spPr>
          <a:xfrm>
            <a:off x="8362440" y="3628800"/>
            <a:ext cx="45792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sp>
        <p:nvSpPr>
          <p:cNvPr id="613" name=""/>
          <p:cNvSpPr/>
          <p:nvPr/>
        </p:nvSpPr>
        <p:spPr>
          <a:xfrm>
            <a:off x="1619280" y="5334120"/>
            <a:ext cx="89532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Approval is a runtime state transition—not a sentence that hopes the model asks.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BUILD PREVIEW · DATA VISUALIZATION HARNESS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The Visualization Lab Implements the Complete Loop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5C7080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31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533520" y="2647800"/>
            <a:ext cx="1618920" cy="1352160"/>
          </a:xfrm>
          <a:prstGeom prst="roundRect">
            <a:avLst>
              <a:gd name="adj" fmla="val 8451"/>
            </a:avLst>
          </a:prstGeom>
          <a:solidFill>
            <a:srgbClr val="0B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704880" y="3048120"/>
            <a:ext cx="12758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QUESTION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+ CSV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2590920" y="2647800"/>
            <a:ext cx="1618920" cy="1352160"/>
          </a:xfrm>
          <a:prstGeom prst="roundRect">
            <a:avLst>
              <a:gd name="adj" fmla="val 8451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2762280" y="3048120"/>
            <a:ext cx="12758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PROFILE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DATA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4648320" y="2647800"/>
            <a:ext cx="1618920" cy="1352160"/>
          </a:xfrm>
          <a:prstGeom prst="roundRect">
            <a:avLst>
              <a:gd name="adj" fmla="val 845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4819680" y="3048120"/>
            <a:ext cx="12758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CHART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PLAN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6705720" y="2647800"/>
            <a:ext cx="1618920" cy="1352160"/>
          </a:xfrm>
          <a:prstGeom prst="roundRect">
            <a:avLst>
              <a:gd name="adj" fmla="val 8451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6877080" y="3048120"/>
            <a:ext cx="12758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VALIDATE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+ RENDER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8763120" y="2647800"/>
            <a:ext cx="1618920" cy="1352160"/>
          </a:xfrm>
          <a:prstGeom prst="roundRect">
            <a:avLst>
              <a:gd name="adj" fmla="val 8451"/>
            </a:avLst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8934480" y="3048120"/>
            <a:ext cx="12758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 lnSpcReduction="9999"/>
          </a:bodyPr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GRADE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5000"/>
              </a:lnSpc>
            </a:pPr>
            <a:r>
              <a:rPr lang="en-US" sz="18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+ REVISE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8" name=""/>
          <p:cNvCxnSpPr>
            <a:stCxn id="618" idx="3"/>
            <a:endCxn id="620" idx="1"/>
          </p:cNvCxnSpPr>
          <p:nvPr/>
        </p:nvCxnSpPr>
        <p:spPr>
          <a:xfrm>
            <a:off x="2152440" y="3323880"/>
            <a:ext cx="43884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629" name=""/>
          <p:cNvCxnSpPr>
            <a:stCxn id="620" idx="3"/>
            <a:endCxn id="622" idx="1"/>
          </p:cNvCxnSpPr>
          <p:nvPr/>
        </p:nvCxnSpPr>
        <p:spPr>
          <a:xfrm>
            <a:off x="4209840" y="3323880"/>
            <a:ext cx="43884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630" name=""/>
          <p:cNvCxnSpPr>
            <a:stCxn id="622" idx="3"/>
            <a:endCxn id="624" idx="1"/>
          </p:cNvCxnSpPr>
          <p:nvPr/>
        </p:nvCxnSpPr>
        <p:spPr>
          <a:xfrm>
            <a:off x="6267240" y="3323880"/>
            <a:ext cx="43884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631" name=""/>
          <p:cNvCxnSpPr>
            <a:stCxn id="624" idx="3"/>
            <a:endCxn id="626" idx="1"/>
          </p:cNvCxnSpPr>
          <p:nvPr/>
        </p:nvCxnSpPr>
        <p:spPr>
          <a:xfrm>
            <a:off x="8324640" y="3323880"/>
            <a:ext cx="438840" cy="360"/>
          </a:xfrm>
          <a:prstGeom prst="straightConnector1">
            <a:avLst/>
          </a:prstGeom>
          <a:ln w="19050">
            <a:solidFill>
              <a:srgbClr val="8FAAB8"/>
            </a:solidFill>
            <a:round/>
            <a:tailEnd len="sm" type="triangle" w="sm"/>
          </a:ln>
        </p:spPr>
      </p:cxnSp>
      <p:cxnSp>
        <p:nvCxnSpPr>
          <p:cNvPr id="632" name=""/>
          <p:cNvCxnSpPr>
            <a:stCxn id="626" idx="2"/>
            <a:endCxn id="622" idx="2"/>
          </p:cNvCxnSpPr>
          <p:nvPr/>
        </p:nvCxnSpPr>
        <p:spPr>
          <a:xfrm rot="16200000">
            <a:off x="7515360" y="1942560"/>
            <a:ext cx="360" cy="4115160"/>
          </a:xfrm>
          <a:prstGeom prst="curvedConnector3">
            <a:avLst>
              <a:gd name="adj1" fmla="val 0"/>
            </a:avLst>
          </a:prstGeom>
          <a:ln w="19050">
            <a:solidFill>
              <a:srgbClr val="E76F51"/>
            </a:solidFill>
            <a:prstDash val="dash"/>
            <a:round/>
            <a:tailEnd len="sm" type="triangle" w="sm"/>
          </a:ln>
        </p:spPr>
      </p:cxnSp>
      <p:sp>
        <p:nvSpPr>
          <p:cNvPr id="633" name=""/>
          <p:cNvSpPr/>
          <p:nvPr/>
        </p:nvSpPr>
        <p:spPr>
          <a:xfrm>
            <a:off x="10420200" y="2343240"/>
            <a:ext cx="1580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Artifacts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10420200" y="2781360"/>
            <a:ext cx="158076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20000"/>
              </a:lnSpc>
            </a:pPr>
            <a:r>
              <a:rPr lang="en-US" sz="135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chart.png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lang="en-US" sz="135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spec.json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lang="en-US" sz="135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rationale.md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lang="en-US" sz="1350" b="0" u="none" strike="noStrike">
                <a:solidFill>
                  <a:srgbClr val="1B2733"/>
                </a:solidFill>
                <a:effectLst/>
                <a:uFillTx/>
                <a:latin typeface="Courier New"/>
                <a:ea typeface="Courier New"/>
              </a:rPr>
              <a:t>trace.json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1219320" y="4857840"/>
            <a:ext cx="975312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0B2942"/>
                </a:solidFill>
                <a:effectLst/>
                <a:uFillTx/>
                <a:latin typeface="Cambria"/>
                <a:ea typeface="Cambria"/>
              </a:rPr>
              <a:t>Designed failure: the first plan references a plausible but nonexistent field. The harness returns a structured error and permits one evidence-based revision.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2000160" y="5829480"/>
            <a:ext cx="8191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70000" lnSpcReduction="19999"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E76F51"/>
                </a:solidFill>
                <a:effectLst/>
                <a:uFillTx/>
                <a:latin typeface="Courier New"/>
                <a:ea typeface="Courier New"/>
              </a:rPr>
              <a:t>Extension: add a PPT-derived visualization skill, then rerun the same held-out eval set.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"/>
          <p:cNvSpPr/>
          <p:nvPr/>
        </p:nvSpPr>
        <p:spPr>
          <a:xfrm>
            <a:off x="609480" y="361800"/>
            <a:ext cx="5810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AGENT HARNESS ENGINEERING · SYNTHESIS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609480" y="685800"/>
            <a:ext cx="109724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Conclusion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609480" y="6477120"/>
            <a:ext cx="5333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130" b="0" u="none" strike="noStrike">
                <a:solidFill>
                  <a:srgbClr val="8FAAB8"/>
                </a:solidFill>
                <a:effectLst/>
                <a:uFillTx/>
                <a:latin typeface="Courier New"/>
                <a:ea typeface="Courier New"/>
              </a:rPr>
              <a:t>AGENT HARNESSES · AI SEMINAR, LAB 2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11030040" y="6458040"/>
            <a:ext cx="552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280" b="1" u="none" strike="noStrike">
                <a:solidFill>
                  <a:srgbClr val="CFE8F0"/>
                </a:solidFill>
                <a:effectLst/>
                <a:uFillTx/>
                <a:latin typeface="Courier New"/>
                <a:ea typeface="Courier New"/>
              </a:rPr>
              <a:t>32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857160" y="1619280"/>
            <a:ext cx="7238520" cy="12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92500" lnSpcReduction="9999"/>
          </a:bodyPr>
          <a:p>
            <a:pPr>
              <a:lnSpc>
                <a:spcPct val="94000"/>
              </a:lnSpc>
            </a:pPr>
            <a:r>
              <a:rPr lang="en-US" sz="37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Models supply judgment.</a:t>
            </a:r>
            <a:endParaRPr lang="en-US" sz="3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en-US" sz="37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Harnesses supply reliable agency.</a:t>
            </a:r>
            <a:endParaRPr lang="en-US" sz="3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838080" y="3238560"/>
            <a:ext cx="8096040" cy="23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normAutofit/>
          </a:bodyPr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Build the loop: </a:t>
            </a:r>
            <a:r>
              <a:rPr lang="en-US" sz="187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context → decision → action → observation → stop.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Bound the run: </a:t>
            </a:r>
            <a:r>
              <a:rPr lang="en-US" sz="187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typed tools, least privilege, budgets, approvals, and structured failure.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Make it inspectable: </a:t>
            </a:r>
            <a:r>
              <a:rPr lang="en-US" sz="187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state, traces, artifacts, and evals define what happened and whether it worked.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8000"/>
              </a:lnSpc>
              <a:spcAft>
                <a:spcPts val="14"/>
              </a:spcAft>
              <a:tabLst>
                <a:tab pos="0" algn="l"/>
              </a:tabLst>
            </a:pPr>
            <a:r>
              <a:rPr lang="en-US" sz="1870" b="1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Add complexity last: </a:t>
            </a:r>
            <a:r>
              <a:rPr lang="en-US" sz="1870" b="0" u="none" strike="noStrike">
                <a:solidFill>
                  <a:srgbClr val="CFE8F0"/>
                </a:solidFill>
                <a:effectLst/>
                <a:uFillTx/>
                <a:latin typeface="Calibri"/>
                <a:ea typeface="Calibri"/>
              </a:rPr>
              <a:t>routers, critics, specialists, and durable runtimes must earn their cost.</a:t>
            </a:r>
            <a:endParaRPr lang="en-US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9239400" y="1523880"/>
            <a:ext cx="2381040" cy="419076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9677520" y="1847880"/>
            <a:ext cx="15044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NEXT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9505800" y="2381400"/>
            <a:ext cx="495000" cy="4950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10134720" y="2305080"/>
            <a:ext cx="12571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lnSpcReduction="9999"/>
          </a:bodyPr>
          <a:p>
            <a:pPr>
              <a:lnSpc>
                <a:spcPct val="95000"/>
              </a:lnSpc>
            </a:pPr>
            <a:r>
              <a:rPr lang="en-US" sz="135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PRE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35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quiz.py --mode post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9505800" y="3352680"/>
            <a:ext cx="495000" cy="4950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10134720" y="3276720"/>
            <a:ext cx="12571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>
              <a:lnSpc>
                <a:spcPct val="95000"/>
              </a:lnSpc>
            </a:pPr>
            <a:r>
              <a:rPr lang="en-US" sz="135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BUILD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5000"/>
              </a:lnSpc>
            </a:pPr>
            <a:r>
              <a:rPr lang="en-US" sz="1350" b="1" u="none" strike="noStrike">
                <a:solidFill>
                  <a:srgbClr val="0B2942"/>
                </a:solidFill>
                <a:effectLst/>
                <a:uFillTx/>
                <a:latin typeface="Courier New"/>
                <a:ea typeface="Courier New"/>
              </a:rPr>
              <a:t>viz harness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876240" y="5905440"/>
            <a:ext cx="80960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F4C95D"/>
                </a:solidFill>
                <a:effectLst/>
                <a:uFillTx/>
                <a:latin typeface="Calibri"/>
                <a:ea typeface="Calibri"/>
              </a:rPr>
              <a:t>Discussion: Which requirement in your own agent belongs in instructions—and which belongs in code?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LibreOffice/26.2.0.3$MacOSX_AARCH64 LibreOffice_project/afbbd0df0edb6d40b450b0337ac646b0913a760c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2026-08-11T07:03:58Z</dcterms:created>
  <dc:creator>Walnut Exporter</dc:creator>
  <dc:description/>
  <dc:language>en-US</dc:language>
  <cp:lastModifiedBy/>
  <dcterms:modified xsi:type="dcterms:W3CDTF">2026-08-13T02:00:36Z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