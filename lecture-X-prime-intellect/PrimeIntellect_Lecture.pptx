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docs.primeintellect.ai/guides/rl-training" TargetMode="External"/><Relationship Id="rId4" Type="http://schemas.openxmlformats.org/officeDocument/2006/relationships/hyperlink" Target="https://github.com/PrimeIntellect-ai/verifiers" TargetMode="External"/><Relationship Id="rId6" Type="http://schemas.openxmlformats.org/officeDocument/2006/relationships/hyperlink" Target="https://app.primeintellect.ai/dashboard/environments" TargetMode="External"/><Relationship Id="rId1" Type="http://schemas.openxmlformats.org/officeDocument/2006/relationships/image" Target="../media/image-20-1.png"/><Relationship Id="rId3" Type="http://schemas.openxmlformats.org/officeDocument/2006/relationships/image" Target="../media/image-20-2.png"/><Relationship Id="rId5" Type="http://schemas.openxmlformats.org/officeDocument/2006/relationships/image" Target="../media/image-20-3.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9692640" y="-1280160"/>
            <a:ext cx="4572000" cy="4572000"/>
          </a:xfrm>
          <a:prstGeom prst="ellipse">
            <a:avLst/>
          </a:prstGeom>
          <a:solidFill>
            <a:srgbClr val="21295C">
              <a:alpha val="60000"/>
            </a:srgbClr>
          </a:solidFill>
          <a:ln/>
        </p:spPr>
      </p:sp>
      <p:sp>
        <p:nvSpPr>
          <p:cNvPr id="3" name="Shape 1"/>
          <p:cNvSpPr/>
          <p:nvPr/>
        </p:nvSpPr>
        <p:spPr>
          <a:xfrm>
            <a:off x="11155680" y="4206240"/>
            <a:ext cx="2926080" cy="2926080"/>
          </a:xfrm>
          <a:prstGeom prst="ellipse">
            <a:avLst/>
          </a:prstGeom>
          <a:solidFill>
            <a:srgbClr val="065A82">
              <a:alpha val="45000"/>
            </a:srgbClr>
          </a:solidFill>
          <a:ln/>
        </p:spPr>
      </p:sp>
      <p:sp>
        <p:nvSpPr>
          <p:cNvPr id="4" name="Shape 2"/>
          <p:cNvSpPr/>
          <p:nvPr/>
        </p:nvSpPr>
        <p:spPr>
          <a:xfrm>
            <a:off x="10323576" y="859536"/>
            <a:ext cx="475488" cy="475488"/>
          </a:xfrm>
          <a:prstGeom prst="ellipse">
            <a:avLst/>
          </a:prstGeom>
          <a:solidFill>
            <a:srgbClr val="1C7293"/>
          </a:solidFill>
          <a:ln w="12700">
            <a:solidFill>
              <a:srgbClr val="3F6E8C"/>
            </a:solidFill>
            <a:prstDash val="solid"/>
          </a:ln>
        </p:spPr>
      </p:sp>
      <p:sp>
        <p:nvSpPr>
          <p:cNvPr id="5" name="Shape 3"/>
          <p:cNvSpPr/>
          <p:nvPr/>
        </p:nvSpPr>
        <p:spPr>
          <a:xfrm>
            <a:off x="11075875" y="2162556"/>
            <a:ext cx="475488" cy="475488"/>
          </a:xfrm>
          <a:prstGeom prst="ellipse">
            <a:avLst/>
          </a:prstGeom>
          <a:solidFill>
            <a:srgbClr val="1E4A6E"/>
          </a:solidFill>
          <a:ln w="12700">
            <a:solidFill>
              <a:srgbClr val="3F6E8C"/>
            </a:solidFill>
            <a:prstDash val="solid"/>
          </a:ln>
        </p:spPr>
      </p:sp>
      <p:sp>
        <p:nvSpPr>
          <p:cNvPr id="6" name="Shape 4"/>
          <p:cNvSpPr/>
          <p:nvPr/>
        </p:nvSpPr>
        <p:spPr>
          <a:xfrm>
            <a:off x="9571277" y="2162556"/>
            <a:ext cx="475488" cy="475488"/>
          </a:xfrm>
          <a:prstGeom prst="ellipse">
            <a:avLst/>
          </a:prstGeom>
          <a:solidFill>
            <a:srgbClr val="1E4A6E"/>
          </a:solidFill>
          <a:ln w="12700">
            <a:solidFill>
              <a:srgbClr val="3F6E8C"/>
            </a:solidFill>
            <a:prstDash val="solid"/>
          </a:ln>
        </p:spPr>
      </p:sp>
      <p:sp>
        <p:nvSpPr>
          <p:cNvPr id="7" name="Shape 5"/>
          <p:cNvSpPr/>
          <p:nvPr/>
        </p:nvSpPr>
        <p:spPr>
          <a:xfrm>
            <a:off x="9601200" y="1005840"/>
            <a:ext cx="1920240" cy="1920240"/>
          </a:xfrm>
          <a:prstGeom prst="ellipse">
            <a:avLst/>
          </a:prstGeom>
          <a:ln w="15875">
            <a:solidFill>
              <a:srgbClr val="3F6E8C"/>
            </a:solidFill>
            <a:prstDash val="solid"/>
          </a:ln>
        </p:spPr>
      </p:sp>
      <p:sp>
        <p:nvSpPr>
          <p:cNvPr id="8" name="Text 6"/>
          <p:cNvSpPr/>
          <p:nvPr/>
        </p:nvSpPr>
        <p:spPr>
          <a:xfrm>
            <a:off x="731520" y="1371600"/>
            <a:ext cx="7315200" cy="365760"/>
          </a:xfrm>
          <a:prstGeom prst="rect">
            <a:avLst/>
          </a:prstGeom>
          <a:noFill/>
          <a:ln/>
        </p:spPr>
        <p:txBody>
          <a:bodyPr wrap="square" rtlCol="0" anchor="ctr"/>
          <a:lstStyle/>
          <a:p>
            <a:pPr indent="0" marL="0">
              <a:buNone/>
            </a:pPr>
            <a:r>
              <a:rPr lang="en-US" sz="1400" b="1" spc="300" kern="0" dirty="0">
                <a:solidFill>
                  <a:srgbClr val="7FB8D6"/>
                </a:solidFill>
                <a:latin typeface="Calibri" pitchFamily="34" charset="0"/>
                <a:ea typeface="Calibri" pitchFamily="34" charset="-122"/>
                <a:cs typeface="Calibri" pitchFamily="34" charset="-120"/>
              </a:rPr>
              <a:t>AI TOOLING SEMINAR  ·  LECTURE 4</a:t>
            </a:r>
            <a:endParaRPr lang="en-US" sz="1400" dirty="0"/>
          </a:p>
        </p:txBody>
      </p:sp>
      <p:sp>
        <p:nvSpPr>
          <p:cNvPr id="9" name="Text 7"/>
          <p:cNvSpPr/>
          <p:nvPr/>
        </p:nvSpPr>
        <p:spPr>
          <a:xfrm>
            <a:off x="685800" y="1810512"/>
            <a:ext cx="9144000" cy="109728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Prime Intellect</a:t>
            </a:r>
            <a:endParaRPr lang="en-US" sz="5800" dirty="0"/>
          </a:p>
        </p:txBody>
      </p:sp>
      <p:sp>
        <p:nvSpPr>
          <p:cNvPr id="10" name="Text 8"/>
          <p:cNvSpPr/>
          <p:nvPr/>
        </p:nvSpPr>
        <p:spPr>
          <a:xfrm>
            <a:off x="731520" y="2816352"/>
            <a:ext cx="8595360" cy="640080"/>
          </a:xfrm>
          <a:prstGeom prst="rect">
            <a:avLst/>
          </a:prstGeom>
          <a:noFill/>
          <a:ln/>
        </p:spPr>
        <p:txBody>
          <a:bodyPr wrap="square" rtlCol="0" anchor="ctr"/>
          <a:lstStyle/>
          <a:p>
            <a:pPr indent="0" marL="0">
              <a:buNone/>
            </a:pPr>
            <a:r>
              <a:rPr lang="en-US" sz="1900" dirty="0">
                <a:solidFill>
                  <a:srgbClr val="CFE8F0"/>
                </a:solidFill>
                <a:latin typeface="Calibri" pitchFamily="34" charset="0"/>
                <a:ea typeface="Calibri" pitchFamily="34" charset="-122"/>
                <a:cs typeface="Calibri" pitchFamily="34" charset="-120"/>
              </a:rPr>
              <a:t>RL Environments, Hosted Training, and the Compute Underneath</a:t>
            </a:r>
            <a:endParaRPr lang="en-US" sz="1900" dirty="0"/>
          </a:p>
        </p:txBody>
      </p:sp>
      <p:sp>
        <p:nvSpPr>
          <p:cNvPr id="11" name="Shape 9"/>
          <p:cNvSpPr/>
          <p:nvPr/>
        </p:nvSpPr>
        <p:spPr>
          <a:xfrm>
            <a:off x="731520" y="3584448"/>
            <a:ext cx="2926080" cy="0"/>
          </a:xfrm>
          <a:prstGeom prst="line">
            <a:avLst/>
          </a:prstGeom>
          <a:noFill/>
          <a:ln w="25400">
            <a:solidFill>
              <a:srgbClr val="1C7293"/>
            </a:solidFill>
            <a:prstDash val="solid"/>
          </a:ln>
        </p:spPr>
      </p:sp>
      <p:sp>
        <p:nvSpPr>
          <p:cNvPr id="12" name="Text 10"/>
          <p:cNvSpPr/>
          <p:nvPr/>
        </p:nvSpPr>
        <p:spPr>
          <a:xfrm>
            <a:off x="731520" y="3822192"/>
            <a:ext cx="8138160" cy="1371600"/>
          </a:xfrm>
          <a:prstGeom prst="rect">
            <a:avLst/>
          </a:prstGeom>
          <a:noFill/>
          <a:ln/>
        </p:spPr>
        <p:txBody>
          <a:bodyPr wrap="square" rtlCol="0" anchor="ctr"/>
          <a:lstStyle/>
          <a:p>
            <a:pPr indent="0" marL="0">
              <a:lnSpc>
                <a:spcPct val="125000"/>
              </a:lnSpc>
              <a:buNone/>
            </a:pPr>
            <a:r>
              <a:rPr lang="en-US" sz="1350" b="1" dirty="0">
                <a:solidFill>
                  <a:srgbClr val="BFE0EE"/>
                </a:solidFill>
                <a:latin typeface="Calibri" pitchFamily="34" charset="0"/>
                <a:ea typeface="Calibri" pitchFamily="34" charset="-122"/>
                <a:cs typeface="Calibri" pitchFamily="34" charset="-120"/>
              </a:rPr>
              <a:t>How we'll get there: </a:t>
            </a:r>
            <a:pPr indent="0" marL="0">
              <a:lnSpc>
                <a:spcPct val="125000"/>
              </a:lnSpc>
              <a:buNone/>
            </a:pPr>
            <a:r>
              <a:rPr lang="en-US" sz="1350" dirty="0">
                <a:solidFill>
                  <a:srgbClr val="9FC3D9"/>
                </a:solidFill>
                <a:latin typeface="Calibri" pitchFamily="34" charset="0"/>
                <a:ea typeface="Calibri" pitchFamily="34" charset="-122"/>
                <a:cs typeface="Calibri" pitchFamily="34" charset="-120"/>
              </a:rPr>
              <a:t>first the ideas a platform like this rests on — how reinforcement learning is used after pretraining, where a reward actually comes from, and why rewards are so easy to game. Then the platform itself: the library you write environments in, the loop that trains on them, and the one command-line tool that drives all of it.</a:t>
            </a:r>
            <a:endParaRPr lang="en-US" sz="1350" dirty="0"/>
          </a:p>
        </p:txBody>
      </p:sp>
      <p:sp>
        <p:nvSpPr>
          <p:cNvPr id="13" name="Text 11"/>
          <p:cNvSpPr/>
          <p:nvPr/>
        </p:nvSpPr>
        <p:spPr>
          <a:xfrm>
            <a:off x="731520" y="6035040"/>
            <a:ext cx="9144000" cy="365760"/>
          </a:xfrm>
          <a:prstGeom prst="rect">
            <a:avLst/>
          </a:prstGeom>
          <a:noFill/>
          <a:ln/>
        </p:spPr>
        <p:txBody>
          <a:bodyPr wrap="square" rtlCol="0" anchor="ctr"/>
          <a:lstStyle/>
          <a:p>
            <a:pPr indent="0" marL="0">
              <a:buNone/>
            </a:pPr>
            <a:r>
              <a:rPr lang="en-US" sz="1150" i="1" dirty="0">
                <a:solidFill>
                  <a:srgbClr val="6FA0BE"/>
                </a:solidFill>
                <a:latin typeface="Calibri" pitchFamily="34" charset="0"/>
                <a:ea typeface="Calibri" pitchFamily="34" charset="-122"/>
                <a:cs typeface="Calibri" pitchFamily="34" charset="-120"/>
              </a:rPr>
              <a:t>A shift in the course: the first three lectures opened up models. This one opens up the machinery that trains them.</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PREVIEW</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What We're Building Toward</a:t>
            </a:r>
            <a:endParaRPr lang="en-US" sz="3000" dirty="0"/>
          </a:p>
        </p:txBody>
      </p:sp>
      <p:sp>
        <p:nvSpPr>
          <p:cNvPr id="4" name="Shape 2"/>
          <p:cNvSpPr/>
          <p:nvPr/>
        </p:nvSpPr>
        <p:spPr>
          <a:xfrm>
            <a:off x="548640" y="1417320"/>
            <a:ext cx="7223760" cy="1600200"/>
          </a:xfrm>
          <a:prstGeom prst="roundRect">
            <a:avLst>
              <a:gd name="adj" fmla="val 4571"/>
            </a:avLst>
          </a:prstGeom>
          <a:solidFill>
            <a:srgbClr val="F2F8FA"/>
          </a:solidFill>
          <a:ln/>
          <a:effectLst>
            <a:outerShdw sx="100000" sy="100000" kx="0" ky="0" algn="bl" rotWithShape="0" blurRad="101600" dist="25400" dir="5400000">
              <a:srgbClr val="1B2733">
                <a:alpha val="8000"/>
              </a:srgbClr>
            </a:outerShdw>
          </a:effectLst>
        </p:spPr>
      </p:sp>
      <p:sp>
        <p:nvSpPr>
          <p:cNvPr id="5" name="Text 3"/>
          <p:cNvSpPr/>
          <p:nvPr/>
        </p:nvSpPr>
        <p:spPr>
          <a:xfrm>
            <a:off x="868680" y="1645920"/>
            <a:ext cx="6583680" cy="1188720"/>
          </a:xfrm>
          <a:prstGeom prst="rect">
            <a:avLst/>
          </a:prstGeom>
          <a:noFill/>
          <a:ln/>
        </p:spPr>
        <p:txBody>
          <a:bodyPr wrap="square" rtlCol="0" anchor="ctr"/>
          <a:lstStyle/>
          <a:p>
            <a:pPr indent="0" marL="0">
              <a:lnSpc>
                <a:spcPct val="130000"/>
              </a:lnSpc>
              <a:buNone/>
            </a:pPr>
            <a:r>
              <a:rPr lang="en-US" sz="1350" b="1" dirty="0">
                <a:solidFill>
                  <a:srgbClr val="1B2733"/>
                </a:solidFill>
                <a:latin typeface="Calibri" pitchFamily="34" charset="0"/>
                <a:ea typeface="Calibri" pitchFamily="34" charset="-122"/>
                <a:cs typeface="Calibri" pitchFamily="34" charset="-120"/>
              </a:rPr>
              <a:t>Prime Intellect </a:t>
            </a:r>
            <a:pPr indent="0" marL="0">
              <a:lnSpc>
                <a:spcPct val="130000"/>
              </a:lnSpc>
              <a:buNone/>
            </a:pPr>
            <a:r>
              <a:rPr lang="en-US" sz="1350" dirty="0">
                <a:solidFill>
                  <a:srgbClr val="5C7080"/>
                </a:solidFill>
                <a:latin typeface="Calibri" pitchFamily="34" charset="0"/>
                <a:ea typeface="Calibri" pitchFamily="34" charset="-122"/>
                <a:cs typeface="Calibri" pitchFamily="34" charset="-120"/>
              </a:rPr>
              <a:t>is two things stacked together: a marketplace that rents GPUs, and a managed research platform called </a:t>
            </a:r>
            <a:pPr indent="0" marL="0">
              <a:lnSpc>
                <a:spcPct val="130000"/>
              </a:lnSpc>
              <a:buNone/>
            </a:pPr>
            <a:r>
              <a:rPr lang="en-US" sz="1350" b="1" dirty="0">
                <a:solidFill>
                  <a:srgbClr val="1B2733"/>
                </a:solidFill>
                <a:latin typeface="Calibri" pitchFamily="34" charset="0"/>
                <a:ea typeface="Calibri" pitchFamily="34" charset="-122"/>
                <a:cs typeface="Calibri" pitchFamily="34" charset="-120"/>
              </a:rPr>
              <a:t>Lab </a:t>
            </a:r>
            <a:pPr indent="0" marL="0">
              <a:lnSpc>
                <a:spcPct val="130000"/>
              </a:lnSpc>
              <a:buNone/>
            </a:pPr>
            <a:r>
              <a:rPr lang="en-US" sz="1350" dirty="0">
                <a:solidFill>
                  <a:srgbClr val="5C7080"/>
                </a:solidFill>
                <a:latin typeface="Calibri" pitchFamily="34" charset="0"/>
                <a:ea typeface="Calibri" pitchFamily="34" charset="-122"/>
                <a:cs typeface="Calibri" pitchFamily="34" charset="-120"/>
              </a:rPr>
              <a:t>that runs reinforcement-learning training on top of them. You write a small Python package describing a task and how to score it; the platform handles every GPU, every rollout, and every weight update.</a:t>
            </a:r>
            <a:endParaRPr lang="en-US" sz="1350" dirty="0"/>
          </a:p>
        </p:txBody>
      </p:sp>
      <p:sp>
        <p:nvSpPr>
          <p:cNvPr id="6" name="Shape 4"/>
          <p:cNvSpPr/>
          <p:nvPr/>
        </p:nvSpPr>
        <p:spPr>
          <a:xfrm>
            <a:off x="8046720" y="1417320"/>
            <a:ext cx="3566160" cy="1600200"/>
          </a:xfrm>
          <a:prstGeom prst="roundRect">
            <a:avLst>
              <a:gd name="adj" fmla="val 4571"/>
            </a:avLst>
          </a:prstGeom>
          <a:solidFill>
            <a:srgbClr val="16385A"/>
          </a:solidFill>
          <a:ln/>
          <a:effectLst>
            <a:outerShdw sx="100000" sy="100000" kx="0" ky="0" algn="bl" rotWithShape="0" blurRad="101600" dist="25400" dir="5400000">
              <a:srgbClr val="1B2733">
                <a:alpha val="8000"/>
              </a:srgbClr>
            </a:outerShdw>
          </a:effectLst>
        </p:spPr>
      </p:sp>
      <p:sp>
        <p:nvSpPr>
          <p:cNvPr id="7" name="Shape 5"/>
          <p:cNvSpPr/>
          <p:nvPr/>
        </p:nvSpPr>
        <p:spPr>
          <a:xfrm>
            <a:off x="8275320" y="1664208"/>
            <a:ext cx="960120" cy="502920"/>
          </a:xfrm>
          <a:prstGeom prst="roundRect">
            <a:avLst>
              <a:gd name="adj" fmla="val 10909"/>
            </a:avLst>
          </a:prstGeom>
          <a:solidFill>
            <a:srgbClr val="1C7293"/>
          </a:solidFill>
          <a:ln w="9525">
            <a:solidFill>
              <a:srgbClr val="3F6E8C"/>
            </a:solidFill>
            <a:prstDash val="solid"/>
          </a:ln>
        </p:spPr>
      </p:sp>
      <p:sp>
        <p:nvSpPr>
          <p:cNvPr id="8" name="Text 6"/>
          <p:cNvSpPr/>
          <p:nvPr/>
        </p:nvSpPr>
        <p:spPr>
          <a:xfrm>
            <a:off x="8275320" y="1664208"/>
            <a:ext cx="9601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write</a:t>
            </a:r>
            <a:endParaRPr lang="en-US" sz="1100" dirty="0"/>
          </a:p>
        </p:txBody>
      </p:sp>
      <p:sp>
        <p:nvSpPr>
          <p:cNvPr id="9" name="Text 7"/>
          <p:cNvSpPr/>
          <p:nvPr/>
        </p:nvSpPr>
        <p:spPr>
          <a:xfrm>
            <a:off x="9235440" y="1664208"/>
            <a:ext cx="137160" cy="502920"/>
          </a:xfrm>
          <a:prstGeom prst="rect">
            <a:avLst/>
          </a:prstGeom>
          <a:noFill/>
          <a:ln/>
        </p:spPr>
        <p:txBody>
          <a:bodyPr wrap="square" rtlCol="0" anchor="ctr"/>
          <a:lstStyle/>
          <a:p>
            <a:pPr algn="ctr" indent="0" marL="0">
              <a:buNone/>
            </a:pPr>
            <a:r>
              <a:rPr lang="en-US" sz="1300" dirty="0">
                <a:solidFill>
                  <a:srgbClr val="8FD4E8"/>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9372600" y="1664208"/>
            <a:ext cx="960120" cy="502920"/>
          </a:xfrm>
          <a:prstGeom prst="roundRect">
            <a:avLst>
              <a:gd name="adj" fmla="val 10909"/>
            </a:avLst>
          </a:prstGeom>
          <a:solidFill>
            <a:srgbClr val="065A82"/>
          </a:solidFill>
          <a:ln w="9525">
            <a:solidFill>
              <a:srgbClr val="3F6E8C"/>
            </a:solidFill>
            <a:prstDash val="solid"/>
          </a:ln>
        </p:spPr>
      </p:sp>
      <p:sp>
        <p:nvSpPr>
          <p:cNvPr id="11" name="Text 9"/>
          <p:cNvSpPr/>
          <p:nvPr/>
        </p:nvSpPr>
        <p:spPr>
          <a:xfrm>
            <a:off x="9372600" y="1664208"/>
            <a:ext cx="9601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score</a:t>
            </a:r>
            <a:endParaRPr lang="en-US" sz="1100" dirty="0"/>
          </a:p>
        </p:txBody>
      </p:sp>
      <p:sp>
        <p:nvSpPr>
          <p:cNvPr id="12" name="Text 10"/>
          <p:cNvSpPr/>
          <p:nvPr/>
        </p:nvSpPr>
        <p:spPr>
          <a:xfrm>
            <a:off x="10332720" y="1664208"/>
            <a:ext cx="137160" cy="502920"/>
          </a:xfrm>
          <a:prstGeom prst="rect">
            <a:avLst/>
          </a:prstGeom>
          <a:noFill/>
          <a:ln/>
        </p:spPr>
        <p:txBody>
          <a:bodyPr wrap="square" rtlCol="0" anchor="ctr"/>
          <a:lstStyle/>
          <a:p>
            <a:pPr algn="ctr" indent="0" marL="0">
              <a:buNone/>
            </a:pPr>
            <a:r>
              <a:rPr lang="en-US" sz="1300" dirty="0">
                <a:solidFill>
                  <a:srgbClr val="8FD4E8"/>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10469880" y="1664208"/>
            <a:ext cx="960120" cy="502920"/>
          </a:xfrm>
          <a:prstGeom prst="roundRect">
            <a:avLst>
              <a:gd name="adj" fmla="val 10909"/>
            </a:avLst>
          </a:prstGeom>
          <a:solidFill>
            <a:srgbClr val="21295C"/>
          </a:solidFill>
          <a:ln w="9525">
            <a:solidFill>
              <a:srgbClr val="3F6E8C"/>
            </a:solidFill>
            <a:prstDash val="solid"/>
          </a:ln>
        </p:spPr>
      </p:sp>
      <p:sp>
        <p:nvSpPr>
          <p:cNvPr id="14" name="Text 12"/>
          <p:cNvSpPr/>
          <p:nvPr/>
        </p:nvSpPr>
        <p:spPr>
          <a:xfrm>
            <a:off x="10469880" y="1664208"/>
            <a:ext cx="9601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train</a:t>
            </a:r>
            <a:endParaRPr lang="en-US" sz="1100" dirty="0"/>
          </a:p>
        </p:txBody>
      </p:sp>
      <p:sp>
        <p:nvSpPr>
          <p:cNvPr id="15" name="Text 13"/>
          <p:cNvSpPr/>
          <p:nvPr/>
        </p:nvSpPr>
        <p:spPr>
          <a:xfrm>
            <a:off x="8275320" y="2286000"/>
            <a:ext cx="3108960" cy="640080"/>
          </a:xfrm>
          <a:prstGeom prst="rect">
            <a:avLst/>
          </a:prstGeom>
          <a:noFill/>
          <a:ln/>
        </p:spPr>
        <p:txBody>
          <a:bodyPr wrap="square" rtlCol="0" anchor="ctr"/>
          <a:lstStyle/>
          <a:p>
            <a:pPr indent="0" marL="0">
              <a:lnSpc>
                <a:spcPct val="115000"/>
              </a:lnSpc>
              <a:buNone/>
            </a:pPr>
            <a:r>
              <a:rPr lang="en-US" sz="1050" dirty="0">
                <a:solidFill>
                  <a:srgbClr val="9FC3D9"/>
                </a:solidFill>
                <a:latin typeface="Calibri" pitchFamily="34" charset="0"/>
                <a:ea typeface="Calibri" pitchFamily="34" charset="-122"/>
                <a:cs typeface="Calibri" pitchFamily="34" charset="-120"/>
              </a:rPr>
              <a:t>Everything in this lecture is a variation on this loop — and it runs in a circle, not a line.</a:t>
            </a:r>
            <a:endParaRPr lang="en-US" sz="1050" dirty="0"/>
          </a:p>
        </p:txBody>
      </p:sp>
      <p:sp>
        <p:nvSpPr>
          <p:cNvPr id="16" name="Shape 14"/>
          <p:cNvSpPr/>
          <p:nvPr/>
        </p:nvSpPr>
        <p:spPr>
          <a:xfrm>
            <a:off x="548640" y="3291840"/>
            <a:ext cx="11064240" cy="1051560"/>
          </a:xfrm>
          <a:prstGeom prst="roundRect">
            <a:avLst>
              <a:gd name="adj" fmla="val 6957"/>
            </a:avLst>
          </a:prstGeom>
          <a:solidFill>
            <a:srgbClr val="FFF6E5"/>
          </a:solidFill>
          <a:ln w="12700">
            <a:solidFill>
              <a:srgbClr val="E0C27A"/>
            </a:solidFill>
            <a:prstDash val="solid"/>
          </a:ln>
        </p:spPr>
      </p:sp>
      <p:sp>
        <p:nvSpPr>
          <p:cNvPr id="17" name="Shape 15"/>
          <p:cNvSpPr/>
          <p:nvPr/>
        </p:nvSpPr>
        <p:spPr>
          <a:xfrm>
            <a:off x="822960" y="3502152"/>
            <a:ext cx="594360" cy="594360"/>
          </a:xfrm>
          <a:prstGeom prst="ellipse">
            <a:avLst/>
          </a:prstGeom>
          <a:solidFill>
            <a:srgbClr val="FFFFFF"/>
          </a:solidFill>
          <a:ln/>
        </p:spPr>
      </p:sp>
      <p:pic>
        <p:nvPicPr>
          <p:cNvPr id="18" name="Image 0" descr="/tmp/b/icons/lightbulb_teal.png">    </p:cNvPr>
          <p:cNvPicPr>
            <a:picLocks noChangeAspect="1"/>
          </p:cNvPicPr>
          <p:nvPr/>
        </p:nvPicPr>
        <p:blipFill>
          <a:blip r:embed="rId1"/>
          <a:stretch>
            <a:fillRect/>
          </a:stretch>
        </p:blipFill>
        <p:spPr>
          <a:xfrm>
            <a:off x="977494" y="3656686"/>
            <a:ext cx="285293" cy="285293"/>
          </a:xfrm>
          <a:prstGeom prst="rect">
            <a:avLst/>
          </a:prstGeom>
        </p:spPr>
      </p:pic>
      <p:sp>
        <p:nvSpPr>
          <p:cNvPr id="19" name="Text 16"/>
          <p:cNvSpPr/>
          <p:nvPr/>
        </p:nvSpPr>
        <p:spPr>
          <a:xfrm>
            <a:off x="1600200" y="3456432"/>
            <a:ext cx="9692640" cy="777240"/>
          </a:xfrm>
          <a:prstGeom prst="rect">
            <a:avLst/>
          </a:prstGeom>
          <a:noFill/>
          <a:ln/>
        </p:spPr>
        <p:txBody>
          <a:bodyPr wrap="square" rtlCol="0" anchor="ctr"/>
          <a:lstStyle/>
          <a:p>
            <a:pPr indent="0" marL="0">
              <a:lnSpc>
                <a:spcPct val="125000"/>
              </a:lnSpc>
              <a:buNone/>
            </a:pPr>
            <a:r>
              <a:rPr lang="en-US" sz="1250" b="1" dirty="0">
                <a:solidFill>
                  <a:srgbClr val="7A5A10"/>
                </a:solidFill>
                <a:latin typeface="Calibri" pitchFamily="34" charset="0"/>
                <a:ea typeface="Calibri" pitchFamily="34" charset="-122"/>
                <a:cs typeface="Calibri" pitchFamily="34" charset="-120"/>
              </a:rPr>
              <a:t>The next five slides will not mention Prime Intellect at all. </a:t>
            </a:r>
            <a:pPr indent="0" marL="0">
              <a:lnSpc>
                <a:spcPct val="125000"/>
              </a:lnSpc>
              <a:buNone/>
            </a:pPr>
            <a:r>
              <a:rPr lang="en-US" sz="1250" dirty="0">
                <a:solidFill>
                  <a:srgbClr val="8A6A20"/>
                </a:solidFill>
                <a:latin typeface="Calibri" pitchFamily="34" charset="0"/>
                <a:ea typeface="Calibri" pitchFamily="34" charset="-122"/>
                <a:cs typeface="Calibri" pitchFamily="34" charset="-120"/>
              </a:rPr>
              <a:t>They build up the ideas the platform assumes you already have. We'll come back to the paragraph above once they're in place, and it should read very differently the second time.</a:t>
            </a:r>
            <a:endParaRPr lang="en-US" sz="1250" dirty="0"/>
          </a:p>
        </p:txBody>
      </p:sp>
      <p:sp>
        <p:nvSpPr>
          <p:cNvPr id="20" name="Text 17"/>
          <p:cNvSpPr/>
          <p:nvPr/>
        </p:nvSpPr>
        <p:spPr>
          <a:xfrm>
            <a:off x="548640" y="4572000"/>
            <a:ext cx="5486400" cy="320040"/>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Five ideas, in order:</a:t>
            </a:r>
            <a:endParaRPr lang="en-US" sz="1400" dirty="0"/>
          </a:p>
        </p:txBody>
      </p:sp>
      <p:sp>
        <p:nvSpPr>
          <p:cNvPr id="21" name="Shape 18"/>
          <p:cNvSpPr/>
          <p:nvPr/>
        </p:nvSpPr>
        <p:spPr>
          <a:xfrm>
            <a:off x="548640" y="4983480"/>
            <a:ext cx="2148840" cy="1234440"/>
          </a:xfrm>
          <a:prstGeom prst="roundRect">
            <a:avLst>
              <a:gd name="adj" fmla="val 5926"/>
            </a:avLst>
          </a:prstGeom>
          <a:solidFill>
            <a:srgbClr val="F2F8FA"/>
          </a:solidFill>
          <a:ln/>
          <a:effectLst>
            <a:outerShdw sx="100000" sy="100000" kx="0" ky="0" algn="bl" rotWithShape="0" blurRad="101600" dist="25400" dir="5400000">
              <a:srgbClr val="1B2733">
                <a:alpha val="8000"/>
              </a:srgbClr>
            </a:outerShdw>
          </a:effectLst>
        </p:spPr>
      </p:sp>
      <p:sp>
        <p:nvSpPr>
          <p:cNvPr id="22" name="Shape 19"/>
          <p:cNvSpPr/>
          <p:nvPr/>
        </p:nvSpPr>
        <p:spPr>
          <a:xfrm>
            <a:off x="1385316" y="5138928"/>
            <a:ext cx="475488" cy="475488"/>
          </a:xfrm>
          <a:prstGeom prst="ellipse">
            <a:avLst/>
          </a:prstGeom>
          <a:solidFill>
            <a:srgbClr val="065A82"/>
          </a:solidFill>
          <a:ln/>
        </p:spPr>
      </p:sp>
      <p:pic>
        <p:nvPicPr>
          <p:cNvPr id="23" name="Image 1" descr="/tmp/b/icons/arrows_rotate_white.png">    </p:cNvPr>
          <p:cNvPicPr>
            <a:picLocks noChangeAspect="1"/>
          </p:cNvPicPr>
          <p:nvPr/>
        </p:nvPicPr>
        <p:blipFill>
          <a:blip r:embed="rId2"/>
          <a:stretch>
            <a:fillRect/>
          </a:stretch>
        </p:blipFill>
        <p:spPr>
          <a:xfrm>
            <a:off x="1508943" y="5262555"/>
            <a:ext cx="228234" cy="228234"/>
          </a:xfrm>
          <a:prstGeom prst="rect">
            <a:avLst/>
          </a:prstGeom>
        </p:spPr>
      </p:pic>
      <p:sp>
        <p:nvSpPr>
          <p:cNvPr id="24" name="Text 20"/>
          <p:cNvSpPr/>
          <p:nvPr/>
        </p:nvSpPr>
        <p:spPr>
          <a:xfrm>
            <a:off x="658368" y="5650992"/>
            <a:ext cx="1929384" cy="274320"/>
          </a:xfrm>
          <a:prstGeom prst="rect">
            <a:avLst/>
          </a:prstGeom>
          <a:noFill/>
          <a:ln/>
        </p:spPr>
        <p:txBody>
          <a:bodyPr wrap="square" rtlCol="0" anchor="ctr"/>
          <a:lstStyle/>
          <a:p>
            <a:pPr algn="ctr" indent="0" marL="0">
              <a:buNone/>
            </a:pPr>
            <a:r>
              <a:rPr lang="en-US" sz="1050" b="1" dirty="0">
                <a:solidFill>
                  <a:srgbClr val="1B2733"/>
                </a:solidFill>
                <a:latin typeface="Calibri" pitchFamily="34" charset="0"/>
                <a:ea typeface="Calibri" pitchFamily="34" charset="-122"/>
                <a:cs typeface="Calibri" pitchFamily="34" charset="-120"/>
              </a:rPr>
              <a:t>Learning from outcomes</a:t>
            </a:r>
            <a:endParaRPr lang="en-US" sz="1050" dirty="0"/>
          </a:p>
        </p:txBody>
      </p:sp>
      <p:sp>
        <p:nvSpPr>
          <p:cNvPr id="25" name="Text 21"/>
          <p:cNvSpPr/>
          <p:nvPr/>
        </p:nvSpPr>
        <p:spPr>
          <a:xfrm>
            <a:off x="658368" y="5888736"/>
            <a:ext cx="1929384" cy="301752"/>
          </a:xfrm>
          <a:prstGeom prst="rect">
            <a:avLst/>
          </a:prstGeom>
          <a:noFill/>
          <a:ln/>
        </p:spPr>
        <p:txBody>
          <a:bodyPr wrap="square" rtlCol="0" anchor="ctr"/>
          <a:lstStyle/>
          <a:p>
            <a:pPr algn="ctr" indent="0" marL="0">
              <a:lnSpc>
                <a:spcPct val="105000"/>
              </a:lnSpc>
              <a:buNone/>
            </a:pPr>
            <a:r>
              <a:rPr lang="en-US" sz="900" dirty="0">
                <a:solidFill>
                  <a:srgbClr val="5C7080"/>
                </a:solidFill>
                <a:latin typeface="Calibri" pitchFamily="34" charset="0"/>
                <a:ea typeface="Calibri" pitchFamily="34" charset="-122"/>
                <a:cs typeface="Calibri" pitchFamily="34" charset="-120"/>
              </a:rPr>
              <a:t>why a model can improve without labelled answers</a:t>
            </a:r>
            <a:endParaRPr lang="en-US" sz="900" dirty="0"/>
          </a:p>
        </p:txBody>
      </p:sp>
      <p:sp>
        <p:nvSpPr>
          <p:cNvPr id="26" name="Shape 22"/>
          <p:cNvSpPr/>
          <p:nvPr/>
        </p:nvSpPr>
        <p:spPr>
          <a:xfrm>
            <a:off x="2798064" y="4983480"/>
            <a:ext cx="2148840" cy="1234440"/>
          </a:xfrm>
          <a:prstGeom prst="roundRect">
            <a:avLst>
              <a:gd name="adj" fmla="val 5926"/>
            </a:avLst>
          </a:prstGeom>
          <a:solidFill>
            <a:srgbClr val="F2F8FA"/>
          </a:solidFill>
          <a:ln/>
          <a:effectLst>
            <a:outerShdw sx="100000" sy="100000" kx="0" ky="0" algn="bl" rotWithShape="0" blurRad="101600" dist="25400" dir="5400000">
              <a:srgbClr val="1B2733">
                <a:alpha val="8000"/>
              </a:srgbClr>
            </a:outerShdw>
          </a:effectLst>
        </p:spPr>
      </p:sp>
      <p:sp>
        <p:nvSpPr>
          <p:cNvPr id="27" name="Shape 23"/>
          <p:cNvSpPr/>
          <p:nvPr/>
        </p:nvSpPr>
        <p:spPr>
          <a:xfrm>
            <a:off x="3634740" y="5138928"/>
            <a:ext cx="475488" cy="475488"/>
          </a:xfrm>
          <a:prstGeom prst="ellipse">
            <a:avLst/>
          </a:prstGeom>
          <a:solidFill>
            <a:srgbClr val="1C7293"/>
          </a:solidFill>
          <a:ln/>
        </p:spPr>
      </p:sp>
      <p:pic>
        <p:nvPicPr>
          <p:cNvPr id="28" name="Image 2" descr="/tmp/b/icons/list_check_white.png">    </p:cNvPr>
          <p:cNvPicPr>
            <a:picLocks noChangeAspect="1"/>
          </p:cNvPicPr>
          <p:nvPr/>
        </p:nvPicPr>
        <p:blipFill>
          <a:blip r:embed="rId3"/>
          <a:stretch>
            <a:fillRect/>
          </a:stretch>
        </p:blipFill>
        <p:spPr>
          <a:xfrm>
            <a:off x="3758367" y="5262555"/>
            <a:ext cx="228234" cy="228234"/>
          </a:xfrm>
          <a:prstGeom prst="rect">
            <a:avLst/>
          </a:prstGeom>
        </p:spPr>
      </p:pic>
      <p:sp>
        <p:nvSpPr>
          <p:cNvPr id="29" name="Text 24"/>
          <p:cNvSpPr/>
          <p:nvPr/>
        </p:nvSpPr>
        <p:spPr>
          <a:xfrm>
            <a:off x="2907792" y="5650992"/>
            <a:ext cx="1929384" cy="274320"/>
          </a:xfrm>
          <a:prstGeom prst="rect">
            <a:avLst/>
          </a:prstGeom>
          <a:noFill/>
          <a:ln/>
        </p:spPr>
        <p:txBody>
          <a:bodyPr wrap="square" rtlCol="0" anchor="ctr"/>
          <a:lstStyle/>
          <a:p>
            <a:pPr algn="ctr" indent="0" marL="0">
              <a:buNone/>
            </a:pPr>
            <a:r>
              <a:rPr lang="en-US" sz="1050" b="1" dirty="0">
                <a:solidFill>
                  <a:srgbClr val="1B2733"/>
                </a:solidFill>
                <a:latin typeface="Calibri" pitchFamily="34" charset="0"/>
                <a:ea typeface="Calibri" pitchFamily="34" charset="-122"/>
                <a:cs typeface="Calibri" pitchFamily="34" charset="-120"/>
              </a:rPr>
              <a:t>Where reward comes from</a:t>
            </a:r>
            <a:endParaRPr lang="en-US" sz="1050" dirty="0"/>
          </a:p>
        </p:txBody>
      </p:sp>
      <p:sp>
        <p:nvSpPr>
          <p:cNvPr id="30" name="Text 25"/>
          <p:cNvSpPr/>
          <p:nvPr/>
        </p:nvSpPr>
        <p:spPr>
          <a:xfrm>
            <a:off x="2907792" y="5888736"/>
            <a:ext cx="1929384" cy="301752"/>
          </a:xfrm>
          <a:prstGeom prst="rect">
            <a:avLst/>
          </a:prstGeom>
          <a:noFill/>
          <a:ln/>
        </p:spPr>
        <p:txBody>
          <a:bodyPr wrap="square" rtlCol="0" anchor="ctr"/>
          <a:lstStyle/>
          <a:p>
            <a:pPr algn="ctr" indent="0" marL="0">
              <a:lnSpc>
                <a:spcPct val="105000"/>
              </a:lnSpc>
              <a:buNone/>
            </a:pPr>
            <a:r>
              <a:rPr lang="en-US" sz="900" dirty="0">
                <a:solidFill>
                  <a:srgbClr val="5C7080"/>
                </a:solidFill>
                <a:latin typeface="Calibri" pitchFamily="34" charset="0"/>
                <a:ea typeface="Calibri" pitchFamily="34" charset="-122"/>
                <a:cs typeface="Calibri" pitchFamily="34" charset="-120"/>
              </a:rPr>
              <a:t>the three ways a machine scores an attempt</a:t>
            </a:r>
            <a:endParaRPr lang="en-US" sz="900" dirty="0"/>
          </a:p>
        </p:txBody>
      </p:sp>
      <p:sp>
        <p:nvSpPr>
          <p:cNvPr id="31" name="Shape 26"/>
          <p:cNvSpPr/>
          <p:nvPr/>
        </p:nvSpPr>
        <p:spPr>
          <a:xfrm>
            <a:off x="5047488" y="4983480"/>
            <a:ext cx="2148840" cy="1234440"/>
          </a:xfrm>
          <a:prstGeom prst="roundRect">
            <a:avLst>
              <a:gd name="adj" fmla="val 5926"/>
            </a:avLst>
          </a:prstGeom>
          <a:solidFill>
            <a:srgbClr val="F2F8FA"/>
          </a:solidFill>
          <a:ln/>
          <a:effectLst>
            <a:outerShdw sx="100000" sy="100000" kx="0" ky="0" algn="bl" rotWithShape="0" blurRad="101600" dist="25400" dir="5400000">
              <a:srgbClr val="1B2733">
                <a:alpha val="8000"/>
              </a:srgbClr>
            </a:outerShdw>
          </a:effectLst>
        </p:spPr>
      </p:sp>
      <p:sp>
        <p:nvSpPr>
          <p:cNvPr id="32" name="Shape 27"/>
          <p:cNvSpPr/>
          <p:nvPr/>
        </p:nvSpPr>
        <p:spPr>
          <a:xfrm>
            <a:off x="5884164" y="5138928"/>
            <a:ext cx="475488" cy="475488"/>
          </a:xfrm>
          <a:prstGeom prst="ellipse">
            <a:avLst/>
          </a:prstGeom>
          <a:solidFill>
            <a:srgbClr val="065A82"/>
          </a:solidFill>
          <a:ln/>
        </p:spPr>
      </p:sp>
      <p:pic>
        <p:nvPicPr>
          <p:cNvPr id="33" name="Image 3" descr="/tmp/b/icons/bug_white.png">    </p:cNvPr>
          <p:cNvPicPr>
            <a:picLocks noChangeAspect="1"/>
          </p:cNvPicPr>
          <p:nvPr/>
        </p:nvPicPr>
        <p:blipFill>
          <a:blip r:embed="rId4"/>
          <a:stretch>
            <a:fillRect/>
          </a:stretch>
        </p:blipFill>
        <p:spPr>
          <a:xfrm>
            <a:off x="6007791" y="5262555"/>
            <a:ext cx="228234" cy="228234"/>
          </a:xfrm>
          <a:prstGeom prst="rect">
            <a:avLst/>
          </a:prstGeom>
        </p:spPr>
      </p:pic>
      <p:sp>
        <p:nvSpPr>
          <p:cNvPr id="34" name="Text 28"/>
          <p:cNvSpPr/>
          <p:nvPr/>
        </p:nvSpPr>
        <p:spPr>
          <a:xfrm>
            <a:off x="5157216" y="5650992"/>
            <a:ext cx="1929384" cy="274320"/>
          </a:xfrm>
          <a:prstGeom prst="rect">
            <a:avLst/>
          </a:prstGeom>
          <a:noFill/>
          <a:ln/>
        </p:spPr>
        <p:txBody>
          <a:bodyPr wrap="square" rtlCol="0" anchor="ctr"/>
          <a:lstStyle/>
          <a:p>
            <a:pPr algn="ctr" indent="0" marL="0">
              <a:buNone/>
            </a:pPr>
            <a:r>
              <a:rPr lang="en-US" sz="1050" b="1" dirty="0">
                <a:solidFill>
                  <a:srgbClr val="1B2733"/>
                </a:solidFill>
                <a:latin typeface="Calibri" pitchFamily="34" charset="0"/>
                <a:ea typeface="Calibri" pitchFamily="34" charset="-122"/>
                <a:cs typeface="Calibri" pitchFamily="34" charset="-120"/>
              </a:rPr>
              <a:t>Gaming the reward</a:t>
            </a:r>
            <a:endParaRPr lang="en-US" sz="1050" dirty="0"/>
          </a:p>
        </p:txBody>
      </p:sp>
      <p:sp>
        <p:nvSpPr>
          <p:cNvPr id="35" name="Text 29"/>
          <p:cNvSpPr/>
          <p:nvPr/>
        </p:nvSpPr>
        <p:spPr>
          <a:xfrm>
            <a:off x="5157216" y="5888736"/>
            <a:ext cx="1929384" cy="301752"/>
          </a:xfrm>
          <a:prstGeom prst="rect">
            <a:avLst/>
          </a:prstGeom>
          <a:noFill/>
          <a:ln/>
        </p:spPr>
        <p:txBody>
          <a:bodyPr wrap="square" rtlCol="0" anchor="ctr"/>
          <a:lstStyle/>
          <a:p>
            <a:pPr algn="ctr" indent="0" marL="0">
              <a:lnSpc>
                <a:spcPct val="105000"/>
              </a:lnSpc>
              <a:buNone/>
            </a:pPr>
            <a:r>
              <a:rPr lang="en-US" sz="900" dirty="0">
                <a:solidFill>
                  <a:srgbClr val="5C7080"/>
                </a:solidFill>
                <a:latin typeface="Calibri" pitchFamily="34" charset="0"/>
                <a:ea typeface="Calibri" pitchFamily="34" charset="-122"/>
                <a:cs typeface="Calibri" pitchFamily="34" charset="-120"/>
              </a:rPr>
              <a:t>why scoring is the hard part, not the training</a:t>
            </a:r>
            <a:endParaRPr lang="en-US" sz="900" dirty="0"/>
          </a:p>
        </p:txBody>
      </p:sp>
      <p:sp>
        <p:nvSpPr>
          <p:cNvPr id="36" name="Shape 30"/>
          <p:cNvSpPr/>
          <p:nvPr/>
        </p:nvSpPr>
        <p:spPr>
          <a:xfrm>
            <a:off x="7296912" y="4983480"/>
            <a:ext cx="2148840" cy="1234440"/>
          </a:xfrm>
          <a:prstGeom prst="roundRect">
            <a:avLst>
              <a:gd name="adj" fmla="val 5926"/>
            </a:avLst>
          </a:prstGeom>
          <a:solidFill>
            <a:srgbClr val="F2F8FA"/>
          </a:solidFill>
          <a:ln/>
          <a:effectLst>
            <a:outerShdw sx="100000" sy="100000" kx="0" ky="0" algn="bl" rotWithShape="0" blurRad="101600" dist="25400" dir="5400000">
              <a:srgbClr val="1B2733">
                <a:alpha val="8000"/>
              </a:srgbClr>
            </a:outerShdw>
          </a:effectLst>
        </p:spPr>
      </p:sp>
      <p:sp>
        <p:nvSpPr>
          <p:cNvPr id="37" name="Shape 31"/>
          <p:cNvSpPr/>
          <p:nvPr/>
        </p:nvSpPr>
        <p:spPr>
          <a:xfrm>
            <a:off x="8133588" y="5138928"/>
            <a:ext cx="475488" cy="475488"/>
          </a:xfrm>
          <a:prstGeom prst="ellipse">
            <a:avLst/>
          </a:prstGeom>
          <a:solidFill>
            <a:srgbClr val="1C7293"/>
          </a:solidFill>
          <a:ln/>
        </p:spPr>
      </p:sp>
      <p:pic>
        <p:nvPicPr>
          <p:cNvPr id="38" name="Image 4" descr="/tmp/b/icons/layer_group_white.png">    </p:cNvPr>
          <p:cNvPicPr>
            <a:picLocks noChangeAspect="1"/>
          </p:cNvPicPr>
          <p:nvPr/>
        </p:nvPicPr>
        <p:blipFill>
          <a:blip r:embed="rId5"/>
          <a:stretch>
            <a:fillRect/>
          </a:stretch>
        </p:blipFill>
        <p:spPr>
          <a:xfrm>
            <a:off x="8257215" y="5262555"/>
            <a:ext cx="228234" cy="228234"/>
          </a:xfrm>
          <a:prstGeom prst="rect">
            <a:avLst/>
          </a:prstGeom>
        </p:spPr>
      </p:pic>
      <p:sp>
        <p:nvSpPr>
          <p:cNvPr id="39" name="Text 32"/>
          <p:cNvSpPr/>
          <p:nvPr/>
        </p:nvSpPr>
        <p:spPr>
          <a:xfrm>
            <a:off x="7406640" y="5650992"/>
            <a:ext cx="1929384" cy="274320"/>
          </a:xfrm>
          <a:prstGeom prst="rect">
            <a:avLst/>
          </a:prstGeom>
          <a:noFill/>
          <a:ln/>
        </p:spPr>
        <p:txBody>
          <a:bodyPr wrap="square" rtlCol="0" anchor="ctr"/>
          <a:lstStyle/>
          <a:p>
            <a:pPr algn="ctr" indent="0" marL="0">
              <a:buNone/>
            </a:pPr>
            <a:r>
              <a:rPr lang="en-US" sz="1050" b="1" dirty="0">
                <a:solidFill>
                  <a:srgbClr val="1B2733"/>
                </a:solidFill>
                <a:latin typeface="Calibri" pitchFamily="34" charset="0"/>
                <a:ea typeface="Calibri" pitchFamily="34" charset="-122"/>
                <a:cs typeface="Calibri" pitchFamily="34" charset="-120"/>
              </a:rPr>
              <a:t>Cheap adaptation</a:t>
            </a:r>
            <a:endParaRPr lang="en-US" sz="1050" dirty="0"/>
          </a:p>
        </p:txBody>
      </p:sp>
      <p:sp>
        <p:nvSpPr>
          <p:cNvPr id="40" name="Text 33"/>
          <p:cNvSpPr/>
          <p:nvPr/>
        </p:nvSpPr>
        <p:spPr>
          <a:xfrm>
            <a:off x="7406640" y="5888736"/>
            <a:ext cx="1929384" cy="301752"/>
          </a:xfrm>
          <a:prstGeom prst="rect">
            <a:avLst/>
          </a:prstGeom>
          <a:noFill/>
          <a:ln/>
        </p:spPr>
        <p:txBody>
          <a:bodyPr wrap="square" rtlCol="0" anchor="ctr"/>
          <a:lstStyle/>
          <a:p>
            <a:pPr algn="ctr" indent="0" marL="0">
              <a:lnSpc>
                <a:spcPct val="105000"/>
              </a:lnSpc>
              <a:buNone/>
            </a:pPr>
            <a:r>
              <a:rPr lang="en-US" sz="900" dirty="0">
                <a:solidFill>
                  <a:srgbClr val="5C7080"/>
                </a:solidFill>
                <a:latin typeface="Calibri" pitchFamily="34" charset="0"/>
                <a:ea typeface="Calibri" pitchFamily="34" charset="-122"/>
                <a:cs typeface="Calibri" pitchFamily="34" charset="-120"/>
              </a:rPr>
              <a:t>changing behaviour without changing every weight</a:t>
            </a:r>
            <a:endParaRPr lang="en-US" sz="900" dirty="0"/>
          </a:p>
        </p:txBody>
      </p:sp>
      <p:sp>
        <p:nvSpPr>
          <p:cNvPr id="41" name="Shape 34"/>
          <p:cNvSpPr/>
          <p:nvPr/>
        </p:nvSpPr>
        <p:spPr>
          <a:xfrm>
            <a:off x="9546336" y="4983480"/>
            <a:ext cx="2148840" cy="1234440"/>
          </a:xfrm>
          <a:prstGeom prst="roundRect">
            <a:avLst>
              <a:gd name="adj" fmla="val 5926"/>
            </a:avLst>
          </a:prstGeom>
          <a:solidFill>
            <a:srgbClr val="F2F8FA"/>
          </a:solidFill>
          <a:ln/>
          <a:effectLst>
            <a:outerShdw sx="100000" sy="100000" kx="0" ky="0" algn="bl" rotWithShape="0" blurRad="101600" dist="25400" dir="5400000">
              <a:srgbClr val="1B2733">
                <a:alpha val="8000"/>
              </a:srgbClr>
            </a:outerShdw>
          </a:effectLst>
        </p:spPr>
      </p:sp>
      <p:sp>
        <p:nvSpPr>
          <p:cNvPr id="42" name="Shape 35"/>
          <p:cNvSpPr/>
          <p:nvPr/>
        </p:nvSpPr>
        <p:spPr>
          <a:xfrm>
            <a:off x="10383012" y="5138928"/>
            <a:ext cx="475488" cy="475488"/>
          </a:xfrm>
          <a:prstGeom prst="ellipse">
            <a:avLst/>
          </a:prstGeom>
          <a:solidFill>
            <a:srgbClr val="065A82"/>
          </a:solidFill>
          <a:ln/>
        </p:spPr>
      </p:sp>
      <p:pic>
        <p:nvPicPr>
          <p:cNvPr id="43" name="Image 5" descr="/tmp/b/icons/scale_balanced_white.png">    </p:cNvPr>
          <p:cNvPicPr>
            <a:picLocks noChangeAspect="1"/>
          </p:cNvPicPr>
          <p:nvPr/>
        </p:nvPicPr>
        <p:blipFill>
          <a:blip r:embed="rId6"/>
          <a:stretch>
            <a:fillRect/>
          </a:stretch>
        </p:blipFill>
        <p:spPr>
          <a:xfrm>
            <a:off x="10506639" y="5262555"/>
            <a:ext cx="228234" cy="228234"/>
          </a:xfrm>
          <a:prstGeom prst="rect">
            <a:avLst/>
          </a:prstGeom>
        </p:spPr>
      </p:pic>
      <p:sp>
        <p:nvSpPr>
          <p:cNvPr id="44" name="Text 36"/>
          <p:cNvSpPr/>
          <p:nvPr/>
        </p:nvSpPr>
        <p:spPr>
          <a:xfrm>
            <a:off x="9656064" y="5650992"/>
            <a:ext cx="1929384" cy="274320"/>
          </a:xfrm>
          <a:prstGeom prst="rect">
            <a:avLst/>
          </a:prstGeom>
          <a:noFill/>
          <a:ln/>
        </p:spPr>
        <p:txBody>
          <a:bodyPr wrap="square" rtlCol="0" anchor="ctr"/>
          <a:lstStyle/>
          <a:p>
            <a:pPr algn="ctr" indent="0" marL="0">
              <a:buNone/>
            </a:pPr>
            <a:r>
              <a:rPr lang="en-US" sz="1050" b="1" dirty="0">
                <a:solidFill>
                  <a:srgbClr val="1B2733"/>
                </a:solidFill>
                <a:latin typeface="Calibri" pitchFamily="34" charset="0"/>
                <a:ea typeface="Calibri" pitchFamily="34" charset="-122"/>
                <a:cs typeface="Calibri" pitchFamily="34" charset="-120"/>
              </a:rPr>
              <a:t>Tests and training data</a:t>
            </a:r>
            <a:endParaRPr lang="en-US" sz="1050" dirty="0"/>
          </a:p>
        </p:txBody>
      </p:sp>
      <p:sp>
        <p:nvSpPr>
          <p:cNvPr id="45" name="Text 37"/>
          <p:cNvSpPr/>
          <p:nvPr/>
        </p:nvSpPr>
        <p:spPr>
          <a:xfrm>
            <a:off x="9656064" y="5888736"/>
            <a:ext cx="1929384" cy="301752"/>
          </a:xfrm>
          <a:prstGeom prst="rect">
            <a:avLst/>
          </a:prstGeom>
          <a:noFill/>
          <a:ln/>
        </p:spPr>
        <p:txBody>
          <a:bodyPr wrap="square" rtlCol="0" anchor="ctr"/>
          <a:lstStyle/>
          <a:p>
            <a:pPr algn="ctr" indent="0" marL="0">
              <a:lnSpc>
                <a:spcPct val="105000"/>
              </a:lnSpc>
              <a:buNone/>
            </a:pPr>
            <a:r>
              <a:rPr lang="en-US" sz="900" dirty="0">
                <a:solidFill>
                  <a:srgbClr val="5C7080"/>
                </a:solidFill>
                <a:latin typeface="Calibri" pitchFamily="34" charset="0"/>
                <a:ea typeface="Calibri" pitchFamily="34" charset="-122"/>
                <a:cs typeface="Calibri" pitchFamily="34" charset="-120"/>
              </a:rPr>
              <a:t>why a hard benchmark and a good task are the same object</a:t>
            </a:r>
            <a:endParaRPr lang="en-US" sz="900" dirty="0"/>
          </a:p>
        </p:txBody>
      </p:sp>
      <p:sp>
        <p:nvSpPr>
          <p:cNvPr id="46" name="Text 38"/>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47" name="Text 3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1 OF 5</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Learning From Outcomes, Not Answers</a:t>
            </a:r>
            <a:endParaRPr lang="en-US" sz="3000" dirty="0"/>
          </a:p>
        </p:txBody>
      </p:sp>
      <p:sp>
        <p:nvSpPr>
          <p:cNvPr id="4" name="Text 2"/>
          <p:cNvSpPr/>
          <p:nvPr/>
        </p:nvSpPr>
        <p:spPr>
          <a:xfrm>
            <a:off x="548640" y="1417320"/>
            <a:ext cx="11064240" cy="685800"/>
          </a:xfrm>
          <a:prstGeom prst="rect">
            <a:avLst/>
          </a:prstGeom>
          <a:noFill/>
          <a:ln/>
        </p:spPr>
        <p:txBody>
          <a:bodyPr wrap="square" rtlCol="0" anchor="ctr"/>
          <a:lstStyle/>
          <a:p>
            <a:pPr indent="0" marL="0">
              <a:lnSpc>
                <a:spcPct val="125000"/>
              </a:lnSpc>
              <a:buNone/>
            </a:pPr>
            <a:r>
              <a:rPr lang="en-US" sz="1350" dirty="0">
                <a:solidFill>
                  <a:srgbClr val="5C7080"/>
                </a:solidFill>
                <a:latin typeface="Calibri" pitchFamily="34" charset="0"/>
                <a:ea typeface="Calibri" pitchFamily="34" charset="-122"/>
                <a:cs typeface="Calibri" pitchFamily="34" charset="-120"/>
              </a:rPr>
              <a:t>Supervised training needs a correct answer for every example. But for most interesting tasks nobody has one — there are many good solutions, or the answer only exists once you've tried. Reinforcement learning replaces the answer key with a score, and lets the model discover what earns it.</a:t>
            </a:r>
            <a:endParaRPr lang="en-US" sz="1350" dirty="0"/>
          </a:p>
        </p:txBody>
      </p:sp>
      <p:sp>
        <p:nvSpPr>
          <p:cNvPr id="5" name="Shape 3"/>
          <p:cNvSpPr/>
          <p:nvPr/>
        </p:nvSpPr>
        <p:spPr>
          <a:xfrm>
            <a:off x="548640" y="2286000"/>
            <a:ext cx="2679192" cy="2377440"/>
          </a:xfrm>
          <a:prstGeom prst="roundRect">
            <a:avLst>
              <a:gd name="adj" fmla="val 3077"/>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1586484" y="2542032"/>
            <a:ext cx="603504" cy="603504"/>
          </a:xfrm>
          <a:prstGeom prst="ellipse">
            <a:avLst/>
          </a:prstGeom>
          <a:solidFill>
            <a:srgbClr val="065A82"/>
          </a:solidFill>
          <a:ln/>
        </p:spPr>
      </p:sp>
      <p:pic>
        <p:nvPicPr>
          <p:cNvPr id="7" name="Image 0" descr="/tmp/b/icons/dice_white.png">    </p:cNvPr>
          <p:cNvPicPr>
            <a:picLocks noChangeAspect="1"/>
          </p:cNvPicPr>
          <p:nvPr/>
        </p:nvPicPr>
        <p:blipFill>
          <a:blip r:embed="rId1"/>
          <a:stretch>
            <a:fillRect/>
          </a:stretch>
        </p:blipFill>
        <p:spPr>
          <a:xfrm>
            <a:off x="1743395" y="2698943"/>
            <a:ext cx="289682" cy="289682"/>
          </a:xfrm>
          <a:prstGeom prst="rect">
            <a:avLst/>
          </a:prstGeom>
        </p:spPr>
      </p:pic>
      <p:sp>
        <p:nvSpPr>
          <p:cNvPr id="8" name="Text 5"/>
          <p:cNvSpPr/>
          <p:nvPr/>
        </p:nvSpPr>
        <p:spPr>
          <a:xfrm>
            <a:off x="731520" y="3246120"/>
            <a:ext cx="2313432" cy="365760"/>
          </a:xfrm>
          <a:prstGeom prst="rect">
            <a:avLst/>
          </a:prstGeom>
          <a:noFill/>
          <a:ln/>
        </p:spPr>
        <p:txBody>
          <a:bodyPr wrap="square"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1. Sample</a:t>
            </a:r>
            <a:endParaRPr lang="en-US" sz="1400" dirty="0"/>
          </a:p>
        </p:txBody>
      </p:sp>
      <p:sp>
        <p:nvSpPr>
          <p:cNvPr id="9" name="Text 6"/>
          <p:cNvSpPr/>
          <p:nvPr/>
        </p:nvSpPr>
        <p:spPr>
          <a:xfrm>
            <a:off x="749808" y="3657600"/>
            <a:ext cx="2276856" cy="868680"/>
          </a:xfrm>
          <a:prstGeom prst="rect">
            <a:avLst/>
          </a:prstGeom>
          <a:noFill/>
          <a:ln/>
        </p:spPr>
        <p:txBody>
          <a:bodyPr wrap="square" rtlCol="0" anchor="ctr"/>
          <a:lstStyle/>
          <a:p>
            <a:pPr algn="ctr" indent="0" marL="0">
              <a:lnSpc>
                <a:spcPct val="120000"/>
              </a:lnSpc>
              <a:buNone/>
            </a:pPr>
            <a:r>
              <a:rPr lang="en-US" sz="1050" dirty="0">
                <a:solidFill>
                  <a:srgbClr val="5C7080"/>
                </a:solidFill>
                <a:latin typeface="Calibri" pitchFamily="34" charset="0"/>
                <a:ea typeface="Calibri" pitchFamily="34" charset="-122"/>
                <a:cs typeface="Calibri" pitchFamily="34" charset="-120"/>
              </a:rPr>
              <a:t>The model attempts the task — possibly over many turns, using tools. One complete attempt is called a rollout.</a:t>
            </a:r>
            <a:endParaRPr lang="en-US" sz="1050" dirty="0"/>
          </a:p>
        </p:txBody>
      </p:sp>
      <p:sp>
        <p:nvSpPr>
          <p:cNvPr id="10" name="Shape 7"/>
          <p:cNvSpPr/>
          <p:nvPr/>
        </p:nvSpPr>
        <p:spPr>
          <a:xfrm>
            <a:off x="3374136" y="2286000"/>
            <a:ext cx="2679192" cy="2377440"/>
          </a:xfrm>
          <a:prstGeom prst="roundRect">
            <a:avLst>
              <a:gd name="adj" fmla="val 3077"/>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4411980" y="2542032"/>
            <a:ext cx="603504" cy="603504"/>
          </a:xfrm>
          <a:prstGeom prst="ellipse">
            <a:avLst/>
          </a:prstGeom>
          <a:solidFill>
            <a:srgbClr val="1C7293"/>
          </a:solidFill>
          <a:ln/>
        </p:spPr>
      </p:sp>
      <p:pic>
        <p:nvPicPr>
          <p:cNvPr id="12" name="Image 1" descr="/tmp/b/icons/bullseye_white.png">    </p:cNvPr>
          <p:cNvPicPr>
            <a:picLocks noChangeAspect="1"/>
          </p:cNvPicPr>
          <p:nvPr/>
        </p:nvPicPr>
        <p:blipFill>
          <a:blip r:embed="rId2"/>
          <a:stretch>
            <a:fillRect/>
          </a:stretch>
        </p:blipFill>
        <p:spPr>
          <a:xfrm>
            <a:off x="4568891" y="2698943"/>
            <a:ext cx="289682" cy="289682"/>
          </a:xfrm>
          <a:prstGeom prst="rect">
            <a:avLst/>
          </a:prstGeom>
        </p:spPr>
      </p:pic>
      <p:sp>
        <p:nvSpPr>
          <p:cNvPr id="13" name="Text 9"/>
          <p:cNvSpPr/>
          <p:nvPr/>
        </p:nvSpPr>
        <p:spPr>
          <a:xfrm>
            <a:off x="3557016" y="3246120"/>
            <a:ext cx="2313432" cy="365760"/>
          </a:xfrm>
          <a:prstGeom prst="rect">
            <a:avLst/>
          </a:prstGeom>
          <a:noFill/>
          <a:ln/>
        </p:spPr>
        <p:txBody>
          <a:bodyPr wrap="square"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2. Score</a:t>
            </a:r>
            <a:endParaRPr lang="en-US" sz="1400" dirty="0"/>
          </a:p>
        </p:txBody>
      </p:sp>
      <p:sp>
        <p:nvSpPr>
          <p:cNvPr id="14" name="Text 10"/>
          <p:cNvSpPr/>
          <p:nvPr/>
        </p:nvSpPr>
        <p:spPr>
          <a:xfrm>
            <a:off x="3575304" y="3657600"/>
            <a:ext cx="2276856" cy="868680"/>
          </a:xfrm>
          <a:prstGeom prst="rect">
            <a:avLst/>
          </a:prstGeom>
          <a:noFill/>
          <a:ln/>
        </p:spPr>
        <p:txBody>
          <a:bodyPr wrap="square" rtlCol="0" anchor="ctr"/>
          <a:lstStyle/>
          <a:p>
            <a:pPr algn="ctr" indent="0" marL="0">
              <a:lnSpc>
                <a:spcPct val="120000"/>
              </a:lnSpc>
              <a:buNone/>
            </a:pPr>
            <a:r>
              <a:rPr lang="en-US" sz="1050" dirty="0">
                <a:solidFill>
                  <a:srgbClr val="5C7080"/>
                </a:solidFill>
                <a:latin typeface="Calibri" pitchFamily="34" charset="0"/>
                <a:ea typeface="Calibri" pitchFamily="34" charset="-122"/>
                <a:cs typeface="Calibri" pitchFamily="34" charset="-120"/>
              </a:rPr>
              <a:t>A scoring function turns the finished attempt into a number. This is the only feedback the model gets.</a:t>
            </a:r>
            <a:endParaRPr lang="en-US" sz="1050" dirty="0"/>
          </a:p>
        </p:txBody>
      </p:sp>
      <p:sp>
        <p:nvSpPr>
          <p:cNvPr id="15" name="Shape 11"/>
          <p:cNvSpPr/>
          <p:nvPr/>
        </p:nvSpPr>
        <p:spPr>
          <a:xfrm>
            <a:off x="6199632" y="2286000"/>
            <a:ext cx="2679192" cy="2377440"/>
          </a:xfrm>
          <a:prstGeom prst="roundRect">
            <a:avLst>
              <a:gd name="adj" fmla="val 3077"/>
            </a:avLst>
          </a:prstGeom>
          <a:solidFill>
            <a:srgbClr val="F2F8FA"/>
          </a:solidFill>
          <a:ln/>
          <a:effectLst>
            <a:outerShdw sx="100000" sy="100000" kx="0" ky="0" algn="bl" rotWithShape="0" blurRad="101600" dist="25400" dir="5400000">
              <a:srgbClr val="1B2733">
                <a:alpha val="8000"/>
              </a:srgbClr>
            </a:outerShdw>
          </a:effectLst>
        </p:spPr>
      </p:sp>
      <p:sp>
        <p:nvSpPr>
          <p:cNvPr id="16" name="Shape 12"/>
          <p:cNvSpPr/>
          <p:nvPr/>
        </p:nvSpPr>
        <p:spPr>
          <a:xfrm>
            <a:off x="7237476" y="2542032"/>
            <a:ext cx="603504" cy="603504"/>
          </a:xfrm>
          <a:prstGeom prst="ellipse">
            <a:avLst/>
          </a:prstGeom>
          <a:solidFill>
            <a:srgbClr val="21295C"/>
          </a:solidFill>
          <a:ln/>
        </p:spPr>
      </p:sp>
      <p:pic>
        <p:nvPicPr>
          <p:cNvPr id="17" name="Image 2" descr="/tmp/b/icons/scale_balanced_white.png">    </p:cNvPr>
          <p:cNvPicPr>
            <a:picLocks noChangeAspect="1"/>
          </p:cNvPicPr>
          <p:nvPr/>
        </p:nvPicPr>
        <p:blipFill>
          <a:blip r:embed="rId3"/>
          <a:stretch>
            <a:fillRect/>
          </a:stretch>
        </p:blipFill>
        <p:spPr>
          <a:xfrm>
            <a:off x="7394387" y="2698943"/>
            <a:ext cx="289682" cy="289682"/>
          </a:xfrm>
          <a:prstGeom prst="rect">
            <a:avLst/>
          </a:prstGeom>
        </p:spPr>
      </p:pic>
      <p:sp>
        <p:nvSpPr>
          <p:cNvPr id="18" name="Text 13"/>
          <p:cNvSpPr/>
          <p:nvPr/>
        </p:nvSpPr>
        <p:spPr>
          <a:xfrm>
            <a:off x="6382512" y="3246120"/>
            <a:ext cx="2313432" cy="365760"/>
          </a:xfrm>
          <a:prstGeom prst="rect">
            <a:avLst/>
          </a:prstGeom>
          <a:noFill/>
          <a:ln/>
        </p:spPr>
        <p:txBody>
          <a:bodyPr wrap="square"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3. Compare</a:t>
            </a:r>
            <a:endParaRPr lang="en-US" sz="1400" dirty="0"/>
          </a:p>
        </p:txBody>
      </p:sp>
      <p:sp>
        <p:nvSpPr>
          <p:cNvPr id="19" name="Text 14"/>
          <p:cNvSpPr/>
          <p:nvPr/>
        </p:nvSpPr>
        <p:spPr>
          <a:xfrm>
            <a:off x="6400800" y="3657600"/>
            <a:ext cx="2276856" cy="868680"/>
          </a:xfrm>
          <a:prstGeom prst="rect">
            <a:avLst/>
          </a:prstGeom>
          <a:noFill/>
          <a:ln/>
        </p:spPr>
        <p:txBody>
          <a:bodyPr wrap="square" rtlCol="0" anchor="ctr"/>
          <a:lstStyle/>
          <a:p>
            <a:pPr algn="ctr" indent="0" marL="0">
              <a:lnSpc>
                <a:spcPct val="120000"/>
              </a:lnSpc>
              <a:buNone/>
            </a:pPr>
            <a:r>
              <a:rPr lang="en-US" sz="1050" dirty="0">
                <a:solidFill>
                  <a:srgbClr val="5C7080"/>
                </a:solidFill>
                <a:latin typeface="Calibri" pitchFamily="34" charset="0"/>
                <a:ea typeface="Calibri" pitchFamily="34" charset="-122"/>
                <a:cs typeface="Calibri" pitchFamily="34" charset="-120"/>
              </a:rPr>
              <a:t>Several rollouts of the same task are scored together. What matters is which attempts beat the group average — not the raw score.</a:t>
            </a:r>
            <a:endParaRPr lang="en-US" sz="1050" dirty="0"/>
          </a:p>
        </p:txBody>
      </p:sp>
      <p:sp>
        <p:nvSpPr>
          <p:cNvPr id="20" name="Shape 15"/>
          <p:cNvSpPr/>
          <p:nvPr/>
        </p:nvSpPr>
        <p:spPr>
          <a:xfrm>
            <a:off x="9025128" y="2286000"/>
            <a:ext cx="2679192" cy="2377440"/>
          </a:xfrm>
          <a:prstGeom prst="roundRect">
            <a:avLst>
              <a:gd name="adj" fmla="val 3077"/>
            </a:avLst>
          </a:prstGeom>
          <a:solidFill>
            <a:srgbClr val="F2F8FA"/>
          </a:solidFill>
          <a:ln/>
          <a:effectLst>
            <a:outerShdw sx="100000" sy="100000" kx="0" ky="0" algn="bl" rotWithShape="0" blurRad="101600" dist="25400" dir="5400000">
              <a:srgbClr val="1B2733">
                <a:alpha val="8000"/>
              </a:srgbClr>
            </a:outerShdw>
          </a:effectLst>
        </p:spPr>
      </p:sp>
      <p:sp>
        <p:nvSpPr>
          <p:cNvPr id="21" name="Shape 16"/>
          <p:cNvSpPr/>
          <p:nvPr/>
        </p:nvSpPr>
        <p:spPr>
          <a:xfrm>
            <a:off x="10062972" y="2542032"/>
            <a:ext cx="603504" cy="603504"/>
          </a:xfrm>
          <a:prstGeom prst="ellipse">
            <a:avLst/>
          </a:prstGeom>
          <a:solidFill>
            <a:srgbClr val="065A82"/>
          </a:solidFill>
          <a:ln/>
        </p:spPr>
      </p:sp>
      <p:pic>
        <p:nvPicPr>
          <p:cNvPr id="22" name="Image 3" descr="/tmp/b/icons/arrows_rotate_white.png">    </p:cNvPr>
          <p:cNvPicPr>
            <a:picLocks noChangeAspect="1"/>
          </p:cNvPicPr>
          <p:nvPr/>
        </p:nvPicPr>
        <p:blipFill>
          <a:blip r:embed="rId4"/>
          <a:stretch>
            <a:fillRect/>
          </a:stretch>
        </p:blipFill>
        <p:spPr>
          <a:xfrm>
            <a:off x="10219883" y="2698943"/>
            <a:ext cx="289682" cy="289682"/>
          </a:xfrm>
          <a:prstGeom prst="rect">
            <a:avLst/>
          </a:prstGeom>
        </p:spPr>
      </p:pic>
      <p:sp>
        <p:nvSpPr>
          <p:cNvPr id="23" name="Text 17"/>
          <p:cNvSpPr/>
          <p:nvPr/>
        </p:nvSpPr>
        <p:spPr>
          <a:xfrm>
            <a:off x="9208008" y="3246120"/>
            <a:ext cx="2313432" cy="365760"/>
          </a:xfrm>
          <a:prstGeom prst="rect">
            <a:avLst/>
          </a:prstGeom>
          <a:noFill/>
          <a:ln/>
        </p:spPr>
        <p:txBody>
          <a:bodyPr wrap="square" rtlCol="0" anchor="ctr"/>
          <a:lstStyle/>
          <a:p>
            <a:pPr algn="ctr" indent="0" marL="0">
              <a:buNone/>
            </a:pPr>
            <a:r>
              <a:rPr lang="en-US" sz="1400" b="1" dirty="0">
                <a:solidFill>
                  <a:srgbClr val="1B2733"/>
                </a:solidFill>
                <a:latin typeface="Calibri" pitchFamily="34" charset="0"/>
                <a:ea typeface="Calibri" pitchFamily="34" charset="-122"/>
                <a:cs typeface="Calibri" pitchFamily="34" charset="-120"/>
              </a:rPr>
              <a:t>4. Update</a:t>
            </a:r>
            <a:endParaRPr lang="en-US" sz="1400" dirty="0"/>
          </a:p>
        </p:txBody>
      </p:sp>
      <p:sp>
        <p:nvSpPr>
          <p:cNvPr id="24" name="Text 18"/>
          <p:cNvSpPr/>
          <p:nvPr/>
        </p:nvSpPr>
        <p:spPr>
          <a:xfrm>
            <a:off x="9226296" y="3657600"/>
            <a:ext cx="2276856" cy="868680"/>
          </a:xfrm>
          <a:prstGeom prst="rect">
            <a:avLst/>
          </a:prstGeom>
          <a:noFill/>
          <a:ln/>
        </p:spPr>
        <p:txBody>
          <a:bodyPr wrap="square" rtlCol="0" anchor="ctr"/>
          <a:lstStyle/>
          <a:p>
            <a:pPr algn="ctr" indent="0" marL="0">
              <a:lnSpc>
                <a:spcPct val="120000"/>
              </a:lnSpc>
              <a:buNone/>
            </a:pPr>
            <a:r>
              <a:rPr lang="en-US" sz="1050" dirty="0">
                <a:solidFill>
                  <a:srgbClr val="5C7080"/>
                </a:solidFill>
                <a:latin typeface="Calibri" pitchFamily="34" charset="0"/>
                <a:ea typeface="Calibri" pitchFamily="34" charset="-122"/>
                <a:cs typeface="Calibri" pitchFamily="34" charset="-120"/>
              </a:rPr>
              <a:t>Weights shift toward whatever produced above-average attempts, away from below. Then sample again.</a:t>
            </a:r>
            <a:endParaRPr lang="en-US" sz="1050" dirty="0"/>
          </a:p>
        </p:txBody>
      </p:sp>
      <p:sp>
        <p:nvSpPr>
          <p:cNvPr id="25" name="Shape 19"/>
          <p:cNvSpPr/>
          <p:nvPr/>
        </p:nvSpPr>
        <p:spPr>
          <a:xfrm>
            <a:off x="548640" y="4892040"/>
            <a:ext cx="11064240" cy="1234440"/>
          </a:xfrm>
          <a:prstGeom prst="roundRect">
            <a:avLst>
              <a:gd name="adj" fmla="val 5926"/>
            </a:avLst>
          </a:prstGeom>
          <a:solidFill>
            <a:srgbClr val="EEF4F7"/>
          </a:solidFill>
          <a:ln w="12700">
            <a:solidFill>
              <a:srgbClr val="AEC7D6"/>
            </a:solidFill>
            <a:prstDash val="solid"/>
          </a:ln>
        </p:spPr>
      </p:sp>
      <p:sp>
        <p:nvSpPr>
          <p:cNvPr id="26" name="Text 20"/>
          <p:cNvSpPr/>
          <p:nvPr/>
        </p:nvSpPr>
        <p:spPr>
          <a:xfrm>
            <a:off x="822960" y="5029200"/>
            <a:ext cx="10515600" cy="29260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Why compare instead of just rewarding high scores?</a:t>
            </a:r>
            <a:endParaRPr lang="en-US" sz="1250" dirty="0"/>
          </a:p>
        </p:txBody>
      </p:sp>
      <p:sp>
        <p:nvSpPr>
          <p:cNvPr id="27" name="Text 21"/>
          <p:cNvSpPr/>
          <p:nvPr/>
        </p:nvSpPr>
        <p:spPr>
          <a:xfrm>
            <a:off x="822960" y="5321808"/>
            <a:ext cx="10515600" cy="731520"/>
          </a:xfrm>
          <a:prstGeom prst="rect">
            <a:avLst/>
          </a:prstGeom>
          <a:noFill/>
          <a:ln/>
        </p:spPr>
        <p:txBody>
          <a:bodyPr wrap="square" rtlCol="0" anchor="ctr"/>
          <a:lstStyle/>
          <a:p>
            <a:pPr indent="0" marL="0">
              <a:lnSpc>
                <a:spcPct val="120000"/>
              </a:lnSpc>
              <a:buNone/>
            </a:pPr>
            <a:r>
              <a:rPr lang="en-US" sz="1150" dirty="0">
                <a:solidFill>
                  <a:srgbClr val="1B2733"/>
                </a:solidFill>
                <a:latin typeface="Calibri" pitchFamily="34" charset="0"/>
                <a:ea typeface="Calibri" pitchFamily="34" charset="-122"/>
                <a:cs typeface="Calibri" pitchFamily="34" charset="-120"/>
              </a:rPr>
              <a:t>Because a raw score has no meaning on its own — 0.4 is excellent on a hard task and terrible on an easy one. Scoring a batch of attempts at the same task and measuring each against that batch's own average sidesteps the problem entirely: no separate model is needed to predict what a good score would have been. This family of methods is called group-relative optimisation, and GRPO is the variant most RL post-training runs use today.</a:t>
            </a:r>
            <a:endParaRPr lang="en-US" sz="1150" dirty="0"/>
          </a:p>
        </p:txBody>
      </p:sp>
      <p:sp>
        <p:nvSpPr>
          <p:cNvPr id="28" name="Text 22"/>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29" name="Text 2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2 OF 5</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Where the Reward Actually Comes From</a:t>
            </a:r>
            <a:endParaRPr lang="en-US" sz="3000" dirty="0"/>
          </a:p>
        </p:txBody>
      </p:sp>
      <p:sp>
        <p:nvSpPr>
          <p:cNvPr id="4" name="Text 2"/>
          <p:cNvSpPr/>
          <p:nvPr/>
        </p:nvSpPr>
        <p:spPr>
          <a:xfrm>
            <a:off x="548640" y="1417320"/>
            <a:ext cx="11064240" cy="502920"/>
          </a:xfrm>
          <a:prstGeom prst="rect">
            <a:avLst/>
          </a:prstGeom>
          <a:noFill/>
          <a:ln/>
        </p:spPr>
        <p:txBody>
          <a:bodyPr wrap="square" rtlCol="0" anchor="ctr"/>
          <a:lstStyle/>
          <a:p>
            <a:pPr indent="0" marL="0">
              <a:lnSpc>
                <a:spcPct val="125000"/>
              </a:lnSpc>
              <a:buNone/>
            </a:pPr>
            <a:r>
              <a:rPr lang="en-US" sz="1350" dirty="0">
                <a:solidFill>
                  <a:srgbClr val="5C7080"/>
                </a:solidFill>
                <a:latin typeface="Calibri" pitchFamily="34" charset="0"/>
                <a:ea typeface="Calibri" pitchFamily="34" charset="-122"/>
                <a:cs typeface="Calibri" pitchFamily="34" charset="-120"/>
              </a:rPr>
              <a:t>“Score the attempt” hides all the difficulty. Something has to decide, automatically and thousands of times an hour, whether an attempt was good. There are only three real options, and they trade off sharply.</a:t>
            </a:r>
            <a:endParaRPr lang="en-US" sz="1350" dirty="0"/>
          </a:p>
        </p:txBody>
      </p:sp>
      <p:sp>
        <p:nvSpPr>
          <p:cNvPr id="5" name="Shape 3"/>
          <p:cNvSpPr/>
          <p:nvPr/>
        </p:nvSpPr>
        <p:spPr>
          <a:xfrm>
            <a:off x="548640" y="2103120"/>
            <a:ext cx="11064240" cy="1078992"/>
          </a:xfrm>
          <a:prstGeom prst="roundRect">
            <a:avLst>
              <a:gd name="adj" fmla="val 6780"/>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04672" y="2377440"/>
            <a:ext cx="530352" cy="530352"/>
          </a:xfrm>
          <a:prstGeom prst="ellipse">
            <a:avLst/>
          </a:prstGeom>
          <a:solidFill>
            <a:srgbClr val="FFFFFF"/>
          </a:solidFill>
          <a:ln/>
        </p:spPr>
      </p:sp>
      <p:pic>
        <p:nvPicPr>
          <p:cNvPr id="7" name="Image 0" descr="/tmp/b/icons/circle_check_teal.png">    </p:cNvPr>
          <p:cNvPicPr>
            <a:picLocks noChangeAspect="1"/>
          </p:cNvPicPr>
          <p:nvPr/>
        </p:nvPicPr>
        <p:blipFill>
          <a:blip r:embed="rId1"/>
          <a:stretch>
            <a:fillRect/>
          </a:stretch>
        </p:blipFill>
        <p:spPr>
          <a:xfrm>
            <a:off x="942564" y="2515332"/>
            <a:ext cx="254569" cy="254569"/>
          </a:xfrm>
          <a:prstGeom prst="rect">
            <a:avLst/>
          </a:prstGeom>
        </p:spPr>
      </p:pic>
      <p:sp>
        <p:nvSpPr>
          <p:cNvPr id="8" name="Text 5"/>
          <p:cNvSpPr/>
          <p:nvPr/>
        </p:nvSpPr>
        <p:spPr>
          <a:xfrm>
            <a:off x="1481328" y="2231136"/>
            <a:ext cx="2606040" cy="329184"/>
          </a:xfrm>
          <a:prstGeom prst="rect">
            <a:avLst/>
          </a:prstGeom>
          <a:noFill/>
          <a:ln/>
        </p:spPr>
        <p:txBody>
          <a:bodyPr wrap="square"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Match a known answer</a:t>
            </a:r>
            <a:endParaRPr lang="en-US" sz="1350" dirty="0"/>
          </a:p>
        </p:txBody>
      </p:sp>
      <p:sp>
        <p:nvSpPr>
          <p:cNvPr id="9" name="Text 6"/>
          <p:cNvSpPr/>
          <p:nvPr/>
        </p:nvSpPr>
        <p:spPr>
          <a:xfrm>
            <a:off x="1481328" y="2578608"/>
            <a:ext cx="2606040" cy="457200"/>
          </a:xfrm>
          <a:prstGeom prst="rect">
            <a:avLst/>
          </a:prstGeom>
          <a:noFill/>
          <a:ln/>
        </p:spPr>
        <p:txBody>
          <a:bodyPr wrap="square" rtlCol="0" anchor="ctr"/>
          <a:lstStyle/>
          <a:p>
            <a:pPr indent="0" marL="0">
              <a:lnSpc>
                <a:spcPct val="110000"/>
              </a:lnSpc>
              <a:buNone/>
            </a:pPr>
            <a:r>
              <a:rPr lang="en-US" sz="1000" i="1" dirty="0">
                <a:solidFill>
                  <a:srgbClr val="5C7080"/>
                </a:solidFill>
                <a:latin typeface="Calibri" pitchFamily="34" charset="0"/>
                <a:ea typeface="Calibri" pitchFamily="34" charset="-122"/>
                <a:cs typeface="Calibri" pitchFamily="34" charset="-120"/>
              </a:rPr>
              <a:t>Cheap, fast, unambiguous</a:t>
            </a:r>
            <a:endParaRPr lang="en-US" sz="1000" dirty="0"/>
          </a:p>
        </p:txBody>
      </p:sp>
      <p:sp>
        <p:nvSpPr>
          <p:cNvPr id="10" name="Text 7"/>
          <p:cNvSpPr/>
          <p:nvPr/>
        </p:nvSpPr>
        <p:spPr>
          <a:xfrm>
            <a:off x="4251960" y="2212848"/>
            <a:ext cx="7178040" cy="859536"/>
          </a:xfrm>
          <a:prstGeom prst="rect">
            <a:avLst/>
          </a:prstGeom>
          <a:noFill/>
          <a:ln/>
        </p:spPr>
        <p:txBody>
          <a:bodyPr wrap="square" rtlCol="0" anchor="ctr"/>
          <a:lstStyle/>
          <a:p>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Compare against ground truth after normalising. Works when the answer is short and canonical — a number, a label, a date. Fails the moment there are many valid phrasings.</a:t>
            </a:r>
            <a:endParaRPr lang="en-US" sz="1100" dirty="0"/>
          </a:p>
        </p:txBody>
      </p:sp>
      <p:sp>
        <p:nvSpPr>
          <p:cNvPr id="11" name="Shape 8"/>
          <p:cNvSpPr/>
          <p:nvPr/>
        </p:nvSpPr>
        <p:spPr>
          <a:xfrm>
            <a:off x="548640" y="3291840"/>
            <a:ext cx="11064240" cy="1078992"/>
          </a:xfrm>
          <a:prstGeom prst="roundRect">
            <a:avLst>
              <a:gd name="adj" fmla="val 6780"/>
            </a:avLst>
          </a:prstGeom>
          <a:solidFill>
            <a:srgbClr val="F2F8FA"/>
          </a:solidFill>
          <a:ln/>
          <a:effectLst>
            <a:outerShdw sx="100000" sy="100000" kx="0" ky="0" algn="bl" rotWithShape="0" blurRad="101600" dist="25400" dir="5400000">
              <a:srgbClr val="1B2733">
                <a:alpha val="8000"/>
              </a:srgbClr>
            </a:outerShdw>
          </a:effectLst>
        </p:spPr>
      </p:sp>
      <p:sp>
        <p:nvSpPr>
          <p:cNvPr id="12" name="Shape 9"/>
          <p:cNvSpPr/>
          <p:nvPr/>
        </p:nvSpPr>
        <p:spPr>
          <a:xfrm>
            <a:off x="804672" y="3566160"/>
            <a:ext cx="530352" cy="530352"/>
          </a:xfrm>
          <a:prstGeom prst="ellipse">
            <a:avLst/>
          </a:prstGeom>
          <a:solidFill>
            <a:srgbClr val="FFFFFF"/>
          </a:solidFill>
          <a:ln/>
        </p:spPr>
      </p:sp>
      <p:pic>
        <p:nvPicPr>
          <p:cNvPr id="13" name="Image 1" descr="/tmp/b/icons/terminal_teal.png">    </p:cNvPr>
          <p:cNvPicPr>
            <a:picLocks noChangeAspect="1"/>
          </p:cNvPicPr>
          <p:nvPr/>
        </p:nvPicPr>
        <p:blipFill>
          <a:blip r:embed="rId2"/>
          <a:stretch>
            <a:fillRect/>
          </a:stretch>
        </p:blipFill>
        <p:spPr>
          <a:xfrm>
            <a:off x="942564" y="3704052"/>
            <a:ext cx="254569" cy="254569"/>
          </a:xfrm>
          <a:prstGeom prst="rect">
            <a:avLst/>
          </a:prstGeom>
        </p:spPr>
      </p:pic>
      <p:sp>
        <p:nvSpPr>
          <p:cNvPr id="14" name="Text 10"/>
          <p:cNvSpPr/>
          <p:nvPr/>
        </p:nvSpPr>
        <p:spPr>
          <a:xfrm>
            <a:off x="1481328" y="3419856"/>
            <a:ext cx="2606040" cy="329184"/>
          </a:xfrm>
          <a:prstGeom prst="rect">
            <a:avLst/>
          </a:prstGeom>
          <a:noFill/>
          <a:ln/>
        </p:spPr>
        <p:txBody>
          <a:bodyPr wrap="square"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Run it and see</a:t>
            </a:r>
            <a:endParaRPr lang="en-US" sz="1350" dirty="0"/>
          </a:p>
        </p:txBody>
      </p:sp>
      <p:sp>
        <p:nvSpPr>
          <p:cNvPr id="15" name="Text 11"/>
          <p:cNvSpPr/>
          <p:nvPr/>
        </p:nvSpPr>
        <p:spPr>
          <a:xfrm>
            <a:off x="1481328" y="3767328"/>
            <a:ext cx="2606040" cy="457200"/>
          </a:xfrm>
          <a:prstGeom prst="rect">
            <a:avLst/>
          </a:prstGeom>
          <a:noFill/>
          <a:ln/>
        </p:spPr>
        <p:txBody>
          <a:bodyPr wrap="square" rtlCol="0" anchor="ctr"/>
          <a:lstStyle/>
          <a:p>
            <a:pPr indent="0" marL="0">
              <a:lnSpc>
                <a:spcPct val="110000"/>
              </a:lnSpc>
              <a:buNone/>
            </a:pPr>
            <a:r>
              <a:rPr lang="en-US" sz="1000" i="1" dirty="0">
                <a:solidFill>
                  <a:srgbClr val="5C7080"/>
                </a:solidFill>
                <a:latin typeface="Calibri" pitchFamily="34" charset="0"/>
                <a:ea typeface="Calibri" pitchFamily="34" charset="-122"/>
                <a:cs typeface="Calibri" pitchFamily="34" charset="-120"/>
              </a:rPr>
              <a:t>Objective, but needs isolation</a:t>
            </a:r>
            <a:endParaRPr lang="en-US" sz="1000" dirty="0"/>
          </a:p>
        </p:txBody>
      </p:sp>
      <p:sp>
        <p:nvSpPr>
          <p:cNvPr id="16" name="Text 12"/>
          <p:cNvSpPr/>
          <p:nvPr/>
        </p:nvSpPr>
        <p:spPr>
          <a:xfrm>
            <a:off x="4251960" y="3401568"/>
            <a:ext cx="7178040" cy="859536"/>
          </a:xfrm>
          <a:prstGeom prst="rect">
            <a:avLst/>
          </a:prstGeom>
          <a:noFill/>
          <a:ln/>
        </p:spPr>
        <p:txBody>
          <a:bodyPr wrap="square" rtlCol="0" anchor="ctr"/>
          <a:lstStyle/>
          <a:p>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For code, the honest test is execution: run the program against a test suite and read the exit code. Requires somewhere safe to run untrusted, model-written code — a disposable container per attempt.</a:t>
            </a:r>
            <a:endParaRPr lang="en-US" sz="1100" dirty="0"/>
          </a:p>
        </p:txBody>
      </p:sp>
      <p:sp>
        <p:nvSpPr>
          <p:cNvPr id="17" name="Shape 13"/>
          <p:cNvSpPr/>
          <p:nvPr/>
        </p:nvSpPr>
        <p:spPr>
          <a:xfrm>
            <a:off x="548640" y="4480560"/>
            <a:ext cx="11064240" cy="1078992"/>
          </a:xfrm>
          <a:prstGeom prst="roundRect">
            <a:avLst>
              <a:gd name="adj" fmla="val 6780"/>
            </a:avLst>
          </a:prstGeom>
          <a:solidFill>
            <a:srgbClr val="F2F8FA"/>
          </a:solidFill>
          <a:ln/>
          <a:effectLst>
            <a:outerShdw sx="100000" sy="100000" kx="0" ky="0" algn="bl" rotWithShape="0" blurRad="101600" dist="25400" dir="5400000">
              <a:srgbClr val="1B2733">
                <a:alpha val="8000"/>
              </a:srgbClr>
            </a:outerShdw>
          </a:effectLst>
        </p:spPr>
      </p:sp>
      <p:sp>
        <p:nvSpPr>
          <p:cNvPr id="18" name="Shape 14"/>
          <p:cNvSpPr/>
          <p:nvPr/>
        </p:nvSpPr>
        <p:spPr>
          <a:xfrm>
            <a:off x="804672" y="4754880"/>
            <a:ext cx="530352" cy="530352"/>
          </a:xfrm>
          <a:prstGeom prst="ellipse">
            <a:avLst/>
          </a:prstGeom>
          <a:solidFill>
            <a:srgbClr val="FFFFFF"/>
          </a:solidFill>
          <a:ln/>
        </p:spPr>
      </p:sp>
      <p:pic>
        <p:nvPicPr>
          <p:cNvPr id="19" name="Image 2" descr="/tmp/b/icons/gavel_teal.png">    </p:cNvPr>
          <p:cNvPicPr>
            <a:picLocks noChangeAspect="1"/>
          </p:cNvPicPr>
          <p:nvPr/>
        </p:nvPicPr>
        <p:blipFill>
          <a:blip r:embed="rId3"/>
          <a:stretch>
            <a:fillRect/>
          </a:stretch>
        </p:blipFill>
        <p:spPr>
          <a:xfrm>
            <a:off x="942564" y="4892772"/>
            <a:ext cx="254569" cy="254569"/>
          </a:xfrm>
          <a:prstGeom prst="rect">
            <a:avLst/>
          </a:prstGeom>
        </p:spPr>
      </p:pic>
      <p:sp>
        <p:nvSpPr>
          <p:cNvPr id="20" name="Text 15"/>
          <p:cNvSpPr/>
          <p:nvPr/>
        </p:nvSpPr>
        <p:spPr>
          <a:xfrm>
            <a:off x="1481328" y="4608576"/>
            <a:ext cx="2606040" cy="329184"/>
          </a:xfrm>
          <a:prstGeom prst="rect">
            <a:avLst/>
          </a:prstGeom>
          <a:noFill/>
          <a:ln/>
        </p:spPr>
        <p:txBody>
          <a:bodyPr wrap="square"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Ask another model</a:t>
            </a:r>
            <a:endParaRPr lang="en-US" sz="1350" dirty="0"/>
          </a:p>
        </p:txBody>
      </p:sp>
      <p:sp>
        <p:nvSpPr>
          <p:cNvPr id="21" name="Text 16"/>
          <p:cNvSpPr/>
          <p:nvPr/>
        </p:nvSpPr>
        <p:spPr>
          <a:xfrm>
            <a:off x="1481328" y="4956048"/>
            <a:ext cx="2606040" cy="457200"/>
          </a:xfrm>
          <a:prstGeom prst="rect">
            <a:avLst/>
          </a:prstGeom>
          <a:noFill/>
          <a:ln/>
        </p:spPr>
        <p:txBody>
          <a:bodyPr wrap="square" rtlCol="0" anchor="ctr"/>
          <a:lstStyle/>
          <a:p>
            <a:pPr indent="0" marL="0">
              <a:lnSpc>
                <a:spcPct val="110000"/>
              </a:lnSpc>
              <a:buNone/>
            </a:pPr>
            <a:r>
              <a:rPr lang="en-US" sz="1000" i="1" dirty="0">
                <a:solidFill>
                  <a:srgbClr val="5C7080"/>
                </a:solidFill>
                <a:latin typeface="Calibri" pitchFamily="34" charset="0"/>
                <a:ea typeface="Calibri" pitchFamily="34" charset="-122"/>
                <a:cs typeface="Calibri" pitchFamily="34" charset="-120"/>
              </a:rPr>
              <a:t>Handles open-ended work, but noisy</a:t>
            </a:r>
            <a:endParaRPr lang="en-US" sz="1000" dirty="0"/>
          </a:p>
        </p:txBody>
      </p:sp>
      <p:sp>
        <p:nvSpPr>
          <p:cNvPr id="22" name="Text 17"/>
          <p:cNvSpPr/>
          <p:nvPr/>
        </p:nvSpPr>
        <p:spPr>
          <a:xfrm>
            <a:off x="4251960" y="4590288"/>
            <a:ext cx="7178040" cy="859536"/>
          </a:xfrm>
          <a:prstGeom prst="rect">
            <a:avLst/>
          </a:prstGeom>
          <a:noFill/>
          <a:ln/>
        </p:spPr>
        <p:txBody>
          <a:bodyPr wrap="square" rtlCol="0" anchor="ctr"/>
          <a:lstStyle/>
          <a:p>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A separate model judges the attempt against written criteria. The only option for essays, analysis, or design — but the judge has its own biases, and its noise becomes your training signal.</a:t>
            </a:r>
            <a:endParaRPr lang="en-US" sz="1100" dirty="0"/>
          </a:p>
        </p:txBody>
      </p:sp>
      <p:sp>
        <p:nvSpPr>
          <p:cNvPr id="23" name="Text 18"/>
          <p:cNvSpPr/>
          <p:nvPr/>
        </p:nvSpPr>
        <p:spPr>
          <a:xfrm>
            <a:off x="548640" y="5632704"/>
            <a:ext cx="11064240" cy="566928"/>
          </a:xfrm>
          <a:prstGeom prst="rect">
            <a:avLst/>
          </a:prstGeom>
          <a:noFill/>
          <a:ln/>
        </p:spPr>
        <p:txBody>
          <a:bodyPr wrap="square" rtlCol="0" anchor="ctr"/>
          <a:lstStyle/>
          <a:p>
            <a:pPr indent="0" marL="0">
              <a:lnSpc>
                <a:spcPct val="120000"/>
              </a:lnSpc>
              <a:buNone/>
            </a:pPr>
            <a:r>
              <a:rPr lang="en-US" sz="1100" b="1" dirty="0">
                <a:solidFill>
                  <a:srgbClr val="1B2733"/>
                </a:solidFill>
                <a:latin typeface="Calibri" pitchFamily="34" charset="0"/>
                <a:ea typeface="Calibri" pitchFamily="34" charset="-122"/>
                <a:cs typeface="Calibri" pitchFamily="34" charset="-120"/>
              </a:rPr>
              <a:t>The set of scoring functions applied to one attempt is called a rubric. </a:t>
            </a:r>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A rubric can combine all three — for example, exact-match on the final answer plus a judge on the reasoning — with a weight on each. And some functions are worth recording without rewarding at all: measuring how often the model produced parseable output tells you a great deal, but paying it to format nicely teaches a different lesson than paying it to be right.</a:t>
            </a:r>
            <a:endParaRPr lang="en-US" sz="1100" dirty="0"/>
          </a:p>
        </p:txBody>
      </p:sp>
      <p:sp>
        <p:nvSpPr>
          <p:cNvPr id="24" name="Text 19"/>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25" name="Text 20"/>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3 OF 5</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The Scoring Function Is the Whole Problem</a:t>
            </a:r>
            <a:endParaRPr lang="en-US" sz="3000" dirty="0"/>
          </a:p>
        </p:txBody>
      </p:sp>
      <p:sp>
        <p:nvSpPr>
          <p:cNvPr id="4" name="Text 2"/>
          <p:cNvSpPr/>
          <p:nvPr/>
        </p:nvSpPr>
        <p:spPr>
          <a:xfrm>
            <a:off x="548640" y="1417320"/>
            <a:ext cx="11064240" cy="502920"/>
          </a:xfrm>
          <a:prstGeom prst="rect">
            <a:avLst/>
          </a:prstGeom>
          <a:noFill/>
          <a:ln/>
        </p:spPr>
        <p:txBody>
          <a:bodyPr wrap="square" rtlCol="0" anchor="ctr"/>
          <a:lstStyle/>
          <a:p>
            <a:pPr indent="0" marL="0">
              <a:lnSpc>
                <a:spcPct val="125000"/>
              </a:lnSpc>
              <a:buNone/>
            </a:pPr>
            <a:r>
              <a:rPr lang="en-US" sz="1350" dirty="0">
                <a:solidFill>
                  <a:srgbClr val="5C7080"/>
                </a:solidFill>
                <a:latin typeface="Calibri" pitchFamily="34" charset="0"/>
                <a:ea typeface="Calibri" pitchFamily="34" charset="-122"/>
                <a:cs typeface="Calibri" pitchFamily="34" charset="-120"/>
              </a:rPr>
              <a:t>Optimisation is indifferent to intent. It will find whatever most reliably produces a high number — and if a shortcut scores better than the task you meant, the shortcut is the correct answer to the problem you actually posed.</a:t>
            </a:r>
            <a:endParaRPr lang="en-US" sz="1350" dirty="0"/>
          </a:p>
        </p:txBody>
      </p:sp>
      <p:sp>
        <p:nvSpPr>
          <p:cNvPr id="5" name="Shape 3"/>
          <p:cNvSpPr/>
          <p:nvPr/>
        </p:nvSpPr>
        <p:spPr>
          <a:xfrm>
            <a:off x="548640" y="2148840"/>
            <a:ext cx="3593592" cy="2148840"/>
          </a:xfrm>
          <a:prstGeom prst="roundRect">
            <a:avLst>
              <a:gd name="adj" fmla="val 3404"/>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04672" y="2404872"/>
            <a:ext cx="566928" cy="566928"/>
          </a:xfrm>
          <a:prstGeom prst="ellipse">
            <a:avLst/>
          </a:prstGeom>
          <a:solidFill>
            <a:srgbClr val="1C7293"/>
          </a:solidFill>
          <a:ln/>
        </p:spPr>
      </p:sp>
      <p:pic>
        <p:nvPicPr>
          <p:cNvPr id="7" name="Image 0" descr="/tmp/b/icons/magnifying_glass_white.png">    </p:cNvPr>
          <p:cNvPicPr>
            <a:picLocks noChangeAspect="1"/>
          </p:cNvPicPr>
          <p:nvPr/>
        </p:nvPicPr>
        <p:blipFill>
          <a:blip r:embed="rId1"/>
          <a:stretch>
            <a:fillRect/>
          </a:stretch>
        </p:blipFill>
        <p:spPr>
          <a:xfrm>
            <a:off x="952073" y="2552273"/>
            <a:ext cx="272125" cy="272125"/>
          </a:xfrm>
          <a:prstGeom prst="rect">
            <a:avLst/>
          </a:prstGeom>
        </p:spPr>
      </p:pic>
      <p:sp>
        <p:nvSpPr>
          <p:cNvPr id="8" name="Text 5"/>
          <p:cNvSpPr/>
          <p:nvPr/>
        </p:nvSpPr>
        <p:spPr>
          <a:xfrm>
            <a:off x="1508760" y="2441448"/>
            <a:ext cx="2404872" cy="502920"/>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Measuring a proxy</a:t>
            </a:r>
            <a:endParaRPr lang="en-US" sz="1400" dirty="0"/>
          </a:p>
        </p:txBody>
      </p:sp>
      <p:sp>
        <p:nvSpPr>
          <p:cNvPr id="9" name="Text 6"/>
          <p:cNvSpPr/>
          <p:nvPr/>
        </p:nvSpPr>
        <p:spPr>
          <a:xfrm>
            <a:off x="804672" y="3108960"/>
            <a:ext cx="3081528" cy="1005840"/>
          </a:xfrm>
          <a:prstGeom prst="rect">
            <a:avLst/>
          </a:prstGeom>
          <a:noFill/>
          <a:ln/>
        </p:spPr>
        <p:txBody>
          <a:bodyPr wrap="square" rtlCol="0" anchor="ctr"/>
          <a:lstStyle/>
          <a:p>
            <a:pPr indent="0" marL="0">
              <a:lnSpc>
                <a:spcPct val="122000"/>
              </a:lnSpc>
              <a:buNone/>
            </a:pPr>
            <a:r>
              <a:rPr lang="en-US" sz="1100" dirty="0">
                <a:solidFill>
                  <a:srgbClr val="5C7080"/>
                </a:solidFill>
                <a:latin typeface="Calibri" pitchFamily="34" charset="0"/>
                <a:ea typeface="Calibri" pitchFamily="34" charset="-122"/>
                <a:cs typeface="Calibri" pitchFamily="34" charset="-120"/>
              </a:rPr>
              <a:t>You can't measure “helpful,” so you measure response length, or confident phrasing, or agreement with the user. The model optimises exactly what you wrote down.</a:t>
            </a:r>
            <a:endParaRPr lang="en-US" sz="1100" dirty="0"/>
          </a:p>
        </p:txBody>
      </p:sp>
      <p:sp>
        <p:nvSpPr>
          <p:cNvPr id="10" name="Shape 7"/>
          <p:cNvSpPr/>
          <p:nvPr/>
        </p:nvSpPr>
        <p:spPr>
          <a:xfrm>
            <a:off x="4279392" y="2148840"/>
            <a:ext cx="3593592" cy="2148840"/>
          </a:xfrm>
          <a:prstGeom prst="roundRect">
            <a:avLst>
              <a:gd name="adj" fmla="val 3404"/>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4535424" y="2404872"/>
            <a:ext cx="566928" cy="566928"/>
          </a:xfrm>
          <a:prstGeom prst="ellipse">
            <a:avLst/>
          </a:prstGeom>
          <a:solidFill>
            <a:srgbClr val="065A82"/>
          </a:solidFill>
          <a:ln/>
        </p:spPr>
      </p:sp>
      <p:pic>
        <p:nvPicPr>
          <p:cNvPr id="12" name="Image 1" descr="/tmp/b/icons/key_white.png">    </p:cNvPr>
          <p:cNvPicPr>
            <a:picLocks noChangeAspect="1"/>
          </p:cNvPicPr>
          <p:nvPr/>
        </p:nvPicPr>
        <p:blipFill>
          <a:blip r:embed="rId2"/>
          <a:stretch>
            <a:fillRect/>
          </a:stretch>
        </p:blipFill>
        <p:spPr>
          <a:xfrm>
            <a:off x="4682825" y="2552273"/>
            <a:ext cx="272125" cy="272125"/>
          </a:xfrm>
          <a:prstGeom prst="rect">
            <a:avLst/>
          </a:prstGeom>
        </p:spPr>
      </p:pic>
      <p:sp>
        <p:nvSpPr>
          <p:cNvPr id="13" name="Text 9"/>
          <p:cNvSpPr/>
          <p:nvPr/>
        </p:nvSpPr>
        <p:spPr>
          <a:xfrm>
            <a:off x="5239512" y="2441448"/>
            <a:ext cx="2404872" cy="502920"/>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Reaching the scorer</a:t>
            </a:r>
            <a:endParaRPr lang="en-US" sz="1400" dirty="0"/>
          </a:p>
        </p:txBody>
      </p:sp>
      <p:sp>
        <p:nvSpPr>
          <p:cNvPr id="14" name="Text 10"/>
          <p:cNvSpPr/>
          <p:nvPr/>
        </p:nvSpPr>
        <p:spPr>
          <a:xfrm>
            <a:off x="4535424" y="3108960"/>
            <a:ext cx="3081528" cy="1005840"/>
          </a:xfrm>
          <a:prstGeom prst="rect">
            <a:avLst/>
          </a:prstGeom>
          <a:noFill/>
          <a:ln/>
        </p:spPr>
        <p:txBody>
          <a:bodyPr wrap="square" rtlCol="0" anchor="ctr"/>
          <a:lstStyle/>
          <a:p>
            <a:pPr indent="0" marL="0">
              <a:lnSpc>
                <a:spcPct val="122000"/>
              </a:lnSpc>
              <a:buNone/>
            </a:pPr>
            <a:r>
              <a:rPr lang="en-US" sz="1100" dirty="0">
                <a:solidFill>
                  <a:srgbClr val="5C7080"/>
                </a:solidFill>
                <a:latin typeface="Calibri" pitchFamily="34" charset="0"/>
                <a:ea typeface="Calibri" pitchFamily="34" charset="-122"/>
                <a:cs typeface="Calibri" pitchFamily="34" charset="-120"/>
              </a:rPr>
              <a:t>If the thing being graded can touch the grader — edit the tests, write to the answer file, call the checker directly — it will eventually find that path. It's the highest-scoring strategy available.</a:t>
            </a:r>
            <a:endParaRPr lang="en-US" sz="1100" dirty="0"/>
          </a:p>
        </p:txBody>
      </p:sp>
      <p:sp>
        <p:nvSpPr>
          <p:cNvPr id="15" name="Shape 11"/>
          <p:cNvSpPr/>
          <p:nvPr/>
        </p:nvSpPr>
        <p:spPr>
          <a:xfrm>
            <a:off x="8010144" y="2148840"/>
            <a:ext cx="3593592" cy="2148840"/>
          </a:xfrm>
          <a:prstGeom prst="roundRect">
            <a:avLst>
              <a:gd name="adj" fmla="val 3404"/>
            </a:avLst>
          </a:prstGeom>
          <a:solidFill>
            <a:srgbClr val="F2F8FA"/>
          </a:solidFill>
          <a:ln/>
          <a:effectLst>
            <a:outerShdw sx="100000" sy="100000" kx="0" ky="0" algn="bl" rotWithShape="0" blurRad="101600" dist="25400" dir="5400000">
              <a:srgbClr val="1B2733">
                <a:alpha val="8000"/>
              </a:srgbClr>
            </a:outerShdw>
          </a:effectLst>
        </p:spPr>
      </p:sp>
      <p:sp>
        <p:nvSpPr>
          <p:cNvPr id="16" name="Shape 12"/>
          <p:cNvSpPr/>
          <p:nvPr/>
        </p:nvSpPr>
        <p:spPr>
          <a:xfrm>
            <a:off x="8266176" y="2404872"/>
            <a:ext cx="566928" cy="566928"/>
          </a:xfrm>
          <a:prstGeom prst="ellipse">
            <a:avLst/>
          </a:prstGeom>
          <a:solidFill>
            <a:srgbClr val="21295C"/>
          </a:solidFill>
          <a:ln/>
        </p:spPr>
      </p:sp>
      <p:pic>
        <p:nvPicPr>
          <p:cNvPr id="17" name="Image 2" descr="/tmp/b/icons/triangle_exclamation_white.png">    </p:cNvPr>
          <p:cNvPicPr>
            <a:picLocks noChangeAspect="1"/>
          </p:cNvPicPr>
          <p:nvPr/>
        </p:nvPicPr>
        <p:blipFill>
          <a:blip r:embed="rId3"/>
          <a:stretch>
            <a:fillRect/>
          </a:stretch>
        </p:blipFill>
        <p:spPr>
          <a:xfrm>
            <a:off x="8413577" y="2552273"/>
            <a:ext cx="272125" cy="272125"/>
          </a:xfrm>
          <a:prstGeom prst="rect">
            <a:avLst/>
          </a:prstGeom>
        </p:spPr>
      </p:pic>
      <p:sp>
        <p:nvSpPr>
          <p:cNvPr id="18" name="Text 13"/>
          <p:cNvSpPr/>
          <p:nvPr/>
        </p:nvSpPr>
        <p:spPr>
          <a:xfrm>
            <a:off x="8970264" y="2441448"/>
            <a:ext cx="2404872" cy="502920"/>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Degenerate strategies</a:t>
            </a:r>
            <a:endParaRPr lang="en-US" sz="1400" dirty="0"/>
          </a:p>
        </p:txBody>
      </p:sp>
      <p:sp>
        <p:nvSpPr>
          <p:cNvPr id="19" name="Text 14"/>
          <p:cNvSpPr/>
          <p:nvPr/>
        </p:nvSpPr>
        <p:spPr>
          <a:xfrm>
            <a:off x="8266176" y="3108960"/>
            <a:ext cx="3081528" cy="1005840"/>
          </a:xfrm>
          <a:prstGeom prst="rect">
            <a:avLst/>
          </a:prstGeom>
          <a:noFill/>
          <a:ln/>
        </p:spPr>
        <p:txBody>
          <a:bodyPr wrap="square" rtlCol="0" anchor="ctr"/>
          <a:lstStyle/>
          <a:p>
            <a:pPr indent="0" marL="0">
              <a:lnSpc>
                <a:spcPct val="122000"/>
              </a:lnSpc>
              <a:buNone/>
            </a:pPr>
            <a:r>
              <a:rPr lang="en-US" sz="1100" dirty="0">
                <a:solidFill>
                  <a:srgbClr val="5C7080"/>
                </a:solidFill>
                <a:latin typeface="Calibri" pitchFamily="34" charset="0"/>
                <a:ea typeface="Calibri" pitchFamily="34" charset="-122"/>
                <a:cs typeface="Calibri" pitchFamily="34" charset="-120"/>
              </a:rPr>
              <a:t>A reward that's almost always 0 or almost always 1 gives no gradient to climb, so the model settles on some cheap constant behaviour that happens to score adequately.</a:t>
            </a:r>
            <a:endParaRPr lang="en-US" sz="1100" dirty="0"/>
          </a:p>
        </p:txBody>
      </p:sp>
      <p:sp>
        <p:nvSpPr>
          <p:cNvPr id="20" name="Shape 15"/>
          <p:cNvSpPr/>
          <p:nvPr/>
        </p:nvSpPr>
        <p:spPr>
          <a:xfrm>
            <a:off x="548640" y="4553712"/>
            <a:ext cx="11064240" cy="1600200"/>
          </a:xfrm>
          <a:prstGeom prst="roundRect">
            <a:avLst>
              <a:gd name="adj" fmla="val 4571"/>
            </a:avLst>
          </a:prstGeom>
          <a:solidFill>
            <a:srgbClr val="0B2942"/>
          </a:solidFill>
          <a:ln/>
        </p:spPr>
      </p:sp>
      <p:sp>
        <p:nvSpPr>
          <p:cNvPr id="21" name="Shape 16"/>
          <p:cNvSpPr/>
          <p:nvPr/>
        </p:nvSpPr>
        <p:spPr>
          <a:xfrm>
            <a:off x="868680" y="4956048"/>
            <a:ext cx="640080" cy="640080"/>
          </a:xfrm>
          <a:prstGeom prst="ellipse">
            <a:avLst/>
          </a:prstGeom>
          <a:solidFill>
            <a:srgbClr val="1C7293"/>
          </a:solidFill>
          <a:ln/>
        </p:spPr>
      </p:sp>
      <p:pic>
        <p:nvPicPr>
          <p:cNvPr id="22" name="Image 3" descr="/tmp/b/icons/shield_halved_white.png">    </p:cNvPr>
          <p:cNvPicPr>
            <a:picLocks noChangeAspect="1"/>
          </p:cNvPicPr>
          <p:nvPr/>
        </p:nvPicPr>
        <p:blipFill>
          <a:blip r:embed="rId4"/>
          <a:stretch>
            <a:fillRect/>
          </a:stretch>
        </p:blipFill>
        <p:spPr>
          <a:xfrm>
            <a:off x="1035101" y="5122469"/>
            <a:ext cx="307238" cy="307238"/>
          </a:xfrm>
          <a:prstGeom prst="rect">
            <a:avLst/>
          </a:prstGeom>
        </p:spPr>
      </p:pic>
      <p:sp>
        <p:nvSpPr>
          <p:cNvPr id="23" name="Text 17"/>
          <p:cNvSpPr/>
          <p:nvPr/>
        </p:nvSpPr>
        <p:spPr>
          <a:xfrm>
            <a:off x="1737360" y="4754880"/>
            <a:ext cx="9601200" cy="320040"/>
          </a:xfrm>
          <a:prstGeom prst="rect">
            <a:avLst/>
          </a:prstGeom>
          <a:noFill/>
          <a:ln/>
        </p:spPr>
        <p:txBody>
          <a:bodyPr wrap="square" rtlCol="0" anchor="ctr"/>
          <a:lstStyle/>
          <a:p>
            <a:pPr indent="0" marL="0">
              <a:buNone/>
            </a:pPr>
            <a:r>
              <a:rPr lang="en-US" sz="1400" b="1" dirty="0">
                <a:solidFill>
                  <a:srgbClr val="8FD4E8"/>
                </a:solidFill>
                <a:latin typeface="Calibri" pitchFamily="34" charset="0"/>
                <a:ea typeface="Calibri" pitchFamily="34" charset="-122"/>
                <a:cs typeface="Calibri" pitchFamily="34" charset="-120"/>
              </a:rPr>
              <a:t>The defensive question, asked before training rather than after</a:t>
            </a:r>
            <a:endParaRPr lang="en-US" sz="1400" dirty="0"/>
          </a:p>
        </p:txBody>
      </p:sp>
      <p:sp>
        <p:nvSpPr>
          <p:cNvPr id="24" name="Text 18"/>
          <p:cNvSpPr/>
          <p:nvPr/>
        </p:nvSpPr>
        <p:spPr>
          <a:xfrm>
            <a:off x="1737360" y="5120640"/>
            <a:ext cx="9601200" cy="914400"/>
          </a:xfrm>
          <a:prstGeom prst="rect">
            <a:avLst/>
          </a:prstGeom>
          <a:noFill/>
          <a:ln/>
        </p:spPr>
        <p:txBody>
          <a:bodyPr wrap="square" rtlCol="0" anchor="ctr"/>
          <a:lstStyle/>
          <a:p>
            <a:pPr indent="0" marL="0">
              <a:lnSpc>
                <a:spcPct val="125000"/>
              </a:lnSpc>
              <a:buNone/>
            </a:pPr>
            <a:r>
              <a:rPr lang="en-US" sz="1200" dirty="0">
                <a:solidFill>
                  <a:srgbClr val="CFE8F0"/>
                </a:solidFill>
                <a:latin typeface="Calibri" pitchFamily="34" charset="0"/>
                <a:ea typeface="Calibri" pitchFamily="34" charset="-122"/>
                <a:cs typeface="Calibri" pitchFamily="34" charset="-120"/>
              </a:rPr>
              <a:t>If I wanted to score well on this task without doing it, what would I try? Anything you can answer in under a minute, an optimiser running millions of attempts will certainly find. The strongest single defence is structural: make it impossible for the thing being graded to modify the thing doing the grading — not by asking it not to, but by not giving it the access.</a:t>
            </a:r>
            <a:endParaRPr lang="en-US" sz="1200" dirty="0"/>
          </a:p>
        </p:txBody>
      </p:sp>
      <p:sp>
        <p:nvSpPr>
          <p:cNvPr id="25" name="Text 19"/>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26" name="Text 20"/>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4 OF 5</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Changing Behaviour Without Changing Every Weight</a:t>
            </a:r>
            <a:endParaRPr lang="en-US" sz="3000" dirty="0"/>
          </a:p>
        </p:txBody>
      </p:sp>
      <p:sp>
        <p:nvSpPr>
          <p:cNvPr id="4" name="Text 2"/>
          <p:cNvSpPr/>
          <p:nvPr/>
        </p:nvSpPr>
        <p:spPr>
          <a:xfrm>
            <a:off x="548640" y="1417320"/>
            <a:ext cx="11064240" cy="502920"/>
          </a:xfrm>
          <a:prstGeom prst="rect">
            <a:avLst/>
          </a:prstGeom>
          <a:noFill/>
          <a:ln/>
        </p:spPr>
        <p:txBody>
          <a:bodyPr wrap="square" rtlCol="0" anchor="ctr"/>
          <a:lstStyle/>
          <a:p>
            <a:pPr indent="0" marL="0">
              <a:lnSpc>
                <a:spcPct val="125000"/>
              </a:lnSpc>
              <a:buNone/>
            </a:pPr>
            <a:r>
              <a:rPr lang="en-US" sz="1350" dirty="0">
                <a:solidFill>
                  <a:srgbClr val="5C7080"/>
                </a:solidFill>
                <a:latin typeface="Calibri" pitchFamily="34" charset="0"/>
                <a:ea typeface="Calibri" pitchFamily="34" charset="-122"/>
                <a:cs typeface="Calibri" pitchFamily="34" charset="-120"/>
              </a:rPr>
              <a:t>Updating all the weights of a large model needs the whole model in memory, in gradient-tracking form, on hardware you have exclusively. That is the single biggest reason fine-tuning used to be out of reach for most people.</a:t>
            </a:r>
            <a:endParaRPr lang="en-US" sz="1350" dirty="0"/>
          </a:p>
        </p:txBody>
      </p:sp>
      <p:sp>
        <p:nvSpPr>
          <p:cNvPr id="5" name="Shape 3"/>
          <p:cNvSpPr/>
          <p:nvPr/>
        </p:nvSpPr>
        <p:spPr>
          <a:xfrm>
            <a:off x="548640" y="2103120"/>
            <a:ext cx="5394960" cy="2286000"/>
          </a:xfrm>
          <a:prstGeom prst="roundRect">
            <a:avLst>
              <a:gd name="adj" fmla="val 3200"/>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22960" y="2359152"/>
            <a:ext cx="566928" cy="566928"/>
          </a:xfrm>
          <a:prstGeom prst="ellipse">
            <a:avLst/>
          </a:prstGeom>
          <a:solidFill>
            <a:srgbClr val="FFFFFF"/>
          </a:solidFill>
          <a:ln/>
        </p:spPr>
      </p:sp>
      <p:pic>
        <p:nvPicPr>
          <p:cNvPr id="7" name="Image 0" descr="/tmp/b/icons/layer_group_teal.png">    </p:cNvPr>
          <p:cNvPicPr>
            <a:picLocks noChangeAspect="1"/>
          </p:cNvPicPr>
          <p:nvPr/>
        </p:nvPicPr>
        <p:blipFill>
          <a:blip r:embed="rId1"/>
          <a:stretch>
            <a:fillRect/>
          </a:stretch>
        </p:blipFill>
        <p:spPr>
          <a:xfrm>
            <a:off x="970361" y="2506553"/>
            <a:ext cx="272125" cy="272125"/>
          </a:xfrm>
          <a:prstGeom prst="rect">
            <a:avLst/>
          </a:prstGeom>
        </p:spPr>
      </p:pic>
      <p:sp>
        <p:nvSpPr>
          <p:cNvPr id="8" name="Text 5"/>
          <p:cNvSpPr/>
          <p:nvPr/>
        </p:nvSpPr>
        <p:spPr>
          <a:xfrm>
            <a:off x="1508760" y="2395728"/>
            <a:ext cx="4206240" cy="365760"/>
          </a:xfrm>
          <a:prstGeom prst="rect">
            <a:avLst/>
          </a:prstGeom>
          <a:noFill/>
          <a:ln/>
        </p:spPr>
        <p:txBody>
          <a:bodyPr wrap="square"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The low-rank idea</a:t>
            </a:r>
            <a:endParaRPr lang="en-US" sz="1500" dirty="0"/>
          </a:p>
        </p:txBody>
      </p:sp>
      <p:sp>
        <p:nvSpPr>
          <p:cNvPr id="9" name="Text 6"/>
          <p:cNvSpPr/>
          <p:nvPr/>
        </p:nvSpPr>
        <p:spPr>
          <a:xfrm>
            <a:off x="822960" y="3017520"/>
            <a:ext cx="4846320" cy="1234440"/>
          </a:xfrm>
          <a:prstGeom prst="rect">
            <a:avLst/>
          </a:prstGeom>
          <a:noFill/>
          <a:ln/>
        </p:spPr>
        <p:txBody>
          <a:bodyPr wrap="square" rtlCol="0" anchor="ctr"/>
          <a:lstStyle/>
          <a:p>
            <a:pPr indent="0" marL="0">
              <a:lnSpc>
                <a:spcPct val="125000"/>
              </a:lnSpc>
              <a:buNone/>
            </a:pPr>
            <a:r>
              <a:rPr lang="en-US" sz="1150" dirty="0">
                <a:solidFill>
                  <a:srgbClr val="5C7080"/>
                </a:solidFill>
                <a:latin typeface="Calibri" pitchFamily="34" charset="0"/>
                <a:ea typeface="Calibri" pitchFamily="34" charset="-122"/>
                <a:cs typeface="Calibri" pitchFamily="34" charset="-120"/>
              </a:rPr>
              <a:t>Freeze the original weights completely. Alongside each one, train a small pair of matrices whose product has the same shape as the weight matrix but far fewer parameters. At inference the small product is simply added to the frozen weight. The adaptation is a thin patch — often well under 1% the size of the model — laid over an untouched base.</a:t>
            </a:r>
            <a:endParaRPr lang="en-US" sz="1150" dirty="0"/>
          </a:p>
        </p:txBody>
      </p:sp>
      <p:sp>
        <p:nvSpPr>
          <p:cNvPr id="10" name="Shape 7"/>
          <p:cNvSpPr/>
          <p:nvPr/>
        </p:nvSpPr>
        <p:spPr>
          <a:xfrm>
            <a:off x="6217920" y="2103120"/>
            <a:ext cx="5394960" cy="2286000"/>
          </a:xfrm>
          <a:prstGeom prst="roundRect">
            <a:avLst>
              <a:gd name="adj" fmla="val 3200"/>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6492240" y="2359152"/>
            <a:ext cx="566928" cy="566928"/>
          </a:xfrm>
          <a:prstGeom prst="ellipse">
            <a:avLst/>
          </a:prstGeom>
          <a:solidFill>
            <a:srgbClr val="FFFFFF"/>
          </a:solidFill>
          <a:ln/>
        </p:spPr>
      </p:sp>
      <p:pic>
        <p:nvPicPr>
          <p:cNvPr id="12" name="Image 1" descr="/tmp/b/icons/boxes_stacked_teal.png">    </p:cNvPr>
          <p:cNvPicPr>
            <a:picLocks noChangeAspect="1"/>
          </p:cNvPicPr>
          <p:nvPr/>
        </p:nvPicPr>
        <p:blipFill>
          <a:blip r:embed="rId2"/>
          <a:stretch>
            <a:fillRect/>
          </a:stretch>
        </p:blipFill>
        <p:spPr>
          <a:xfrm>
            <a:off x="6639641" y="2506553"/>
            <a:ext cx="272125" cy="272125"/>
          </a:xfrm>
          <a:prstGeom prst="rect">
            <a:avLst/>
          </a:prstGeom>
        </p:spPr>
      </p:pic>
      <p:sp>
        <p:nvSpPr>
          <p:cNvPr id="13" name="Text 9"/>
          <p:cNvSpPr/>
          <p:nvPr/>
        </p:nvSpPr>
        <p:spPr>
          <a:xfrm>
            <a:off x="7178040" y="2395728"/>
            <a:ext cx="4206240" cy="365760"/>
          </a:xfrm>
          <a:prstGeom prst="rect">
            <a:avLst/>
          </a:prstGeom>
          <a:noFill/>
          <a:ln/>
        </p:spPr>
        <p:txBody>
          <a:bodyPr wrap="square"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Why it changes who can train</a:t>
            </a:r>
            <a:endParaRPr lang="en-US" sz="1500" dirty="0"/>
          </a:p>
        </p:txBody>
      </p:sp>
      <p:sp>
        <p:nvSpPr>
          <p:cNvPr id="14" name="Text 10"/>
          <p:cNvSpPr/>
          <p:nvPr/>
        </p:nvSpPr>
        <p:spPr>
          <a:xfrm>
            <a:off x="6492240" y="3017520"/>
            <a:ext cx="4846320" cy="1234440"/>
          </a:xfrm>
          <a:prstGeom prst="rect">
            <a:avLst/>
          </a:prstGeom>
          <a:noFill/>
          <a:ln/>
        </p:spPr>
        <p:txBody>
          <a:bodyPr wrap="square" rtlCol="0" anchor="ctr"/>
          <a:lstStyle/>
          <a:p>
            <a:pPr indent="0" marL="0">
              <a:lnSpc>
                <a:spcPct val="125000"/>
              </a:lnSpc>
              <a:buNone/>
            </a:pPr>
            <a:r>
              <a:rPr lang="en-US" sz="1150" dirty="0">
                <a:solidFill>
                  <a:srgbClr val="5C7080"/>
                </a:solidFill>
                <a:latin typeface="Calibri" pitchFamily="34" charset="0"/>
                <a:ea typeface="Calibri" pitchFamily="34" charset="-122"/>
                <a:cs typeface="Calibri" pitchFamily="34" charset="-120"/>
              </a:rPr>
              <a:t>Because the base weights never move, one loaded copy of a model can serve many different adaptations at once, swapping the small patch per request. That turns fine-tuning from “rent a machine for a week” into something a shared service can meter per token — and it means the trained result is a small file you can hand around, not a hundred gigabytes of weights.</a:t>
            </a:r>
            <a:endParaRPr lang="en-US" sz="1150" dirty="0"/>
          </a:p>
        </p:txBody>
      </p:sp>
      <p:sp>
        <p:nvSpPr>
          <p:cNvPr id="15" name="Shape 11"/>
          <p:cNvSpPr/>
          <p:nvPr/>
        </p:nvSpPr>
        <p:spPr>
          <a:xfrm>
            <a:off x="548640" y="4572000"/>
            <a:ext cx="11064240" cy="1463040"/>
          </a:xfrm>
          <a:prstGeom prst="roundRect">
            <a:avLst>
              <a:gd name="adj" fmla="val 5000"/>
            </a:avLst>
          </a:prstGeom>
          <a:solidFill>
            <a:srgbClr val="F5F0F7"/>
          </a:solidFill>
          <a:ln w="12700">
            <a:solidFill>
              <a:srgbClr val="C4AED6"/>
            </a:solidFill>
            <a:prstDash val="solid"/>
          </a:ln>
        </p:spPr>
      </p:sp>
      <p:sp>
        <p:nvSpPr>
          <p:cNvPr id="16" name="Text 12"/>
          <p:cNvSpPr/>
          <p:nvPr/>
        </p:nvSpPr>
        <p:spPr>
          <a:xfrm>
            <a:off x="822960" y="4709160"/>
            <a:ext cx="10515600" cy="320040"/>
          </a:xfrm>
          <a:prstGeom prst="rect">
            <a:avLst/>
          </a:prstGeom>
          <a:noFill/>
          <a:ln/>
        </p:spPr>
        <p:txBody>
          <a:bodyPr wrap="square" rtlCol="0" anchor="ctr"/>
          <a:lstStyle/>
          <a:p>
            <a:pPr indent="0" marL="0">
              <a:buNone/>
            </a:pPr>
            <a:r>
              <a:rPr lang="en-US" sz="1300" b="1" dirty="0">
                <a:solidFill>
                  <a:srgbClr val="5B3A7A"/>
                </a:solidFill>
                <a:latin typeface="Calibri" pitchFamily="34" charset="0"/>
                <a:ea typeface="Calibri" pitchFamily="34" charset="-122"/>
                <a:cs typeface="Calibri" pitchFamily="34" charset="-120"/>
              </a:rPr>
              <a:t>The trade, stated honestly</a:t>
            </a:r>
            <a:endParaRPr lang="en-US" sz="1300" dirty="0"/>
          </a:p>
        </p:txBody>
      </p:sp>
      <p:sp>
        <p:nvSpPr>
          <p:cNvPr id="17" name="Text 13"/>
          <p:cNvSpPr/>
          <p:nvPr/>
        </p:nvSpPr>
        <p:spPr>
          <a:xfrm>
            <a:off x="822960" y="5029200"/>
            <a:ext cx="10515600" cy="868680"/>
          </a:xfrm>
          <a:prstGeom prst="rect">
            <a:avLst/>
          </a:prstGeom>
          <a:noFill/>
          <a:ln/>
        </p:spPr>
        <p:txBody>
          <a:bodyPr wrap="square" rtlCol="0" anchor="ctr"/>
          <a:lstStyle/>
          <a:p>
            <a:pPr indent="0" marL="0">
              <a:lnSpc>
                <a:spcPct val="125000"/>
              </a:lnSpc>
              <a:buNone/>
            </a:pPr>
            <a:r>
              <a:rPr lang="en-US" sz="1150" dirty="0">
                <a:solidFill>
                  <a:srgbClr val="1B2733"/>
                </a:solidFill>
                <a:latin typeface="Calibri" pitchFamily="34" charset="0"/>
                <a:ea typeface="Calibri" pitchFamily="34" charset="-122"/>
                <a:cs typeface="Calibri" pitchFamily="34" charset="-120"/>
              </a:rPr>
              <a:t>A thin patch can steer, specialise, and sharpen a capability the base model already has somewhere in it. It is a much weaker instrument for installing a capability that isn't there at all. For most task-specific work that limitation never binds — but it's the reason full-parameter training still exists, and why platforms that offer the cheap version usually offer the expensive one too.</a:t>
            </a:r>
            <a:endParaRPr lang="en-US" sz="1150" dirty="0"/>
          </a:p>
        </p:txBody>
      </p:sp>
      <p:sp>
        <p:nvSpPr>
          <p:cNvPr id="18" name="Text 14"/>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19" name="Text 15"/>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5 OF 5</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A Benchmark and a Training Task Are the Same Object</a:t>
            </a:r>
            <a:endParaRPr lang="en-US" sz="3000" dirty="0"/>
          </a:p>
        </p:txBody>
      </p:sp>
      <p:sp>
        <p:nvSpPr>
          <p:cNvPr id="4" name="Text 2"/>
          <p:cNvSpPr/>
          <p:nvPr/>
        </p:nvSpPr>
        <p:spPr>
          <a:xfrm>
            <a:off x="548640" y="1417320"/>
            <a:ext cx="11064240" cy="502920"/>
          </a:xfrm>
          <a:prstGeom prst="rect">
            <a:avLst/>
          </a:prstGeom>
          <a:noFill/>
          <a:ln/>
        </p:spPr>
        <p:txBody>
          <a:bodyPr wrap="square" rtlCol="0" anchor="ctr"/>
          <a:lstStyle/>
          <a:p>
            <a:pPr indent="0" marL="0">
              <a:lnSpc>
                <a:spcPct val="125000"/>
              </a:lnSpc>
              <a:buNone/>
            </a:pPr>
            <a:r>
              <a:rPr lang="en-US" sz="1350" dirty="0">
                <a:solidFill>
                  <a:srgbClr val="5C7080"/>
                </a:solidFill>
                <a:latin typeface="Calibri" pitchFamily="34" charset="0"/>
                <a:ea typeface="Calibri" pitchFamily="34" charset="-122"/>
                <a:cs typeface="Calibri" pitchFamily="34" charset="-120"/>
              </a:rPr>
              <a:t>Historically these were built by different people with different tools. But look at what each one needs and the distinction stops making sense — the only difference is whether you record the score or learn from it.</a:t>
            </a:r>
            <a:endParaRPr lang="en-US" sz="1350" dirty="0"/>
          </a:p>
        </p:txBody>
      </p:sp>
      <p:sp>
        <p:nvSpPr>
          <p:cNvPr id="5" name="Shape 3"/>
          <p:cNvSpPr/>
          <p:nvPr/>
        </p:nvSpPr>
        <p:spPr>
          <a:xfrm>
            <a:off x="548640" y="2103120"/>
            <a:ext cx="3611880" cy="2240280"/>
          </a:xfrm>
          <a:prstGeom prst="roundRect">
            <a:avLst>
              <a:gd name="adj" fmla="val 3265"/>
            </a:avLst>
          </a:prstGeom>
          <a:solidFill>
            <a:srgbClr val="F2F8FA"/>
          </a:solidFill>
          <a:ln/>
          <a:effectLst>
            <a:outerShdw sx="100000" sy="100000" kx="0" ky="0" algn="bl" rotWithShape="0" blurRad="101600" dist="25400" dir="5400000">
              <a:srgbClr val="1B2733">
                <a:alpha val="8000"/>
              </a:srgbClr>
            </a:outerShdw>
          </a:effectLst>
        </p:spPr>
      </p:sp>
      <p:sp>
        <p:nvSpPr>
          <p:cNvPr id="6" name="Text 4"/>
          <p:cNvSpPr/>
          <p:nvPr/>
        </p:nvSpPr>
        <p:spPr>
          <a:xfrm>
            <a:off x="777240" y="2286000"/>
            <a:ext cx="3154680" cy="365760"/>
          </a:xfrm>
          <a:prstGeom prst="rect">
            <a:avLst/>
          </a:prstGeom>
          <a:noFill/>
          <a:ln/>
        </p:spPr>
        <p:txBody>
          <a:bodyPr wrap="square"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A benchmark needs</a:t>
            </a:r>
            <a:endParaRPr lang="en-US" sz="1400" dirty="0"/>
          </a:p>
        </p:txBody>
      </p:sp>
      <p:sp>
        <p:nvSpPr>
          <p:cNvPr id="7" name="Shape 5"/>
          <p:cNvSpPr/>
          <p:nvPr/>
        </p:nvSpPr>
        <p:spPr>
          <a:xfrm>
            <a:off x="822960" y="2761488"/>
            <a:ext cx="128016" cy="128016"/>
          </a:xfrm>
          <a:prstGeom prst="ellipse">
            <a:avLst/>
          </a:prstGeom>
          <a:solidFill>
            <a:srgbClr val="065A82"/>
          </a:solidFill>
          <a:ln/>
        </p:spPr>
      </p:sp>
      <p:sp>
        <p:nvSpPr>
          <p:cNvPr id="8" name="Text 6"/>
          <p:cNvSpPr/>
          <p:nvPr/>
        </p:nvSpPr>
        <p:spPr>
          <a:xfrm>
            <a:off x="1051560" y="2679192"/>
            <a:ext cx="2926080" cy="320040"/>
          </a:xfrm>
          <a:prstGeom prst="rect">
            <a:avLst/>
          </a:prstGeom>
          <a:noFill/>
          <a:ln/>
        </p:spPr>
        <p:txBody>
          <a:bodyPr wrap="square" rtlCol="0" anchor="ctr"/>
          <a:lstStyle/>
          <a:p>
            <a:pPr indent="0" marL="0">
              <a:buNone/>
            </a:pPr>
            <a:r>
              <a:rPr lang="en-US" sz="1100" dirty="0">
                <a:solidFill>
                  <a:srgbClr val="5C7080"/>
                </a:solidFill>
                <a:latin typeface="Calibri" pitchFamily="34" charset="0"/>
                <a:ea typeface="Calibri" pitchFamily="34" charset="-122"/>
                <a:cs typeface="Calibri" pitchFamily="34" charset="-120"/>
              </a:rPr>
              <a:t>a set of problems</a:t>
            </a:r>
            <a:endParaRPr lang="en-US" sz="1100" dirty="0"/>
          </a:p>
        </p:txBody>
      </p:sp>
      <p:sp>
        <p:nvSpPr>
          <p:cNvPr id="9" name="Shape 7"/>
          <p:cNvSpPr/>
          <p:nvPr/>
        </p:nvSpPr>
        <p:spPr>
          <a:xfrm>
            <a:off x="822960" y="3145536"/>
            <a:ext cx="128016" cy="128016"/>
          </a:xfrm>
          <a:prstGeom prst="ellipse">
            <a:avLst/>
          </a:prstGeom>
          <a:solidFill>
            <a:srgbClr val="065A82"/>
          </a:solidFill>
          <a:ln/>
        </p:spPr>
      </p:sp>
      <p:sp>
        <p:nvSpPr>
          <p:cNvPr id="10" name="Text 8"/>
          <p:cNvSpPr/>
          <p:nvPr/>
        </p:nvSpPr>
        <p:spPr>
          <a:xfrm>
            <a:off x="1051560" y="3063240"/>
            <a:ext cx="2926080" cy="320040"/>
          </a:xfrm>
          <a:prstGeom prst="rect">
            <a:avLst/>
          </a:prstGeom>
          <a:noFill/>
          <a:ln/>
        </p:spPr>
        <p:txBody>
          <a:bodyPr wrap="square" rtlCol="0" anchor="ctr"/>
          <a:lstStyle/>
          <a:p>
            <a:pPr indent="0" marL="0">
              <a:buNone/>
            </a:pPr>
            <a:r>
              <a:rPr lang="en-US" sz="1100" dirty="0">
                <a:solidFill>
                  <a:srgbClr val="5C7080"/>
                </a:solidFill>
                <a:latin typeface="Calibri" pitchFamily="34" charset="0"/>
                <a:ea typeface="Calibri" pitchFamily="34" charset="-122"/>
                <a:cs typeface="Calibri" pitchFamily="34" charset="-120"/>
              </a:rPr>
              <a:t>a way for the model to attempt them</a:t>
            </a:r>
            <a:endParaRPr lang="en-US" sz="1100" dirty="0"/>
          </a:p>
        </p:txBody>
      </p:sp>
      <p:sp>
        <p:nvSpPr>
          <p:cNvPr id="11" name="Shape 9"/>
          <p:cNvSpPr/>
          <p:nvPr/>
        </p:nvSpPr>
        <p:spPr>
          <a:xfrm>
            <a:off x="822960" y="3529584"/>
            <a:ext cx="128016" cy="128016"/>
          </a:xfrm>
          <a:prstGeom prst="ellipse">
            <a:avLst/>
          </a:prstGeom>
          <a:solidFill>
            <a:srgbClr val="065A82"/>
          </a:solidFill>
          <a:ln/>
        </p:spPr>
      </p:sp>
      <p:sp>
        <p:nvSpPr>
          <p:cNvPr id="12" name="Text 10"/>
          <p:cNvSpPr/>
          <p:nvPr/>
        </p:nvSpPr>
        <p:spPr>
          <a:xfrm>
            <a:off x="1051560" y="3447288"/>
            <a:ext cx="2926080" cy="320040"/>
          </a:xfrm>
          <a:prstGeom prst="rect">
            <a:avLst/>
          </a:prstGeom>
          <a:noFill/>
          <a:ln/>
        </p:spPr>
        <p:txBody>
          <a:bodyPr wrap="square" rtlCol="0" anchor="ctr"/>
          <a:lstStyle/>
          <a:p>
            <a:pPr indent="0" marL="0">
              <a:buNone/>
            </a:pPr>
            <a:r>
              <a:rPr lang="en-US" sz="1100" dirty="0">
                <a:solidFill>
                  <a:srgbClr val="5C7080"/>
                </a:solidFill>
                <a:latin typeface="Calibri" pitchFamily="34" charset="0"/>
                <a:ea typeface="Calibri" pitchFamily="34" charset="-122"/>
                <a:cs typeface="Calibri" pitchFamily="34" charset="-120"/>
              </a:rPr>
              <a:t>a scoring function</a:t>
            </a:r>
            <a:endParaRPr lang="en-US" sz="1100" dirty="0"/>
          </a:p>
        </p:txBody>
      </p:sp>
      <p:sp>
        <p:nvSpPr>
          <p:cNvPr id="13" name="Shape 11"/>
          <p:cNvSpPr/>
          <p:nvPr/>
        </p:nvSpPr>
        <p:spPr>
          <a:xfrm>
            <a:off x="822960" y="3913632"/>
            <a:ext cx="128016" cy="128016"/>
          </a:xfrm>
          <a:prstGeom prst="ellipse">
            <a:avLst/>
          </a:prstGeom>
          <a:solidFill>
            <a:srgbClr val="065A82"/>
          </a:solidFill>
          <a:ln/>
        </p:spPr>
      </p:sp>
      <p:sp>
        <p:nvSpPr>
          <p:cNvPr id="14" name="Text 12"/>
          <p:cNvSpPr/>
          <p:nvPr/>
        </p:nvSpPr>
        <p:spPr>
          <a:xfrm>
            <a:off x="1051560" y="3831336"/>
            <a:ext cx="2926080" cy="320040"/>
          </a:xfrm>
          <a:prstGeom prst="rect">
            <a:avLst/>
          </a:prstGeom>
          <a:noFill/>
          <a:ln/>
        </p:spPr>
        <p:txBody>
          <a:bodyPr wrap="square" rtlCol="0" anchor="ctr"/>
          <a:lstStyle/>
          <a:p>
            <a:pPr indent="0" marL="0">
              <a:buNone/>
            </a:pPr>
            <a:r>
              <a:rPr lang="en-US" sz="1100" b="1" dirty="0">
                <a:solidFill>
                  <a:srgbClr val="1B2733"/>
                </a:solidFill>
                <a:latin typeface="Calibri" pitchFamily="34" charset="0"/>
                <a:ea typeface="Calibri" pitchFamily="34" charset="-122"/>
                <a:cs typeface="Calibri" pitchFamily="34" charset="-120"/>
              </a:rPr>
              <a:t>a number at the end</a:t>
            </a:r>
            <a:endParaRPr lang="en-US" sz="1100" dirty="0"/>
          </a:p>
        </p:txBody>
      </p:sp>
      <p:sp>
        <p:nvSpPr>
          <p:cNvPr id="15" name="Shape 13"/>
          <p:cNvSpPr/>
          <p:nvPr/>
        </p:nvSpPr>
        <p:spPr>
          <a:xfrm>
            <a:off x="4343400" y="2103120"/>
            <a:ext cx="3611880" cy="2240280"/>
          </a:xfrm>
          <a:prstGeom prst="roundRect">
            <a:avLst>
              <a:gd name="adj" fmla="val 3265"/>
            </a:avLst>
          </a:prstGeom>
          <a:solidFill>
            <a:srgbClr val="F2F8FA"/>
          </a:solidFill>
          <a:ln/>
          <a:effectLst>
            <a:outerShdw sx="100000" sy="100000" kx="0" ky="0" algn="bl" rotWithShape="0" blurRad="101600" dist="25400" dir="5400000">
              <a:srgbClr val="1B2733">
                <a:alpha val="8000"/>
              </a:srgbClr>
            </a:outerShdw>
          </a:effectLst>
        </p:spPr>
      </p:sp>
      <p:sp>
        <p:nvSpPr>
          <p:cNvPr id="16" name="Text 14"/>
          <p:cNvSpPr/>
          <p:nvPr/>
        </p:nvSpPr>
        <p:spPr>
          <a:xfrm>
            <a:off x="4572000" y="2286000"/>
            <a:ext cx="3154680" cy="365760"/>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A training task needs</a:t>
            </a:r>
            <a:endParaRPr lang="en-US" sz="1400" dirty="0"/>
          </a:p>
        </p:txBody>
      </p:sp>
      <p:sp>
        <p:nvSpPr>
          <p:cNvPr id="17" name="Shape 15"/>
          <p:cNvSpPr/>
          <p:nvPr/>
        </p:nvSpPr>
        <p:spPr>
          <a:xfrm>
            <a:off x="4617720" y="2761488"/>
            <a:ext cx="128016" cy="128016"/>
          </a:xfrm>
          <a:prstGeom prst="ellipse">
            <a:avLst/>
          </a:prstGeom>
          <a:solidFill>
            <a:srgbClr val="1C7293"/>
          </a:solidFill>
          <a:ln/>
        </p:spPr>
      </p:sp>
      <p:sp>
        <p:nvSpPr>
          <p:cNvPr id="18" name="Text 16"/>
          <p:cNvSpPr/>
          <p:nvPr/>
        </p:nvSpPr>
        <p:spPr>
          <a:xfrm>
            <a:off x="4846320" y="2679192"/>
            <a:ext cx="2926080" cy="320040"/>
          </a:xfrm>
          <a:prstGeom prst="rect">
            <a:avLst/>
          </a:prstGeom>
          <a:noFill/>
          <a:ln/>
        </p:spPr>
        <p:txBody>
          <a:bodyPr wrap="square" rtlCol="0" anchor="ctr"/>
          <a:lstStyle/>
          <a:p>
            <a:pPr indent="0" marL="0">
              <a:buNone/>
            </a:pPr>
            <a:r>
              <a:rPr lang="en-US" sz="1100" dirty="0">
                <a:solidFill>
                  <a:srgbClr val="5C7080"/>
                </a:solidFill>
                <a:latin typeface="Calibri" pitchFamily="34" charset="0"/>
                <a:ea typeface="Calibri" pitchFamily="34" charset="-122"/>
                <a:cs typeface="Calibri" pitchFamily="34" charset="-120"/>
              </a:rPr>
              <a:t>a set of problems</a:t>
            </a:r>
            <a:endParaRPr lang="en-US" sz="1100" dirty="0"/>
          </a:p>
        </p:txBody>
      </p:sp>
      <p:sp>
        <p:nvSpPr>
          <p:cNvPr id="19" name="Shape 17"/>
          <p:cNvSpPr/>
          <p:nvPr/>
        </p:nvSpPr>
        <p:spPr>
          <a:xfrm>
            <a:off x="4617720" y="3145536"/>
            <a:ext cx="128016" cy="128016"/>
          </a:xfrm>
          <a:prstGeom prst="ellipse">
            <a:avLst/>
          </a:prstGeom>
          <a:solidFill>
            <a:srgbClr val="1C7293"/>
          </a:solidFill>
          <a:ln/>
        </p:spPr>
      </p:sp>
      <p:sp>
        <p:nvSpPr>
          <p:cNvPr id="20" name="Text 18"/>
          <p:cNvSpPr/>
          <p:nvPr/>
        </p:nvSpPr>
        <p:spPr>
          <a:xfrm>
            <a:off x="4846320" y="3063240"/>
            <a:ext cx="2926080" cy="320040"/>
          </a:xfrm>
          <a:prstGeom prst="rect">
            <a:avLst/>
          </a:prstGeom>
          <a:noFill/>
          <a:ln/>
        </p:spPr>
        <p:txBody>
          <a:bodyPr wrap="square" rtlCol="0" anchor="ctr"/>
          <a:lstStyle/>
          <a:p>
            <a:pPr indent="0" marL="0">
              <a:buNone/>
            </a:pPr>
            <a:r>
              <a:rPr lang="en-US" sz="1100" dirty="0">
                <a:solidFill>
                  <a:srgbClr val="5C7080"/>
                </a:solidFill>
                <a:latin typeface="Calibri" pitchFamily="34" charset="0"/>
                <a:ea typeface="Calibri" pitchFamily="34" charset="-122"/>
                <a:cs typeface="Calibri" pitchFamily="34" charset="-120"/>
              </a:rPr>
              <a:t>a way for the model to attempt them</a:t>
            </a:r>
            <a:endParaRPr lang="en-US" sz="1100" dirty="0"/>
          </a:p>
        </p:txBody>
      </p:sp>
      <p:sp>
        <p:nvSpPr>
          <p:cNvPr id="21" name="Shape 19"/>
          <p:cNvSpPr/>
          <p:nvPr/>
        </p:nvSpPr>
        <p:spPr>
          <a:xfrm>
            <a:off x="4617720" y="3529584"/>
            <a:ext cx="128016" cy="128016"/>
          </a:xfrm>
          <a:prstGeom prst="ellipse">
            <a:avLst/>
          </a:prstGeom>
          <a:solidFill>
            <a:srgbClr val="1C7293"/>
          </a:solidFill>
          <a:ln/>
        </p:spPr>
      </p:sp>
      <p:sp>
        <p:nvSpPr>
          <p:cNvPr id="22" name="Text 20"/>
          <p:cNvSpPr/>
          <p:nvPr/>
        </p:nvSpPr>
        <p:spPr>
          <a:xfrm>
            <a:off x="4846320" y="3447288"/>
            <a:ext cx="2926080" cy="320040"/>
          </a:xfrm>
          <a:prstGeom prst="rect">
            <a:avLst/>
          </a:prstGeom>
          <a:noFill/>
          <a:ln/>
        </p:spPr>
        <p:txBody>
          <a:bodyPr wrap="square" rtlCol="0" anchor="ctr"/>
          <a:lstStyle/>
          <a:p>
            <a:pPr indent="0" marL="0">
              <a:buNone/>
            </a:pPr>
            <a:r>
              <a:rPr lang="en-US" sz="1100" dirty="0">
                <a:solidFill>
                  <a:srgbClr val="5C7080"/>
                </a:solidFill>
                <a:latin typeface="Calibri" pitchFamily="34" charset="0"/>
                <a:ea typeface="Calibri" pitchFamily="34" charset="-122"/>
                <a:cs typeface="Calibri" pitchFamily="34" charset="-120"/>
              </a:rPr>
              <a:t>a scoring function</a:t>
            </a:r>
            <a:endParaRPr lang="en-US" sz="1100" dirty="0"/>
          </a:p>
        </p:txBody>
      </p:sp>
      <p:sp>
        <p:nvSpPr>
          <p:cNvPr id="23" name="Shape 21"/>
          <p:cNvSpPr/>
          <p:nvPr/>
        </p:nvSpPr>
        <p:spPr>
          <a:xfrm>
            <a:off x="4617720" y="3913632"/>
            <a:ext cx="128016" cy="128016"/>
          </a:xfrm>
          <a:prstGeom prst="ellipse">
            <a:avLst/>
          </a:prstGeom>
          <a:solidFill>
            <a:srgbClr val="1C7293"/>
          </a:solidFill>
          <a:ln/>
        </p:spPr>
      </p:sp>
      <p:sp>
        <p:nvSpPr>
          <p:cNvPr id="24" name="Text 22"/>
          <p:cNvSpPr/>
          <p:nvPr/>
        </p:nvSpPr>
        <p:spPr>
          <a:xfrm>
            <a:off x="4846320" y="3831336"/>
            <a:ext cx="2926080" cy="320040"/>
          </a:xfrm>
          <a:prstGeom prst="rect">
            <a:avLst/>
          </a:prstGeom>
          <a:noFill/>
          <a:ln/>
        </p:spPr>
        <p:txBody>
          <a:bodyPr wrap="square" rtlCol="0" anchor="ctr"/>
          <a:lstStyle/>
          <a:p>
            <a:pPr indent="0" marL="0">
              <a:buNone/>
            </a:pPr>
            <a:r>
              <a:rPr lang="en-US" sz="1100" b="1" dirty="0">
                <a:solidFill>
                  <a:srgbClr val="1B2733"/>
                </a:solidFill>
                <a:latin typeface="Calibri" pitchFamily="34" charset="0"/>
                <a:ea typeface="Calibri" pitchFamily="34" charset="-122"/>
                <a:cs typeface="Calibri" pitchFamily="34" charset="-120"/>
              </a:rPr>
              <a:t>a number, many times, to learn from</a:t>
            </a:r>
            <a:endParaRPr lang="en-US" sz="1100" dirty="0"/>
          </a:p>
        </p:txBody>
      </p:sp>
      <p:sp>
        <p:nvSpPr>
          <p:cNvPr id="25" name="Shape 23"/>
          <p:cNvSpPr/>
          <p:nvPr/>
        </p:nvSpPr>
        <p:spPr>
          <a:xfrm>
            <a:off x="8138160" y="2103120"/>
            <a:ext cx="3474720" cy="2240280"/>
          </a:xfrm>
          <a:prstGeom prst="roundRect">
            <a:avLst>
              <a:gd name="adj" fmla="val 3265"/>
            </a:avLst>
          </a:prstGeom>
          <a:solidFill>
            <a:srgbClr val="16385A"/>
          </a:solidFill>
          <a:ln/>
          <a:effectLst>
            <a:outerShdw sx="100000" sy="100000" kx="0" ky="0" algn="bl" rotWithShape="0" blurRad="101600" dist="25400" dir="5400000">
              <a:srgbClr val="1B2733">
                <a:alpha val="8000"/>
              </a:srgbClr>
            </a:outerShdw>
          </a:effectLst>
        </p:spPr>
      </p:sp>
      <p:sp>
        <p:nvSpPr>
          <p:cNvPr id="26" name="Shape 24"/>
          <p:cNvSpPr/>
          <p:nvPr/>
        </p:nvSpPr>
        <p:spPr>
          <a:xfrm>
            <a:off x="8412480" y="2331720"/>
            <a:ext cx="548640" cy="548640"/>
          </a:xfrm>
          <a:prstGeom prst="ellipse">
            <a:avLst/>
          </a:prstGeom>
          <a:solidFill>
            <a:srgbClr val="1C7293"/>
          </a:solidFill>
          <a:ln/>
        </p:spPr>
      </p:sp>
      <p:pic>
        <p:nvPicPr>
          <p:cNvPr id="27" name="Image 0" descr="/tmp/b/icons/gauge_high_white.png">    </p:cNvPr>
          <p:cNvPicPr>
            <a:picLocks noChangeAspect="1"/>
          </p:cNvPicPr>
          <p:nvPr/>
        </p:nvPicPr>
        <p:blipFill>
          <a:blip r:embed="rId1"/>
          <a:stretch>
            <a:fillRect/>
          </a:stretch>
        </p:blipFill>
        <p:spPr>
          <a:xfrm>
            <a:off x="8555126" y="2474366"/>
            <a:ext cx="263347" cy="263347"/>
          </a:xfrm>
          <a:prstGeom prst="rect">
            <a:avLst/>
          </a:prstGeom>
        </p:spPr>
      </p:pic>
      <p:sp>
        <p:nvSpPr>
          <p:cNvPr id="28" name="Text 25"/>
          <p:cNvSpPr/>
          <p:nvPr/>
        </p:nvSpPr>
        <p:spPr>
          <a:xfrm>
            <a:off x="8412480" y="2971800"/>
            <a:ext cx="2926080" cy="5486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Difficulty is the design variable</a:t>
            </a:r>
            <a:endParaRPr lang="en-US" sz="1350" dirty="0"/>
          </a:p>
        </p:txBody>
      </p:sp>
      <p:sp>
        <p:nvSpPr>
          <p:cNvPr id="29" name="Text 26"/>
          <p:cNvSpPr/>
          <p:nvPr/>
        </p:nvSpPr>
        <p:spPr>
          <a:xfrm>
            <a:off x="8412480" y="3520440"/>
            <a:ext cx="2926080" cy="731520"/>
          </a:xfrm>
          <a:prstGeom prst="rect">
            <a:avLst/>
          </a:prstGeom>
          <a:noFill/>
          <a:ln/>
        </p:spPr>
        <p:txBody>
          <a:bodyPr wrap="square" rtlCol="0" anchor="ctr"/>
          <a:lstStyle/>
          <a:p>
            <a:pPr indent="0" marL="0">
              <a:lnSpc>
                <a:spcPct val="120000"/>
              </a:lnSpc>
              <a:buNone/>
            </a:pPr>
            <a:r>
              <a:rPr lang="en-US" sz="1050" dirty="0">
                <a:solidFill>
                  <a:srgbClr val="9FC3D9"/>
                </a:solidFill>
                <a:latin typeface="Calibri" pitchFamily="34" charset="0"/>
                <a:ea typeface="Calibri" pitchFamily="34" charset="-122"/>
                <a:cs typeface="Calibri" pitchFamily="34" charset="-120"/>
              </a:rPr>
              <a:t>A task everyone solves and a task nobody solves are equally useless — for ranking models and for training them. Both need attempts that sometimes succeed and sometimes don't.</a:t>
            </a:r>
            <a:endParaRPr lang="en-US" sz="1050" dirty="0"/>
          </a:p>
        </p:txBody>
      </p:sp>
      <p:sp>
        <p:nvSpPr>
          <p:cNvPr id="30" name="Shape 27"/>
          <p:cNvSpPr/>
          <p:nvPr/>
        </p:nvSpPr>
        <p:spPr>
          <a:xfrm>
            <a:off x="548640" y="4526280"/>
            <a:ext cx="11064240" cy="1554480"/>
          </a:xfrm>
          <a:prstGeom prst="roundRect">
            <a:avLst>
              <a:gd name="adj" fmla="val 4706"/>
            </a:avLst>
          </a:prstGeom>
          <a:solidFill>
            <a:srgbClr val="EEF4F7"/>
          </a:solidFill>
          <a:ln w="12700">
            <a:solidFill>
              <a:srgbClr val="AEC7D6"/>
            </a:solidFill>
            <a:prstDash val="solid"/>
          </a:ln>
        </p:spPr>
      </p:sp>
      <p:sp>
        <p:nvSpPr>
          <p:cNvPr id="31" name="Text 28"/>
          <p:cNvSpPr/>
          <p:nvPr/>
        </p:nvSpPr>
        <p:spPr>
          <a:xfrm>
            <a:off x="822960" y="4663440"/>
            <a:ext cx="1051560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Two teams, arriving at nearly the same window from opposite directions</a:t>
            </a:r>
            <a:endParaRPr lang="en-US" sz="1300" dirty="0"/>
          </a:p>
        </p:txBody>
      </p:sp>
      <p:sp>
        <p:nvSpPr>
          <p:cNvPr id="32" name="Text 29"/>
          <p:cNvSpPr/>
          <p:nvPr/>
        </p:nvSpPr>
        <p:spPr>
          <a:xfrm>
            <a:off x="822960" y="4983480"/>
            <a:ext cx="10515600" cy="960120"/>
          </a:xfrm>
          <a:prstGeom prst="rect">
            <a:avLst/>
          </a:prstGeom>
          <a:noFill/>
          <a:ln/>
        </p:spPr>
        <p:txBody>
          <a:bodyPr wrap="square" rtlCol="0" anchor="ctr"/>
          <a:lstStyle/>
          <a:p>
            <a:pPr indent="0" marL="0">
              <a:lnSpc>
                <a:spcPct val="122000"/>
              </a:lnSpc>
              <a:buNone/>
            </a:pPr>
            <a:r>
              <a:rPr lang="en-US" sz="1150" dirty="0">
                <a:solidFill>
                  <a:srgbClr val="1B2733"/>
                </a:solidFill>
                <a:latin typeface="Calibri" pitchFamily="34" charset="0"/>
                <a:ea typeface="Calibri" pitchFamily="34" charset="-122"/>
                <a:cs typeface="Calibri" pitchFamily="34" charset="-120"/>
              </a:rPr>
              <a:t>The team behind one widely-used coding benchmark rebuilt it in 2024 because the old version had saturated — top models were separated by one or two problems. They selected the new problem set specifically so the strongest models would land roughly between 5% and 50%. Independently, the guidance for launching an RL training run is to check that your task scores somewhere around 10–35% before spending anything: too high and there's nothing to learn, too low and there's no signal to learn from. Same window, once for measurement and once for teaching.</a:t>
            </a:r>
            <a:endParaRPr lang="en-US" sz="1150" dirty="0"/>
          </a:p>
        </p:txBody>
      </p:sp>
      <p:sp>
        <p:nvSpPr>
          <p:cNvPr id="33" name="Text 30"/>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34" name="Text 31"/>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BRIDGE</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Each of Those Shows Up</a:t>
            </a:r>
            <a:endParaRPr lang="en-US" sz="3000" dirty="0"/>
          </a:p>
        </p:txBody>
      </p:sp>
      <p:sp>
        <p:nvSpPr>
          <p:cNvPr id="4" name="Text 2"/>
          <p:cNvSpPr/>
          <p:nvPr/>
        </p:nvSpPr>
        <p:spPr>
          <a:xfrm>
            <a:off x="548640" y="1371600"/>
            <a:ext cx="11064240" cy="457200"/>
          </a:xfrm>
          <a:prstGeom prst="rect">
            <a:avLst/>
          </a:prstGeom>
          <a:noFill/>
          <a:ln/>
        </p:spPr>
        <p:txBody>
          <a:bodyPr wrap="square" rtlCol="0" anchor="ctr"/>
          <a:lstStyle/>
          <a:p>
            <a:pPr indent="0" marL="0">
              <a:buNone/>
            </a:pPr>
            <a:r>
              <a:rPr lang="en-US" sz="1300" dirty="0">
                <a:solidFill>
                  <a:srgbClr val="9FC3D9"/>
                </a:solidFill>
                <a:latin typeface="Calibri" pitchFamily="34" charset="0"/>
                <a:ea typeface="Calibri" pitchFamily="34" charset="-122"/>
                <a:cs typeface="Calibri" pitchFamily="34" charset="-120"/>
              </a:rPr>
              <a:t>Everything from here is Prime Intellect specifically. Each background idea maps onto a concrete piece of the platform — stated outright rather than left to inference.</a:t>
            </a:r>
            <a:endParaRPr lang="en-US" sz="1300" dirty="0"/>
          </a:p>
        </p:txBody>
      </p:sp>
      <p:sp>
        <p:nvSpPr>
          <p:cNvPr id="5" name="Shape 3"/>
          <p:cNvSpPr/>
          <p:nvPr/>
        </p:nvSpPr>
        <p:spPr>
          <a:xfrm>
            <a:off x="640080" y="2167128"/>
            <a:ext cx="420624" cy="420624"/>
          </a:xfrm>
          <a:prstGeom prst="ellipse">
            <a:avLst/>
          </a:prstGeom>
          <a:solidFill>
            <a:srgbClr val="1C7293"/>
          </a:solidFill>
          <a:ln/>
        </p:spPr>
      </p:sp>
      <p:sp>
        <p:nvSpPr>
          <p:cNvPr id="6" name="Text 4"/>
          <p:cNvSpPr/>
          <p:nvPr/>
        </p:nvSpPr>
        <p:spPr>
          <a:xfrm>
            <a:off x="640080" y="2167128"/>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Shape 5"/>
          <p:cNvSpPr/>
          <p:nvPr/>
        </p:nvSpPr>
        <p:spPr>
          <a:xfrm>
            <a:off x="1261872" y="2011680"/>
            <a:ext cx="10351008" cy="658368"/>
          </a:xfrm>
          <a:prstGeom prst="roundRect">
            <a:avLst>
              <a:gd name="adj" fmla="val 8333"/>
            </a:avLst>
          </a:prstGeom>
          <a:solidFill>
            <a:srgbClr val="21295C"/>
          </a:solidFill>
          <a:ln/>
        </p:spPr>
      </p:sp>
      <p:sp>
        <p:nvSpPr>
          <p:cNvPr id="8" name="Text 6"/>
          <p:cNvSpPr/>
          <p:nvPr/>
        </p:nvSpPr>
        <p:spPr>
          <a:xfrm>
            <a:off x="1481328" y="2066544"/>
            <a:ext cx="3200400" cy="5486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Learning from outcomes</a:t>
            </a:r>
            <a:endParaRPr lang="en-US" sz="1250" dirty="0"/>
          </a:p>
        </p:txBody>
      </p:sp>
      <p:sp>
        <p:nvSpPr>
          <p:cNvPr id="9" name="Text 7"/>
          <p:cNvSpPr/>
          <p:nvPr/>
        </p:nvSpPr>
        <p:spPr>
          <a:xfrm>
            <a:off x="4800600" y="2066544"/>
            <a:ext cx="6629400" cy="548640"/>
          </a:xfrm>
          <a:prstGeom prst="rect">
            <a:avLst/>
          </a:prstGeom>
          <a:noFill/>
          <a:ln/>
        </p:spPr>
        <p:txBody>
          <a:bodyPr wrap="square" rtlCol="0" anchor="ctr"/>
          <a:lstStyle/>
          <a:p>
            <a:pPr indent="0" marL="0">
              <a:lnSpc>
                <a:spcPct val="115000"/>
              </a:lnSpc>
              <a:buNone/>
            </a:pPr>
            <a:r>
              <a:rPr lang="en-US" sz="1050" dirty="0">
                <a:solidFill>
                  <a:srgbClr val="9FC3D9"/>
                </a:solidFill>
                <a:latin typeface="Calibri" pitchFamily="34" charset="0"/>
                <a:ea typeface="Calibri" pitchFamily="34" charset="-122"/>
                <a:cs typeface="Calibri" pitchFamily="34" charset="-120"/>
              </a:rPr>
              <a:t>Hosted Training runs exactly this loop — and splits it across three cooperating processes you can watch separately.</a:t>
            </a:r>
            <a:endParaRPr lang="en-US" sz="1050" dirty="0"/>
          </a:p>
        </p:txBody>
      </p:sp>
      <p:sp>
        <p:nvSpPr>
          <p:cNvPr id="10" name="Shape 8"/>
          <p:cNvSpPr/>
          <p:nvPr/>
        </p:nvSpPr>
        <p:spPr>
          <a:xfrm>
            <a:off x="640080" y="2944368"/>
            <a:ext cx="420624" cy="420624"/>
          </a:xfrm>
          <a:prstGeom prst="ellipse">
            <a:avLst/>
          </a:prstGeom>
          <a:solidFill>
            <a:srgbClr val="1C7293"/>
          </a:solidFill>
          <a:ln/>
        </p:spPr>
      </p:sp>
      <p:sp>
        <p:nvSpPr>
          <p:cNvPr id="11" name="Text 9"/>
          <p:cNvSpPr/>
          <p:nvPr/>
        </p:nvSpPr>
        <p:spPr>
          <a:xfrm>
            <a:off x="640080" y="2944368"/>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Shape 10"/>
          <p:cNvSpPr/>
          <p:nvPr/>
        </p:nvSpPr>
        <p:spPr>
          <a:xfrm>
            <a:off x="1261872" y="2788920"/>
            <a:ext cx="10351008" cy="658368"/>
          </a:xfrm>
          <a:prstGeom prst="roundRect">
            <a:avLst>
              <a:gd name="adj" fmla="val 8333"/>
            </a:avLst>
          </a:prstGeom>
          <a:solidFill>
            <a:srgbClr val="21295C"/>
          </a:solidFill>
          <a:ln/>
        </p:spPr>
      </p:sp>
      <p:sp>
        <p:nvSpPr>
          <p:cNvPr id="13" name="Text 11"/>
          <p:cNvSpPr/>
          <p:nvPr/>
        </p:nvSpPr>
        <p:spPr>
          <a:xfrm>
            <a:off x="1481328" y="2843784"/>
            <a:ext cx="3200400" cy="5486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Where reward comes from</a:t>
            </a:r>
            <a:endParaRPr lang="en-US" sz="1250" dirty="0"/>
          </a:p>
        </p:txBody>
      </p:sp>
      <p:sp>
        <p:nvSpPr>
          <p:cNvPr id="14" name="Text 12"/>
          <p:cNvSpPr/>
          <p:nvPr/>
        </p:nvSpPr>
        <p:spPr>
          <a:xfrm>
            <a:off x="4800600" y="2843784"/>
            <a:ext cx="6629400" cy="548640"/>
          </a:xfrm>
          <a:prstGeom prst="rect">
            <a:avLst/>
          </a:prstGeom>
          <a:noFill/>
          <a:ln/>
        </p:spPr>
        <p:txBody>
          <a:bodyPr wrap="square" rtlCol="0" anchor="ctr"/>
          <a:lstStyle/>
          <a:p>
            <a:pPr indent="0" marL="0">
              <a:lnSpc>
                <a:spcPct val="115000"/>
              </a:lnSpc>
              <a:buNone/>
            </a:pPr>
            <a:r>
              <a:rPr lang="en-US" sz="1050" dirty="0">
                <a:solidFill>
                  <a:srgbClr val="9FC3D9"/>
                </a:solidFill>
                <a:latin typeface="Calibri" pitchFamily="34" charset="0"/>
                <a:ea typeface="Calibri" pitchFamily="34" charset="-122"/>
                <a:cs typeface="Calibri" pitchFamily="34" charset="-120"/>
              </a:rPr>
              <a:t>A rubric is a real class you instantiate. All three scoring styles ship as built-ins; execution-based scoring is what Sandboxes exist for.</a:t>
            </a:r>
            <a:endParaRPr lang="en-US" sz="1050" dirty="0"/>
          </a:p>
        </p:txBody>
      </p:sp>
      <p:sp>
        <p:nvSpPr>
          <p:cNvPr id="15" name="Shape 13"/>
          <p:cNvSpPr/>
          <p:nvPr/>
        </p:nvSpPr>
        <p:spPr>
          <a:xfrm>
            <a:off x="640080" y="3721608"/>
            <a:ext cx="420624" cy="420624"/>
          </a:xfrm>
          <a:prstGeom prst="ellipse">
            <a:avLst/>
          </a:prstGeom>
          <a:solidFill>
            <a:srgbClr val="1C7293"/>
          </a:solidFill>
          <a:ln/>
        </p:spPr>
      </p:sp>
      <p:sp>
        <p:nvSpPr>
          <p:cNvPr id="16" name="Text 14"/>
          <p:cNvSpPr/>
          <p:nvPr/>
        </p:nvSpPr>
        <p:spPr>
          <a:xfrm>
            <a:off x="640080" y="3721608"/>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Shape 15"/>
          <p:cNvSpPr/>
          <p:nvPr/>
        </p:nvSpPr>
        <p:spPr>
          <a:xfrm>
            <a:off x="1261872" y="3566160"/>
            <a:ext cx="10351008" cy="658368"/>
          </a:xfrm>
          <a:prstGeom prst="roundRect">
            <a:avLst>
              <a:gd name="adj" fmla="val 8333"/>
            </a:avLst>
          </a:prstGeom>
          <a:solidFill>
            <a:srgbClr val="21295C"/>
          </a:solidFill>
          <a:ln/>
        </p:spPr>
      </p:sp>
      <p:sp>
        <p:nvSpPr>
          <p:cNvPr id="18" name="Text 16"/>
          <p:cNvSpPr/>
          <p:nvPr/>
        </p:nvSpPr>
        <p:spPr>
          <a:xfrm>
            <a:off x="1481328" y="3621024"/>
            <a:ext cx="3200400" cy="5486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Gaming the reward</a:t>
            </a:r>
            <a:endParaRPr lang="en-US" sz="1250" dirty="0"/>
          </a:p>
        </p:txBody>
      </p:sp>
      <p:sp>
        <p:nvSpPr>
          <p:cNvPr id="19" name="Text 17"/>
          <p:cNvSpPr/>
          <p:nvPr/>
        </p:nvSpPr>
        <p:spPr>
          <a:xfrm>
            <a:off x="4800600" y="3621024"/>
            <a:ext cx="6629400" cy="548640"/>
          </a:xfrm>
          <a:prstGeom prst="rect">
            <a:avLst/>
          </a:prstGeom>
          <a:noFill/>
          <a:ln/>
        </p:spPr>
        <p:txBody>
          <a:bodyPr wrap="square" rtlCol="0" anchor="ctr"/>
          <a:lstStyle/>
          <a:p>
            <a:pPr indent="0" marL="0">
              <a:lnSpc>
                <a:spcPct val="115000"/>
              </a:lnSpc>
              <a:buNone/>
            </a:pPr>
            <a:r>
              <a:rPr lang="en-US" sz="1050" dirty="0">
                <a:solidFill>
                  <a:srgbClr val="9FC3D9"/>
                </a:solidFill>
                <a:latin typeface="Calibri" pitchFamily="34" charset="0"/>
                <a:ea typeface="Calibri" pitchFamily="34" charset="-122"/>
                <a:cs typeface="Calibri" pitchFamily="34" charset="-120"/>
              </a:rPr>
              <a:t>We'll read a published environment whose reward can be gamed — and find the missing check that allows it.</a:t>
            </a:r>
            <a:endParaRPr lang="en-US" sz="1050" dirty="0"/>
          </a:p>
        </p:txBody>
      </p:sp>
      <p:sp>
        <p:nvSpPr>
          <p:cNvPr id="20" name="Shape 18"/>
          <p:cNvSpPr/>
          <p:nvPr/>
        </p:nvSpPr>
        <p:spPr>
          <a:xfrm>
            <a:off x="640080" y="4498848"/>
            <a:ext cx="420624" cy="420624"/>
          </a:xfrm>
          <a:prstGeom prst="ellipse">
            <a:avLst/>
          </a:prstGeom>
          <a:solidFill>
            <a:srgbClr val="1C7293"/>
          </a:solidFill>
          <a:ln/>
        </p:spPr>
      </p:sp>
      <p:sp>
        <p:nvSpPr>
          <p:cNvPr id="21" name="Text 19"/>
          <p:cNvSpPr/>
          <p:nvPr/>
        </p:nvSpPr>
        <p:spPr>
          <a:xfrm>
            <a:off x="640080" y="4498848"/>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Shape 20"/>
          <p:cNvSpPr/>
          <p:nvPr/>
        </p:nvSpPr>
        <p:spPr>
          <a:xfrm>
            <a:off x="1261872" y="4343400"/>
            <a:ext cx="10351008" cy="658368"/>
          </a:xfrm>
          <a:prstGeom prst="roundRect">
            <a:avLst>
              <a:gd name="adj" fmla="val 8333"/>
            </a:avLst>
          </a:prstGeom>
          <a:solidFill>
            <a:srgbClr val="21295C"/>
          </a:solidFill>
          <a:ln/>
        </p:spPr>
      </p:sp>
      <p:sp>
        <p:nvSpPr>
          <p:cNvPr id="23" name="Text 21"/>
          <p:cNvSpPr/>
          <p:nvPr/>
        </p:nvSpPr>
        <p:spPr>
          <a:xfrm>
            <a:off x="1481328" y="4398264"/>
            <a:ext cx="3200400" cy="5486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Cheap adaptation</a:t>
            </a:r>
            <a:endParaRPr lang="en-US" sz="1250" dirty="0"/>
          </a:p>
        </p:txBody>
      </p:sp>
      <p:sp>
        <p:nvSpPr>
          <p:cNvPr id="24" name="Text 22"/>
          <p:cNvSpPr/>
          <p:nvPr/>
        </p:nvSpPr>
        <p:spPr>
          <a:xfrm>
            <a:off x="4800600" y="4398264"/>
            <a:ext cx="6629400" cy="548640"/>
          </a:xfrm>
          <a:prstGeom prst="rect">
            <a:avLst/>
          </a:prstGeom>
          <a:noFill/>
          <a:ln/>
        </p:spPr>
        <p:txBody>
          <a:bodyPr wrap="square" rtlCol="0" anchor="ctr"/>
          <a:lstStyle/>
          <a:p>
            <a:pPr indent="0" marL="0">
              <a:lnSpc>
                <a:spcPct val="115000"/>
              </a:lnSpc>
              <a:buNone/>
            </a:pPr>
            <a:r>
              <a:rPr lang="en-US" sz="1050" dirty="0">
                <a:solidFill>
                  <a:srgbClr val="9FC3D9"/>
                </a:solidFill>
                <a:latin typeface="Calibri" pitchFamily="34" charset="0"/>
                <a:ea typeface="Calibri" pitchFamily="34" charset="-122"/>
                <a:cs typeface="Calibri" pitchFamily="34" charset="-120"/>
              </a:rPr>
              <a:t>Hosted Training does LoRA on shared hardware, billed per token. That pricing model is a direct consequence of slide 6.</a:t>
            </a:r>
            <a:endParaRPr lang="en-US" sz="1050" dirty="0"/>
          </a:p>
        </p:txBody>
      </p:sp>
      <p:sp>
        <p:nvSpPr>
          <p:cNvPr id="25" name="Shape 23"/>
          <p:cNvSpPr/>
          <p:nvPr/>
        </p:nvSpPr>
        <p:spPr>
          <a:xfrm>
            <a:off x="640080" y="5276088"/>
            <a:ext cx="420624" cy="420624"/>
          </a:xfrm>
          <a:prstGeom prst="ellipse">
            <a:avLst/>
          </a:prstGeom>
          <a:solidFill>
            <a:srgbClr val="1C7293"/>
          </a:solidFill>
          <a:ln/>
        </p:spPr>
      </p:sp>
      <p:sp>
        <p:nvSpPr>
          <p:cNvPr id="26" name="Text 24"/>
          <p:cNvSpPr/>
          <p:nvPr/>
        </p:nvSpPr>
        <p:spPr>
          <a:xfrm>
            <a:off x="640080" y="5276088"/>
            <a:ext cx="420624" cy="42062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7" name="Shape 25"/>
          <p:cNvSpPr/>
          <p:nvPr/>
        </p:nvSpPr>
        <p:spPr>
          <a:xfrm>
            <a:off x="1261872" y="5120640"/>
            <a:ext cx="10351008" cy="658368"/>
          </a:xfrm>
          <a:prstGeom prst="roundRect">
            <a:avLst>
              <a:gd name="adj" fmla="val 8333"/>
            </a:avLst>
          </a:prstGeom>
          <a:solidFill>
            <a:srgbClr val="21295C"/>
          </a:solidFill>
          <a:ln/>
        </p:spPr>
      </p:sp>
      <p:sp>
        <p:nvSpPr>
          <p:cNvPr id="28" name="Text 26"/>
          <p:cNvSpPr/>
          <p:nvPr/>
        </p:nvSpPr>
        <p:spPr>
          <a:xfrm>
            <a:off x="1481328" y="5175504"/>
            <a:ext cx="3200400" cy="5486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Benchmarks are training tasks</a:t>
            </a:r>
            <a:endParaRPr lang="en-US" sz="1250" dirty="0"/>
          </a:p>
        </p:txBody>
      </p:sp>
      <p:sp>
        <p:nvSpPr>
          <p:cNvPr id="29" name="Text 27"/>
          <p:cNvSpPr/>
          <p:nvPr/>
        </p:nvSpPr>
        <p:spPr>
          <a:xfrm>
            <a:off x="4800600" y="5175504"/>
            <a:ext cx="6629400" cy="548640"/>
          </a:xfrm>
          <a:prstGeom prst="rect">
            <a:avLst/>
          </a:prstGeom>
          <a:noFill/>
          <a:ln/>
        </p:spPr>
        <p:txBody>
          <a:bodyPr wrap="square" rtlCol="0" anchor="ctr"/>
          <a:lstStyle/>
          <a:p>
            <a:pPr indent="0" marL="0">
              <a:lnSpc>
                <a:spcPct val="115000"/>
              </a:lnSpc>
              <a:buNone/>
            </a:pPr>
            <a:r>
              <a:rPr lang="en-US" sz="1050" dirty="0">
                <a:solidFill>
                  <a:srgbClr val="9FC3D9"/>
                </a:solidFill>
                <a:latin typeface="Calibri" pitchFamily="34" charset="0"/>
                <a:ea typeface="Calibri" pitchFamily="34" charset="-122"/>
                <a:cs typeface="Calibri" pitchFamily="34" charset="-120"/>
              </a:rPr>
              <a:t>The Environments Hub is one registry for both. Its own framing is that evals and RL environments are the same thing.</a:t>
            </a:r>
            <a:endParaRPr lang="en-US" sz="1050" dirty="0"/>
          </a:p>
        </p:txBody>
      </p:sp>
      <p:sp>
        <p:nvSpPr>
          <p:cNvPr id="30" name="Text 28"/>
          <p:cNvSpPr/>
          <p:nvPr/>
        </p:nvSpPr>
        <p:spPr>
          <a:xfrm>
            <a:off x="548640" y="6025896"/>
            <a:ext cx="4754880" cy="310896"/>
          </a:xfrm>
          <a:prstGeom prst="rect">
            <a:avLst/>
          </a:prstGeom>
          <a:noFill/>
          <a:ln/>
        </p:spPr>
        <p:txBody>
          <a:bodyPr wrap="square" rtlCol="0" anchor="ctr"/>
          <a:lstStyle/>
          <a:p>
            <a:pPr indent="0" marL="0">
              <a:buNone/>
            </a:pPr>
            <a:r>
              <a:rPr lang="en-US" sz="1100" i="1" dirty="0">
                <a:solidFill>
                  <a:srgbClr val="8FA8C2"/>
                </a:solidFill>
                <a:latin typeface="Calibri" pitchFamily="34" charset="0"/>
                <a:ea typeface="Calibri" pitchFamily="34" charset="-122"/>
                <a:cs typeface="Calibri" pitchFamily="34" charset="-120"/>
              </a:rPr>
              <a:t>Slides that lean on one of these carry a small green pill, like this one:</a:t>
            </a:r>
            <a:endParaRPr lang="en-US" sz="1100" dirty="0"/>
          </a:p>
        </p:txBody>
      </p:sp>
      <p:sp>
        <p:nvSpPr>
          <p:cNvPr id="31" name="Shape 29"/>
          <p:cNvSpPr/>
          <p:nvPr/>
        </p:nvSpPr>
        <p:spPr>
          <a:xfrm>
            <a:off x="5394960" y="6025896"/>
            <a:ext cx="4023360" cy="310896"/>
          </a:xfrm>
          <a:prstGeom prst="roundRect">
            <a:avLst>
              <a:gd name="adj" fmla="val 50000"/>
            </a:avLst>
          </a:prstGeom>
          <a:solidFill>
            <a:srgbClr val="2A3F63"/>
          </a:solidFill>
          <a:ln w="9525">
            <a:solidFill>
              <a:srgbClr val="5A8FB0"/>
            </a:solidFill>
            <a:prstDash val="solid"/>
          </a:ln>
        </p:spPr>
      </p:sp>
      <p:sp>
        <p:nvSpPr>
          <p:cNvPr id="32" name="Text 30"/>
          <p:cNvSpPr/>
          <p:nvPr/>
        </p:nvSpPr>
        <p:spPr>
          <a:xfrm>
            <a:off x="5522976" y="6025896"/>
            <a:ext cx="3767328" cy="310896"/>
          </a:xfrm>
          <a:prstGeom prst="rect">
            <a:avLst/>
          </a:prstGeom>
          <a:noFill/>
          <a:ln/>
        </p:spPr>
        <p:txBody>
          <a:bodyPr wrap="square" lIns="0" tIns="0" rIns="0" bIns="0" rtlCol="0" anchor="ctr"/>
          <a:lstStyle/>
          <a:p>
            <a:pPr indent="0" marL="0">
              <a:buNone/>
            </a:pPr>
            <a:r>
              <a:rPr lang="en-US" sz="1000" i="1" dirty="0">
                <a:solidFill>
                  <a:srgbClr val="BFDCE8"/>
                </a:solidFill>
                <a:latin typeface="Calibri" pitchFamily="34" charset="0"/>
                <a:ea typeface="Calibri" pitchFamily="34" charset="-122"/>
                <a:cs typeface="Calibri" pitchFamily="34" charset="-120"/>
              </a:rPr>
              <a:t>←  Background · Slide 5, Gaming the Reward</a:t>
            </a:r>
            <a:endParaRPr lang="en-US" sz="1000" dirty="0"/>
          </a:p>
        </p:txBody>
      </p:sp>
      <p:sp>
        <p:nvSpPr>
          <p:cNvPr id="33" name="Text 31"/>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PRIME INTELLECT  ·  AI SEMINAR, LECTURE 4</a:t>
            </a:r>
            <a:endParaRPr lang="en-US" sz="900" dirty="0"/>
          </a:p>
        </p:txBody>
      </p:sp>
      <p:sp>
        <p:nvSpPr>
          <p:cNvPr id="34" name="Text 3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PLATFORM</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What Prime Intellect Is</a:t>
            </a:r>
            <a:endParaRPr lang="en-US" sz="3000" dirty="0"/>
          </a:p>
        </p:txBody>
      </p:sp>
      <p:sp>
        <p:nvSpPr>
          <p:cNvPr id="4" name="Text 2"/>
          <p:cNvSpPr/>
          <p:nvPr/>
        </p:nvSpPr>
        <p:spPr>
          <a:xfrm>
            <a:off x="548640" y="1417320"/>
            <a:ext cx="11064240" cy="502920"/>
          </a:xfrm>
          <a:prstGeom prst="rect">
            <a:avLst/>
          </a:prstGeom>
          <a:noFill/>
          <a:ln/>
        </p:spPr>
        <p:txBody>
          <a:bodyPr wrap="square" rtlCol="0" anchor="ctr"/>
          <a:lstStyle/>
          <a:p>
            <a:pPr indent="0" marL="0">
              <a:lnSpc>
                <a:spcPct val="125000"/>
              </a:lnSpc>
              <a:buNone/>
            </a:pPr>
            <a:r>
              <a:rPr lang="en-US" sz="1350" dirty="0">
                <a:solidFill>
                  <a:srgbClr val="5C7080"/>
                </a:solidFill>
                <a:latin typeface="Calibri" pitchFamily="34" charset="0"/>
                <a:ea typeface="Calibri" pitchFamily="34" charset="-122"/>
                <a:cs typeface="Calibri" pitchFamily="34" charset="-120"/>
              </a:rPr>
              <a:t>A company selling GPU time, which then built a research platform on top of its own marketplace. The two halves are genuinely separable — you can rent a machine and never touch Lab, or use Lab and never think about a GPU.</a:t>
            </a:r>
            <a:endParaRPr lang="en-US" sz="1350" dirty="0"/>
          </a:p>
        </p:txBody>
      </p:sp>
      <p:sp>
        <p:nvSpPr>
          <p:cNvPr id="5" name="Shape 3"/>
          <p:cNvSpPr/>
          <p:nvPr/>
        </p:nvSpPr>
        <p:spPr>
          <a:xfrm>
            <a:off x="548640" y="2103120"/>
            <a:ext cx="6766560" cy="1371600"/>
          </a:xfrm>
          <a:prstGeom prst="roundRect">
            <a:avLst>
              <a:gd name="adj" fmla="val 5333"/>
            </a:avLst>
          </a:prstGeom>
          <a:solidFill>
            <a:srgbClr val="16385A"/>
          </a:solidFill>
          <a:ln/>
          <a:effectLst>
            <a:outerShdw sx="100000" sy="100000" kx="0" ky="0" algn="bl" rotWithShape="0" blurRad="101600" dist="25400" dir="5400000">
              <a:srgbClr val="1B2733">
                <a:alpha val="8000"/>
              </a:srgbClr>
            </a:outerShdw>
          </a:effectLst>
        </p:spPr>
      </p:sp>
      <p:sp>
        <p:nvSpPr>
          <p:cNvPr id="6" name="Shape 4"/>
          <p:cNvSpPr/>
          <p:nvPr/>
        </p:nvSpPr>
        <p:spPr>
          <a:xfrm>
            <a:off x="822960" y="2404872"/>
            <a:ext cx="603504" cy="603504"/>
          </a:xfrm>
          <a:prstGeom prst="ellipse">
            <a:avLst/>
          </a:prstGeom>
          <a:solidFill>
            <a:srgbClr val="1C7293"/>
          </a:solidFill>
          <a:ln/>
        </p:spPr>
      </p:sp>
      <p:pic>
        <p:nvPicPr>
          <p:cNvPr id="7" name="Image 0" descr="/tmp/b/icons/flask_white.png">    </p:cNvPr>
          <p:cNvPicPr>
            <a:picLocks noChangeAspect="1"/>
          </p:cNvPicPr>
          <p:nvPr/>
        </p:nvPicPr>
        <p:blipFill>
          <a:blip r:embed="rId1"/>
          <a:stretch>
            <a:fillRect/>
          </a:stretch>
        </p:blipFill>
        <p:spPr>
          <a:xfrm>
            <a:off x="979871" y="2561783"/>
            <a:ext cx="289682" cy="289682"/>
          </a:xfrm>
          <a:prstGeom prst="rect">
            <a:avLst/>
          </a:prstGeom>
        </p:spPr>
      </p:pic>
      <p:sp>
        <p:nvSpPr>
          <p:cNvPr id="8" name="Text 5"/>
          <p:cNvSpPr/>
          <p:nvPr/>
        </p:nvSpPr>
        <p:spPr>
          <a:xfrm>
            <a:off x="1572768" y="2286000"/>
            <a:ext cx="54864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Lab — the managed research platform</a:t>
            </a:r>
            <a:endParaRPr lang="en-US" sz="1500" dirty="0"/>
          </a:p>
        </p:txBody>
      </p:sp>
      <p:sp>
        <p:nvSpPr>
          <p:cNvPr id="9" name="Text 6"/>
          <p:cNvSpPr/>
          <p:nvPr/>
        </p:nvSpPr>
        <p:spPr>
          <a:xfrm>
            <a:off x="1572768" y="2670048"/>
            <a:ext cx="5486400" cy="731520"/>
          </a:xfrm>
          <a:prstGeom prst="rect">
            <a:avLst/>
          </a:prstGeom>
          <a:noFill/>
          <a:ln/>
        </p:spPr>
        <p:txBody>
          <a:bodyPr wrap="square" rtlCol="0" anchor="ctr"/>
          <a:lstStyle/>
          <a:p>
            <a:pPr indent="0" marL="0">
              <a:lnSpc>
                <a:spcPct val="120000"/>
              </a:lnSpc>
              <a:buNone/>
            </a:pPr>
            <a:r>
              <a:rPr lang="en-US" sz="1100" dirty="0">
                <a:solidFill>
                  <a:srgbClr val="9FC3D9"/>
                </a:solidFill>
                <a:latin typeface="Calibri" pitchFamily="34" charset="0"/>
                <a:ea typeface="Calibri" pitchFamily="34" charset="-122"/>
                <a:cs typeface="Calibri" pitchFamily="34" charset="-120"/>
              </a:rPr>
              <a:t>Environments Hub, Hosted Training, Hosted Evaluations. You supply a task definition; it supplies everything else. No GPU allocation, no cluster scheduler, no RL algorithm to implement.</a:t>
            </a:r>
            <a:endParaRPr lang="en-US" sz="1100" dirty="0"/>
          </a:p>
        </p:txBody>
      </p:sp>
      <p:sp>
        <p:nvSpPr>
          <p:cNvPr id="10" name="Shape 7"/>
          <p:cNvSpPr/>
          <p:nvPr/>
        </p:nvSpPr>
        <p:spPr>
          <a:xfrm>
            <a:off x="548640" y="3611880"/>
            <a:ext cx="6766560" cy="1371600"/>
          </a:xfrm>
          <a:prstGeom prst="roundRect">
            <a:avLst>
              <a:gd name="adj" fmla="val 5333"/>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822960" y="3913632"/>
            <a:ext cx="603504" cy="603504"/>
          </a:xfrm>
          <a:prstGeom prst="ellipse">
            <a:avLst/>
          </a:prstGeom>
          <a:solidFill>
            <a:srgbClr val="FFFFFF"/>
          </a:solidFill>
          <a:ln/>
        </p:spPr>
      </p:sp>
      <p:pic>
        <p:nvPicPr>
          <p:cNvPr id="12" name="Image 1" descr="/tmp/b/icons/server_teal.png">    </p:cNvPr>
          <p:cNvPicPr>
            <a:picLocks noChangeAspect="1"/>
          </p:cNvPicPr>
          <p:nvPr/>
        </p:nvPicPr>
        <p:blipFill>
          <a:blip r:embed="rId2"/>
          <a:stretch>
            <a:fillRect/>
          </a:stretch>
        </p:blipFill>
        <p:spPr>
          <a:xfrm>
            <a:off x="979871" y="4070543"/>
            <a:ext cx="289682" cy="289682"/>
          </a:xfrm>
          <a:prstGeom prst="rect">
            <a:avLst/>
          </a:prstGeom>
        </p:spPr>
      </p:pic>
      <p:sp>
        <p:nvSpPr>
          <p:cNvPr id="13" name="Text 9"/>
          <p:cNvSpPr/>
          <p:nvPr/>
        </p:nvSpPr>
        <p:spPr>
          <a:xfrm>
            <a:off x="1572768" y="3794760"/>
            <a:ext cx="5486400" cy="365760"/>
          </a:xfrm>
          <a:prstGeom prst="rect">
            <a:avLst/>
          </a:prstGeom>
          <a:noFill/>
          <a:ln/>
        </p:spPr>
        <p:txBody>
          <a:bodyPr wrap="square"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Compute — the marketplace underneath</a:t>
            </a:r>
            <a:endParaRPr lang="en-US" sz="1500" dirty="0"/>
          </a:p>
        </p:txBody>
      </p:sp>
      <p:sp>
        <p:nvSpPr>
          <p:cNvPr id="14" name="Text 10"/>
          <p:cNvSpPr/>
          <p:nvPr/>
        </p:nvSpPr>
        <p:spPr>
          <a:xfrm>
            <a:off x="1572768" y="4178808"/>
            <a:ext cx="5486400" cy="731520"/>
          </a:xfrm>
          <a:prstGeom prst="rect">
            <a:avLst/>
          </a:prstGeom>
          <a:noFill/>
          <a:ln/>
        </p:spPr>
        <p:txBody>
          <a:bodyPr wrap="square"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On-demand pods, multi-node clusters, reserved capacity and persistent disks, aggregated across many providers. This is what Lab runs on — and what you rent directly if you'd rather manage it yourself.</a:t>
            </a:r>
            <a:endParaRPr lang="en-US" sz="1100" dirty="0"/>
          </a:p>
        </p:txBody>
      </p:sp>
      <p:sp>
        <p:nvSpPr>
          <p:cNvPr id="15" name="Shape 11"/>
          <p:cNvSpPr/>
          <p:nvPr/>
        </p:nvSpPr>
        <p:spPr>
          <a:xfrm>
            <a:off x="7589520" y="2103120"/>
            <a:ext cx="4023360" cy="2880360"/>
          </a:xfrm>
          <a:prstGeom prst="roundRect">
            <a:avLst>
              <a:gd name="adj" fmla="val 2540"/>
            </a:avLst>
          </a:prstGeom>
          <a:solidFill>
            <a:srgbClr val="F2F8FA"/>
          </a:solidFill>
          <a:ln/>
          <a:effectLst>
            <a:outerShdw sx="100000" sy="100000" kx="0" ky="0" algn="bl" rotWithShape="0" blurRad="101600" dist="25400" dir="5400000">
              <a:srgbClr val="1B2733">
                <a:alpha val="8000"/>
              </a:srgbClr>
            </a:outerShdw>
          </a:effectLst>
        </p:spPr>
      </p:sp>
      <p:sp>
        <p:nvSpPr>
          <p:cNvPr id="16" name="Text 12"/>
          <p:cNvSpPr/>
          <p:nvPr/>
        </p:nvSpPr>
        <p:spPr>
          <a:xfrm>
            <a:off x="7863840" y="2286000"/>
            <a:ext cx="3474720" cy="320040"/>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Worth knowing</a:t>
            </a:r>
            <a:endParaRPr lang="en-US" sz="1400" dirty="0"/>
          </a:p>
        </p:txBody>
      </p:sp>
      <p:sp>
        <p:nvSpPr>
          <p:cNvPr id="17" name="Text 13"/>
          <p:cNvSpPr/>
          <p:nvPr/>
        </p:nvSpPr>
        <p:spPr>
          <a:xfrm>
            <a:off x="7863840" y="2697480"/>
            <a:ext cx="3474720" cy="256032"/>
          </a:xfrm>
          <a:prstGeom prst="rect">
            <a:avLst/>
          </a:prstGeom>
          <a:noFill/>
          <a:ln/>
        </p:spPr>
        <p:txBody>
          <a:bodyPr wrap="square"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Open at the core</a:t>
            </a:r>
            <a:endParaRPr lang="en-US" sz="1150" dirty="0"/>
          </a:p>
        </p:txBody>
      </p:sp>
      <p:sp>
        <p:nvSpPr>
          <p:cNvPr id="18" name="Text 14"/>
          <p:cNvSpPr/>
          <p:nvPr/>
        </p:nvSpPr>
        <p:spPr>
          <a:xfrm>
            <a:off x="7863840" y="2935224"/>
            <a:ext cx="3474720" cy="56692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The two libraries doing the real work — verifiers and prime-rl — are MIT-licensed and public. Lab is a managed wrapper around them, not a replacement.</a:t>
            </a:r>
            <a:endParaRPr lang="en-US" sz="1000" dirty="0"/>
          </a:p>
        </p:txBody>
      </p:sp>
      <p:sp>
        <p:nvSpPr>
          <p:cNvPr id="19" name="Text 15"/>
          <p:cNvSpPr/>
          <p:nvPr/>
        </p:nvSpPr>
        <p:spPr>
          <a:xfrm>
            <a:off x="7863840" y="3474720"/>
            <a:ext cx="3474720" cy="256032"/>
          </a:xfrm>
          <a:prstGeom prst="rect">
            <a:avLst/>
          </a:prstGeom>
          <a:noFill/>
          <a:ln/>
        </p:spPr>
        <p:txBody>
          <a:bodyPr wrap="square"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One binary for everything</a:t>
            </a:r>
            <a:endParaRPr lang="en-US" sz="1150" dirty="0"/>
          </a:p>
        </p:txBody>
      </p:sp>
      <p:sp>
        <p:nvSpPr>
          <p:cNvPr id="20" name="Text 16"/>
          <p:cNvSpPr/>
          <p:nvPr/>
        </p:nvSpPr>
        <p:spPr>
          <a:xfrm>
            <a:off x="7863840" y="3712464"/>
            <a:ext cx="3474720" cy="56692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A single prime command drives compute, environments, evaluation, training, sandboxes and inference.</a:t>
            </a:r>
            <a:endParaRPr lang="en-US" sz="1000" dirty="0"/>
          </a:p>
        </p:txBody>
      </p:sp>
      <p:sp>
        <p:nvSpPr>
          <p:cNvPr id="21" name="Text 17"/>
          <p:cNvSpPr/>
          <p:nvPr/>
        </p:nvSpPr>
        <p:spPr>
          <a:xfrm>
            <a:off x="7863840" y="4251960"/>
            <a:ext cx="3474720" cy="256032"/>
          </a:xfrm>
          <a:prstGeom prst="rect">
            <a:avLst/>
          </a:prstGeom>
          <a:noFill/>
          <a:ln/>
        </p:spPr>
        <p:txBody>
          <a:bodyPr wrap="square"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Two separate API hosts</a:t>
            </a:r>
            <a:endParaRPr lang="en-US" sz="1150" dirty="0"/>
          </a:p>
        </p:txBody>
      </p:sp>
      <p:sp>
        <p:nvSpPr>
          <p:cNvPr id="22" name="Text 18"/>
          <p:cNvSpPr/>
          <p:nvPr/>
        </p:nvSpPr>
        <p:spPr>
          <a:xfrm>
            <a:off x="7863840" y="4489704"/>
            <a:ext cx="3474720" cy="56692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Compute and inference live on different domains. Mixing them up is a common first mistake.</a:t>
            </a:r>
            <a:endParaRPr lang="en-US" sz="1000" dirty="0"/>
          </a:p>
        </p:txBody>
      </p:sp>
      <p:sp>
        <p:nvSpPr>
          <p:cNvPr id="23" name="Shape 19"/>
          <p:cNvSpPr/>
          <p:nvPr/>
        </p:nvSpPr>
        <p:spPr>
          <a:xfrm>
            <a:off x="548640" y="5166360"/>
            <a:ext cx="3931920" cy="310896"/>
          </a:xfrm>
          <a:prstGeom prst="roundRect">
            <a:avLst>
              <a:gd name="adj" fmla="val 50000"/>
            </a:avLst>
          </a:prstGeom>
          <a:solidFill>
            <a:srgbClr val="E9F1E6"/>
          </a:solidFill>
          <a:ln w="9525">
            <a:solidFill>
              <a:srgbClr val="8FB88F"/>
            </a:solidFill>
            <a:prstDash val="solid"/>
          </a:ln>
        </p:spPr>
      </p:sp>
      <p:sp>
        <p:nvSpPr>
          <p:cNvPr id="24" name="Text 20"/>
          <p:cNvSpPr/>
          <p:nvPr/>
        </p:nvSpPr>
        <p:spPr>
          <a:xfrm>
            <a:off x="676656" y="5166360"/>
            <a:ext cx="367588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6, Cheap Adaptation</a:t>
            </a:r>
            <a:endParaRPr lang="en-US" sz="1000" dirty="0"/>
          </a:p>
        </p:txBody>
      </p:sp>
      <p:sp>
        <p:nvSpPr>
          <p:cNvPr id="25" name="Text 21"/>
          <p:cNvSpPr/>
          <p:nvPr/>
        </p:nvSpPr>
        <p:spPr>
          <a:xfrm>
            <a:off x="4663440" y="5120640"/>
            <a:ext cx="6949440" cy="685800"/>
          </a:xfrm>
          <a:prstGeom prst="rect">
            <a:avLst/>
          </a:prstGeom>
          <a:noFill/>
          <a:ln/>
        </p:spPr>
        <p:txBody>
          <a:bodyPr wrap="square"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Hosted Training does LoRA on shared multi-tenant hardware and bills per token — which is only possible because the base weights never move. Full-parameter training exists as a separate, closed-beta product on dedicated clusters.</a:t>
            </a:r>
            <a:endParaRPr lang="en-US" sz="1100" dirty="0"/>
          </a:p>
        </p:txBody>
      </p:sp>
      <p:sp>
        <p:nvSpPr>
          <p:cNvPr id="26" name="Text 22"/>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27" name="Text 2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PLATFORM</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The Products, and What Each One Is For</a:t>
            </a:r>
            <a:endParaRPr lang="en-US" sz="3000" dirty="0"/>
          </a:p>
        </p:txBody>
      </p:sp>
      <p:sp>
        <p:nvSpPr>
          <p:cNvPr id="4" name="Shape 2"/>
          <p:cNvSpPr/>
          <p:nvPr/>
        </p:nvSpPr>
        <p:spPr>
          <a:xfrm>
            <a:off x="548640" y="1508760"/>
            <a:ext cx="3593592" cy="1417320"/>
          </a:xfrm>
          <a:prstGeom prst="roundRect">
            <a:avLst>
              <a:gd name="adj" fmla="val 5161"/>
            </a:avLst>
          </a:prstGeom>
          <a:solidFill>
            <a:srgbClr val="F2F8FA"/>
          </a:solidFill>
          <a:ln/>
          <a:effectLst>
            <a:outerShdw sx="100000" sy="100000" kx="0" ky="0" algn="bl" rotWithShape="0" blurRad="101600" dist="25400" dir="5400000">
              <a:srgbClr val="1B2733">
                <a:alpha val="8000"/>
              </a:srgbClr>
            </a:outerShdw>
          </a:effectLst>
        </p:spPr>
      </p:sp>
      <p:sp>
        <p:nvSpPr>
          <p:cNvPr id="5" name="Shape 3"/>
          <p:cNvSpPr/>
          <p:nvPr/>
        </p:nvSpPr>
        <p:spPr>
          <a:xfrm>
            <a:off x="786384" y="1746504"/>
            <a:ext cx="548640" cy="548640"/>
          </a:xfrm>
          <a:prstGeom prst="ellipse">
            <a:avLst/>
          </a:prstGeom>
          <a:solidFill>
            <a:srgbClr val="065A82"/>
          </a:solidFill>
          <a:ln/>
        </p:spPr>
      </p:sp>
      <p:pic>
        <p:nvPicPr>
          <p:cNvPr id="6" name="Image 0" descr="/tmp/b/icons/box_white.png">    </p:cNvPr>
          <p:cNvPicPr>
            <a:picLocks noChangeAspect="1"/>
          </p:cNvPicPr>
          <p:nvPr/>
        </p:nvPicPr>
        <p:blipFill>
          <a:blip r:embed="rId1"/>
          <a:stretch>
            <a:fillRect/>
          </a:stretch>
        </p:blipFill>
        <p:spPr>
          <a:xfrm>
            <a:off x="929030" y="1889150"/>
            <a:ext cx="263347" cy="263347"/>
          </a:xfrm>
          <a:prstGeom prst="rect">
            <a:avLst/>
          </a:prstGeom>
        </p:spPr>
      </p:pic>
      <p:sp>
        <p:nvSpPr>
          <p:cNvPr id="7" name="Text 4"/>
          <p:cNvSpPr/>
          <p:nvPr/>
        </p:nvSpPr>
        <p:spPr>
          <a:xfrm>
            <a:off x="1463040" y="1783080"/>
            <a:ext cx="2450592" cy="475488"/>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Environments Hub</a:t>
            </a:r>
            <a:endParaRPr lang="en-US" sz="1400" dirty="0"/>
          </a:p>
        </p:txBody>
      </p:sp>
      <p:sp>
        <p:nvSpPr>
          <p:cNvPr id="8" name="Text 5"/>
          <p:cNvSpPr/>
          <p:nvPr/>
        </p:nvSpPr>
        <p:spPr>
          <a:xfrm>
            <a:off x="786384" y="2377440"/>
            <a:ext cx="3118104" cy="41148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A package registry for tasks. Environments are Python wheels; you browse, install, and publish them like any other dependency.</a:t>
            </a:r>
            <a:endParaRPr lang="en-US" sz="1050" dirty="0"/>
          </a:p>
        </p:txBody>
      </p:sp>
      <p:sp>
        <p:nvSpPr>
          <p:cNvPr id="9" name="Shape 6"/>
          <p:cNvSpPr/>
          <p:nvPr/>
        </p:nvSpPr>
        <p:spPr>
          <a:xfrm>
            <a:off x="4279392" y="1508760"/>
            <a:ext cx="3593592" cy="1417320"/>
          </a:xfrm>
          <a:prstGeom prst="roundRect">
            <a:avLst>
              <a:gd name="adj" fmla="val 5161"/>
            </a:avLst>
          </a:prstGeom>
          <a:solidFill>
            <a:srgbClr val="F2F8FA"/>
          </a:solidFill>
          <a:ln/>
          <a:effectLst>
            <a:outerShdw sx="100000" sy="100000" kx="0" ky="0" algn="bl" rotWithShape="0" blurRad="101600" dist="25400" dir="5400000">
              <a:srgbClr val="1B2733">
                <a:alpha val="8000"/>
              </a:srgbClr>
            </a:outerShdw>
          </a:effectLst>
        </p:spPr>
      </p:sp>
      <p:sp>
        <p:nvSpPr>
          <p:cNvPr id="10" name="Shape 7"/>
          <p:cNvSpPr/>
          <p:nvPr/>
        </p:nvSpPr>
        <p:spPr>
          <a:xfrm>
            <a:off x="4517136" y="1746504"/>
            <a:ext cx="548640" cy="548640"/>
          </a:xfrm>
          <a:prstGeom prst="ellipse">
            <a:avLst/>
          </a:prstGeom>
          <a:solidFill>
            <a:srgbClr val="1C7293"/>
          </a:solidFill>
          <a:ln/>
        </p:spPr>
      </p:sp>
      <p:pic>
        <p:nvPicPr>
          <p:cNvPr id="11" name="Image 1" descr="/tmp/b/icons/chart_line_white.png">    </p:cNvPr>
          <p:cNvPicPr>
            <a:picLocks noChangeAspect="1"/>
          </p:cNvPicPr>
          <p:nvPr/>
        </p:nvPicPr>
        <p:blipFill>
          <a:blip r:embed="rId2"/>
          <a:stretch>
            <a:fillRect/>
          </a:stretch>
        </p:blipFill>
        <p:spPr>
          <a:xfrm>
            <a:off x="4659782" y="1889150"/>
            <a:ext cx="263347" cy="263347"/>
          </a:xfrm>
          <a:prstGeom prst="rect">
            <a:avLst/>
          </a:prstGeom>
        </p:spPr>
      </p:pic>
      <p:sp>
        <p:nvSpPr>
          <p:cNvPr id="12" name="Text 8"/>
          <p:cNvSpPr/>
          <p:nvPr/>
        </p:nvSpPr>
        <p:spPr>
          <a:xfrm>
            <a:off x="5193792" y="1783080"/>
            <a:ext cx="2450592" cy="475488"/>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Hosted Evaluations</a:t>
            </a:r>
            <a:endParaRPr lang="en-US" sz="1400" dirty="0"/>
          </a:p>
        </p:txBody>
      </p:sp>
      <p:sp>
        <p:nvSpPr>
          <p:cNvPr id="13" name="Text 9"/>
          <p:cNvSpPr/>
          <p:nvPr/>
        </p:nvSpPr>
        <p:spPr>
          <a:xfrm>
            <a:off x="4517136" y="2377440"/>
            <a:ext cx="3118104" cy="41148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Run an environment against a model and get a score, on Prime's infrastructure rather than your laptop.</a:t>
            </a:r>
            <a:endParaRPr lang="en-US" sz="1050" dirty="0"/>
          </a:p>
        </p:txBody>
      </p:sp>
      <p:sp>
        <p:nvSpPr>
          <p:cNvPr id="14" name="Shape 10"/>
          <p:cNvSpPr/>
          <p:nvPr/>
        </p:nvSpPr>
        <p:spPr>
          <a:xfrm>
            <a:off x="8010144" y="1508760"/>
            <a:ext cx="3593592" cy="1417320"/>
          </a:xfrm>
          <a:prstGeom prst="roundRect">
            <a:avLst>
              <a:gd name="adj" fmla="val 5161"/>
            </a:avLst>
          </a:prstGeom>
          <a:solidFill>
            <a:srgbClr val="F2F8FA"/>
          </a:solidFill>
          <a:ln/>
          <a:effectLst>
            <a:outerShdw sx="100000" sy="100000" kx="0" ky="0" algn="bl" rotWithShape="0" blurRad="101600" dist="25400" dir="5400000">
              <a:srgbClr val="1B2733">
                <a:alpha val="8000"/>
              </a:srgbClr>
            </a:outerShdw>
          </a:effectLst>
        </p:spPr>
      </p:sp>
      <p:sp>
        <p:nvSpPr>
          <p:cNvPr id="15" name="Shape 11"/>
          <p:cNvSpPr/>
          <p:nvPr/>
        </p:nvSpPr>
        <p:spPr>
          <a:xfrm>
            <a:off x="8247888" y="1746504"/>
            <a:ext cx="548640" cy="548640"/>
          </a:xfrm>
          <a:prstGeom prst="ellipse">
            <a:avLst/>
          </a:prstGeom>
          <a:solidFill>
            <a:srgbClr val="21295C"/>
          </a:solidFill>
          <a:ln/>
        </p:spPr>
      </p:sp>
      <p:pic>
        <p:nvPicPr>
          <p:cNvPr id="16" name="Image 2" descr="/tmp/b/icons/rocket_white.png">    </p:cNvPr>
          <p:cNvPicPr>
            <a:picLocks noChangeAspect="1"/>
          </p:cNvPicPr>
          <p:nvPr/>
        </p:nvPicPr>
        <p:blipFill>
          <a:blip r:embed="rId3"/>
          <a:stretch>
            <a:fillRect/>
          </a:stretch>
        </p:blipFill>
        <p:spPr>
          <a:xfrm>
            <a:off x="8390534" y="1889150"/>
            <a:ext cx="263347" cy="263347"/>
          </a:xfrm>
          <a:prstGeom prst="rect">
            <a:avLst/>
          </a:prstGeom>
        </p:spPr>
      </p:pic>
      <p:sp>
        <p:nvSpPr>
          <p:cNvPr id="17" name="Text 12"/>
          <p:cNvSpPr/>
          <p:nvPr/>
        </p:nvSpPr>
        <p:spPr>
          <a:xfrm>
            <a:off x="8924544" y="1783080"/>
            <a:ext cx="2450592" cy="475488"/>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Hosted Training</a:t>
            </a:r>
            <a:endParaRPr lang="en-US" sz="1400" dirty="0"/>
          </a:p>
        </p:txBody>
      </p:sp>
      <p:sp>
        <p:nvSpPr>
          <p:cNvPr id="18" name="Text 13"/>
          <p:cNvSpPr/>
          <p:nvPr/>
        </p:nvSpPr>
        <p:spPr>
          <a:xfrm>
            <a:off x="8247888" y="2377440"/>
            <a:ext cx="3118104" cy="41148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The RL loop as a service. Point a config file at an environment and a model; get back a trained adapter.</a:t>
            </a:r>
            <a:endParaRPr lang="en-US" sz="1050" dirty="0"/>
          </a:p>
        </p:txBody>
      </p:sp>
      <p:sp>
        <p:nvSpPr>
          <p:cNvPr id="19" name="Shape 14"/>
          <p:cNvSpPr/>
          <p:nvPr/>
        </p:nvSpPr>
        <p:spPr>
          <a:xfrm>
            <a:off x="548640" y="3090672"/>
            <a:ext cx="3593592" cy="1417320"/>
          </a:xfrm>
          <a:prstGeom prst="roundRect">
            <a:avLst>
              <a:gd name="adj" fmla="val 5161"/>
            </a:avLst>
          </a:prstGeom>
          <a:solidFill>
            <a:srgbClr val="F2F8FA"/>
          </a:solidFill>
          <a:ln/>
          <a:effectLst>
            <a:outerShdw sx="100000" sy="100000" kx="0" ky="0" algn="bl" rotWithShape="0" blurRad="101600" dist="25400" dir="5400000">
              <a:srgbClr val="1B2733">
                <a:alpha val="8000"/>
              </a:srgbClr>
            </a:outerShdw>
          </a:effectLst>
        </p:spPr>
      </p:sp>
      <p:sp>
        <p:nvSpPr>
          <p:cNvPr id="20" name="Shape 15"/>
          <p:cNvSpPr/>
          <p:nvPr/>
        </p:nvSpPr>
        <p:spPr>
          <a:xfrm>
            <a:off x="786384" y="3328416"/>
            <a:ext cx="548640" cy="548640"/>
          </a:xfrm>
          <a:prstGeom prst="ellipse">
            <a:avLst/>
          </a:prstGeom>
          <a:solidFill>
            <a:srgbClr val="065A82"/>
          </a:solidFill>
          <a:ln/>
        </p:spPr>
      </p:sp>
      <p:pic>
        <p:nvPicPr>
          <p:cNvPr id="21" name="Image 3" descr="/tmp/b/icons/cubes_white.png">    </p:cNvPr>
          <p:cNvPicPr>
            <a:picLocks noChangeAspect="1"/>
          </p:cNvPicPr>
          <p:nvPr/>
        </p:nvPicPr>
        <p:blipFill>
          <a:blip r:embed="rId4"/>
          <a:stretch>
            <a:fillRect/>
          </a:stretch>
        </p:blipFill>
        <p:spPr>
          <a:xfrm>
            <a:off x="929030" y="3471062"/>
            <a:ext cx="263347" cy="263347"/>
          </a:xfrm>
          <a:prstGeom prst="rect">
            <a:avLst/>
          </a:prstGeom>
        </p:spPr>
      </p:pic>
      <p:sp>
        <p:nvSpPr>
          <p:cNvPr id="22" name="Text 16"/>
          <p:cNvSpPr/>
          <p:nvPr/>
        </p:nvSpPr>
        <p:spPr>
          <a:xfrm>
            <a:off x="1463040" y="3364992"/>
            <a:ext cx="2450592" cy="475488"/>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Sandboxes</a:t>
            </a:r>
            <a:endParaRPr lang="en-US" sz="1400" dirty="0"/>
          </a:p>
        </p:txBody>
      </p:sp>
      <p:sp>
        <p:nvSpPr>
          <p:cNvPr id="23" name="Text 17"/>
          <p:cNvSpPr/>
          <p:nvPr/>
        </p:nvSpPr>
        <p:spPr>
          <a:xfrm>
            <a:off x="786384" y="3959352"/>
            <a:ext cx="3118104" cy="41148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Disposable containers for running untrusted code. CPU-only today — there is no GPU sandbox yet.</a:t>
            </a:r>
            <a:endParaRPr lang="en-US" sz="1050" dirty="0"/>
          </a:p>
        </p:txBody>
      </p:sp>
      <p:sp>
        <p:nvSpPr>
          <p:cNvPr id="24" name="Shape 18"/>
          <p:cNvSpPr/>
          <p:nvPr/>
        </p:nvSpPr>
        <p:spPr>
          <a:xfrm>
            <a:off x="4279392" y="3090672"/>
            <a:ext cx="3593592" cy="1417320"/>
          </a:xfrm>
          <a:prstGeom prst="roundRect">
            <a:avLst>
              <a:gd name="adj" fmla="val 5161"/>
            </a:avLst>
          </a:prstGeom>
          <a:solidFill>
            <a:srgbClr val="F2F8FA"/>
          </a:solidFill>
          <a:ln/>
          <a:effectLst>
            <a:outerShdw sx="100000" sy="100000" kx="0" ky="0" algn="bl" rotWithShape="0" blurRad="101600" dist="25400" dir="5400000">
              <a:srgbClr val="1B2733">
                <a:alpha val="8000"/>
              </a:srgbClr>
            </a:outerShdw>
          </a:effectLst>
        </p:spPr>
      </p:sp>
      <p:sp>
        <p:nvSpPr>
          <p:cNvPr id="25" name="Shape 19"/>
          <p:cNvSpPr/>
          <p:nvPr/>
        </p:nvSpPr>
        <p:spPr>
          <a:xfrm>
            <a:off x="4517136" y="3328416"/>
            <a:ext cx="548640" cy="548640"/>
          </a:xfrm>
          <a:prstGeom prst="ellipse">
            <a:avLst/>
          </a:prstGeom>
          <a:solidFill>
            <a:srgbClr val="1C7293"/>
          </a:solidFill>
          <a:ln/>
        </p:spPr>
      </p:sp>
      <p:pic>
        <p:nvPicPr>
          <p:cNvPr id="26" name="Image 4" descr="/tmp/b/icons/cloud_white.png">    </p:cNvPr>
          <p:cNvPicPr>
            <a:picLocks noChangeAspect="1"/>
          </p:cNvPicPr>
          <p:nvPr/>
        </p:nvPicPr>
        <p:blipFill>
          <a:blip r:embed="rId5"/>
          <a:stretch>
            <a:fillRect/>
          </a:stretch>
        </p:blipFill>
        <p:spPr>
          <a:xfrm>
            <a:off x="4659782" y="3471062"/>
            <a:ext cx="263347" cy="263347"/>
          </a:xfrm>
          <a:prstGeom prst="rect">
            <a:avLst/>
          </a:prstGeom>
        </p:spPr>
      </p:pic>
      <p:sp>
        <p:nvSpPr>
          <p:cNvPr id="27" name="Text 20"/>
          <p:cNvSpPr/>
          <p:nvPr/>
        </p:nvSpPr>
        <p:spPr>
          <a:xfrm>
            <a:off x="5193792" y="3364992"/>
            <a:ext cx="2450592" cy="475488"/>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Inference</a:t>
            </a:r>
            <a:endParaRPr lang="en-US" sz="1400" dirty="0"/>
          </a:p>
        </p:txBody>
      </p:sp>
      <p:sp>
        <p:nvSpPr>
          <p:cNvPr id="28" name="Text 21"/>
          <p:cNvSpPr/>
          <p:nvPr/>
        </p:nvSpPr>
        <p:spPr>
          <a:xfrm>
            <a:off x="4517136" y="3959352"/>
            <a:ext cx="3118104" cy="41148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An OpenAI-compatible endpoint. Serves stock models, and serves the adapters your training runs produce.</a:t>
            </a:r>
            <a:endParaRPr lang="en-US" sz="1050" dirty="0"/>
          </a:p>
        </p:txBody>
      </p:sp>
      <p:sp>
        <p:nvSpPr>
          <p:cNvPr id="29" name="Shape 22"/>
          <p:cNvSpPr/>
          <p:nvPr/>
        </p:nvSpPr>
        <p:spPr>
          <a:xfrm>
            <a:off x="8010144" y="3090672"/>
            <a:ext cx="3593592" cy="1417320"/>
          </a:xfrm>
          <a:prstGeom prst="roundRect">
            <a:avLst>
              <a:gd name="adj" fmla="val 5161"/>
            </a:avLst>
          </a:prstGeom>
          <a:solidFill>
            <a:srgbClr val="F2F8FA"/>
          </a:solidFill>
          <a:ln/>
          <a:effectLst>
            <a:outerShdw sx="100000" sy="100000" kx="0" ky="0" algn="bl" rotWithShape="0" blurRad="101600" dist="25400" dir="5400000">
              <a:srgbClr val="1B2733">
                <a:alpha val="8000"/>
              </a:srgbClr>
            </a:outerShdw>
          </a:effectLst>
        </p:spPr>
      </p:sp>
      <p:sp>
        <p:nvSpPr>
          <p:cNvPr id="30" name="Shape 23"/>
          <p:cNvSpPr/>
          <p:nvPr/>
        </p:nvSpPr>
        <p:spPr>
          <a:xfrm>
            <a:off x="8247888" y="3328416"/>
            <a:ext cx="548640" cy="548640"/>
          </a:xfrm>
          <a:prstGeom prst="ellipse">
            <a:avLst/>
          </a:prstGeom>
          <a:solidFill>
            <a:srgbClr val="21295C"/>
          </a:solidFill>
          <a:ln/>
        </p:spPr>
      </p:sp>
      <p:pic>
        <p:nvPicPr>
          <p:cNvPr id="31" name="Image 5" descr="/tmp/b/icons/microchip_white.png">    </p:cNvPr>
          <p:cNvPicPr>
            <a:picLocks noChangeAspect="1"/>
          </p:cNvPicPr>
          <p:nvPr/>
        </p:nvPicPr>
        <p:blipFill>
          <a:blip r:embed="rId6"/>
          <a:stretch>
            <a:fillRect/>
          </a:stretch>
        </p:blipFill>
        <p:spPr>
          <a:xfrm>
            <a:off x="8390534" y="3471062"/>
            <a:ext cx="263347" cy="263347"/>
          </a:xfrm>
          <a:prstGeom prst="rect">
            <a:avLst/>
          </a:prstGeom>
        </p:spPr>
      </p:pic>
      <p:sp>
        <p:nvSpPr>
          <p:cNvPr id="32" name="Text 24"/>
          <p:cNvSpPr/>
          <p:nvPr/>
        </p:nvSpPr>
        <p:spPr>
          <a:xfrm>
            <a:off x="8924544" y="3364992"/>
            <a:ext cx="2450592" cy="475488"/>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Compute</a:t>
            </a:r>
            <a:endParaRPr lang="en-US" sz="1400" dirty="0"/>
          </a:p>
        </p:txBody>
      </p:sp>
      <p:sp>
        <p:nvSpPr>
          <p:cNvPr id="33" name="Text 25"/>
          <p:cNvSpPr/>
          <p:nvPr/>
        </p:nvSpPr>
        <p:spPr>
          <a:xfrm>
            <a:off x="8247888" y="3959352"/>
            <a:ext cx="3118104" cy="41148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Raw GPUs: on-demand pods, multi-node clusters, reserved capacity, persistent disks.</a:t>
            </a:r>
            <a:endParaRPr lang="en-US" sz="1050" dirty="0"/>
          </a:p>
        </p:txBody>
      </p:sp>
      <p:sp>
        <p:nvSpPr>
          <p:cNvPr id="34" name="Shape 26"/>
          <p:cNvSpPr/>
          <p:nvPr/>
        </p:nvSpPr>
        <p:spPr>
          <a:xfrm>
            <a:off x="548640" y="4663440"/>
            <a:ext cx="11064240" cy="1417320"/>
          </a:xfrm>
          <a:prstGeom prst="roundRect">
            <a:avLst>
              <a:gd name="adj" fmla="val 5161"/>
            </a:avLst>
          </a:prstGeom>
          <a:solidFill>
            <a:srgbClr val="0B2942"/>
          </a:solidFill>
          <a:ln/>
        </p:spPr>
      </p:sp>
      <p:sp>
        <p:nvSpPr>
          <p:cNvPr id="35" name="Text 27"/>
          <p:cNvSpPr/>
          <p:nvPr/>
        </p:nvSpPr>
        <p:spPr>
          <a:xfrm>
            <a:off x="822960" y="4800600"/>
            <a:ext cx="10515600" cy="320040"/>
          </a:xfrm>
          <a:prstGeom prst="rect">
            <a:avLst/>
          </a:prstGeom>
          <a:noFill/>
          <a:ln/>
        </p:spPr>
        <p:txBody>
          <a:bodyPr wrap="square" rtlCol="0" anchor="ctr"/>
          <a:lstStyle/>
          <a:p>
            <a:pPr indent="0" marL="0">
              <a:buNone/>
            </a:pPr>
            <a:r>
              <a:rPr lang="en-US" sz="1300" b="1" dirty="0">
                <a:solidFill>
                  <a:srgbClr val="8FD4E8"/>
                </a:solidFill>
                <a:latin typeface="Calibri" pitchFamily="34" charset="0"/>
                <a:ea typeface="Calibri" pitchFamily="34" charset="-122"/>
                <a:cs typeface="Calibri" pitchFamily="34" charset="-120"/>
              </a:rPr>
              <a:t>How they chain together</a:t>
            </a:r>
            <a:endParaRPr lang="en-US" sz="1300" dirty="0"/>
          </a:p>
        </p:txBody>
      </p:sp>
      <p:sp>
        <p:nvSpPr>
          <p:cNvPr id="36" name="Shape 28"/>
          <p:cNvSpPr/>
          <p:nvPr/>
        </p:nvSpPr>
        <p:spPr>
          <a:xfrm>
            <a:off x="822960" y="5193792"/>
            <a:ext cx="1627632" cy="457200"/>
          </a:xfrm>
          <a:prstGeom prst="roundRect">
            <a:avLst>
              <a:gd name="adj" fmla="val 12000"/>
            </a:avLst>
          </a:prstGeom>
          <a:solidFill>
            <a:srgbClr val="1C7293"/>
          </a:solidFill>
          <a:ln w="9525">
            <a:solidFill>
              <a:srgbClr val="3F6E8C"/>
            </a:solidFill>
            <a:prstDash val="solid"/>
          </a:ln>
        </p:spPr>
      </p:sp>
      <p:sp>
        <p:nvSpPr>
          <p:cNvPr id="37" name="Text 29"/>
          <p:cNvSpPr/>
          <p:nvPr/>
        </p:nvSpPr>
        <p:spPr>
          <a:xfrm>
            <a:off x="859536" y="5193792"/>
            <a:ext cx="1554480" cy="45720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write an environment</a:t>
            </a:r>
            <a:endParaRPr lang="en-US" sz="950" dirty="0"/>
          </a:p>
        </p:txBody>
      </p:sp>
      <p:sp>
        <p:nvSpPr>
          <p:cNvPr id="38" name="Text 30"/>
          <p:cNvSpPr/>
          <p:nvPr/>
        </p:nvSpPr>
        <p:spPr>
          <a:xfrm>
            <a:off x="2450592" y="5193792"/>
            <a:ext cx="219456" cy="457200"/>
          </a:xfrm>
          <a:prstGeom prst="rect">
            <a:avLst/>
          </a:prstGeom>
          <a:noFill/>
          <a:ln/>
        </p:spPr>
        <p:txBody>
          <a:bodyPr wrap="square" rtlCol="0" anchor="ctr"/>
          <a:lstStyle/>
          <a:p>
            <a:pPr algn="ctr" indent="0" marL="0">
              <a:buNone/>
            </a:pPr>
            <a:r>
              <a:rPr lang="en-US" sz="1200" dirty="0">
                <a:solidFill>
                  <a:srgbClr val="8FD4E8"/>
                </a:solidFill>
                <a:latin typeface="Calibri" pitchFamily="34" charset="0"/>
                <a:ea typeface="Calibri" pitchFamily="34" charset="-122"/>
                <a:cs typeface="Calibri" pitchFamily="34" charset="-120"/>
              </a:rPr>
              <a:t>→</a:t>
            </a:r>
            <a:endParaRPr lang="en-US" sz="1200" dirty="0"/>
          </a:p>
        </p:txBody>
      </p:sp>
      <p:sp>
        <p:nvSpPr>
          <p:cNvPr id="39" name="Shape 31"/>
          <p:cNvSpPr/>
          <p:nvPr/>
        </p:nvSpPr>
        <p:spPr>
          <a:xfrm>
            <a:off x="2670048" y="5193792"/>
            <a:ext cx="1627632" cy="457200"/>
          </a:xfrm>
          <a:prstGeom prst="roundRect">
            <a:avLst>
              <a:gd name="adj" fmla="val 12000"/>
            </a:avLst>
          </a:prstGeom>
          <a:solidFill>
            <a:srgbClr val="21295C"/>
          </a:solidFill>
          <a:ln w="9525">
            <a:solidFill>
              <a:srgbClr val="3F6E8C"/>
            </a:solidFill>
            <a:prstDash val="solid"/>
          </a:ln>
        </p:spPr>
      </p:sp>
      <p:sp>
        <p:nvSpPr>
          <p:cNvPr id="40" name="Text 32"/>
          <p:cNvSpPr/>
          <p:nvPr/>
        </p:nvSpPr>
        <p:spPr>
          <a:xfrm>
            <a:off x="2706624" y="5193792"/>
            <a:ext cx="1554480" cy="45720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baseline-evaluate it</a:t>
            </a:r>
            <a:endParaRPr lang="en-US" sz="950" dirty="0"/>
          </a:p>
        </p:txBody>
      </p:sp>
      <p:sp>
        <p:nvSpPr>
          <p:cNvPr id="41" name="Text 33"/>
          <p:cNvSpPr/>
          <p:nvPr/>
        </p:nvSpPr>
        <p:spPr>
          <a:xfrm>
            <a:off x="4297680" y="5193792"/>
            <a:ext cx="219456" cy="457200"/>
          </a:xfrm>
          <a:prstGeom prst="rect">
            <a:avLst/>
          </a:prstGeom>
          <a:noFill/>
          <a:ln/>
        </p:spPr>
        <p:txBody>
          <a:bodyPr wrap="square" rtlCol="0" anchor="ctr"/>
          <a:lstStyle/>
          <a:p>
            <a:pPr algn="ctr" indent="0" marL="0">
              <a:buNone/>
            </a:pPr>
            <a:r>
              <a:rPr lang="en-US" sz="1200" dirty="0">
                <a:solidFill>
                  <a:srgbClr val="8FD4E8"/>
                </a:solidFill>
                <a:latin typeface="Calibri" pitchFamily="34" charset="0"/>
                <a:ea typeface="Calibri" pitchFamily="34" charset="-122"/>
                <a:cs typeface="Calibri" pitchFamily="34" charset="-120"/>
              </a:rPr>
              <a:t>→</a:t>
            </a:r>
            <a:endParaRPr lang="en-US" sz="1200" dirty="0"/>
          </a:p>
        </p:txBody>
      </p:sp>
      <p:sp>
        <p:nvSpPr>
          <p:cNvPr id="42" name="Shape 34"/>
          <p:cNvSpPr/>
          <p:nvPr/>
        </p:nvSpPr>
        <p:spPr>
          <a:xfrm>
            <a:off x="4517136" y="5193792"/>
            <a:ext cx="1627632" cy="457200"/>
          </a:xfrm>
          <a:prstGeom prst="roundRect">
            <a:avLst>
              <a:gd name="adj" fmla="val 12000"/>
            </a:avLst>
          </a:prstGeom>
          <a:solidFill>
            <a:srgbClr val="21295C"/>
          </a:solidFill>
          <a:ln w="9525">
            <a:solidFill>
              <a:srgbClr val="3F6E8C"/>
            </a:solidFill>
            <a:prstDash val="solid"/>
          </a:ln>
        </p:spPr>
      </p:sp>
      <p:sp>
        <p:nvSpPr>
          <p:cNvPr id="43" name="Text 35"/>
          <p:cNvSpPr/>
          <p:nvPr/>
        </p:nvSpPr>
        <p:spPr>
          <a:xfrm>
            <a:off x="4553712" y="5193792"/>
            <a:ext cx="1554480" cy="45720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configure a run</a:t>
            </a:r>
            <a:endParaRPr lang="en-US" sz="950" dirty="0"/>
          </a:p>
        </p:txBody>
      </p:sp>
      <p:sp>
        <p:nvSpPr>
          <p:cNvPr id="44" name="Text 36"/>
          <p:cNvSpPr/>
          <p:nvPr/>
        </p:nvSpPr>
        <p:spPr>
          <a:xfrm>
            <a:off x="6144768" y="5193792"/>
            <a:ext cx="219456" cy="457200"/>
          </a:xfrm>
          <a:prstGeom prst="rect">
            <a:avLst/>
          </a:prstGeom>
          <a:noFill/>
          <a:ln/>
        </p:spPr>
        <p:txBody>
          <a:bodyPr wrap="square" rtlCol="0" anchor="ctr"/>
          <a:lstStyle/>
          <a:p>
            <a:pPr algn="ctr" indent="0" marL="0">
              <a:buNone/>
            </a:pPr>
            <a:r>
              <a:rPr lang="en-US" sz="1200" dirty="0">
                <a:solidFill>
                  <a:srgbClr val="8FD4E8"/>
                </a:solidFill>
                <a:latin typeface="Calibri" pitchFamily="34" charset="0"/>
                <a:ea typeface="Calibri" pitchFamily="34" charset="-122"/>
                <a:cs typeface="Calibri" pitchFamily="34" charset="-120"/>
              </a:rPr>
              <a:t>→</a:t>
            </a:r>
            <a:endParaRPr lang="en-US" sz="1200" dirty="0"/>
          </a:p>
        </p:txBody>
      </p:sp>
      <p:sp>
        <p:nvSpPr>
          <p:cNvPr id="45" name="Shape 37"/>
          <p:cNvSpPr/>
          <p:nvPr/>
        </p:nvSpPr>
        <p:spPr>
          <a:xfrm>
            <a:off x="6364224" y="5193792"/>
            <a:ext cx="1627632" cy="457200"/>
          </a:xfrm>
          <a:prstGeom prst="roundRect">
            <a:avLst>
              <a:gd name="adj" fmla="val 12000"/>
            </a:avLst>
          </a:prstGeom>
          <a:solidFill>
            <a:srgbClr val="21295C"/>
          </a:solidFill>
          <a:ln w="9525">
            <a:solidFill>
              <a:srgbClr val="3F6E8C"/>
            </a:solidFill>
            <a:prstDash val="solid"/>
          </a:ln>
        </p:spPr>
      </p:sp>
      <p:sp>
        <p:nvSpPr>
          <p:cNvPr id="46" name="Text 38"/>
          <p:cNvSpPr/>
          <p:nvPr/>
        </p:nvSpPr>
        <p:spPr>
          <a:xfrm>
            <a:off x="6400800" y="5193792"/>
            <a:ext cx="1554480" cy="45720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launch</a:t>
            </a:r>
            <a:endParaRPr lang="en-US" sz="950" dirty="0"/>
          </a:p>
        </p:txBody>
      </p:sp>
      <p:sp>
        <p:nvSpPr>
          <p:cNvPr id="47" name="Text 39"/>
          <p:cNvSpPr/>
          <p:nvPr/>
        </p:nvSpPr>
        <p:spPr>
          <a:xfrm>
            <a:off x="7991856" y="5193792"/>
            <a:ext cx="219456" cy="457200"/>
          </a:xfrm>
          <a:prstGeom prst="rect">
            <a:avLst/>
          </a:prstGeom>
          <a:noFill/>
          <a:ln/>
        </p:spPr>
        <p:txBody>
          <a:bodyPr wrap="square" rtlCol="0" anchor="ctr"/>
          <a:lstStyle/>
          <a:p>
            <a:pPr algn="ctr" indent="0" marL="0">
              <a:buNone/>
            </a:pPr>
            <a:r>
              <a:rPr lang="en-US" sz="1200" dirty="0">
                <a:solidFill>
                  <a:srgbClr val="8FD4E8"/>
                </a:solidFill>
                <a:latin typeface="Calibri" pitchFamily="34" charset="0"/>
                <a:ea typeface="Calibri" pitchFamily="34" charset="-122"/>
                <a:cs typeface="Calibri" pitchFamily="34" charset="-120"/>
              </a:rPr>
              <a:t>→</a:t>
            </a:r>
            <a:endParaRPr lang="en-US" sz="1200" dirty="0"/>
          </a:p>
        </p:txBody>
      </p:sp>
      <p:sp>
        <p:nvSpPr>
          <p:cNvPr id="48" name="Shape 40"/>
          <p:cNvSpPr/>
          <p:nvPr/>
        </p:nvSpPr>
        <p:spPr>
          <a:xfrm>
            <a:off x="8211312" y="5193792"/>
            <a:ext cx="1627632" cy="457200"/>
          </a:xfrm>
          <a:prstGeom prst="roundRect">
            <a:avLst>
              <a:gd name="adj" fmla="val 12000"/>
            </a:avLst>
          </a:prstGeom>
          <a:solidFill>
            <a:srgbClr val="21295C"/>
          </a:solidFill>
          <a:ln w="9525">
            <a:solidFill>
              <a:srgbClr val="3F6E8C"/>
            </a:solidFill>
            <a:prstDash val="solid"/>
          </a:ln>
        </p:spPr>
      </p:sp>
      <p:sp>
        <p:nvSpPr>
          <p:cNvPr id="49" name="Text 41"/>
          <p:cNvSpPr/>
          <p:nvPr/>
        </p:nvSpPr>
        <p:spPr>
          <a:xfrm>
            <a:off x="8247888" y="5193792"/>
            <a:ext cx="1554480" cy="45720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monitor</a:t>
            </a:r>
            <a:endParaRPr lang="en-US" sz="950" dirty="0"/>
          </a:p>
        </p:txBody>
      </p:sp>
      <p:sp>
        <p:nvSpPr>
          <p:cNvPr id="50" name="Text 42"/>
          <p:cNvSpPr/>
          <p:nvPr/>
        </p:nvSpPr>
        <p:spPr>
          <a:xfrm>
            <a:off x="9838944" y="5193792"/>
            <a:ext cx="219456" cy="457200"/>
          </a:xfrm>
          <a:prstGeom prst="rect">
            <a:avLst/>
          </a:prstGeom>
          <a:noFill/>
          <a:ln/>
        </p:spPr>
        <p:txBody>
          <a:bodyPr wrap="square" rtlCol="0" anchor="ctr"/>
          <a:lstStyle/>
          <a:p>
            <a:pPr algn="ctr" indent="0" marL="0">
              <a:buNone/>
            </a:pPr>
            <a:r>
              <a:rPr lang="en-US" sz="1200" dirty="0">
                <a:solidFill>
                  <a:srgbClr val="8FD4E8"/>
                </a:solidFill>
                <a:latin typeface="Calibri" pitchFamily="34" charset="0"/>
                <a:ea typeface="Calibri" pitchFamily="34" charset="-122"/>
                <a:cs typeface="Calibri" pitchFamily="34" charset="-120"/>
              </a:rPr>
              <a:t>→</a:t>
            </a:r>
            <a:endParaRPr lang="en-US" sz="1200" dirty="0"/>
          </a:p>
        </p:txBody>
      </p:sp>
      <p:sp>
        <p:nvSpPr>
          <p:cNvPr id="51" name="Shape 43"/>
          <p:cNvSpPr/>
          <p:nvPr/>
        </p:nvSpPr>
        <p:spPr>
          <a:xfrm>
            <a:off x="10058400" y="5193792"/>
            <a:ext cx="1627632" cy="457200"/>
          </a:xfrm>
          <a:prstGeom prst="roundRect">
            <a:avLst>
              <a:gd name="adj" fmla="val 12000"/>
            </a:avLst>
          </a:prstGeom>
          <a:solidFill>
            <a:srgbClr val="21295C"/>
          </a:solidFill>
          <a:ln w="9525">
            <a:solidFill>
              <a:srgbClr val="3F6E8C"/>
            </a:solidFill>
            <a:prstDash val="solid"/>
          </a:ln>
        </p:spPr>
      </p:sp>
      <p:sp>
        <p:nvSpPr>
          <p:cNvPr id="52" name="Text 44"/>
          <p:cNvSpPr/>
          <p:nvPr/>
        </p:nvSpPr>
        <p:spPr>
          <a:xfrm>
            <a:off x="10094976" y="5193792"/>
            <a:ext cx="1554480" cy="457200"/>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deploy the adapter</a:t>
            </a:r>
            <a:endParaRPr lang="en-US" sz="950" dirty="0"/>
          </a:p>
        </p:txBody>
      </p:sp>
      <p:sp>
        <p:nvSpPr>
          <p:cNvPr id="53" name="Text 45"/>
          <p:cNvSpPr/>
          <p:nvPr/>
        </p:nvSpPr>
        <p:spPr>
          <a:xfrm>
            <a:off x="822960" y="5715000"/>
            <a:ext cx="10515600" cy="274320"/>
          </a:xfrm>
          <a:prstGeom prst="rect">
            <a:avLst/>
          </a:prstGeom>
          <a:noFill/>
          <a:ln/>
        </p:spPr>
        <p:txBody>
          <a:bodyPr wrap="square" rtlCol="0" anchor="ctr"/>
          <a:lstStyle/>
          <a:p>
            <a:pPr indent="0" marL="0">
              <a:buNone/>
            </a:pPr>
            <a:r>
              <a:rPr lang="en-US" sz="1050" i="1" dirty="0">
                <a:solidFill>
                  <a:srgbClr val="8FA8C2"/>
                </a:solidFill>
                <a:latin typeface="Calibri" pitchFamily="34" charset="0"/>
                <a:ea typeface="Calibri" pitchFamily="34" charset="-122"/>
                <a:cs typeface="Calibri" pitchFamily="34" charset="-120"/>
              </a:rPr>
              <a:t>Nearly every guide on the platform is a variation of this sequence.</a:t>
            </a:r>
            <a:endParaRPr lang="en-US" sz="1050" dirty="0"/>
          </a:p>
        </p:txBody>
      </p:sp>
      <p:sp>
        <p:nvSpPr>
          <p:cNvPr id="54" name="Text 46"/>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55" name="Text 4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LIBRARY</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Repository Structure: verifiers</a:t>
            </a:r>
            <a:endParaRPr lang="en-US" sz="3000" dirty="0"/>
          </a:p>
        </p:txBody>
      </p:sp>
      <p:sp>
        <p:nvSpPr>
          <p:cNvPr id="4" name="Text 2"/>
          <p:cNvSpPr/>
          <p:nvPr/>
        </p:nvSpPr>
        <p:spPr>
          <a:xfrm>
            <a:off x="548640" y="1389888"/>
            <a:ext cx="5943600" cy="685800"/>
          </a:xfrm>
          <a:prstGeom prst="rect">
            <a:avLst/>
          </a:prstGeom>
          <a:noFill/>
          <a:ln/>
        </p:spPr>
        <p:txBody>
          <a:bodyPr wrap="square" rtlCol="0" anchor="ctr"/>
          <a:lstStyle/>
          <a:p>
            <a:pPr indent="0" marL="0">
              <a:lnSpc>
                <a:spcPct val="122000"/>
              </a:lnSpc>
              <a:buNone/>
            </a:pPr>
            <a:r>
              <a:rPr lang="en-US" sz="1250" dirty="0">
                <a:solidFill>
                  <a:srgbClr val="5C7080"/>
                </a:solidFill>
                <a:latin typeface="Calibri" pitchFamily="34" charset="0"/>
                <a:ea typeface="Calibri" pitchFamily="34" charset="-122"/>
                <a:cs typeface="Calibri" pitchFamily="34" charset="-120"/>
              </a:rPr>
              <a:t>Lab is a wrapper. The thing you actually write code against is verifiers — the open-source library defining what an environment is. Worth reading directly, because every environment on the Hub is built to its contract.</a:t>
            </a:r>
            <a:endParaRPr lang="en-US" sz="1250" dirty="0"/>
          </a:p>
        </p:txBody>
      </p:sp>
      <p:sp>
        <p:nvSpPr>
          <p:cNvPr id="5" name="Shape 3"/>
          <p:cNvSpPr/>
          <p:nvPr/>
        </p:nvSpPr>
        <p:spPr>
          <a:xfrm>
            <a:off x="548640" y="2148840"/>
            <a:ext cx="5943600" cy="3977640"/>
          </a:xfrm>
          <a:prstGeom prst="roundRect">
            <a:avLst>
              <a:gd name="adj" fmla="val 1839"/>
            </a:avLst>
          </a:prstGeom>
          <a:solidFill>
            <a:srgbClr val="0B2942"/>
          </a:solidFill>
          <a:ln/>
        </p:spPr>
      </p:sp>
      <p:sp>
        <p:nvSpPr>
          <p:cNvPr id="6" name="Text 4"/>
          <p:cNvSpPr/>
          <p:nvPr/>
        </p:nvSpPr>
        <p:spPr>
          <a:xfrm>
            <a:off x="804672" y="2267712"/>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PrimeIntellect-ai/verifiers/</a:t>
            </a:r>
            <a:endParaRPr lang="en-US" sz="1050" dirty="0"/>
          </a:p>
        </p:txBody>
      </p:sp>
      <p:sp>
        <p:nvSpPr>
          <p:cNvPr id="7" name="Text 5"/>
          <p:cNvSpPr/>
          <p:nvPr/>
        </p:nvSpPr>
        <p:spPr>
          <a:xfrm>
            <a:off x="804672" y="2470709"/>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.github/workflows/</a:t>
            </a:r>
            <a:endParaRPr lang="en-US" sz="1050" dirty="0"/>
          </a:p>
        </p:txBody>
      </p:sp>
      <p:sp>
        <p:nvSpPr>
          <p:cNvPr id="8" name="Text 6"/>
          <p:cNvSpPr/>
          <p:nvPr/>
        </p:nvSpPr>
        <p:spPr>
          <a:xfrm>
            <a:off x="804672" y="2673706"/>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assets/</a:t>
            </a:r>
            <a:endParaRPr lang="en-US" sz="1050" dirty="0"/>
          </a:p>
        </p:txBody>
      </p:sp>
      <p:sp>
        <p:nvSpPr>
          <p:cNvPr id="9" name="Shape 7"/>
          <p:cNvSpPr/>
          <p:nvPr/>
        </p:nvSpPr>
        <p:spPr>
          <a:xfrm>
            <a:off x="749808" y="2881274"/>
            <a:ext cx="2834640" cy="205740"/>
          </a:xfrm>
          <a:prstGeom prst="roundRect">
            <a:avLst>
              <a:gd name="adj" fmla="val 13333"/>
            </a:avLst>
          </a:prstGeom>
          <a:solidFill>
            <a:srgbClr val="1E4A6E"/>
          </a:solidFill>
          <a:ln/>
        </p:spPr>
      </p:sp>
      <p:sp>
        <p:nvSpPr>
          <p:cNvPr id="10" name="Text 8"/>
          <p:cNvSpPr/>
          <p:nvPr/>
        </p:nvSpPr>
        <p:spPr>
          <a:xfrm>
            <a:off x="804672" y="2876702"/>
            <a:ext cx="5120640" cy="219456"/>
          </a:xfrm>
          <a:prstGeom prst="rect">
            <a:avLst/>
          </a:prstGeom>
          <a:noFill/>
          <a:ln/>
        </p:spPr>
        <p:txBody>
          <a:bodyPr wrap="square" lIns="0" tIns="0" rIns="0" bIns="0" rtlCol="0" anchor="ctr"/>
          <a:lstStyle/>
          <a:p>
            <a:pPr indent="0" marL="0">
              <a:buNone/>
            </a:pPr>
            <a:r>
              <a:rPr lang="en-US" sz="1050" b="1" dirty="0">
                <a:solidFill>
                  <a:srgbClr val="8FD4E8"/>
                </a:solidFill>
                <a:latin typeface="Courier New" pitchFamily="34" charset="0"/>
                <a:ea typeface="Courier New" pitchFamily="34" charset="-122"/>
                <a:cs typeface="Courier New" pitchFamily="34" charset="-120"/>
              </a:rPr>
              <a:t>├── configs/</a:t>
            </a:r>
            <a:endParaRPr lang="en-US" sz="1050" dirty="0"/>
          </a:p>
        </p:txBody>
      </p:sp>
      <p:sp>
        <p:nvSpPr>
          <p:cNvPr id="11" name="Shape 9"/>
          <p:cNvSpPr/>
          <p:nvPr/>
        </p:nvSpPr>
        <p:spPr>
          <a:xfrm>
            <a:off x="749808" y="3084271"/>
            <a:ext cx="2834640" cy="205740"/>
          </a:xfrm>
          <a:prstGeom prst="roundRect">
            <a:avLst>
              <a:gd name="adj" fmla="val 13333"/>
            </a:avLst>
          </a:prstGeom>
          <a:solidFill>
            <a:srgbClr val="1E4A6E"/>
          </a:solidFill>
          <a:ln/>
        </p:spPr>
      </p:sp>
      <p:sp>
        <p:nvSpPr>
          <p:cNvPr id="12" name="Text 10"/>
          <p:cNvSpPr/>
          <p:nvPr/>
        </p:nvSpPr>
        <p:spPr>
          <a:xfrm>
            <a:off x="804672" y="3079699"/>
            <a:ext cx="5120640" cy="219456"/>
          </a:xfrm>
          <a:prstGeom prst="rect">
            <a:avLst/>
          </a:prstGeom>
          <a:noFill/>
          <a:ln/>
        </p:spPr>
        <p:txBody>
          <a:bodyPr wrap="square" lIns="0" tIns="0" rIns="0" bIns="0" rtlCol="0" anchor="ctr"/>
          <a:lstStyle/>
          <a:p>
            <a:pPr indent="0" marL="0">
              <a:buNone/>
            </a:pPr>
            <a:r>
              <a:rPr lang="en-US" sz="1050" b="1" dirty="0">
                <a:solidFill>
                  <a:srgbClr val="8FD4E8"/>
                </a:solidFill>
                <a:latin typeface="Courier New" pitchFamily="34" charset="0"/>
                <a:ea typeface="Courier New" pitchFamily="34" charset="-122"/>
                <a:cs typeface="Courier New" pitchFamily="34" charset="-120"/>
              </a:rPr>
              <a:t>├── docs/</a:t>
            </a:r>
            <a:endParaRPr lang="en-US" sz="1050" dirty="0"/>
          </a:p>
        </p:txBody>
      </p:sp>
      <p:sp>
        <p:nvSpPr>
          <p:cNvPr id="13" name="Shape 11"/>
          <p:cNvSpPr/>
          <p:nvPr/>
        </p:nvSpPr>
        <p:spPr>
          <a:xfrm>
            <a:off x="749808" y="3287268"/>
            <a:ext cx="2834640" cy="205740"/>
          </a:xfrm>
          <a:prstGeom prst="roundRect">
            <a:avLst>
              <a:gd name="adj" fmla="val 13333"/>
            </a:avLst>
          </a:prstGeom>
          <a:solidFill>
            <a:srgbClr val="1E4A6E"/>
          </a:solidFill>
          <a:ln/>
        </p:spPr>
      </p:sp>
      <p:sp>
        <p:nvSpPr>
          <p:cNvPr id="14" name="Text 12"/>
          <p:cNvSpPr/>
          <p:nvPr/>
        </p:nvSpPr>
        <p:spPr>
          <a:xfrm>
            <a:off x="804672" y="3282696"/>
            <a:ext cx="5120640" cy="219456"/>
          </a:xfrm>
          <a:prstGeom prst="rect">
            <a:avLst/>
          </a:prstGeom>
          <a:noFill/>
          <a:ln/>
        </p:spPr>
        <p:txBody>
          <a:bodyPr wrap="square" lIns="0" tIns="0" rIns="0" bIns="0" rtlCol="0" anchor="ctr"/>
          <a:lstStyle/>
          <a:p>
            <a:pPr indent="0" marL="0">
              <a:buNone/>
            </a:pPr>
            <a:r>
              <a:rPr lang="en-US" sz="1050" b="1" dirty="0">
                <a:solidFill>
                  <a:srgbClr val="8FD4E8"/>
                </a:solidFill>
                <a:latin typeface="Courier New" pitchFamily="34" charset="0"/>
                <a:ea typeface="Courier New" pitchFamily="34" charset="-122"/>
                <a:cs typeface="Courier New" pitchFamily="34" charset="-120"/>
              </a:rPr>
              <a:t>├── environments/</a:t>
            </a:r>
            <a:endParaRPr lang="en-US" sz="1050" dirty="0"/>
          </a:p>
        </p:txBody>
      </p:sp>
      <p:sp>
        <p:nvSpPr>
          <p:cNvPr id="15" name="Text 13"/>
          <p:cNvSpPr/>
          <p:nvPr/>
        </p:nvSpPr>
        <p:spPr>
          <a:xfrm>
            <a:off x="804672" y="3485693"/>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examples/</a:t>
            </a:r>
            <a:endParaRPr lang="en-US" sz="1050" dirty="0"/>
          </a:p>
        </p:txBody>
      </p:sp>
      <p:sp>
        <p:nvSpPr>
          <p:cNvPr id="16" name="Text 14"/>
          <p:cNvSpPr/>
          <p:nvPr/>
        </p:nvSpPr>
        <p:spPr>
          <a:xfrm>
            <a:off x="804672" y="3688690"/>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scripts/</a:t>
            </a:r>
            <a:endParaRPr lang="en-US" sz="1050" dirty="0"/>
          </a:p>
        </p:txBody>
      </p:sp>
      <p:sp>
        <p:nvSpPr>
          <p:cNvPr id="17" name="Text 15"/>
          <p:cNvSpPr/>
          <p:nvPr/>
        </p:nvSpPr>
        <p:spPr>
          <a:xfrm>
            <a:off x="804672" y="3891686"/>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skills/</a:t>
            </a:r>
            <a:endParaRPr lang="en-US" sz="1050" dirty="0"/>
          </a:p>
        </p:txBody>
      </p:sp>
      <p:sp>
        <p:nvSpPr>
          <p:cNvPr id="18" name="Text 16"/>
          <p:cNvSpPr/>
          <p:nvPr/>
        </p:nvSpPr>
        <p:spPr>
          <a:xfrm>
            <a:off x="804672" y="4094683"/>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tests/</a:t>
            </a:r>
            <a:endParaRPr lang="en-US" sz="1050" dirty="0"/>
          </a:p>
        </p:txBody>
      </p:sp>
      <p:sp>
        <p:nvSpPr>
          <p:cNvPr id="19" name="Shape 17"/>
          <p:cNvSpPr/>
          <p:nvPr/>
        </p:nvSpPr>
        <p:spPr>
          <a:xfrm>
            <a:off x="749808" y="4302252"/>
            <a:ext cx="2834640" cy="205740"/>
          </a:xfrm>
          <a:prstGeom prst="roundRect">
            <a:avLst>
              <a:gd name="adj" fmla="val 13333"/>
            </a:avLst>
          </a:prstGeom>
          <a:solidFill>
            <a:srgbClr val="1E4A6E"/>
          </a:solidFill>
          <a:ln/>
        </p:spPr>
      </p:sp>
      <p:sp>
        <p:nvSpPr>
          <p:cNvPr id="20" name="Text 18"/>
          <p:cNvSpPr/>
          <p:nvPr/>
        </p:nvSpPr>
        <p:spPr>
          <a:xfrm>
            <a:off x="804672" y="4297680"/>
            <a:ext cx="5120640" cy="219456"/>
          </a:xfrm>
          <a:prstGeom prst="rect">
            <a:avLst/>
          </a:prstGeom>
          <a:noFill/>
          <a:ln/>
        </p:spPr>
        <p:txBody>
          <a:bodyPr wrap="square" lIns="0" tIns="0" rIns="0" bIns="0" rtlCol="0" anchor="ctr"/>
          <a:lstStyle/>
          <a:p>
            <a:pPr indent="0" marL="0">
              <a:buNone/>
            </a:pPr>
            <a:r>
              <a:rPr lang="en-US" sz="1050" b="1" dirty="0">
                <a:solidFill>
                  <a:srgbClr val="8FD4E8"/>
                </a:solidFill>
                <a:latin typeface="Courier New" pitchFamily="34" charset="0"/>
                <a:ea typeface="Courier New" pitchFamily="34" charset="-122"/>
                <a:cs typeface="Courier New" pitchFamily="34" charset="-120"/>
              </a:rPr>
              <a:t>├── verifiers/</a:t>
            </a:r>
            <a:endParaRPr lang="en-US" sz="1050" dirty="0"/>
          </a:p>
        </p:txBody>
      </p:sp>
      <p:sp>
        <p:nvSpPr>
          <p:cNvPr id="21" name="Text 19"/>
          <p:cNvSpPr/>
          <p:nvPr/>
        </p:nvSpPr>
        <p:spPr>
          <a:xfrm>
            <a:off x="804672" y="4500677"/>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AGENTS.md</a:t>
            </a:r>
            <a:endParaRPr lang="en-US" sz="1050" dirty="0"/>
          </a:p>
        </p:txBody>
      </p:sp>
      <p:sp>
        <p:nvSpPr>
          <p:cNvPr id="22" name="Text 20"/>
          <p:cNvSpPr/>
          <p:nvPr/>
        </p:nvSpPr>
        <p:spPr>
          <a:xfrm>
            <a:off x="804672" y="4703674"/>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CLAUDE.md</a:t>
            </a:r>
            <a:endParaRPr lang="en-US" sz="1050" dirty="0"/>
          </a:p>
        </p:txBody>
      </p:sp>
      <p:sp>
        <p:nvSpPr>
          <p:cNvPr id="23" name="Text 21"/>
          <p:cNvSpPr/>
          <p:nvPr/>
        </p:nvSpPr>
        <p:spPr>
          <a:xfrm>
            <a:off x="804672" y="4906670"/>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LICENSE</a:t>
            </a:r>
            <a:endParaRPr lang="en-US" sz="1050" dirty="0"/>
          </a:p>
        </p:txBody>
      </p:sp>
      <p:sp>
        <p:nvSpPr>
          <p:cNvPr id="24" name="Text 22"/>
          <p:cNvSpPr/>
          <p:nvPr/>
        </p:nvSpPr>
        <p:spPr>
          <a:xfrm>
            <a:off x="804672" y="5109667"/>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MANIFEST.in</a:t>
            </a:r>
            <a:endParaRPr lang="en-US" sz="1050" dirty="0"/>
          </a:p>
        </p:txBody>
      </p:sp>
      <p:sp>
        <p:nvSpPr>
          <p:cNvPr id="25" name="Text 23"/>
          <p:cNvSpPr/>
          <p:nvPr/>
        </p:nvSpPr>
        <p:spPr>
          <a:xfrm>
            <a:off x="804672" y="5312664"/>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README.md</a:t>
            </a:r>
            <a:endParaRPr lang="en-US" sz="1050" dirty="0"/>
          </a:p>
        </p:txBody>
      </p:sp>
      <p:sp>
        <p:nvSpPr>
          <p:cNvPr id="26" name="Text 24"/>
          <p:cNvSpPr/>
          <p:nvPr/>
        </p:nvSpPr>
        <p:spPr>
          <a:xfrm>
            <a:off x="804672" y="5515661"/>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pyproject.toml</a:t>
            </a:r>
            <a:endParaRPr lang="en-US" sz="1050" dirty="0"/>
          </a:p>
        </p:txBody>
      </p:sp>
      <p:sp>
        <p:nvSpPr>
          <p:cNvPr id="27" name="Text 25"/>
          <p:cNvSpPr/>
          <p:nvPr/>
        </p:nvSpPr>
        <p:spPr>
          <a:xfrm>
            <a:off x="804672" y="5718658"/>
            <a:ext cx="5120640" cy="219456"/>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uv.lock</a:t>
            </a:r>
            <a:endParaRPr lang="en-US" sz="1050" dirty="0"/>
          </a:p>
        </p:txBody>
      </p:sp>
      <p:sp>
        <p:nvSpPr>
          <p:cNvPr id="28" name="Shape 26"/>
          <p:cNvSpPr/>
          <p:nvPr/>
        </p:nvSpPr>
        <p:spPr>
          <a:xfrm>
            <a:off x="6766560" y="2240280"/>
            <a:ext cx="1828800" cy="310896"/>
          </a:xfrm>
          <a:prstGeom prst="roundRect">
            <a:avLst>
              <a:gd name="adj" fmla="val 14706"/>
            </a:avLst>
          </a:prstGeom>
          <a:solidFill>
            <a:srgbClr val="CFE8F0"/>
          </a:solidFill>
          <a:ln w="9525">
            <a:solidFill>
              <a:srgbClr val="AEC7D6"/>
            </a:solidFill>
            <a:prstDash val="solid"/>
          </a:ln>
        </p:spPr>
      </p:sp>
      <p:sp>
        <p:nvSpPr>
          <p:cNvPr id="29" name="Text 27"/>
          <p:cNvSpPr/>
          <p:nvPr/>
        </p:nvSpPr>
        <p:spPr>
          <a:xfrm>
            <a:off x="6858000" y="2240280"/>
            <a:ext cx="164592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verifiers/</a:t>
            </a:r>
            <a:endParaRPr lang="en-US" sz="1050" dirty="0"/>
          </a:p>
        </p:txBody>
      </p:sp>
      <p:sp>
        <p:nvSpPr>
          <p:cNvPr id="30" name="Text 28"/>
          <p:cNvSpPr/>
          <p:nvPr/>
        </p:nvSpPr>
        <p:spPr>
          <a:xfrm>
            <a:off x="8732520" y="2185416"/>
            <a:ext cx="2880360" cy="822960"/>
          </a:xfrm>
          <a:prstGeom prst="rect">
            <a:avLst/>
          </a:prstGeom>
          <a:noFill/>
          <a:ln/>
        </p:spPr>
        <p:txBody>
          <a:bodyPr wrap="square" rtlCol="0" anchor="ctr"/>
          <a:lstStyle/>
          <a:p>
            <a:pPr indent="0" marL="0">
              <a:lnSpc>
                <a:spcPct val="118000"/>
              </a:lnSpc>
              <a:buNone/>
            </a:pPr>
            <a:r>
              <a:rPr lang="en-US" sz="1000" dirty="0">
                <a:solidFill>
                  <a:srgbClr val="5C7080"/>
                </a:solidFill>
                <a:latin typeface="Calibri" pitchFamily="34" charset="0"/>
                <a:ea typeface="Calibri" pitchFamily="34" charset="-122"/>
                <a:cs typeface="Calibri" pitchFamily="34" charset="-120"/>
              </a:rPr>
              <a:t>The package itself. Environment types, rubrics, parsers, the CLI — everything on the next slide.</a:t>
            </a:r>
            <a:endParaRPr lang="en-US" sz="1000" dirty="0"/>
          </a:p>
        </p:txBody>
      </p:sp>
      <p:sp>
        <p:nvSpPr>
          <p:cNvPr id="31" name="Shape 29"/>
          <p:cNvSpPr/>
          <p:nvPr/>
        </p:nvSpPr>
        <p:spPr>
          <a:xfrm>
            <a:off x="6766560" y="3154680"/>
            <a:ext cx="1828800" cy="310896"/>
          </a:xfrm>
          <a:prstGeom prst="roundRect">
            <a:avLst>
              <a:gd name="adj" fmla="val 14706"/>
            </a:avLst>
          </a:prstGeom>
          <a:solidFill>
            <a:srgbClr val="CFE8F0"/>
          </a:solidFill>
          <a:ln w="9525">
            <a:solidFill>
              <a:srgbClr val="AEC7D6"/>
            </a:solidFill>
            <a:prstDash val="solid"/>
          </a:ln>
        </p:spPr>
      </p:sp>
      <p:sp>
        <p:nvSpPr>
          <p:cNvPr id="32" name="Text 30"/>
          <p:cNvSpPr/>
          <p:nvPr/>
        </p:nvSpPr>
        <p:spPr>
          <a:xfrm>
            <a:off x="6858000" y="3154680"/>
            <a:ext cx="164592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environments/</a:t>
            </a:r>
            <a:endParaRPr lang="en-US" sz="1050" dirty="0"/>
          </a:p>
        </p:txBody>
      </p:sp>
      <p:sp>
        <p:nvSpPr>
          <p:cNvPr id="33" name="Text 31"/>
          <p:cNvSpPr/>
          <p:nvPr/>
        </p:nvSpPr>
        <p:spPr>
          <a:xfrm>
            <a:off x="8732520" y="3099816"/>
            <a:ext cx="2880360" cy="822960"/>
          </a:xfrm>
          <a:prstGeom prst="rect">
            <a:avLst/>
          </a:prstGeom>
          <a:noFill/>
          <a:ln/>
        </p:spPr>
        <p:txBody>
          <a:bodyPr wrap="square" rtlCol="0" anchor="ctr"/>
          <a:lstStyle/>
          <a:p>
            <a:pPr indent="0" marL="0">
              <a:lnSpc>
                <a:spcPct val="118000"/>
              </a:lnSpc>
              <a:buNone/>
            </a:pPr>
            <a:r>
              <a:rPr lang="en-US" sz="1000" dirty="0">
                <a:solidFill>
                  <a:srgbClr val="5C7080"/>
                </a:solidFill>
                <a:latin typeface="Calibri" pitchFamily="34" charset="0"/>
                <a:ea typeface="Calibri" pitchFamily="34" charset="-122"/>
                <a:cs typeface="Calibri" pitchFamily="34" charset="-120"/>
              </a:rPr>
              <a:t>Reference environments maintained in-repo. The best worked examples of the contract.</a:t>
            </a:r>
            <a:endParaRPr lang="en-US" sz="1000" dirty="0"/>
          </a:p>
        </p:txBody>
      </p:sp>
      <p:sp>
        <p:nvSpPr>
          <p:cNvPr id="34" name="Shape 32"/>
          <p:cNvSpPr/>
          <p:nvPr/>
        </p:nvSpPr>
        <p:spPr>
          <a:xfrm>
            <a:off x="6766560" y="4069080"/>
            <a:ext cx="1828800" cy="310896"/>
          </a:xfrm>
          <a:prstGeom prst="roundRect">
            <a:avLst>
              <a:gd name="adj" fmla="val 14706"/>
            </a:avLst>
          </a:prstGeom>
          <a:solidFill>
            <a:srgbClr val="CFE8F0"/>
          </a:solidFill>
          <a:ln w="9525">
            <a:solidFill>
              <a:srgbClr val="AEC7D6"/>
            </a:solidFill>
            <a:prstDash val="solid"/>
          </a:ln>
        </p:spPr>
      </p:sp>
      <p:sp>
        <p:nvSpPr>
          <p:cNvPr id="35" name="Text 33"/>
          <p:cNvSpPr/>
          <p:nvPr/>
        </p:nvSpPr>
        <p:spPr>
          <a:xfrm>
            <a:off x="6858000" y="4069080"/>
            <a:ext cx="164592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configs/</a:t>
            </a:r>
            <a:endParaRPr lang="en-US" sz="1050" dirty="0"/>
          </a:p>
        </p:txBody>
      </p:sp>
      <p:sp>
        <p:nvSpPr>
          <p:cNvPr id="36" name="Text 34"/>
          <p:cNvSpPr/>
          <p:nvPr/>
        </p:nvSpPr>
        <p:spPr>
          <a:xfrm>
            <a:off x="8732520" y="4014216"/>
            <a:ext cx="2880360" cy="822960"/>
          </a:xfrm>
          <a:prstGeom prst="rect">
            <a:avLst/>
          </a:prstGeom>
          <a:noFill/>
          <a:ln/>
        </p:spPr>
        <p:txBody>
          <a:bodyPr wrap="square" rtlCol="0" anchor="ctr"/>
          <a:lstStyle/>
          <a:p>
            <a:pPr indent="0" marL="0">
              <a:lnSpc>
                <a:spcPct val="118000"/>
              </a:lnSpc>
              <a:buNone/>
            </a:pPr>
            <a:r>
              <a:rPr lang="en-US" sz="1000" dirty="0">
                <a:solidFill>
                  <a:srgbClr val="5C7080"/>
                </a:solidFill>
                <a:latin typeface="Calibri" pitchFamily="34" charset="0"/>
                <a:ea typeface="Calibri" pitchFamily="34" charset="-122"/>
                <a:cs typeface="Calibri" pitchFamily="34" charset="-120"/>
              </a:rPr>
              <a:t>Starter training and evaluation configs — the same ones the CLI copies into a new workspace.</a:t>
            </a:r>
            <a:endParaRPr lang="en-US" sz="1000" dirty="0"/>
          </a:p>
        </p:txBody>
      </p:sp>
      <p:sp>
        <p:nvSpPr>
          <p:cNvPr id="37" name="Shape 35"/>
          <p:cNvSpPr/>
          <p:nvPr/>
        </p:nvSpPr>
        <p:spPr>
          <a:xfrm>
            <a:off x="6766560" y="4983480"/>
            <a:ext cx="1828800" cy="310896"/>
          </a:xfrm>
          <a:prstGeom prst="roundRect">
            <a:avLst>
              <a:gd name="adj" fmla="val 14706"/>
            </a:avLst>
          </a:prstGeom>
          <a:solidFill>
            <a:srgbClr val="CFE8F0"/>
          </a:solidFill>
          <a:ln w="9525">
            <a:solidFill>
              <a:srgbClr val="AEC7D6"/>
            </a:solidFill>
            <a:prstDash val="solid"/>
          </a:ln>
        </p:spPr>
      </p:sp>
      <p:sp>
        <p:nvSpPr>
          <p:cNvPr id="38" name="Text 36"/>
          <p:cNvSpPr/>
          <p:nvPr/>
        </p:nvSpPr>
        <p:spPr>
          <a:xfrm>
            <a:off x="6858000" y="4983480"/>
            <a:ext cx="164592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docs/</a:t>
            </a:r>
            <a:endParaRPr lang="en-US" sz="1050" dirty="0"/>
          </a:p>
        </p:txBody>
      </p:sp>
      <p:sp>
        <p:nvSpPr>
          <p:cNvPr id="39" name="Text 37"/>
          <p:cNvSpPr/>
          <p:nvPr/>
        </p:nvSpPr>
        <p:spPr>
          <a:xfrm>
            <a:off x="8732520" y="4928616"/>
            <a:ext cx="2880360" cy="822960"/>
          </a:xfrm>
          <a:prstGeom prst="rect">
            <a:avLst/>
          </a:prstGeom>
          <a:noFill/>
          <a:ln/>
        </p:spPr>
        <p:txBody>
          <a:bodyPr wrap="square" rtlCol="0" anchor="ctr"/>
          <a:lstStyle/>
          <a:p>
            <a:pPr indent="0" marL="0">
              <a:lnSpc>
                <a:spcPct val="118000"/>
              </a:lnSpc>
              <a:buNone/>
            </a:pPr>
            <a:r>
              <a:rPr lang="en-US" sz="1000" dirty="0">
                <a:solidFill>
                  <a:srgbClr val="5C7080"/>
                </a:solidFill>
                <a:latin typeface="Calibri" pitchFamily="34" charset="0"/>
                <a:ea typeface="Calibri" pitchFamily="34" charset="-122"/>
                <a:cs typeface="Calibri" pitchFamily="34" charset="-120"/>
              </a:rPr>
              <a:t>Short human-written architecture guides. Note the split: v0 and v1 are documented separately, because the API is mid-migration.</a:t>
            </a:r>
            <a:endParaRPr lang="en-US" sz="1000" dirty="0"/>
          </a:p>
        </p:txBody>
      </p:sp>
      <p:sp>
        <p:nvSpPr>
          <p:cNvPr id="40" name="Text 38"/>
          <p:cNvSpPr/>
          <p:nvPr/>
        </p:nvSpPr>
        <p:spPr>
          <a:xfrm>
            <a:off x="6766560" y="5925312"/>
            <a:ext cx="4846320" cy="274320"/>
          </a:xfrm>
          <a:prstGeom prst="rect">
            <a:avLst/>
          </a:prstGeom>
          <a:noFill/>
          <a:ln/>
        </p:spPr>
        <p:txBody>
          <a:bodyPr wrap="square" rtlCol="0" anchor="ctr"/>
          <a:lstStyle/>
          <a:p>
            <a:pPr indent="0" marL="0">
              <a:buNone/>
            </a:pPr>
            <a:r>
              <a:rPr lang="en-US" sz="1000" i="1" dirty="0">
                <a:solidFill>
                  <a:srgbClr val="5C7080"/>
                </a:solidFill>
                <a:latin typeface="Calibri" pitchFamily="34" charset="0"/>
                <a:ea typeface="Calibri" pitchFamily="34" charset="-122"/>
                <a:cs typeface="Calibri" pitchFamily="34" charset="-120"/>
              </a:rPr>
              <a:t>MIT · ~4.4k stars · ~615 forks · created by Will Brown (@willccbb)</a:t>
            </a:r>
            <a:endParaRPr lang="en-US" sz="1000" dirty="0"/>
          </a:p>
        </p:txBody>
      </p:sp>
      <p:sp>
        <p:nvSpPr>
          <p:cNvPr id="41" name="Text 39"/>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42" name="Text 40"/>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LIBRARY</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Repository Map: What Lives Where</a:t>
            </a:r>
            <a:endParaRPr lang="en-US" sz="3000" dirty="0"/>
          </a:p>
        </p:txBody>
      </p:sp>
      <p:sp>
        <p:nvSpPr>
          <p:cNvPr id="4" name="Shape 2"/>
          <p:cNvSpPr/>
          <p:nvPr/>
        </p:nvSpPr>
        <p:spPr>
          <a:xfrm>
            <a:off x="10058400" y="777240"/>
            <a:ext cx="1554480" cy="310896"/>
          </a:xfrm>
          <a:prstGeom prst="roundRect">
            <a:avLst>
              <a:gd name="adj" fmla="val 14706"/>
            </a:avLst>
          </a:prstGeom>
          <a:solidFill>
            <a:srgbClr val="CFE8F0"/>
          </a:solidFill>
          <a:ln w="9525">
            <a:solidFill>
              <a:srgbClr val="AEC7D6"/>
            </a:solidFill>
            <a:prstDash val="solid"/>
          </a:ln>
        </p:spPr>
      </p:sp>
      <p:sp>
        <p:nvSpPr>
          <p:cNvPr id="5" name="Text 3"/>
          <p:cNvSpPr/>
          <p:nvPr/>
        </p:nvSpPr>
        <p:spPr>
          <a:xfrm>
            <a:off x="10149840" y="777240"/>
            <a:ext cx="137160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verifiers/</a:t>
            </a:r>
            <a:endParaRPr lang="en-US" sz="1050" dirty="0"/>
          </a:p>
        </p:txBody>
      </p:sp>
      <p:sp>
        <p:nvSpPr>
          <p:cNvPr id="6" name="Shape 4"/>
          <p:cNvSpPr/>
          <p:nvPr/>
        </p:nvSpPr>
        <p:spPr>
          <a:xfrm>
            <a:off x="548640" y="1536192"/>
            <a:ext cx="5486400" cy="3200400"/>
          </a:xfrm>
          <a:prstGeom prst="roundRect">
            <a:avLst>
              <a:gd name="adj" fmla="val 2286"/>
            </a:avLst>
          </a:prstGeom>
          <a:solidFill>
            <a:srgbClr val="F2F8FA"/>
          </a:solidFill>
          <a:ln/>
          <a:effectLst>
            <a:outerShdw sx="100000" sy="100000" kx="0" ky="0" algn="bl" rotWithShape="0" blurRad="101600" dist="25400" dir="5400000">
              <a:srgbClr val="1B2733">
                <a:alpha val="8000"/>
              </a:srgbClr>
            </a:outerShdw>
          </a:effectLst>
        </p:spPr>
      </p:sp>
      <p:sp>
        <p:nvSpPr>
          <p:cNvPr id="7" name="Shape 5"/>
          <p:cNvSpPr/>
          <p:nvPr/>
        </p:nvSpPr>
        <p:spPr>
          <a:xfrm>
            <a:off x="777240" y="1737360"/>
            <a:ext cx="502920" cy="502920"/>
          </a:xfrm>
          <a:prstGeom prst="ellipse">
            <a:avLst/>
          </a:prstGeom>
          <a:solidFill>
            <a:srgbClr val="065A82"/>
          </a:solidFill>
          <a:ln/>
        </p:spPr>
      </p:sp>
      <p:pic>
        <p:nvPicPr>
          <p:cNvPr id="8" name="Image 0" descr="/tmp/b/icons/cubes_white.png">    </p:cNvPr>
          <p:cNvPicPr>
            <a:picLocks noChangeAspect="1"/>
          </p:cNvPicPr>
          <p:nvPr/>
        </p:nvPicPr>
        <p:blipFill>
          <a:blip r:embed="rId1"/>
          <a:stretch>
            <a:fillRect/>
          </a:stretch>
        </p:blipFill>
        <p:spPr>
          <a:xfrm>
            <a:off x="907999" y="1868119"/>
            <a:ext cx="241402" cy="241402"/>
          </a:xfrm>
          <a:prstGeom prst="rect">
            <a:avLst/>
          </a:prstGeom>
        </p:spPr>
      </p:pic>
      <p:sp>
        <p:nvSpPr>
          <p:cNvPr id="9" name="Text 6"/>
          <p:cNvSpPr/>
          <p:nvPr/>
        </p:nvSpPr>
        <p:spPr>
          <a:xfrm>
            <a:off x="1417320" y="1755648"/>
            <a:ext cx="4389120" cy="457200"/>
          </a:xfrm>
          <a:prstGeom prst="rect">
            <a:avLst/>
          </a:prstGeom>
          <a:noFill/>
          <a:ln/>
        </p:spPr>
        <p:txBody>
          <a:bodyPr wrap="square" rtlCol="0" anchor="ctr"/>
          <a:lstStyle/>
          <a:p>
            <a:pPr indent="0" marL="0">
              <a:buNone/>
            </a:pPr>
            <a:r>
              <a:rPr lang="en-US" sz="1500" b="1" dirty="0">
                <a:solidFill>
                  <a:srgbClr val="1B2733"/>
                </a:solidFill>
                <a:latin typeface="Courier New" pitchFamily="34" charset="0"/>
                <a:ea typeface="Courier New" pitchFamily="34" charset="-122"/>
                <a:cs typeface="Courier New" pitchFamily="34" charset="-120"/>
              </a:rPr>
              <a:t>envs/</a:t>
            </a:r>
            <a:endParaRPr lang="en-US" sz="1500" dirty="0"/>
          </a:p>
        </p:txBody>
      </p:sp>
      <p:sp>
        <p:nvSpPr>
          <p:cNvPr id="10" name="Text 7"/>
          <p:cNvSpPr/>
          <p:nvPr/>
        </p:nvSpPr>
        <p:spPr>
          <a:xfrm>
            <a:off x="804672" y="2322576"/>
            <a:ext cx="4974336" cy="219456"/>
          </a:xfrm>
          <a:prstGeom prst="rect">
            <a:avLst/>
          </a:prstGeom>
          <a:noFill/>
          <a:ln/>
        </p:spPr>
        <p:txBody>
          <a:bodyPr wrap="square" rtlCol="0" anchor="ctr"/>
          <a:lstStyle/>
          <a:p>
            <a:pPr indent="0" marL="0">
              <a:buNone/>
            </a:pPr>
            <a:r>
              <a:rPr lang="en-US" sz="1000" b="1" dirty="0">
                <a:solidFill>
                  <a:srgbClr val="065A82"/>
                </a:solidFill>
                <a:latin typeface="Courier New" pitchFamily="34" charset="0"/>
                <a:ea typeface="Courier New" pitchFamily="34" charset="-122"/>
                <a:cs typeface="Courier New" pitchFamily="34" charset="-120"/>
              </a:rPr>
              <a:t>environment.py</a:t>
            </a:r>
            <a:endParaRPr lang="en-US" sz="1000" dirty="0"/>
          </a:p>
        </p:txBody>
      </p:sp>
      <p:sp>
        <p:nvSpPr>
          <p:cNvPr id="11" name="Text 8"/>
          <p:cNvSpPr/>
          <p:nvPr/>
        </p:nvSpPr>
        <p:spPr>
          <a:xfrm>
            <a:off x="804672" y="2532888"/>
            <a:ext cx="4974336" cy="347472"/>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The abstract base. Owns rollout(), run_rollout(), run_group(), generate(), evaluate().</a:t>
            </a:r>
            <a:endParaRPr lang="en-US" sz="1000" dirty="0"/>
          </a:p>
        </p:txBody>
      </p:sp>
      <p:sp>
        <p:nvSpPr>
          <p:cNvPr id="12" name="Text 9"/>
          <p:cNvSpPr/>
          <p:nvPr/>
        </p:nvSpPr>
        <p:spPr>
          <a:xfrm>
            <a:off x="804672" y="2926080"/>
            <a:ext cx="4974336" cy="219456"/>
          </a:xfrm>
          <a:prstGeom prst="rect">
            <a:avLst/>
          </a:prstGeom>
          <a:noFill/>
          <a:ln/>
        </p:spPr>
        <p:txBody>
          <a:bodyPr wrap="square" rtlCol="0" anchor="ctr"/>
          <a:lstStyle/>
          <a:p>
            <a:pPr indent="0" marL="0">
              <a:buNone/>
            </a:pPr>
            <a:r>
              <a:rPr lang="en-US" sz="1000" b="1" dirty="0">
                <a:solidFill>
                  <a:srgbClr val="065A82"/>
                </a:solidFill>
                <a:latin typeface="Courier New" pitchFamily="34" charset="0"/>
                <a:ea typeface="Courier New" pitchFamily="34" charset="-122"/>
                <a:cs typeface="Courier New" pitchFamily="34" charset="-120"/>
              </a:rPr>
              <a:t>multiturn_env.py</a:t>
            </a:r>
            <a:endParaRPr lang="en-US" sz="1000" dirty="0"/>
          </a:p>
        </p:txBody>
      </p:sp>
      <p:sp>
        <p:nvSpPr>
          <p:cNvPr id="13" name="Text 10"/>
          <p:cNvSpPr/>
          <p:nvPr/>
        </p:nvSpPr>
        <p:spPr>
          <a:xfrm>
            <a:off x="804672" y="3136392"/>
            <a:ext cx="4974336" cy="347472"/>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Adds env_response(), setup_state(), max_turns_reached() — the conversation loop.</a:t>
            </a:r>
            <a:endParaRPr lang="en-US" sz="1000" dirty="0"/>
          </a:p>
        </p:txBody>
      </p:sp>
      <p:sp>
        <p:nvSpPr>
          <p:cNvPr id="14" name="Text 11"/>
          <p:cNvSpPr/>
          <p:nvPr/>
        </p:nvSpPr>
        <p:spPr>
          <a:xfrm>
            <a:off x="804672" y="3529584"/>
            <a:ext cx="4974336" cy="219456"/>
          </a:xfrm>
          <a:prstGeom prst="rect">
            <a:avLst/>
          </a:prstGeom>
          <a:noFill/>
          <a:ln/>
        </p:spPr>
        <p:txBody>
          <a:bodyPr wrap="square" rtlCol="0" anchor="ctr"/>
          <a:lstStyle/>
          <a:p>
            <a:pPr indent="0" marL="0">
              <a:buNone/>
            </a:pPr>
            <a:r>
              <a:rPr lang="en-US" sz="1000" b="1" dirty="0">
                <a:solidFill>
                  <a:srgbClr val="065A82"/>
                </a:solidFill>
                <a:latin typeface="Courier New" pitchFamily="34" charset="0"/>
                <a:ea typeface="Courier New" pitchFamily="34" charset="-122"/>
                <a:cs typeface="Courier New" pitchFamily="34" charset="-120"/>
              </a:rPr>
              <a:t>tool_env.py, stateful_tool_env.py</a:t>
            </a:r>
            <a:endParaRPr lang="en-US" sz="1000" dirty="0"/>
          </a:p>
        </p:txBody>
      </p:sp>
      <p:sp>
        <p:nvSpPr>
          <p:cNvPr id="15" name="Text 12"/>
          <p:cNvSpPr/>
          <p:nvPr/>
        </p:nvSpPr>
        <p:spPr>
          <a:xfrm>
            <a:off x="804672" y="3739896"/>
            <a:ext cx="4974336" cy="347472"/>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Native tool-calling; the stateful variant carries per-rollout state.</a:t>
            </a:r>
            <a:endParaRPr lang="en-US" sz="1000" dirty="0"/>
          </a:p>
        </p:txBody>
      </p:sp>
      <p:sp>
        <p:nvSpPr>
          <p:cNvPr id="16" name="Text 13"/>
          <p:cNvSpPr/>
          <p:nvPr/>
        </p:nvSpPr>
        <p:spPr>
          <a:xfrm>
            <a:off x="804672" y="4133088"/>
            <a:ext cx="4974336" cy="219456"/>
          </a:xfrm>
          <a:prstGeom prst="rect">
            <a:avLst/>
          </a:prstGeom>
          <a:noFill/>
          <a:ln/>
        </p:spPr>
        <p:txBody>
          <a:bodyPr wrap="square" rtlCol="0" anchor="ctr"/>
          <a:lstStyle/>
          <a:p>
            <a:pPr indent="0" marL="0">
              <a:buNone/>
            </a:pPr>
            <a:r>
              <a:rPr lang="en-US" sz="1000" b="1" dirty="0">
                <a:solidFill>
                  <a:srgbClr val="065A82"/>
                </a:solidFill>
                <a:latin typeface="Courier New" pitchFamily="34" charset="0"/>
                <a:ea typeface="Courier New" pitchFamily="34" charset="-122"/>
                <a:cs typeface="Courier New" pitchFamily="34" charset="-120"/>
              </a:rPr>
              <a:t>python_env.py, sandbox_env.py</a:t>
            </a:r>
            <a:endParaRPr lang="en-US" sz="1000" dirty="0"/>
          </a:p>
        </p:txBody>
      </p:sp>
      <p:sp>
        <p:nvSpPr>
          <p:cNvPr id="17" name="Text 14"/>
          <p:cNvSpPr/>
          <p:nvPr/>
        </p:nvSpPr>
        <p:spPr>
          <a:xfrm>
            <a:off x="804672" y="4343400"/>
            <a:ext cx="4974336" cy="347472"/>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Execution-backed environments — a persistent REPL, or a full sandbox.</a:t>
            </a:r>
            <a:endParaRPr lang="en-US" sz="1000" dirty="0"/>
          </a:p>
        </p:txBody>
      </p:sp>
      <p:sp>
        <p:nvSpPr>
          <p:cNvPr id="18" name="Shape 15"/>
          <p:cNvSpPr/>
          <p:nvPr/>
        </p:nvSpPr>
        <p:spPr>
          <a:xfrm>
            <a:off x="6172200" y="1536192"/>
            <a:ext cx="5486400" cy="3200400"/>
          </a:xfrm>
          <a:prstGeom prst="roundRect">
            <a:avLst>
              <a:gd name="adj" fmla="val 2286"/>
            </a:avLst>
          </a:prstGeom>
          <a:solidFill>
            <a:srgbClr val="F2F8FA"/>
          </a:solidFill>
          <a:ln/>
          <a:effectLst>
            <a:outerShdw sx="100000" sy="100000" kx="0" ky="0" algn="bl" rotWithShape="0" blurRad="101600" dist="25400" dir="5400000">
              <a:srgbClr val="1B2733">
                <a:alpha val="8000"/>
              </a:srgbClr>
            </a:outerShdw>
          </a:effectLst>
        </p:spPr>
      </p:sp>
      <p:sp>
        <p:nvSpPr>
          <p:cNvPr id="19" name="Shape 16"/>
          <p:cNvSpPr/>
          <p:nvPr/>
        </p:nvSpPr>
        <p:spPr>
          <a:xfrm>
            <a:off x="6400800" y="1737360"/>
            <a:ext cx="502920" cy="502920"/>
          </a:xfrm>
          <a:prstGeom prst="ellipse">
            <a:avLst/>
          </a:prstGeom>
          <a:solidFill>
            <a:srgbClr val="1C7293"/>
          </a:solidFill>
          <a:ln/>
        </p:spPr>
      </p:sp>
      <p:pic>
        <p:nvPicPr>
          <p:cNvPr id="20" name="Image 1" descr="/tmp/b/icons/list_check_white.png">    </p:cNvPr>
          <p:cNvPicPr>
            <a:picLocks noChangeAspect="1"/>
          </p:cNvPicPr>
          <p:nvPr/>
        </p:nvPicPr>
        <p:blipFill>
          <a:blip r:embed="rId2"/>
          <a:stretch>
            <a:fillRect/>
          </a:stretch>
        </p:blipFill>
        <p:spPr>
          <a:xfrm>
            <a:off x="6531559" y="1868119"/>
            <a:ext cx="241402" cy="241402"/>
          </a:xfrm>
          <a:prstGeom prst="rect">
            <a:avLst/>
          </a:prstGeom>
        </p:spPr>
      </p:pic>
      <p:sp>
        <p:nvSpPr>
          <p:cNvPr id="21" name="Text 17"/>
          <p:cNvSpPr/>
          <p:nvPr/>
        </p:nvSpPr>
        <p:spPr>
          <a:xfrm>
            <a:off x="7040880" y="1755648"/>
            <a:ext cx="4389120" cy="457200"/>
          </a:xfrm>
          <a:prstGeom prst="rect">
            <a:avLst/>
          </a:prstGeom>
          <a:noFill/>
          <a:ln/>
        </p:spPr>
        <p:txBody>
          <a:bodyPr wrap="square" rtlCol="0" anchor="ctr"/>
          <a:lstStyle/>
          <a:p>
            <a:pPr indent="0" marL="0">
              <a:buNone/>
            </a:pPr>
            <a:r>
              <a:rPr lang="en-US" sz="1500" b="1" dirty="0">
                <a:solidFill>
                  <a:srgbClr val="1B2733"/>
                </a:solidFill>
                <a:latin typeface="Courier New" pitchFamily="34" charset="0"/>
                <a:ea typeface="Courier New" pitchFamily="34" charset="-122"/>
                <a:cs typeface="Courier New" pitchFamily="34" charset="-120"/>
              </a:rPr>
              <a:t>rubrics/ + parsers/</a:t>
            </a:r>
            <a:endParaRPr lang="en-US" sz="1500" dirty="0"/>
          </a:p>
        </p:txBody>
      </p:sp>
      <p:sp>
        <p:nvSpPr>
          <p:cNvPr id="22" name="Text 18"/>
          <p:cNvSpPr/>
          <p:nvPr/>
        </p:nvSpPr>
        <p:spPr>
          <a:xfrm>
            <a:off x="6428232" y="2322576"/>
            <a:ext cx="4974336" cy="219456"/>
          </a:xfrm>
          <a:prstGeom prst="rect">
            <a:avLst/>
          </a:prstGeom>
          <a:noFill/>
          <a:ln/>
        </p:spPr>
        <p:txBody>
          <a:bodyPr wrap="square" rtlCol="0" anchor="ctr"/>
          <a:lstStyle/>
          <a:p>
            <a:pPr indent="0" marL="0">
              <a:buNone/>
            </a:pPr>
            <a:r>
              <a:rPr lang="en-US" sz="1000" b="1" dirty="0">
                <a:solidFill>
                  <a:srgbClr val="065A82"/>
                </a:solidFill>
                <a:latin typeface="Courier New" pitchFamily="34" charset="0"/>
                <a:ea typeface="Courier New" pitchFamily="34" charset="-122"/>
                <a:cs typeface="Courier New" pitchFamily="34" charset="-120"/>
              </a:rPr>
              <a:t>rubric.py</a:t>
            </a:r>
            <a:endParaRPr lang="en-US" sz="1000" dirty="0"/>
          </a:p>
        </p:txBody>
      </p:sp>
      <p:sp>
        <p:nvSpPr>
          <p:cNvPr id="23" name="Text 19"/>
          <p:cNvSpPr/>
          <p:nvPr/>
        </p:nvSpPr>
        <p:spPr>
          <a:xfrm>
            <a:off x="6428232" y="2532888"/>
            <a:ext cx="4974336" cy="347472"/>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add_reward_func(weight=1.0) vs. add_metric(weight=0.0) — scored, or merely recorded.</a:t>
            </a:r>
            <a:endParaRPr lang="en-US" sz="1000" dirty="0"/>
          </a:p>
        </p:txBody>
      </p:sp>
      <p:sp>
        <p:nvSpPr>
          <p:cNvPr id="24" name="Text 20"/>
          <p:cNvSpPr/>
          <p:nvPr/>
        </p:nvSpPr>
        <p:spPr>
          <a:xfrm>
            <a:off x="6428232" y="2926080"/>
            <a:ext cx="4974336" cy="219456"/>
          </a:xfrm>
          <a:prstGeom prst="rect">
            <a:avLst/>
          </a:prstGeom>
          <a:noFill/>
          <a:ln/>
        </p:spPr>
        <p:txBody>
          <a:bodyPr wrap="square" rtlCol="0" anchor="ctr"/>
          <a:lstStyle/>
          <a:p>
            <a:pPr indent="0" marL="0">
              <a:buNone/>
            </a:pPr>
            <a:r>
              <a:rPr lang="en-US" sz="1000" b="1" dirty="0">
                <a:solidFill>
                  <a:srgbClr val="065A82"/>
                </a:solidFill>
                <a:latin typeface="Courier New" pitchFamily="34" charset="0"/>
                <a:ea typeface="Courier New" pitchFamily="34" charset="-122"/>
                <a:cs typeface="Courier New" pitchFamily="34" charset="-120"/>
              </a:rPr>
              <a:t>judge_rubric.py, math_rubric.py</a:t>
            </a:r>
            <a:endParaRPr lang="en-US" sz="1000" dirty="0"/>
          </a:p>
        </p:txBody>
      </p:sp>
      <p:sp>
        <p:nvSpPr>
          <p:cNvPr id="25" name="Text 21"/>
          <p:cNvSpPr/>
          <p:nvPr/>
        </p:nvSpPr>
        <p:spPr>
          <a:xfrm>
            <a:off x="6428232" y="3136392"/>
            <a:ext cx="4974336" cy="347472"/>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The LLM-judge and symbolic-verification scorers, ready-made.</a:t>
            </a:r>
            <a:endParaRPr lang="en-US" sz="1000" dirty="0"/>
          </a:p>
        </p:txBody>
      </p:sp>
      <p:sp>
        <p:nvSpPr>
          <p:cNvPr id="26" name="Text 22"/>
          <p:cNvSpPr/>
          <p:nvPr/>
        </p:nvSpPr>
        <p:spPr>
          <a:xfrm>
            <a:off x="6428232" y="3529584"/>
            <a:ext cx="4974336" cy="219456"/>
          </a:xfrm>
          <a:prstGeom prst="rect">
            <a:avLst/>
          </a:prstGeom>
          <a:noFill/>
          <a:ln/>
        </p:spPr>
        <p:txBody>
          <a:bodyPr wrap="square" rtlCol="0" anchor="ctr"/>
          <a:lstStyle/>
          <a:p>
            <a:pPr indent="0" marL="0">
              <a:buNone/>
            </a:pPr>
            <a:r>
              <a:rPr lang="en-US" sz="1000" b="1" dirty="0">
                <a:solidFill>
                  <a:srgbClr val="065A82"/>
                </a:solidFill>
                <a:latin typeface="Courier New" pitchFamily="34" charset="0"/>
                <a:ea typeface="Courier New" pitchFamily="34" charset="-122"/>
                <a:cs typeface="Courier New" pitchFamily="34" charset="-120"/>
              </a:rPr>
              <a:t>parser.py</a:t>
            </a:r>
            <a:endParaRPr lang="en-US" sz="1000" dirty="0"/>
          </a:p>
        </p:txBody>
      </p:sp>
      <p:sp>
        <p:nvSpPr>
          <p:cNvPr id="27" name="Text 23"/>
          <p:cNvSpPr/>
          <p:nvPr/>
        </p:nvSpPr>
        <p:spPr>
          <a:xfrm>
            <a:off x="6428232" y="3739896"/>
            <a:ext cx="4974336" cy="347472"/>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parse(), parse_answer(), get_format_reward_func() — format compliance, built in.</a:t>
            </a:r>
            <a:endParaRPr lang="en-US" sz="1000" dirty="0"/>
          </a:p>
        </p:txBody>
      </p:sp>
      <p:sp>
        <p:nvSpPr>
          <p:cNvPr id="28" name="Text 24"/>
          <p:cNvSpPr/>
          <p:nvPr/>
        </p:nvSpPr>
        <p:spPr>
          <a:xfrm>
            <a:off x="6428232" y="4133088"/>
            <a:ext cx="4974336" cy="219456"/>
          </a:xfrm>
          <a:prstGeom prst="rect">
            <a:avLst/>
          </a:prstGeom>
          <a:noFill/>
          <a:ln/>
        </p:spPr>
        <p:txBody>
          <a:bodyPr wrap="square" rtlCol="0" anchor="ctr"/>
          <a:lstStyle/>
          <a:p>
            <a:pPr indent="0" marL="0">
              <a:buNone/>
            </a:pPr>
            <a:r>
              <a:rPr lang="en-US" sz="1000" b="1" dirty="0">
                <a:solidFill>
                  <a:srgbClr val="065A82"/>
                </a:solidFill>
                <a:latin typeface="Courier New" pitchFamily="34" charset="0"/>
                <a:ea typeface="Courier New" pitchFamily="34" charset="-122"/>
                <a:cs typeface="Courier New" pitchFamily="34" charset="-120"/>
              </a:rPr>
              <a:t>think_parser.py, xml_parser.py</a:t>
            </a:r>
            <a:endParaRPr lang="en-US" sz="1000" dirty="0"/>
          </a:p>
        </p:txBody>
      </p:sp>
      <p:sp>
        <p:nvSpPr>
          <p:cNvPr id="29" name="Text 25"/>
          <p:cNvSpPr/>
          <p:nvPr/>
        </p:nvSpPr>
        <p:spPr>
          <a:xfrm>
            <a:off x="6428232" y="4343400"/>
            <a:ext cx="4974336" cy="347472"/>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Extractors for reasoning-tagged and structured outputs.</a:t>
            </a:r>
            <a:endParaRPr lang="en-US" sz="1000" dirty="0"/>
          </a:p>
        </p:txBody>
      </p:sp>
      <p:sp>
        <p:nvSpPr>
          <p:cNvPr id="30" name="Shape 26"/>
          <p:cNvSpPr/>
          <p:nvPr/>
        </p:nvSpPr>
        <p:spPr>
          <a:xfrm>
            <a:off x="548640" y="4846320"/>
            <a:ext cx="11064240" cy="1261872"/>
          </a:xfrm>
          <a:prstGeom prst="roundRect">
            <a:avLst>
              <a:gd name="adj" fmla="val 5797"/>
            </a:avLst>
          </a:prstGeom>
          <a:solidFill>
            <a:srgbClr val="F2F8FA"/>
          </a:solidFill>
          <a:ln/>
          <a:effectLst>
            <a:outerShdw sx="100000" sy="100000" kx="0" ky="0" algn="bl" rotWithShape="0" blurRad="101600" dist="25400" dir="5400000">
              <a:srgbClr val="1B2733">
                <a:alpha val="8000"/>
              </a:srgbClr>
            </a:outerShdw>
          </a:effectLst>
        </p:spPr>
      </p:sp>
      <p:sp>
        <p:nvSpPr>
          <p:cNvPr id="31" name="Shape 27"/>
          <p:cNvSpPr/>
          <p:nvPr/>
        </p:nvSpPr>
        <p:spPr>
          <a:xfrm>
            <a:off x="822960" y="5102352"/>
            <a:ext cx="502920" cy="502920"/>
          </a:xfrm>
          <a:prstGeom prst="ellipse">
            <a:avLst/>
          </a:prstGeom>
          <a:solidFill>
            <a:srgbClr val="FFFFFF"/>
          </a:solidFill>
          <a:ln/>
        </p:spPr>
      </p:sp>
      <p:pic>
        <p:nvPicPr>
          <p:cNvPr id="32" name="Image 2" descr="/tmp/b/icons/code_branch_teal.png">    </p:cNvPr>
          <p:cNvPicPr>
            <a:picLocks noChangeAspect="1"/>
          </p:cNvPicPr>
          <p:nvPr/>
        </p:nvPicPr>
        <p:blipFill>
          <a:blip r:embed="rId3"/>
          <a:stretch>
            <a:fillRect/>
          </a:stretch>
        </p:blipFill>
        <p:spPr>
          <a:xfrm>
            <a:off x="953719" y="5233111"/>
            <a:ext cx="241402" cy="241402"/>
          </a:xfrm>
          <a:prstGeom prst="rect">
            <a:avLst/>
          </a:prstGeom>
        </p:spPr>
      </p:pic>
      <p:sp>
        <p:nvSpPr>
          <p:cNvPr id="33" name="Text 28"/>
          <p:cNvSpPr/>
          <p:nvPr/>
        </p:nvSpPr>
        <p:spPr>
          <a:xfrm>
            <a:off x="1463040" y="4983480"/>
            <a:ext cx="9875520" cy="292608"/>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One thing to notice before you read any environment</a:t>
            </a:r>
            <a:endParaRPr lang="en-US" sz="1300" dirty="0"/>
          </a:p>
        </p:txBody>
      </p:sp>
      <p:sp>
        <p:nvSpPr>
          <p:cNvPr id="34" name="Text 29"/>
          <p:cNvSpPr/>
          <p:nvPr/>
        </p:nvSpPr>
        <p:spPr>
          <a:xfrm>
            <a:off x="1463040" y="5294376"/>
            <a:ext cx="9875520" cy="731520"/>
          </a:xfrm>
          <a:prstGeom prst="rect">
            <a:avLst/>
          </a:prstGeom>
          <a:noFill/>
          <a:ln/>
        </p:spPr>
        <p:txBody>
          <a:bodyPr wrap="square" rtlCol="0" anchor="ctr"/>
          <a:lstStyle/>
          <a:p>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There is a v1/ directory alongside everything above, with its own env.py, harness.py, and a harnesses/ folder holding real coding agents. The library is mid-migration between two designs: the older one where you subclass an environment, and a newer one built around tasksets and harnesses. Both are supported, and published environments use both. If a method signature doesn't match the docs you're reading, check which generation you're in before assuming a bug.</a:t>
            </a:r>
            <a:endParaRPr lang="en-US" sz="1100" dirty="0"/>
          </a:p>
        </p:txBody>
      </p:sp>
      <p:sp>
        <p:nvSpPr>
          <p:cNvPr id="35" name="Text 30"/>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36" name="Text 31"/>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CORE STRUCTURE</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What an Environment Actually Is</a:t>
            </a:r>
            <a:endParaRPr lang="en-US" sz="3000" dirty="0"/>
          </a:p>
        </p:txBody>
      </p:sp>
      <p:sp>
        <p:nvSpPr>
          <p:cNvPr id="4" name="Text 2"/>
          <p:cNvSpPr/>
          <p:nvPr/>
        </p:nvSpPr>
        <p:spPr>
          <a:xfrm>
            <a:off x="548640" y="1389888"/>
            <a:ext cx="11064240" cy="457200"/>
          </a:xfrm>
          <a:prstGeom prst="rect">
            <a:avLst/>
          </a:prstGeom>
          <a:noFill/>
          <a:ln/>
        </p:spPr>
        <p:txBody>
          <a:bodyPr wrap="square" rtlCol="0" anchor="ctr"/>
          <a:lstStyle/>
          <a:p>
            <a:pPr indent="0" marL="0">
              <a:lnSpc>
                <a:spcPct val="122000"/>
              </a:lnSpc>
              <a:buNone/>
            </a:pPr>
            <a:r>
              <a:rPr lang="en-US" sz="1300" dirty="0">
                <a:solidFill>
                  <a:srgbClr val="5C7080"/>
                </a:solidFill>
                <a:latin typeface="Calibri" pitchFamily="34" charset="0"/>
                <a:ea typeface="Calibri" pitchFamily="34" charset="-122"/>
                <a:cs typeface="Calibri" pitchFamily="34" charset="-120"/>
              </a:rPr>
              <a:t>A Python package exposing one function. Everything else — the Hub, the trainer, the evaluator — is built on the guarantee that this function exists and returns something with a known shape.</a:t>
            </a:r>
            <a:endParaRPr lang="en-US" sz="1300" dirty="0"/>
          </a:p>
        </p:txBody>
      </p:sp>
      <p:sp>
        <p:nvSpPr>
          <p:cNvPr id="5" name="Shape 3"/>
          <p:cNvSpPr/>
          <p:nvPr/>
        </p:nvSpPr>
        <p:spPr>
          <a:xfrm>
            <a:off x="548640" y="1965960"/>
            <a:ext cx="5212080" cy="914400"/>
          </a:xfrm>
          <a:prstGeom prst="roundRect">
            <a:avLst>
              <a:gd name="adj" fmla="val 8000"/>
            </a:avLst>
          </a:prstGeom>
          <a:solidFill>
            <a:srgbClr val="0B2942"/>
          </a:solidFill>
          <a:ln/>
        </p:spPr>
      </p:sp>
      <p:sp>
        <p:nvSpPr>
          <p:cNvPr id="6" name="Text 4"/>
          <p:cNvSpPr/>
          <p:nvPr/>
        </p:nvSpPr>
        <p:spPr>
          <a:xfrm>
            <a:off x="731520" y="2103120"/>
            <a:ext cx="4846320" cy="292608"/>
          </a:xfrm>
          <a:prstGeom prst="rect">
            <a:avLst/>
          </a:prstGeom>
          <a:noFill/>
          <a:ln/>
        </p:spPr>
        <p:txBody>
          <a:bodyPr wrap="square" rtlCol="0" anchor="ctr"/>
          <a:lstStyle/>
          <a:p>
            <a:pPr indent="0" marL="0">
              <a:buNone/>
            </a:pPr>
            <a:r>
              <a:rPr lang="en-US" sz="1200" b="1" dirty="0">
                <a:solidFill>
                  <a:srgbClr val="8FD4E8"/>
                </a:solidFill>
                <a:latin typeface="Courier New" pitchFamily="34" charset="0"/>
                <a:ea typeface="Courier New" pitchFamily="34" charset="-122"/>
                <a:cs typeface="Courier New" pitchFamily="34" charset="-120"/>
              </a:rPr>
              <a:t>def load_environment(**kwargs) -&gt; vf.Environment:</a:t>
            </a:r>
            <a:endParaRPr lang="en-US" sz="1200" dirty="0"/>
          </a:p>
        </p:txBody>
      </p:sp>
      <p:sp>
        <p:nvSpPr>
          <p:cNvPr id="7" name="Text 5"/>
          <p:cNvSpPr/>
          <p:nvPr/>
        </p:nvSpPr>
        <p:spPr>
          <a:xfrm>
            <a:off x="731520" y="2432304"/>
            <a:ext cx="4846320" cy="320040"/>
          </a:xfrm>
          <a:prstGeom prst="rect">
            <a:avLst/>
          </a:prstGeom>
          <a:noFill/>
          <a:ln/>
        </p:spPr>
        <p:txBody>
          <a:bodyPr wrap="square" rtlCol="0" anchor="ctr"/>
          <a:lstStyle/>
          <a:p>
            <a:pPr indent="0" marL="0">
              <a:buNone/>
            </a:pPr>
            <a:r>
              <a:rPr lang="en-US" sz="1050" i="1" dirty="0">
                <a:solidFill>
                  <a:srgbClr val="9FC3D9"/>
                </a:solidFill>
                <a:latin typeface="Calibri" pitchFamily="34" charset="0"/>
                <a:ea typeface="Calibri" pitchFamily="34" charset="-122"/>
                <a:cs typeface="Calibri" pitchFamily="34" charset="-120"/>
              </a:rPr>
              <a:t>The entire required interface. Everything else is a choice.</a:t>
            </a:r>
            <a:endParaRPr lang="en-US" sz="1050" dirty="0"/>
          </a:p>
        </p:txBody>
      </p:sp>
      <p:sp>
        <p:nvSpPr>
          <p:cNvPr id="8" name="Text 6"/>
          <p:cNvSpPr/>
          <p:nvPr/>
        </p:nvSpPr>
        <p:spPr>
          <a:xfrm>
            <a:off x="548640" y="3017520"/>
            <a:ext cx="5212080" cy="274320"/>
          </a:xfrm>
          <a:prstGeom prst="rect">
            <a:avLst/>
          </a:prstGeom>
          <a:noFill/>
          <a:ln/>
        </p:spPr>
        <p:txBody>
          <a:bodyPr wrap="square"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The type it returns, from general to specific:</a:t>
            </a:r>
            <a:endParaRPr lang="en-US" sz="1200" dirty="0"/>
          </a:p>
        </p:txBody>
      </p:sp>
      <p:sp>
        <p:nvSpPr>
          <p:cNvPr id="9" name="Shape 7"/>
          <p:cNvSpPr/>
          <p:nvPr/>
        </p:nvSpPr>
        <p:spPr>
          <a:xfrm>
            <a:off x="548640" y="3364992"/>
            <a:ext cx="2148840" cy="310896"/>
          </a:xfrm>
          <a:prstGeom prst="roundRect">
            <a:avLst>
              <a:gd name="adj" fmla="val 14706"/>
            </a:avLst>
          </a:prstGeom>
          <a:solidFill>
            <a:srgbClr val="065A82"/>
          </a:solidFill>
          <a:ln/>
        </p:spPr>
      </p:sp>
      <p:sp>
        <p:nvSpPr>
          <p:cNvPr id="10" name="Text 8"/>
          <p:cNvSpPr/>
          <p:nvPr/>
        </p:nvSpPr>
        <p:spPr>
          <a:xfrm>
            <a:off x="621792" y="3364992"/>
            <a:ext cx="2057400" cy="310896"/>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Environment</a:t>
            </a:r>
            <a:endParaRPr lang="en-US" sz="950" dirty="0"/>
          </a:p>
        </p:txBody>
      </p:sp>
      <p:sp>
        <p:nvSpPr>
          <p:cNvPr id="11" name="Text 9"/>
          <p:cNvSpPr/>
          <p:nvPr/>
        </p:nvSpPr>
        <p:spPr>
          <a:xfrm>
            <a:off x="2834640" y="3364992"/>
            <a:ext cx="3017520" cy="310896"/>
          </a:xfrm>
          <a:prstGeom prst="rect">
            <a:avLst/>
          </a:prstGeom>
          <a:noFill/>
          <a:ln/>
        </p:spPr>
        <p:txBody>
          <a:bodyPr wrap="square" rtlCol="0" anchor="ctr"/>
          <a:lstStyle/>
          <a:p>
            <a:pPr indent="0" marL="0">
              <a:buNone/>
            </a:pPr>
            <a:r>
              <a:rPr lang="en-US" sz="950" dirty="0">
                <a:solidFill>
                  <a:srgbClr val="5C7080"/>
                </a:solidFill>
                <a:latin typeface="Calibri" pitchFamily="34" charset="0"/>
                <a:ea typeface="Calibri" pitchFamily="34" charset="-122"/>
                <a:cs typeface="Calibri" pitchFamily="34" charset="-120"/>
              </a:rPr>
              <a:t>abstract base — owns the rollout loop</a:t>
            </a:r>
            <a:endParaRPr lang="en-US" sz="950" dirty="0"/>
          </a:p>
        </p:txBody>
      </p:sp>
      <p:sp>
        <p:nvSpPr>
          <p:cNvPr id="12" name="Shape 10"/>
          <p:cNvSpPr/>
          <p:nvPr/>
        </p:nvSpPr>
        <p:spPr>
          <a:xfrm>
            <a:off x="868680" y="3767328"/>
            <a:ext cx="2148840" cy="310896"/>
          </a:xfrm>
          <a:prstGeom prst="roundRect">
            <a:avLst>
              <a:gd name="adj" fmla="val 14706"/>
            </a:avLst>
          </a:prstGeom>
          <a:solidFill>
            <a:srgbClr val="1C7293"/>
          </a:solidFill>
          <a:ln/>
        </p:spPr>
      </p:sp>
      <p:sp>
        <p:nvSpPr>
          <p:cNvPr id="13" name="Text 11"/>
          <p:cNvSpPr/>
          <p:nvPr/>
        </p:nvSpPr>
        <p:spPr>
          <a:xfrm>
            <a:off x="941832" y="3767328"/>
            <a:ext cx="2057400" cy="310896"/>
          </a:xfrm>
          <a:prstGeom prst="rect">
            <a:avLst/>
          </a:prstGeom>
          <a:noFill/>
          <a:ln/>
        </p:spPr>
        <p:txBody>
          <a:bodyPr wrap="square" lIns="0" tIns="0" rIns="0" bIns="0" rtlCol="0" anchor="ctr"/>
          <a:lstStyle/>
          <a:p>
            <a:pPr indent="0" marL="0">
              <a:buNone/>
            </a:pPr>
            <a:r>
              <a:rPr lang="en-US" sz="950" b="1" dirty="0">
                <a:solidFill>
                  <a:srgbClr val="FFFFFF"/>
                </a:solidFill>
                <a:latin typeface="Courier New" pitchFamily="34" charset="0"/>
                <a:ea typeface="Courier New" pitchFamily="34" charset="-122"/>
                <a:cs typeface="Courier New" pitchFamily="34" charset="-120"/>
              </a:rPr>
              <a:t>MultiTurnEnv</a:t>
            </a:r>
            <a:endParaRPr lang="en-US" sz="950" dirty="0"/>
          </a:p>
        </p:txBody>
      </p:sp>
      <p:sp>
        <p:nvSpPr>
          <p:cNvPr id="14" name="Text 12"/>
          <p:cNvSpPr/>
          <p:nvPr/>
        </p:nvSpPr>
        <p:spPr>
          <a:xfrm>
            <a:off x="3154680" y="3767328"/>
            <a:ext cx="2697480" cy="310896"/>
          </a:xfrm>
          <a:prstGeom prst="rect">
            <a:avLst/>
          </a:prstGeom>
          <a:noFill/>
          <a:ln/>
        </p:spPr>
        <p:txBody>
          <a:bodyPr wrap="square" rtlCol="0" anchor="ctr"/>
          <a:lstStyle/>
          <a:p>
            <a:pPr indent="0" marL="0">
              <a:buNone/>
            </a:pPr>
            <a:r>
              <a:rPr lang="en-US" sz="950" dirty="0">
                <a:solidFill>
                  <a:srgbClr val="5C7080"/>
                </a:solidFill>
                <a:latin typeface="Calibri" pitchFamily="34" charset="0"/>
                <a:ea typeface="Calibri" pitchFamily="34" charset="-122"/>
                <a:cs typeface="Calibri" pitchFamily="34" charset="-120"/>
              </a:rPr>
              <a:t>adds env_response(): the environment talks back</a:t>
            </a:r>
            <a:endParaRPr lang="en-US" sz="950" dirty="0"/>
          </a:p>
        </p:txBody>
      </p:sp>
      <p:sp>
        <p:nvSpPr>
          <p:cNvPr id="15" name="Shape 13"/>
          <p:cNvSpPr/>
          <p:nvPr/>
        </p:nvSpPr>
        <p:spPr>
          <a:xfrm>
            <a:off x="1188720" y="4169664"/>
            <a:ext cx="2148840" cy="310896"/>
          </a:xfrm>
          <a:prstGeom prst="roundRect">
            <a:avLst>
              <a:gd name="adj" fmla="val 14706"/>
            </a:avLst>
          </a:prstGeom>
          <a:solidFill>
            <a:srgbClr val="F2F8FA"/>
          </a:solidFill>
          <a:ln w="9525">
            <a:solidFill>
              <a:srgbClr val="AEC7D6"/>
            </a:solidFill>
            <a:prstDash val="solid"/>
          </a:ln>
        </p:spPr>
      </p:sp>
      <p:sp>
        <p:nvSpPr>
          <p:cNvPr id="16" name="Text 14"/>
          <p:cNvSpPr/>
          <p:nvPr/>
        </p:nvSpPr>
        <p:spPr>
          <a:xfrm>
            <a:off x="1261872" y="4169664"/>
            <a:ext cx="2057400" cy="310896"/>
          </a:xfrm>
          <a:prstGeom prst="rect">
            <a:avLst/>
          </a:prstGeom>
          <a:noFill/>
          <a:ln/>
        </p:spPr>
        <p:txBody>
          <a:bodyPr wrap="square" lIns="0" tIns="0" rIns="0" bIns="0" rtlCol="0" anchor="ctr"/>
          <a:lstStyle/>
          <a:p>
            <a:pPr indent="0" marL="0">
              <a:buNone/>
            </a:pPr>
            <a:r>
              <a:rPr lang="en-US" sz="950" b="1" dirty="0">
                <a:solidFill>
                  <a:srgbClr val="065A82"/>
                </a:solidFill>
                <a:latin typeface="Courier New" pitchFamily="34" charset="0"/>
                <a:ea typeface="Courier New" pitchFamily="34" charset="-122"/>
                <a:cs typeface="Courier New" pitchFamily="34" charset="-120"/>
              </a:rPr>
              <a:t>SingleTurnEnv</a:t>
            </a:r>
            <a:endParaRPr lang="en-US" sz="950" dirty="0"/>
          </a:p>
        </p:txBody>
      </p:sp>
      <p:sp>
        <p:nvSpPr>
          <p:cNvPr id="17" name="Text 15"/>
          <p:cNvSpPr/>
          <p:nvPr/>
        </p:nvSpPr>
        <p:spPr>
          <a:xfrm>
            <a:off x="3474720" y="4169664"/>
            <a:ext cx="2377440" cy="310896"/>
          </a:xfrm>
          <a:prstGeom prst="rect">
            <a:avLst/>
          </a:prstGeom>
          <a:noFill/>
          <a:ln/>
        </p:spPr>
        <p:txBody>
          <a:bodyPr wrap="square" rtlCol="0" anchor="ctr"/>
          <a:lstStyle/>
          <a:p>
            <a:pPr indent="0" marL="0">
              <a:buNone/>
            </a:pPr>
            <a:r>
              <a:rPr lang="en-US" sz="950" dirty="0">
                <a:solidFill>
                  <a:srgbClr val="5C7080"/>
                </a:solidFill>
                <a:latin typeface="Calibri" pitchFamily="34" charset="0"/>
                <a:ea typeface="Calibri" pitchFamily="34" charset="-122"/>
                <a:cs typeface="Calibri" pitchFamily="34" charset="-120"/>
              </a:rPr>
              <a:t>one exchange and done</a:t>
            </a:r>
            <a:endParaRPr lang="en-US" sz="950" dirty="0"/>
          </a:p>
        </p:txBody>
      </p:sp>
      <p:sp>
        <p:nvSpPr>
          <p:cNvPr id="18" name="Shape 16"/>
          <p:cNvSpPr/>
          <p:nvPr/>
        </p:nvSpPr>
        <p:spPr>
          <a:xfrm>
            <a:off x="1188720" y="4572000"/>
            <a:ext cx="2148840" cy="310896"/>
          </a:xfrm>
          <a:prstGeom prst="roundRect">
            <a:avLst>
              <a:gd name="adj" fmla="val 14706"/>
            </a:avLst>
          </a:prstGeom>
          <a:solidFill>
            <a:srgbClr val="F2F8FA"/>
          </a:solidFill>
          <a:ln w="9525">
            <a:solidFill>
              <a:srgbClr val="AEC7D6"/>
            </a:solidFill>
            <a:prstDash val="solid"/>
          </a:ln>
        </p:spPr>
      </p:sp>
      <p:sp>
        <p:nvSpPr>
          <p:cNvPr id="19" name="Text 17"/>
          <p:cNvSpPr/>
          <p:nvPr/>
        </p:nvSpPr>
        <p:spPr>
          <a:xfrm>
            <a:off x="1261872" y="4572000"/>
            <a:ext cx="2057400" cy="310896"/>
          </a:xfrm>
          <a:prstGeom prst="rect">
            <a:avLst/>
          </a:prstGeom>
          <a:noFill/>
          <a:ln/>
        </p:spPr>
        <p:txBody>
          <a:bodyPr wrap="square" lIns="0" tIns="0" rIns="0" bIns="0" rtlCol="0" anchor="ctr"/>
          <a:lstStyle/>
          <a:p>
            <a:pPr indent="0" marL="0">
              <a:buNone/>
            </a:pPr>
            <a:r>
              <a:rPr lang="en-US" sz="950" b="1" dirty="0">
                <a:solidFill>
                  <a:srgbClr val="065A82"/>
                </a:solidFill>
                <a:latin typeface="Courier New" pitchFamily="34" charset="0"/>
                <a:ea typeface="Courier New" pitchFamily="34" charset="-122"/>
                <a:cs typeface="Courier New" pitchFamily="34" charset="-120"/>
              </a:rPr>
              <a:t>ToolEnv / StatefulToolEnv</a:t>
            </a:r>
            <a:endParaRPr lang="en-US" sz="950" dirty="0"/>
          </a:p>
        </p:txBody>
      </p:sp>
      <p:sp>
        <p:nvSpPr>
          <p:cNvPr id="20" name="Text 18"/>
          <p:cNvSpPr/>
          <p:nvPr/>
        </p:nvSpPr>
        <p:spPr>
          <a:xfrm>
            <a:off x="3474720" y="4572000"/>
            <a:ext cx="2377440" cy="310896"/>
          </a:xfrm>
          <a:prstGeom prst="rect">
            <a:avLst/>
          </a:prstGeom>
          <a:noFill/>
          <a:ln/>
        </p:spPr>
        <p:txBody>
          <a:bodyPr wrap="square" rtlCol="0" anchor="ctr"/>
          <a:lstStyle/>
          <a:p>
            <a:pPr indent="0" marL="0">
              <a:buNone/>
            </a:pPr>
            <a:r>
              <a:rPr lang="en-US" sz="950" dirty="0">
                <a:solidFill>
                  <a:srgbClr val="5C7080"/>
                </a:solidFill>
                <a:latin typeface="Calibri" pitchFamily="34" charset="0"/>
                <a:ea typeface="Calibri" pitchFamily="34" charset="-122"/>
                <a:cs typeface="Calibri" pitchFamily="34" charset="-120"/>
              </a:rPr>
              <a:t>native tool calls; stateful keeps per-rollout state</a:t>
            </a:r>
            <a:endParaRPr lang="en-US" sz="950" dirty="0"/>
          </a:p>
        </p:txBody>
      </p:sp>
      <p:sp>
        <p:nvSpPr>
          <p:cNvPr id="21" name="Shape 19"/>
          <p:cNvSpPr/>
          <p:nvPr/>
        </p:nvSpPr>
        <p:spPr>
          <a:xfrm>
            <a:off x="1188720" y="4974336"/>
            <a:ext cx="2148840" cy="310896"/>
          </a:xfrm>
          <a:prstGeom prst="roundRect">
            <a:avLst>
              <a:gd name="adj" fmla="val 14706"/>
            </a:avLst>
          </a:prstGeom>
          <a:solidFill>
            <a:srgbClr val="F2F8FA"/>
          </a:solidFill>
          <a:ln w="9525">
            <a:solidFill>
              <a:srgbClr val="AEC7D6"/>
            </a:solidFill>
            <a:prstDash val="solid"/>
          </a:ln>
        </p:spPr>
      </p:sp>
      <p:sp>
        <p:nvSpPr>
          <p:cNvPr id="22" name="Text 20"/>
          <p:cNvSpPr/>
          <p:nvPr/>
        </p:nvSpPr>
        <p:spPr>
          <a:xfrm>
            <a:off x="1261872" y="4974336"/>
            <a:ext cx="2057400" cy="310896"/>
          </a:xfrm>
          <a:prstGeom prst="rect">
            <a:avLst/>
          </a:prstGeom>
          <a:noFill/>
          <a:ln/>
        </p:spPr>
        <p:txBody>
          <a:bodyPr wrap="square" lIns="0" tIns="0" rIns="0" bIns="0" rtlCol="0" anchor="ctr"/>
          <a:lstStyle/>
          <a:p>
            <a:pPr indent="0" marL="0">
              <a:buNone/>
            </a:pPr>
            <a:r>
              <a:rPr lang="en-US" sz="950" b="1" dirty="0">
                <a:solidFill>
                  <a:srgbClr val="065A82"/>
                </a:solidFill>
                <a:latin typeface="Courier New" pitchFamily="34" charset="0"/>
                <a:ea typeface="Courier New" pitchFamily="34" charset="-122"/>
                <a:cs typeface="Courier New" pitchFamily="34" charset="-120"/>
              </a:rPr>
              <a:t>PythonEnv / SandboxEnv</a:t>
            </a:r>
            <a:endParaRPr lang="en-US" sz="950" dirty="0"/>
          </a:p>
        </p:txBody>
      </p:sp>
      <p:sp>
        <p:nvSpPr>
          <p:cNvPr id="23" name="Text 21"/>
          <p:cNvSpPr/>
          <p:nvPr/>
        </p:nvSpPr>
        <p:spPr>
          <a:xfrm>
            <a:off x="3474720" y="4974336"/>
            <a:ext cx="2377440" cy="310896"/>
          </a:xfrm>
          <a:prstGeom prst="rect">
            <a:avLst/>
          </a:prstGeom>
          <a:noFill/>
          <a:ln/>
        </p:spPr>
        <p:txBody>
          <a:bodyPr wrap="square" rtlCol="0" anchor="ctr"/>
          <a:lstStyle/>
          <a:p>
            <a:pPr indent="0" marL="0">
              <a:buNone/>
            </a:pPr>
            <a:r>
              <a:rPr lang="en-US" sz="950" dirty="0">
                <a:solidFill>
                  <a:srgbClr val="5C7080"/>
                </a:solidFill>
                <a:latin typeface="Calibri" pitchFamily="34" charset="0"/>
                <a:ea typeface="Calibri" pitchFamily="34" charset="-122"/>
                <a:cs typeface="Calibri" pitchFamily="34" charset="-120"/>
              </a:rPr>
              <a:t>the model's code is actually executed</a:t>
            </a:r>
            <a:endParaRPr lang="en-US" sz="950" dirty="0"/>
          </a:p>
        </p:txBody>
      </p:sp>
      <p:sp>
        <p:nvSpPr>
          <p:cNvPr id="24" name="Shape 22"/>
          <p:cNvSpPr/>
          <p:nvPr/>
        </p:nvSpPr>
        <p:spPr>
          <a:xfrm>
            <a:off x="6035040" y="1965960"/>
            <a:ext cx="5577840" cy="3429000"/>
          </a:xfrm>
          <a:prstGeom prst="roundRect">
            <a:avLst>
              <a:gd name="adj" fmla="val 2133"/>
            </a:avLst>
          </a:prstGeom>
          <a:solidFill>
            <a:srgbClr val="F2F8FA"/>
          </a:solidFill>
          <a:ln/>
          <a:effectLst>
            <a:outerShdw sx="100000" sy="100000" kx="0" ky="0" algn="bl" rotWithShape="0" blurRad="101600" dist="25400" dir="5400000">
              <a:srgbClr val="1B2733">
                <a:alpha val="8000"/>
              </a:srgbClr>
            </a:outerShdw>
          </a:effectLst>
        </p:spPr>
      </p:sp>
      <p:sp>
        <p:nvSpPr>
          <p:cNvPr id="25" name="Text 23"/>
          <p:cNvSpPr/>
          <p:nvPr/>
        </p:nvSpPr>
        <p:spPr>
          <a:xfrm>
            <a:off x="6309360" y="2148840"/>
            <a:ext cx="5029200" cy="320040"/>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Three things every environment supplies</a:t>
            </a:r>
            <a:endParaRPr lang="en-US" sz="1400" dirty="0"/>
          </a:p>
        </p:txBody>
      </p:sp>
      <p:sp>
        <p:nvSpPr>
          <p:cNvPr id="26" name="Shape 24"/>
          <p:cNvSpPr/>
          <p:nvPr/>
        </p:nvSpPr>
        <p:spPr>
          <a:xfrm>
            <a:off x="6309360" y="2606040"/>
            <a:ext cx="502920" cy="502920"/>
          </a:xfrm>
          <a:prstGeom prst="ellipse">
            <a:avLst/>
          </a:prstGeom>
          <a:solidFill>
            <a:srgbClr val="FFFFFF"/>
          </a:solidFill>
          <a:ln/>
        </p:spPr>
      </p:sp>
      <p:pic>
        <p:nvPicPr>
          <p:cNvPr id="27" name="Image 0" descr="/tmp/b/icons/table_list_teal.png">    </p:cNvPr>
          <p:cNvPicPr>
            <a:picLocks noChangeAspect="1"/>
          </p:cNvPicPr>
          <p:nvPr/>
        </p:nvPicPr>
        <p:blipFill>
          <a:blip r:embed="rId1"/>
          <a:stretch>
            <a:fillRect/>
          </a:stretch>
        </p:blipFill>
        <p:spPr>
          <a:xfrm>
            <a:off x="6440119" y="2736799"/>
            <a:ext cx="241402" cy="241402"/>
          </a:xfrm>
          <a:prstGeom prst="rect">
            <a:avLst/>
          </a:prstGeom>
        </p:spPr>
      </p:pic>
      <p:sp>
        <p:nvSpPr>
          <p:cNvPr id="28" name="Text 25"/>
          <p:cNvSpPr/>
          <p:nvPr/>
        </p:nvSpPr>
        <p:spPr>
          <a:xfrm>
            <a:off x="6949440" y="2587752"/>
            <a:ext cx="4389120" cy="29260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A dataset</a:t>
            </a:r>
            <a:endParaRPr lang="en-US" sz="1250" dirty="0"/>
          </a:p>
        </p:txBody>
      </p:sp>
      <p:sp>
        <p:nvSpPr>
          <p:cNvPr id="29" name="Text 26"/>
          <p:cNvSpPr/>
          <p:nvPr/>
        </p:nvSpPr>
        <p:spPr>
          <a:xfrm>
            <a:off x="6949440" y="2862072"/>
            <a:ext cx="4480560" cy="621792"/>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The problems. Each row carries a prompt, optionally an answer, and an info dict for anything the scorer will need later.</a:t>
            </a:r>
            <a:endParaRPr lang="en-US" sz="1050" dirty="0"/>
          </a:p>
        </p:txBody>
      </p:sp>
      <p:sp>
        <p:nvSpPr>
          <p:cNvPr id="30" name="Shape 27"/>
          <p:cNvSpPr/>
          <p:nvPr/>
        </p:nvSpPr>
        <p:spPr>
          <a:xfrm>
            <a:off x="6309360" y="3538728"/>
            <a:ext cx="502920" cy="502920"/>
          </a:xfrm>
          <a:prstGeom prst="ellipse">
            <a:avLst/>
          </a:prstGeom>
          <a:solidFill>
            <a:srgbClr val="FFFFFF"/>
          </a:solidFill>
          <a:ln/>
        </p:spPr>
      </p:sp>
      <p:pic>
        <p:nvPicPr>
          <p:cNvPr id="31" name="Image 1" descr="/tmp/b/icons/person_running_teal.png">    </p:cNvPr>
          <p:cNvPicPr>
            <a:picLocks noChangeAspect="1"/>
          </p:cNvPicPr>
          <p:nvPr/>
        </p:nvPicPr>
        <p:blipFill>
          <a:blip r:embed="rId2"/>
          <a:stretch>
            <a:fillRect/>
          </a:stretch>
        </p:blipFill>
        <p:spPr>
          <a:xfrm>
            <a:off x="6440119" y="3669487"/>
            <a:ext cx="241402" cy="241402"/>
          </a:xfrm>
          <a:prstGeom prst="rect">
            <a:avLst/>
          </a:prstGeom>
        </p:spPr>
      </p:pic>
      <p:sp>
        <p:nvSpPr>
          <p:cNvPr id="32" name="Text 28"/>
          <p:cNvSpPr/>
          <p:nvPr/>
        </p:nvSpPr>
        <p:spPr>
          <a:xfrm>
            <a:off x="6949440" y="3520440"/>
            <a:ext cx="4389120" cy="29260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A way to attempt them</a:t>
            </a:r>
            <a:endParaRPr lang="en-US" sz="1250" dirty="0"/>
          </a:p>
        </p:txBody>
      </p:sp>
      <p:sp>
        <p:nvSpPr>
          <p:cNvPr id="33" name="Text 29"/>
          <p:cNvSpPr/>
          <p:nvPr/>
        </p:nvSpPr>
        <p:spPr>
          <a:xfrm>
            <a:off x="6949440" y="3794760"/>
            <a:ext cx="4480560" cy="621792"/>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The loop the model runs inside: tools it may call, how the environment responds, when the attempt ends.</a:t>
            </a:r>
            <a:endParaRPr lang="en-US" sz="1050" dirty="0"/>
          </a:p>
        </p:txBody>
      </p:sp>
      <p:sp>
        <p:nvSpPr>
          <p:cNvPr id="34" name="Shape 30"/>
          <p:cNvSpPr/>
          <p:nvPr/>
        </p:nvSpPr>
        <p:spPr>
          <a:xfrm>
            <a:off x="6309360" y="4471416"/>
            <a:ext cx="502920" cy="502920"/>
          </a:xfrm>
          <a:prstGeom prst="ellipse">
            <a:avLst/>
          </a:prstGeom>
          <a:solidFill>
            <a:srgbClr val="FFFFFF"/>
          </a:solidFill>
          <a:ln/>
        </p:spPr>
      </p:sp>
      <p:pic>
        <p:nvPicPr>
          <p:cNvPr id="35" name="Image 2" descr="/tmp/b/icons/clipboard_check_teal.png">    </p:cNvPr>
          <p:cNvPicPr>
            <a:picLocks noChangeAspect="1"/>
          </p:cNvPicPr>
          <p:nvPr/>
        </p:nvPicPr>
        <p:blipFill>
          <a:blip r:embed="rId3"/>
          <a:stretch>
            <a:fillRect/>
          </a:stretch>
        </p:blipFill>
        <p:spPr>
          <a:xfrm>
            <a:off x="6440119" y="4602175"/>
            <a:ext cx="241402" cy="241402"/>
          </a:xfrm>
          <a:prstGeom prst="rect">
            <a:avLst/>
          </a:prstGeom>
        </p:spPr>
      </p:pic>
      <p:sp>
        <p:nvSpPr>
          <p:cNvPr id="36" name="Text 31"/>
          <p:cNvSpPr/>
          <p:nvPr/>
        </p:nvSpPr>
        <p:spPr>
          <a:xfrm>
            <a:off x="6949440" y="4453128"/>
            <a:ext cx="4389120" cy="292608"/>
          </a:xfrm>
          <a:prstGeom prst="rect">
            <a:avLst/>
          </a:prstGeom>
          <a:noFill/>
          <a:ln/>
        </p:spPr>
        <p:txBody>
          <a:bodyPr wrap="square"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A rubric</a:t>
            </a:r>
            <a:endParaRPr lang="en-US" sz="1250" dirty="0"/>
          </a:p>
        </p:txBody>
      </p:sp>
      <p:sp>
        <p:nvSpPr>
          <p:cNvPr id="37" name="Text 32"/>
          <p:cNvSpPr/>
          <p:nvPr/>
        </p:nvSpPr>
        <p:spPr>
          <a:xfrm>
            <a:off x="6949440" y="4727448"/>
            <a:ext cx="4480560" cy="621792"/>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One or more scoring functions with weights. Weight 0.0 records a number without rewarding it.</a:t>
            </a:r>
            <a:endParaRPr lang="en-US" sz="1050" dirty="0"/>
          </a:p>
        </p:txBody>
      </p:sp>
      <p:sp>
        <p:nvSpPr>
          <p:cNvPr id="38" name="Shape 33"/>
          <p:cNvSpPr/>
          <p:nvPr/>
        </p:nvSpPr>
        <p:spPr>
          <a:xfrm>
            <a:off x="6035040" y="5532120"/>
            <a:ext cx="4572000" cy="310896"/>
          </a:xfrm>
          <a:prstGeom prst="roundRect">
            <a:avLst>
              <a:gd name="adj" fmla="val 50000"/>
            </a:avLst>
          </a:prstGeom>
          <a:solidFill>
            <a:srgbClr val="E9F1E6"/>
          </a:solidFill>
          <a:ln w="9525">
            <a:solidFill>
              <a:srgbClr val="8FB88F"/>
            </a:solidFill>
            <a:prstDash val="solid"/>
          </a:ln>
        </p:spPr>
      </p:sp>
      <p:sp>
        <p:nvSpPr>
          <p:cNvPr id="39" name="Text 34"/>
          <p:cNvSpPr/>
          <p:nvPr/>
        </p:nvSpPr>
        <p:spPr>
          <a:xfrm>
            <a:off x="6163056" y="5532120"/>
            <a:ext cx="431596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4, Where Reward Comes From</a:t>
            </a:r>
            <a:endParaRPr lang="en-US" sz="1000" dirty="0"/>
          </a:p>
        </p:txBody>
      </p:sp>
      <p:sp>
        <p:nvSpPr>
          <p:cNvPr id="40" name="Text 35"/>
          <p:cNvSpPr/>
          <p:nvPr/>
        </p:nvSpPr>
        <p:spPr>
          <a:xfrm>
            <a:off x="548640" y="5504688"/>
            <a:ext cx="5303520" cy="54864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State threads through the whole rollout: setup_state() initialises it, env_response() mutates it, and the rubric reads it to decide a score.</a:t>
            </a:r>
            <a:endParaRPr lang="en-US" sz="1050" dirty="0"/>
          </a:p>
        </p:txBody>
      </p:sp>
      <p:sp>
        <p:nvSpPr>
          <p:cNvPr id="41" name="Text 36"/>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42" name="Text 3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WORKED EXAMPLE</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Anatomy of a Published Environment</a:t>
            </a:r>
            <a:endParaRPr lang="en-US" sz="3000" dirty="0"/>
          </a:p>
        </p:txBody>
      </p:sp>
      <p:sp>
        <p:nvSpPr>
          <p:cNvPr id="4" name="Shape 2"/>
          <p:cNvSpPr/>
          <p:nvPr/>
        </p:nvSpPr>
        <p:spPr>
          <a:xfrm>
            <a:off x="9646920" y="777240"/>
            <a:ext cx="1965960" cy="310896"/>
          </a:xfrm>
          <a:prstGeom prst="roundRect">
            <a:avLst>
              <a:gd name="adj" fmla="val 14706"/>
            </a:avLst>
          </a:prstGeom>
          <a:solidFill>
            <a:srgbClr val="CFE8F0"/>
          </a:solidFill>
          <a:ln w="9525">
            <a:solidFill>
              <a:srgbClr val="AEC7D6"/>
            </a:solidFill>
            <a:prstDash val="solid"/>
          </a:ln>
        </p:spPr>
      </p:sp>
      <p:sp>
        <p:nvSpPr>
          <p:cNvPr id="5" name="Text 3"/>
          <p:cNvSpPr/>
          <p:nvPr/>
        </p:nvSpPr>
        <p:spPr>
          <a:xfrm>
            <a:off x="9738360" y="777240"/>
            <a:ext cx="178308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AiderPolyglot.py</a:t>
            </a:r>
            <a:endParaRPr lang="en-US" sz="1050" dirty="0"/>
          </a:p>
        </p:txBody>
      </p:sp>
      <p:sp>
        <p:nvSpPr>
          <p:cNvPr id="6" name="Text 4"/>
          <p:cNvSpPr/>
          <p:nvPr/>
        </p:nvSpPr>
        <p:spPr>
          <a:xfrm>
            <a:off x="548640" y="1389888"/>
            <a:ext cx="11064240" cy="457200"/>
          </a:xfrm>
          <a:prstGeom prst="rect">
            <a:avLst/>
          </a:prstGeom>
          <a:noFill/>
          <a:ln/>
        </p:spPr>
        <p:txBody>
          <a:bodyPr wrap="square" rtlCol="0" anchor="ctr"/>
          <a:lstStyle/>
          <a:p>
            <a:pPr indent="0" marL="0">
              <a:lnSpc>
                <a:spcPct val="120000"/>
              </a:lnSpc>
              <a:buNone/>
            </a:pPr>
            <a:r>
              <a:rPr lang="en-US" sz="1250" dirty="0">
                <a:solidFill>
                  <a:srgbClr val="5C7080"/>
                </a:solidFill>
                <a:latin typeface="Calibri" pitchFamily="34" charset="0"/>
                <a:ea typeface="Calibri" pitchFamily="34" charset="-122"/>
                <a:cs typeface="Calibri" pitchFamily="34" charset="-120"/>
              </a:rPr>
              <a:t>primeintellect/aiderpolyglot — roughly 200 lines, on the Hub, by Prime themselves. It scores a model on coding exercises across six languages. Every piece of the contract, in one readable file.</a:t>
            </a:r>
            <a:endParaRPr lang="en-US" sz="1250" dirty="0"/>
          </a:p>
        </p:txBody>
      </p:sp>
      <p:sp>
        <p:nvSpPr>
          <p:cNvPr id="7" name="Shape 5"/>
          <p:cNvSpPr/>
          <p:nvPr/>
        </p:nvSpPr>
        <p:spPr>
          <a:xfrm>
            <a:off x="548640" y="1874520"/>
            <a:ext cx="11064240" cy="658368"/>
          </a:xfrm>
          <a:prstGeom prst="roundRect">
            <a:avLst>
              <a:gd name="adj" fmla="val 11111"/>
            </a:avLst>
          </a:prstGeom>
          <a:solidFill>
            <a:srgbClr val="F2F8FA"/>
          </a:solidFill>
          <a:ln/>
          <a:effectLst>
            <a:outerShdw sx="100000" sy="100000" kx="0" ky="0" algn="bl" rotWithShape="0" blurRad="101600" dist="25400" dir="5400000">
              <a:srgbClr val="1B2733">
                <a:alpha val="8000"/>
              </a:srgbClr>
            </a:outerShdw>
          </a:effectLst>
        </p:spPr>
      </p:sp>
      <p:sp>
        <p:nvSpPr>
          <p:cNvPr id="8" name="Shape 6"/>
          <p:cNvSpPr/>
          <p:nvPr/>
        </p:nvSpPr>
        <p:spPr>
          <a:xfrm>
            <a:off x="777240" y="2011680"/>
            <a:ext cx="384048" cy="384048"/>
          </a:xfrm>
          <a:prstGeom prst="ellipse">
            <a:avLst/>
          </a:prstGeom>
          <a:solidFill>
            <a:srgbClr val="065A82"/>
          </a:solidFill>
          <a:ln/>
        </p:spPr>
      </p:sp>
      <p:sp>
        <p:nvSpPr>
          <p:cNvPr id="9" name="Text 7"/>
          <p:cNvSpPr/>
          <p:nvPr/>
        </p:nvSpPr>
        <p:spPr>
          <a:xfrm>
            <a:off x="777240" y="2011680"/>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325880" y="1929384"/>
            <a:ext cx="2514600" cy="548640"/>
          </a:xfrm>
          <a:prstGeom prst="rect">
            <a:avLst/>
          </a:prstGeom>
          <a:noFill/>
          <a:ln/>
        </p:spPr>
        <p:txBody>
          <a:bodyPr wrap="square"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load_exercises_dataset()</a:t>
            </a:r>
            <a:endParaRPr lang="en-US" sz="1100" dirty="0"/>
          </a:p>
        </p:txBody>
      </p:sp>
      <p:sp>
        <p:nvSpPr>
          <p:cNvPr id="11" name="Text 9"/>
          <p:cNvSpPr/>
          <p:nvPr/>
        </p:nvSpPr>
        <p:spPr>
          <a:xfrm>
            <a:off x="3977640" y="1920240"/>
            <a:ext cx="7452360" cy="566928"/>
          </a:xfrm>
          <a:prstGeom prst="rect">
            <a:avLst/>
          </a:prstGeom>
          <a:noFill/>
          <a:ln/>
        </p:spPr>
        <p:txBody>
          <a:bodyPr wrap="square" rtlCol="0" anchor="ctr"/>
          <a:lstStyle/>
          <a:p>
            <a:pPr indent="0" marL="0">
              <a:lnSpc>
                <a:spcPct val="115000"/>
              </a:lnSpc>
              <a:buNone/>
            </a:pPr>
            <a:r>
              <a:rPr lang="en-US" sz="1000" dirty="0">
                <a:solidFill>
                  <a:srgbClr val="1B2733"/>
                </a:solidFill>
                <a:latin typeface="Calibri" pitchFamily="34" charset="0"/>
                <a:ea typeface="Calibri" pitchFamily="34" charset="-122"/>
                <a:cs typeface="Calibri" pitchFamily="34" charset="-120"/>
              </a:rPr>
              <a:t>Walks a cloned benchmark repo. For each exercise it reads the instructions and the stub files — and deliberately filters the test files out, so the model never sees what it will be graded against.</a:t>
            </a:r>
            <a:endParaRPr lang="en-US" sz="1000" dirty="0"/>
          </a:p>
        </p:txBody>
      </p:sp>
      <p:sp>
        <p:nvSpPr>
          <p:cNvPr id="12" name="Shape 10"/>
          <p:cNvSpPr/>
          <p:nvPr/>
        </p:nvSpPr>
        <p:spPr>
          <a:xfrm>
            <a:off x="548640" y="2615184"/>
            <a:ext cx="11064240" cy="658368"/>
          </a:xfrm>
          <a:prstGeom prst="roundRect">
            <a:avLst>
              <a:gd name="adj" fmla="val 11111"/>
            </a:avLst>
          </a:prstGeom>
          <a:solidFill>
            <a:srgbClr val="F2F8FA"/>
          </a:solidFill>
          <a:ln/>
          <a:effectLst>
            <a:outerShdw sx="100000" sy="100000" kx="0" ky="0" algn="bl" rotWithShape="0" blurRad="101600" dist="25400" dir="5400000">
              <a:srgbClr val="1B2733">
                <a:alpha val="8000"/>
              </a:srgbClr>
            </a:outerShdw>
          </a:effectLst>
        </p:spPr>
      </p:sp>
      <p:sp>
        <p:nvSpPr>
          <p:cNvPr id="13" name="Shape 11"/>
          <p:cNvSpPr/>
          <p:nvPr/>
        </p:nvSpPr>
        <p:spPr>
          <a:xfrm>
            <a:off x="777240" y="2752344"/>
            <a:ext cx="384048" cy="384048"/>
          </a:xfrm>
          <a:prstGeom prst="ellipse">
            <a:avLst/>
          </a:prstGeom>
          <a:solidFill>
            <a:srgbClr val="065A82"/>
          </a:solidFill>
          <a:ln/>
        </p:spPr>
      </p:sp>
      <p:sp>
        <p:nvSpPr>
          <p:cNvPr id="14" name="Text 12"/>
          <p:cNvSpPr/>
          <p:nvPr/>
        </p:nvSpPr>
        <p:spPr>
          <a:xfrm>
            <a:off x="777240" y="2752344"/>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325880" y="2670048"/>
            <a:ext cx="2514600" cy="548640"/>
          </a:xfrm>
          <a:prstGeom prst="rect">
            <a:avLst/>
          </a:prstGeom>
          <a:noFill/>
          <a:ln/>
        </p:spPr>
        <p:txBody>
          <a:bodyPr wrap="square"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PROMPT</a:t>
            </a:r>
            <a:endParaRPr lang="en-US" sz="1100" dirty="0"/>
          </a:p>
        </p:txBody>
      </p:sp>
      <p:sp>
        <p:nvSpPr>
          <p:cNvPr id="16" name="Text 14"/>
          <p:cNvSpPr/>
          <p:nvPr/>
        </p:nvSpPr>
        <p:spPr>
          <a:xfrm>
            <a:off x="3977640" y="2660904"/>
            <a:ext cx="7452360" cy="566928"/>
          </a:xfrm>
          <a:prstGeom prst="rect">
            <a:avLst/>
          </a:prstGeom>
          <a:noFill/>
          <a:ln/>
        </p:spPr>
        <p:txBody>
          <a:bodyPr wrap="square" rtlCol="0" anchor="ctr"/>
          <a:lstStyle/>
          <a:p>
            <a:pPr indent="0" marL="0">
              <a:lnSpc>
                <a:spcPct val="115000"/>
              </a:lnSpc>
              <a:buNone/>
            </a:pPr>
            <a:r>
              <a:rPr lang="en-US" sz="1000" dirty="0">
                <a:solidFill>
                  <a:srgbClr val="1B2733"/>
                </a:solidFill>
                <a:latin typeface="Calibri" pitchFamily="34" charset="0"/>
                <a:ea typeface="Calibri" pitchFamily="34" charset="-122"/>
                <a:cs typeface="Calibri" pitchFamily="34" charset="-120"/>
              </a:rPr>
              <a:t>Asks for each file in a specific literal format: a /// marker, then the filename, then a fenced code block.</a:t>
            </a:r>
            <a:endParaRPr lang="en-US" sz="1000" dirty="0"/>
          </a:p>
        </p:txBody>
      </p:sp>
      <p:sp>
        <p:nvSpPr>
          <p:cNvPr id="17" name="Shape 15"/>
          <p:cNvSpPr/>
          <p:nvPr/>
        </p:nvSpPr>
        <p:spPr>
          <a:xfrm>
            <a:off x="548640" y="3355848"/>
            <a:ext cx="11064240" cy="658368"/>
          </a:xfrm>
          <a:prstGeom prst="roundRect">
            <a:avLst>
              <a:gd name="adj" fmla="val 11111"/>
            </a:avLst>
          </a:prstGeom>
          <a:solidFill>
            <a:srgbClr val="F2F8FA"/>
          </a:solidFill>
          <a:ln/>
          <a:effectLst>
            <a:outerShdw sx="100000" sy="100000" kx="0" ky="0" algn="bl" rotWithShape="0" blurRad="101600" dist="25400" dir="5400000">
              <a:srgbClr val="1B2733">
                <a:alpha val="8000"/>
              </a:srgbClr>
            </a:outerShdw>
          </a:effectLst>
        </p:spPr>
      </p:sp>
      <p:sp>
        <p:nvSpPr>
          <p:cNvPr id="18" name="Shape 16"/>
          <p:cNvSpPr/>
          <p:nvPr/>
        </p:nvSpPr>
        <p:spPr>
          <a:xfrm>
            <a:off x="777240" y="3493008"/>
            <a:ext cx="384048" cy="384048"/>
          </a:xfrm>
          <a:prstGeom prst="ellipse">
            <a:avLst/>
          </a:prstGeom>
          <a:solidFill>
            <a:srgbClr val="065A82"/>
          </a:solidFill>
          <a:ln/>
        </p:spPr>
      </p:sp>
      <p:sp>
        <p:nvSpPr>
          <p:cNvPr id="19" name="Text 17"/>
          <p:cNvSpPr/>
          <p:nvPr/>
        </p:nvSpPr>
        <p:spPr>
          <a:xfrm>
            <a:off x="777240" y="3493008"/>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1325880" y="3410712"/>
            <a:ext cx="2514600" cy="548640"/>
          </a:xfrm>
          <a:prstGeom prst="rect">
            <a:avLst/>
          </a:prstGeom>
          <a:noFill/>
          <a:ln/>
        </p:spPr>
        <p:txBody>
          <a:bodyPr wrap="square"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env_response()</a:t>
            </a:r>
            <a:endParaRPr lang="en-US" sz="1100" dirty="0"/>
          </a:p>
        </p:txBody>
      </p:sp>
      <p:sp>
        <p:nvSpPr>
          <p:cNvPr id="21" name="Text 19"/>
          <p:cNvSpPr/>
          <p:nvPr/>
        </p:nvSpPr>
        <p:spPr>
          <a:xfrm>
            <a:off x="3977640" y="3401568"/>
            <a:ext cx="7452360" cy="566928"/>
          </a:xfrm>
          <a:prstGeom prst="rect">
            <a:avLst/>
          </a:prstGeom>
          <a:noFill/>
          <a:ln/>
        </p:spPr>
        <p:txBody>
          <a:bodyPr wrap="square" rtlCol="0" anchor="ctr"/>
          <a:lstStyle/>
          <a:p>
            <a:pPr indent="0" marL="0">
              <a:lnSpc>
                <a:spcPct val="115000"/>
              </a:lnSpc>
              <a:buNone/>
            </a:pPr>
            <a:r>
              <a:rPr lang="en-US" sz="1000" dirty="0">
                <a:solidFill>
                  <a:srgbClr val="1B2733"/>
                </a:solidFill>
                <a:latin typeface="Calibri" pitchFamily="34" charset="0"/>
                <a:ea typeface="Calibri" pitchFamily="34" charset="-122"/>
                <a:cs typeface="Calibri" pitchFamily="34" charset="-120"/>
              </a:rPr>
              <a:t>Applies FILE_PATTERN, a regex, to the model's reply, producing a {filename: code} dict. If nothing matches it returns silently — no feedback, no turn consumed.</a:t>
            </a:r>
            <a:endParaRPr lang="en-US" sz="1000" dirty="0"/>
          </a:p>
        </p:txBody>
      </p:sp>
      <p:sp>
        <p:nvSpPr>
          <p:cNvPr id="22" name="Shape 20"/>
          <p:cNvSpPr/>
          <p:nvPr/>
        </p:nvSpPr>
        <p:spPr>
          <a:xfrm>
            <a:off x="548640" y="4096512"/>
            <a:ext cx="11064240" cy="658368"/>
          </a:xfrm>
          <a:prstGeom prst="roundRect">
            <a:avLst>
              <a:gd name="adj" fmla="val 11111"/>
            </a:avLst>
          </a:prstGeom>
          <a:solidFill>
            <a:srgbClr val="F2F8FA"/>
          </a:solidFill>
          <a:ln/>
          <a:effectLst>
            <a:outerShdw sx="100000" sy="100000" kx="0" ky="0" algn="bl" rotWithShape="0" blurRad="101600" dist="25400" dir="5400000">
              <a:srgbClr val="1B2733">
                <a:alpha val="8000"/>
              </a:srgbClr>
            </a:outerShdw>
          </a:effectLst>
        </p:spPr>
      </p:sp>
      <p:sp>
        <p:nvSpPr>
          <p:cNvPr id="23" name="Shape 21"/>
          <p:cNvSpPr/>
          <p:nvPr/>
        </p:nvSpPr>
        <p:spPr>
          <a:xfrm>
            <a:off x="777240" y="4233672"/>
            <a:ext cx="384048" cy="384048"/>
          </a:xfrm>
          <a:prstGeom prst="ellipse">
            <a:avLst/>
          </a:prstGeom>
          <a:solidFill>
            <a:srgbClr val="065A82"/>
          </a:solidFill>
          <a:ln/>
        </p:spPr>
      </p:sp>
      <p:sp>
        <p:nvSpPr>
          <p:cNvPr id="24" name="Text 22"/>
          <p:cNvSpPr/>
          <p:nvPr/>
        </p:nvSpPr>
        <p:spPr>
          <a:xfrm>
            <a:off x="777240" y="4233672"/>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325880" y="4151376"/>
            <a:ext cx="2514600" cy="548640"/>
          </a:xfrm>
          <a:prstGeom prst="rect">
            <a:avLst/>
          </a:prstGeom>
          <a:noFill/>
          <a:ln/>
        </p:spPr>
        <p:txBody>
          <a:bodyPr wrap="square"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_test_solution()</a:t>
            </a:r>
            <a:endParaRPr lang="en-US" sz="1100" dirty="0"/>
          </a:p>
        </p:txBody>
      </p:sp>
      <p:sp>
        <p:nvSpPr>
          <p:cNvPr id="26" name="Text 24"/>
          <p:cNvSpPr/>
          <p:nvPr/>
        </p:nvSpPr>
        <p:spPr>
          <a:xfrm>
            <a:off x="3977640" y="4142232"/>
            <a:ext cx="7452360" cy="566928"/>
          </a:xfrm>
          <a:prstGeom prst="rect">
            <a:avLst/>
          </a:prstGeom>
          <a:noFill/>
          <a:ln/>
        </p:spPr>
        <p:txBody>
          <a:bodyPr wrap="square" rtlCol="0" anchor="ctr"/>
          <a:lstStyle/>
          <a:p>
            <a:pPr indent="0" marL="0">
              <a:lnSpc>
                <a:spcPct val="115000"/>
              </a:lnSpc>
              <a:buNone/>
            </a:pPr>
            <a:r>
              <a:rPr lang="en-US" sz="1000" dirty="0">
                <a:solidFill>
                  <a:srgbClr val="1B2733"/>
                </a:solidFill>
                <a:latin typeface="Calibri" pitchFamily="34" charset="0"/>
                <a:ea typeface="Calibri" pitchFamily="34" charset="-122"/>
                <a:cs typeface="Calibri" pitchFamily="34" charset="-120"/>
              </a:rPr>
              <a:t>Copies the exercise to a temp directory, writes the model's files over it, and runs that language's test command in a container.</a:t>
            </a:r>
            <a:endParaRPr lang="en-US" sz="1000" dirty="0"/>
          </a:p>
        </p:txBody>
      </p:sp>
      <p:sp>
        <p:nvSpPr>
          <p:cNvPr id="27" name="Shape 25"/>
          <p:cNvSpPr/>
          <p:nvPr/>
        </p:nvSpPr>
        <p:spPr>
          <a:xfrm>
            <a:off x="548640" y="4837176"/>
            <a:ext cx="11064240" cy="658368"/>
          </a:xfrm>
          <a:prstGeom prst="roundRect">
            <a:avLst>
              <a:gd name="adj" fmla="val 11111"/>
            </a:avLst>
          </a:prstGeom>
          <a:solidFill>
            <a:srgbClr val="F2F8FA"/>
          </a:solidFill>
          <a:ln/>
          <a:effectLst>
            <a:outerShdw sx="100000" sy="100000" kx="0" ky="0" algn="bl" rotWithShape="0" blurRad="101600" dist="25400" dir="5400000">
              <a:srgbClr val="1B2733">
                <a:alpha val="8000"/>
              </a:srgbClr>
            </a:outerShdw>
          </a:effectLst>
        </p:spPr>
      </p:sp>
      <p:sp>
        <p:nvSpPr>
          <p:cNvPr id="28" name="Shape 26"/>
          <p:cNvSpPr/>
          <p:nvPr/>
        </p:nvSpPr>
        <p:spPr>
          <a:xfrm>
            <a:off x="777240" y="4974336"/>
            <a:ext cx="384048" cy="384048"/>
          </a:xfrm>
          <a:prstGeom prst="ellipse">
            <a:avLst/>
          </a:prstGeom>
          <a:solidFill>
            <a:srgbClr val="1C7293"/>
          </a:solidFill>
          <a:ln/>
        </p:spPr>
      </p:sp>
      <p:sp>
        <p:nvSpPr>
          <p:cNvPr id="29" name="Text 27"/>
          <p:cNvSpPr/>
          <p:nvPr/>
        </p:nvSpPr>
        <p:spPr>
          <a:xfrm>
            <a:off x="777240" y="4974336"/>
            <a:ext cx="384048" cy="38404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1325880" y="4892040"/>
            <a:ext cx="2514600" cy="548640"/>
          </a:xfrm>
          <a:prstGeom prst="rect">
            <a:avLst/>
          </a:prstGeom>
          <a:noFill/>
          <a:ln/>
        </p:spPr>
        <p:txBody>
          <a:bodyPr wrap="square"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success()</a:t>
            </a:r>
            <a:endParaRPr lang="en-US" sz="1100" dirty="0"/>
          </a:p>
        </p:txBody>
      </p:sp>
      <p:sp>
        <p:nvSpPr>
          <p:cNvPr id="31" name="Text 29"/>
          <p:cNvSpPr/>
          <p:nvPr/>
        </p:nvSpPr>
        <p:spPr>
          <a:xfrm>
            <a:off x="3977640" y="4882896"/>
            <a:ext cx="7452360" cy="566928"/>
          </a:xfrm>
          <a:prstGeom prst="rect">
            <a:avLst/>
          </a:prstGeom>
          <a:noFill/>
          <a:ln/>
        </p:spPr>
        <p:txBody>
          <a:bodyPr wrap="square" rtlCol="0" anchor="ctr"/>
          <a:lstStyle/>
          <a:p>
            <a:pPr indent="0" marL="0">
              <a:lnSpc>
                <a:spcPct val="115000"/>
              </a:lnSpc>
              <a:buNone/>
            </a:pPr>
            <a:r>
              <a:rPr lang="en-US" sz="1000" dirty="0">
                <a:solidFill>
                  <a:srgbClr val="1B2733"/>
                </a:solidFill>
                <a:latin typeface="Calibri" pitchFamily="34" charset="0"/>
                <a:ea typeface="Calibri" pitchFamily="34" charset="-122"/>
                <a:cs typeface="Calibri" pitchFamily="34" charset="-120"/>
              </a:rPr>
              <a:t>Returns 1.0 if the test command exited 0, else 0.0. Wrapped in vf.Rubric(funcs=[success], weights=[1.0]).</a:t>
            </a:r>
            <a:endParaRPr lang="en-US" sz="1000" dirty="0"/>
          </a:p>
        </p:txBody>
      </p:sp>
      <p:sp>
        <p:nvSpPr>
          <p:cNvPr id="32" name="Text 30"/>
          <p:cNvSpPr/>
          <p:nvPr/>
        </p:nvSpPr>
        <p:spPr>
          <a:xfrm>
            <a:off x="548640" y="5669280"/>
            <a:ext cx="11064240" cy="502920"/>
          </a:xfrm>
          <a:prstGeom prst="rect">
            <a:avLst/>
          </a:prstGeom>
          <a:noFill/>
          <a:ln/>
        </p:spPr>
        <p:txBody>
          <a:bodyPr wrap="square" rtlCol="0" anchor="ctr"/>
          <a:lstStyle/>
          <a:p>
            <a:pPr indent="0" marL="0">
              <a:lnSpc>
                <a:spcPct val="120000"/>
              </a:lnSpc>
              <a:buNone/>
            </a:pPr>
            <a:r>
              <a:rPr lang="en-US" sz="1100" b="1" dirty="0">
                <a:solidFill>
                  <a:srgbClr val="1B2733"/>
                </a:solidFill>
                <a:latin typeface="Calibri" pitchFamily="34" charset="0"/>
                <a:ea typeface="Calibri" pitchFamily="34" charset="-122"/>
                <a:cs typeface="Calibri" pitchFamily="34" charset="-120"/>
              </a:rPr>
              <a:t>Read steps 1 and 4 together before the next slide. </a:t>
            </a:r>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The tests are hidden from the model in step 1 — that part is deliberate and correct. Then step 4 writes whatever filenames the model asked for into the same directory those tests live in.</a:t>
            </a:r>
            <a:endParaRPr lang="en-US" sz="1100" dirty="0"/>
          </a:p>
        </p:txBody>
      </p:sp>
      <p:sp>
        <p:nvSpPr>
          <p:cNvPr id="33" name="Text 31"/>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34" name="Text 3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HOSTED TRAINING</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The Loop, Split Across Three Processes</a:t>
            </a:r>
            <a:endParaRPr lang="en-US" sz="3000" dirty="0"/>
          </a:p>
        </p:txBody>
      </p:sp>
      <p:sp>
        <p:nvSpPr>
          <p:cNvPr id="4" name="Text 2"/>
          <p:cNvSpPr/>
          <p:nvPr/>
        </p:nvSpPr>
        <p:spPr>
          <a:xfrm>
            <a:off x="548640" y="1389888"/>
            <a:ext cx="11064240" cy="457200"/>
          </a:xfrm>
          <a:prstGeom prst="rect">
            <a:avLst/>
          </a:prstGeom>
          <a:noFill/>
          <a:ln/>
        </p:spPr>
        <p:txBody>
          <a:bodyPr wrap="square" rtlCol="0" anchor="ctr"/>
          <a:lstStyle/>
          <a:p>
            <a:pPr indent="0" marL="0">
              <a:lnSpc>
                <a:spcPct val="122000"/>
              </a:lnSpc>
              <a:buNone/>
            </a:pPr>
            <a:r>
              <a:rPr lang="en-US" sz="1300" dirty="0">
                <a:solidFill>
                  <a:srgbClr val="5C7080"/>
                </a:solidFill>
                <a:latin typeface="Calibri" pitchFamily="34" charset="0"/>
                <a:ea typeface="Calibri" pitchFamily="34" charset="-122"/>
                <a:cs typeface="Calibri" pitchFamily="34" charset="-120"/>
              </a:rPr>
              <a:t>Every RL run — self-hosted or managed — is three cooperating components. Knowing which is which is what makes the logs readable, because you can ask each one separately what it was doing.</a:t>
            </a:r>
            <a:endParaRPr lang="en-US" sz="1300" dirty="0"/>
          </a:p>
        </p:txBody>
      </p:sp>
      <p:sp>
        <p:nvSpPr>
          <p:cNvPr id="5" name="Shape 3"/>
          <p:cNvSpPr/>
          <p:nvPr/>
        </p:nvSpPr>
        <p:spPr>
          <a:xfrm>
            <a:off x="548640" y="1965960"/>
            <a:ext cx="3593592" cy="1828800"/>
          </a:xfrm>
          <a:prstGeom prst="roundRect">
            <a:avLst>
              <a:gd name="adj" fmla="val 4000"/>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2043684" y="2185416"/>
            <a:ext cx="603504" cy="603504"/>
          </a:xfrm>
          <a:prstGeom prst="ellipse">
            <a:avLst/>
          </a:prstGeom>
          <a:solidFill>
            <a:srgbClr val="065A82"/>
          </a:solidFill>
          <a:ln/>
        </p:spPr>
      </p:sp>
      <p:pic>
        <p:nvPicPr>
          <p:cNvPr id="7" name="Image 0" descr="/tmp/b/icons/route_white.png">    </p:cNvPr>
          <p:cNvPicPr>
            <a:picLocks noChangeAspect="1"/>
          </p:cNvPicPr>
          <p:nvPr/>
        </p:nvPicPr>
        <p:blipFill>
          <a:blip r:embed="rId1"/>
          <a:stretch>
            <a:fillRect/>
          </a:stretch>
        </p:blipFill>
        <p:spPr>
          <a:xfrm>
            <a:off x="2200595" y="2342327"/>
            <a:ext cx="289682" cy="289682"/>
          </a:xfrm>
          <a:prstGeom prst="rect">
            <a:avLst/>
          </a:prstGeom>
        </p:spPr>
      </p:pic>
      <p:sp>
        <p:nvSpPr>
          <p:cNvPr id="8" name="Text 5"/>
          <p:cNvSpPr/>
          <p:nvPr/>
        </p:nvSpPr>
        <p:spPr>
          <a:xfrm>
            <a:off x="731520" y="2898648"/>
            <a:ext cx="3227832" cy="320040"/>
          </a:xfrm>
          <a:prstGeom prst="rect">
            <a:avLst/>
          </a:prstGeom>
          <a:noFill/>
          <a:ln/>
        </p:spPr>
        <p:txBody>
          <a:bodyPr wrap="square"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Orchestrator</a:t>
            </a:r>
            <a:endParaRPr lang="en-US" sz="1500" dirty="0"/>
          </a:p>
        </p:txBody>
      </p:sp>
      <p:sp>
        <p:nvSpPr>
          <p:cNvPr id="9" name="Text 6"/>
          <p:cNvSpPr/>
          <p:nvPr/>
        </p:nvSpPr>
        <p:spPr>
          <a:xfrm>
            <a:off x="777240" y="3246120"/>
            <a:ext cx="3136392" cy="457200"/>
          </a:xfrm>
          <a:prstGeom prst="rect">
            <a:avLst/>
          </a:prstGeom>
          <a:noFill/>
          <a:ln/>
        </p:spPr>
        <p:txBody>
          <a:bodyPr wrap="square" rtlCol="0" anchor="ctr"/>
          <a:lstStyle/>
          <a:p>
            <a:pPr algn="ctr" indent="0" marL="0">
              <a:lnSpc>
                <a:spcPct val="120000"/>
              </a:lnSpc>
              <a:buNone/>
            </a:pPr>
            <a:r>
              <a:rPr lang="en-US" sz="1050" dirty="0">
                <a:solidFill>
                  <a:srgbClr val="5C7080"/>
                </a:solidFill>
                <a:latin typeface="Calibri" pitchFamily="34" charset="0"/>
                <a:ea typeface="Calibri" pitchFamily="34" charset="-122"/>
                <a:cs typeface="Calibri" pitchFamily="34" charset="-120"/>
              </a:rPr>
              <a:t>Owns the environment. Picks problems, schedules rollouts, packs finished ones into batches with their advantages.</a:t>
            </a:r>
            <a:endParaRPr lang="en-US" sz="1050" dirty="0"/>
          </a:p>
        </p:txBody>
      </p:sp>
      <p:sp>
        <p:nvSpPr>
          <p:cNvPr id="10" name="Shape 7"/>
          <p:cNvSpPr/>
          <p:nvPr/>
        </p:nvSpPr>
        <p:spPr>
          <a:xfrm>
            <a:off x="4279392" y="1965960"/>
            <a:ext cx="3593592" cy="1828800"/>
          </a:xfrm>
          <a:prstGeom prst="roundRect">
            <a:avLst>
              <a:gd name="adj" fmla="val 4000"/>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5774436" y="2185416"/>
            <a:ext cx="603504" cy="603504"/>
          </a:xfrm>
          <a:prstGeom prst="ellipse">
            <a:avLst/>
          </a:prstGeom>
          <a:solidFill>
            <a:srgbClr val="1C7293"/>
          </a:solidFill>
          <a:ln/>
        </p:spPr>
      </p:sp>
      <p:pic>
        <p:nvPicPr>
          <p:cNvPr id="12" name="Image 1" descr="/tmp/b/icons/cloud_white.png">    </p:cNvPr>
          <p:cNvPicPr>
            <a:picLocks noChangeAspect="1"/>
          </p:cNvPicPr>
          <p:nvPr/>
        </p:nvPicPr>
        <p:blipFill>
          <a:blip r:embed="rId2"/>
          <a:stretch>
            <a:fillRect/>
          </a:stretch>
        </p:blipFill>
        <p:spPr>
          <a:xfrm>
            <a:off x="5931347" y="2342327"/>
            <a:ext cx="289682" cy="289682"/>
          </a:xfrm>
          <a:prstGeom prst="rect">
            <a:avLst/>
          </a:prstGeom>
        </p:spPr>
      </p:pic>
      <p:sp>
        <p:nvSpPr>
          <p:cNvPr id="13" name="Text 9"/>
          <p:cNvSpPr/>
          <p:nvPr/>
        </p:nvSpPr>
        <p:spPr>
          <a:xfrm>
            <a:off x="4462272" y="2898648"/>
            <a:ext cx="3227832" cy="320040"/>
          </a:xfrm>
          <a:prstGeom prst="rect">
            <a:avLst/>
          </a:prstGeom>
          <a:noFill/>
          <a:ln/>
        </p:spPr>
        <p:txBody>
          <a:bodyPr wrap="square"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Inference</a:t>
            </a:r>
            <a:endParaRPr lang="en-US" sz="1500" dirty="0"/>
          </a:p>
        </p:txBody>
      </p:sp>
      <p:sp>
        <p:nvSpPr>
          <p:cNvPr id="14" name="Text 10"/>
          <p:cNvSpPr/>
          <p:nvPr/>
        </p:nvSpPr>
        <p:spPr>
          <a:xfrm>
            <a:off x="4507992" y="3246120"/>
            <a:ext cx="3136392" cy="457200"/>
          </a:xfrm>
          <a:prstGeom prst="rect">
            <a:avLst/>
          </a:prstGeom>
          <a:noFill/>
          <a:ln/>
        </p:spPr>
        <p:txBody>
          <a:bodyPr wrap="square" rtlCol="0" anchor="ctr"/>
          <a:lstStyle/>
          <a:p>
            <a:pPr algn="ctr" indent="0" marL="0">
              <a:lnSpc>
                <a:spcPct val="120000"/>
              </a:lnSpc>
              <a:buNone/>
            </a:pPr>
            <a:r>
              <a:rPr lang="en-US" sz="1050" dirty="0">
                <a:solidFill>
                  <a:srgbClr val="5C7080"/>
                </a:solidFill>
                <a:latin typeface="Calibri" pitchFamily="34" charset="0"/>
                <a:ea typeface="Calibri" pitchFamily="34" charset="-122"/>
                <a:cs typeface="Calibri" pitchFamily="34" charset="-120"/>
              </a:rPr>
              <a:t>Serves the model generating the rollouts — and accepts new weights mid-run without restarting.</a:t>
            </a:r>
            <a:endParaRPr lang="en-US" sz="1050" dirty="0"/>
          </a:p>
        </p:txBody>
      </p:sp>
      <p:sp>
        <p:nvSpPr>
          <p:cNvPr id="15" name="Shape 11"/>
          <p:cNvSpPr/>
          <p:nvPr/>
        </p:nvSpPr>
        <p:spPr>
          <a:xfrm>
            <a:off x="8010144" y="1965960"/>
            <a:ext cx="3593592" cy="1828800"/>
          </a:xfrm>
          <a:prstGeom prst="roundRect">
            <a:avLst>
              <a:gd name="adj" fmla="val 4000"/>
            </a:avLst>
          </a:prstGeom>
          <a:solidFill>
            <a:srgbClr val="F2F8FA"/>
          </a:solidFill>
          <a:ln/>
          <a:effectLst>
            <a:outerShdw sx="100000" sy="100000" kx="0" ky="0" algn="bl" rotWithShape="0" blurRad="101600" dist="25400" dir="5400000">
              <a:srgbClr val="1B2733">
                <a:alpha val="8000"/>
              </a:srgbClr>
            </a:outerShdw>
          </a:effectLst>
        </p:spPr>
      </p:sp>
      <p:sp>
        <p:nvSpPr>
          <p:cNvPr id="16" name="Shape 12"/>
          <p:cNvSpPr/>
          <p:nvPr/>
        </p:nvSpPr>
        <p:spPr>
          <a:xfrm>
            <a:off x="9505188" y="2185416"/>
            <a:ext cx="603504" cy="603504"/>
          </a:xfrm>
          <a:prstGeom prst="ellipse">
            <a:avLst/>
          </a:prstGeom>
          <a:solidFill>
            <a:srgbClr val="21295C"/>
          </a:solidFill>
          <a:ln/>
        </p:spPr>
      </p:sp>
      <p:pic>
        <p:nvPicPr>
          <p:cNvPr id="17" name="Image 2" descr="/tmp/b/icons/gears_white.png">    </p:cNvPr>
          <p:cNvPicPr>
            <a:picLocks noChangeAspect="1"/>
          </p:cNvPicPr>
          <p:nvPr/>
        </p:nvPicPr>
        <p:blipFill>
          <a:blip r:embed="rId3"/>
          <a:stretch>
            <a:fillRect/>
          </a:stretch>
        </p:blipFill>
        <p:spPr>
          <a:xfrm>
            <a:off x="9662099" y="2342327"/>
            <a:ext cx="289682" cy="289682"/>
          </a:xfrm>
          <a:prstGeom prst="rect">
            <a:avLst/>
          </a:prstGeom>
        </p:spPr>
      </p:pic>
      <p:sp>
        <p:nvSpPr>
          <p:cNvPr id="18" name="Text 13"/>
          <p:cNvSpPr/>
          <p:nvPr/>
        </p:nvSpPr>
        <p:spPr>
          <a:xfrm>
            <a:off x="8193024" y="2898648"/>
            <a:ext cx="3227832" cy="320040"/>
          </a:xfrm>
          <a:prstGeom prst="rect">
            <a:avLst/>
          </a:prstGeom>
          <a:noFill/>
          <a:ln/>
        </p:spPr>
        <p:txBody>
          <a:bodyPr wrap="square"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Trainer</a:t>
            </a:r>
            <a:endParaRPr lang="en-US" sz="1500" dirty="0"/>
          </a:p>
        </p:txBody>
      </p:sp>
      <p:sp>
        <p:nvSpPr>
          <p:cNvPr id="19" name="Text 14"/>
          <p:cNvSpPr/>
          <p:nvPr/>
        </p:nvSpPr>
        <p:spPr>
          <a:xfrm>
            <a:off x="8238744" y="3246120"/>
            <a:ext cx="3136392" cy="457200"/>
          </a:xfrm>
          <a:prstGeom prst="rect">
            <a:avLst/>
          </a:prstGeom>
          <a:noFill/>
          <a:ln/>
        </p:spPr>
        <p:txBody>
          <a:bodyPr wrap="square" rtlCol="0" anchor="ctr"/>
          <a:lstStyle/>
          <a:p>
            <a:pPr algn="ctr" indent="0" marL="0">
              <a:lnSpc>
                <a:spcPct val="120000"/>
              </a:lnSpc>
              <a:buNone/>
            </a:pPr>
            <a:r>
              <a:rPr lang="en-US" sz="1050" dirty="0">
                <a:solidFill>
                  <a:srgbClr val="5C7080"/>
                </a:solidFill>
                <a:latin typeface="Calibri" pitchFamily="34" charset="0"/>
                <a:ea typeface="Calibri" pitchFamily="34" charset="-122"/>
                <a:cs typeface="Calibri" pitchFamily="34" charset="-120"/>
              </a:rPr>
              <a:t>Consumes batches, applies the LoRA update, hands the new weights back.</a:t>
            </a:r>
            <a:endParaRPr lang="en-US" sz="1050" dirty="0"/>
          </a:p>
        </p:txBody>
      </p:sp>
      <p:sp>
        <p:nvSpPr>
          <p:cNvPr id="20" name="Shape 15"/>
          <p:cNvSpPr/>
          <p:nvPr/>
        </p:nvSpPr>
        <p:spPr>
          <a:xfrm>
            <a:off x="548640" y="3977640"/>
            <a:ext cx="11064240" cy="960120"/>
          </a:xfrm>
          <a:prstGeom prst="roundRect">
            <a:avLst>
              <a:gd name="adj" fmla="val 7619"/>
            </a:avLst>
          </a:prstGeom>
          <a:solidFill>
            <a:srgbClr val="0B2942"/>
          </a:solidFill>
          <a:ln/>
        </p:spPr>
      </p:sp>
      <p:sp>
        <p:nvSpPr>
          <p:cNvPr id="21" name="Text 16"/>
          <p:cNvSpPr/>
          <p:nvPr/>
        </p:nvSpPr>
        <p:spPr>
          <a:xfrm>
            <a:off x="822960" y="4114800"/>
            <a:ext cx="10515600" cy="640080"/>
          </a:xfrm>
          <a:prstGeom prst="rect">
            <a:avLst/>
          </a:prstGeom>
          <a:noFill/>
          <a:ln/>
        </p:spPr>
        <p:txBody>
          <a:bodyPr wrap="square" rtlCol="0" anchor="ctr"/>
          <a:lstStyle/>
          <a:p>
            <a:pPr indent="0" marL="0">
              <a:lnSpc>
                <a:spcPct val="120000"/>
              </a:lnSpc>
              <a:buNone/>
            </a:pPr>
            <a:r>
              <a:rPr lang="en-US" sz="1200" dirty="0">
                <a:solidFill>
                  <a:srgbClr val="CFE8F0"/>
                </a:solidFill>
                <a:latin typeface="Calibri" pitchFamily="34" charset="0"/>
                <a:ea typeface="Calibri" pitchFamily="34" charset="-122"/>
                <a:cs typeface="Calibri" pitchFamily="34" charset="-120"/>
              </a:rPr>
              <a:t>It runs asynchronously — rollouts for step N are generated while step N−1 is still training. That overlap is the reason it's fast, and the reason the logs interleave.</a:t>
            </a:r>
            <a:endParaRPr lang="en-US" sz="1200" dirty="0"/>
          </a:p>
        </p:txBody>
      </p:sp>
      <p:sp>
        <p:nvSpPr>
          <p:cNvPr id="22" name="Shape 17"/>
          <p:cNvSpPr/>
          <p:nvPr/>
        </p:nvSpPr>
        <p:spPr>
          <a:xfrm>
            <a:off x="548640" y="5120640"/>
            <a:ext cx="4206240" cy="310896"/>
          </a:xfrm>
          <a:prstGeom prst="roundRect">
            <a:avLst>
              <a:gd name="adj" fmla="val 50000"/>
            </a:avLst>
          </a:prstGeom>
          <a:solidFill>
            <a:srgbClr val="E9F1E6"/>
          </a:solidFill>
          <a:ln w="9525">
            <a:solidFill>
              <a:srgbClr val="8FB88F"/>
            </a:solidFill>
            <a:prstDash val="solid"/>
          </a:ln>
        </p:spPr>
      </p:sp>
      <p:sp>
        <p:nvSpPr>
          <p:cNvPr id="23" name="Text 18"/>
          <p:cNvSpPr/>
          <p:nvPr/>
        </p:nvSpPr>
        <p:spPr>
          <a:xfrm>
            <a:off x="676656" y="5120640"/>
            <a:ext cx="395020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3, Learning From Outcomes</a:t>
            </a:r>
            <a:endParaRPr lang="en-US" sz="1000" dirty="0"/>
          </a:p>
        </p:txBody>
      </p:sp>
      <p:sp>
        <p:nvSpPr>
          <p:cNvPr id="24" name="Text 19"/>
          <p:cNvSpPr/>
          <p:nvPr/>
        </p:nvSpPr>
        <p:spPr>
          <a:xfrm>
            <a:off x="4937760" y="5074920"/>
            <a:ext cx="6675120" cy="868680"/>
          </a:xfrm>
          <a:prstGeom prst="rect">
            <a:avLst/>
          </a:prstGeom>
          <a:noFill/>
          <a:ln/>
        </p:spPr>
        <p:txBody>
          <a:bodyPr wrap="square" rtlCol="0" anchor="ctr"/>
          <a:lstStyle/>
          <a:p>
            <a:pPr indent="0" marL="0">
              <a:lnSpc>
                <a:spcPct val="120000"/>
              </a:lnSpc>
              <a:buNone/>
            </a:pPr>
            <a:r>
              <a:rPr lang="en-US" sz="1100" b="1" dirty="0">
                <a:solidFill>
                  <a:srgbClr val="1B2733"/>
                </a:solidFill>
                <a:latin typeface="Calibri" pitchFamily="34" charset="0"/>
                <a:ea typeface="Calibri" pitchFamily="34" charset="-122"/>
                <a:cs typeface="Calibri" pitchFamily="34" charset="-120"/>
              </a:rPr>
              <a:t>The sample → score → compare → update cycle, as infrastructure. </a:t>
            </a:r>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Under Hosted Training each run gets its own orchestrator, while trainer and inference are shared across many users' adapters at once — which is exactly what per-token pricing buys you instead of a whole GPU.</a:t>
            </a:r>
            <a:endParaRPr lang="en-US" sz="1100" dirty="0"/>
          </a:p>
        </p:txBody>
      </p:sp>
      <p:sp>
        <p:nvSpPr>
          <p:cNvPr id="25" name="Text 20"/>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26" name="Text 21"/>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CONTROLS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The Dials You Actually Turn</a:t>
            </a:r>
            <a:endParaRPr lang="en-US" sz="3000" dirty="0"/>
          </a:p>
        </p:txBody>
      </p:sp>
      <p:sp>
        <p:nvSpPr>
          <p:cNvPr id="4" name="Text 2"/>
          <p:cNvSpPr/>
          <p:nvPr/>
        </p:nvSpPr>
        <p:spPr>
          <a:xfrm>
            <a:off x="548640" y="1389888"/>
            <a:ext cx="11064240" cy="384048"/>
          </a:xfrm>
          <a:prstGeom prst="rect">
            <a:avLst/>
          </a:prstGeom>
          <a:noFill/>
          <a:ln/>
        </p:spPr>
        <p:txBody>
          <a:bodyPr wrap="square" rtlCol="0" anchor="ctr"/>
          <a:lstStyle/>
          <a:p>
            <a:pPr indent="0" marL="0">
              <a:buNone/>
            </a:pPr>
            <a:r>
              <a:rPr lang="en-US" sz="1300" dirty="0">
                <a:solidFill>
                  <a:srgbClr val="5C7080"/>
                </a:solidFill>
                <a:latin typeface="Calibri" pitchFamily="34" charset="0"/>
                <a:ea typeface="Calibri" pitchFamily="34" charset="-122"/>
                <a:cs typeface="Calibri" pitchFamily="34" charset="-120"/>
              </a:rPr>
              <a:t>A training run is one TOML file. Four keys are required; the rest are defaults you override once you know why.</a:t>
            </a:r>
            <a:endParaRPr lang="en-US" sz="1300" dirty="0"/>
          </a:p>
        </p:txBody>
      </p:sp>
      <p:sp>
        <p:nvSpPr>
          <p:cNvPr id="5" name="Shape 3"/>
          <p:cNvSpPr/>
          <p:nvPr/>
        </p:nvSpPr>
        <p:spPr>
          <a:xfrm>
            <a:off x="548640" y="1874520"/>
            <a:ext cx="5394960" cy="2880360"/>
          </a:xfrm>
          <a:prstGeom prst="roundRect">
            <a:avLst>
              <a:gd name="adj" fmla="val 2540"/>
            </a:avLst>
          </a:prstGeom>
          <a:solidFill>
            <a:srgbClr val="0B2942"/>
          </a:solidFill>
          <a:ln/>
        </p:spPr>
      </p:sp>
      <p:sp>
        <p:nvSpPr>
          <p:cNvPr id="6" name="Text 4"/>
          <p:cNvSpPr/>
          <p:nvPr/>
        </p:nvSpPr>
        <p:spPr>
          <a:xfrm>
            <a:off x="777240" y="2029968"/>
            <a:ext cx="4937760" cy="201168"/>
          </a:xfrm>
          <a:prstGeom prst="rect">
            <a:avLst/>
          </a:prstGeom>
          <a:noFill/>
          <a:ln/>
        </p:spPr>
        <p:txBody>
          <a:bodyPr wrap="square" lIns="0" tIns="0" rIns="0" bIns="0" rtlCol="0" anchor="ctr"/>
          <a:lstStyle/>
          <a:p>
            <a:pPr indent="0" marL="0">
              <a:buNone/>
            </a:pPr>
            <a:r>
              <a:rPr lang="en-US" sz="1050" dirty="0">
                <a:solidFill>
                  <a:srgbClr val="8FD4E8"/>
                </a:solidFill>
                <a:latin typeface="Courier New" pitchFamily="34" charset="0"/>
                <a:ea typeface="Courier New" pitchFamily="34" charset="-122"/>
                <a:cs typeface="Courier New" pitchFamily="34" charset="-120"/>
              </a:rPr>
              <a:t>model = "Qwen/Qwen3.5-4B"</a:t>
            </a:r>
            <a:endParaRPr lang="en-US" sz="1050" dirty="0"/>
          </a:p>
        </p:txBody>
      </p:sp>
      <p:sp>
        <p:nvSpPr>
          <p:cNvPr id="7" name="Text 5"/>
          <p:cNvSpPr/>
          <p:nvPr/>
        </p:nvSpPr>
        <p:spPr>
          <a:xfrm>
            <a:off x="777240" y="2208276"/>
            <a:ext cx="4937760" cy="201168"/>
          </a:xfrm>
          <a:prstGeom prst="rect">
            <a:avLst/>
          </a:prstGeom>
          <a:noFill/>
          <a:ln/>
        </p:spPr>
        <p:txBody>
          <a:bodyPr wrap="square" lIns="0" tIns="0" rIns="0" bIns="0" rtlCol="0" anchor="ctr"/>
          <a:lstStyle/>
          <a:p>
            <a:pPr indent="0" marL="0">
              <a:buNone/>
            </a:pPr>
            <a:r>
              <a:rPr lang="en-US" sz="1050" dirty="0">
                <a:solidFill>
                  <a:srgbClr val="8FD4E8"/>
                </a:solidFill>
                <a:latin typeface="Courier New" pitchFamily="34" charset="0"/>
                <a:ea typeface="Courier New" pitchFamily="34" charset="-122"/>
                <a:cs typeface="Courier New" pitchFamily="34" charset="-120"/>
              </a:rPr>
              <a:t>max_steps = 100</a:t>
            </a:r>
            <a:endParaRPr lang="en-US" sz="1050" dirty="0"/>
          </a:p>
        </p:txBody>
      </p:sp>
      <p:sp>
        <p:nvSpPr>
          <p:cNvPr id="8" name="Text 6"/>
          <p:cNvSpPr/>
          <p:nvPr/>
        </p:nvSpPr>
        <p:spPr>
          <a:xfrm>
            <a:off x="777240" y="2386584"/>
            <a:ext cx="4937760" cy="201168"/>
          </a:xfrm>
          <a:prstGeom prst="rect">
            <a:avLst/>
          </a:prstGeom>
          <a:noFill/>
          <a:ln/>
        </p:spPr>
        <p:txBody>
          <a:bodyPr wrap="square" lIns="0" tIns="0" rIns="0" bIns="0" rtlCol="0" anchor="ctr"/>
          <a:lstStyle/>
          <a:p>
            <a:pPr indent="0" marL="0">
              <a:buNone/>
            </a:pPr>
            <a:r>
              <a:rPr lang="en-US" sz="1050" dirty="0">
                <a:solidFill>
                  <a:srgbClr val="8FD4E8"/>
                </a:solidFill>
                <a:latin typeface="Courier New" pitchFamily="34" charset="0"/>
                <a:ea typeface="Courier New" pitchFamily="34" charset="-122"/>
                <a:cs typeface="Courier New" pitchFamily="34" charset="-120"/>
              </a:rPr>
              <a:t>batch_size = 128</a:t>
            </a:r>
            <a:endParaRPr lang="en-US" sz="1050" dirty="0"/>
          </a:p>
        </p:txBody>
      </p:sp>
      <p:sp>
        <p:nvSpPr>
          <p:cNvPr id="9" name="Text 7"/>
          <p:cNvSpPr/>
          <p:nvPr/>
        </p:nvSpPr>
        <p:spPr>
          <a:xfrm>
            <a:off x="777240" y="2564892"/>
            <a:ext cx="4937760" cy="201168"/>
          </a:xfrm>
          <a:prstGeom prst="rect">
            <a:avLst/>
          </a:prstGeom>
          <a:noFill/>
          <a:ln/>
        </p:spPr>
        <p:txBody>
          <a:bodyPr wrap="square" lIns="0" tIns="0" rIns="0" bIns="0" rtlCol="0" anchor="ctr"/>
          <a:lstStyle/>
          <a:p>
            <a:pPr indent="0" marL="0">
              <a:buNone/>
            </a:pPr>
            <a:r>
              <a:rPr lang="en-US" sz="1050" dirty="0">
                <a:solidFill>
                  <a:srgbClr val="8FD4E8"/>
                </a:solidFill>
                <a:latin typeface="Courier New" pitchFamily="34" charset="0"/>
                <a:ea typeface="Courier New" pitchFamily="34" charset="-122"/>
                <a:cs typeface="Courier New" pitchFamily="34" charset="-120"/>
              </a:rPr>
              <a:t>rollouts_per_example = 8</a:t>
            </a:r>
            <a:endParaRPr lang="en-US" sz="1050" dirty="0"/>
          </a:p>
        </p:txBody>
      </p:sp>
      <p:sp>
        <p:nvSpPr>
          <p:cNvPr id="10" name="Text 8"/>
          <p:cNvSpPr/>
          <p:nvPr/>
        </p:nvSpPr>
        <p:spPr>
          <a:xfrm>
            <a:off x="777240" y="2921508"/>
            <a:ext cx="4937760" cy="201168"/>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[sampling]</a:t>
            </a:r>
            <a:endParaRPr lang="en-US" sz="1050" dirty="0"/>
          </a:p>
        </p:txBody>
      </p:sp>
      <p:sp>
        <p:nvSpPr>
          <p:cNvPr id="11" name="Text 9"/>
          <p:cNvSpPr/>
          <p:nvPr/>
        </p:nvSpPr>
        <p:spPr>
          <a:xfrm>
            <a:off x="777240" y="3099816"/>
            <a:ext cx="4937760" cy="201168"/>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max_tokens = 1024</a:t>
            </a:r>
            <a:endParaRPr lang="en-US" sz="1050" dirty="0"/>
          </a:p>
        </p:txBody>
      </p:sp>
      <p:sp>
        <p:nvSpPr>
          <p:cNvPr id="12" name="Text 10"/>
          <p:cNvSpPr/>
          <p:nvPr/>
        </p:nvSpPr>
        <p:spPr>
          <a:xfrm>
            <a:off x="777240" y="3456432"/>
            <a:ext cx="4937760" cy="201168"/>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[[env]]</a:t>
            </a:r>
            <a:endParaRPr lang="en-US" sz="1050" dirty="0"/>
          </a:p>
        </p:txBody>
      </p:sp>
      <p:sp>
        <p:nvSpPr>
          <p:cNvPr id="13" name="Text 11"/>
          <p:cNvSpPr/>
          <p:nvPr/>
        </p:nvSpPr>
        <p:spPr>
          <a:xfrm>
            <a:off x="777240" y="3634740"/>
            <a:ext cx="4937760" cy="201168"/>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id = "primeintellect/alphabet-sort"</a:t>
            </a:r>
            <a:endParaRPr lang="en-US" sz="1050" dirty="0"/>
          </a:p>
        </p:txBody>
      </p:sp>
      <p:sp>
        <p:nvSpPr>
          <p:cNvPr id="14" name="Text 12"/>
          <p:cNvSpPr/>
          <p:nvPr/>
        </p:nvSpPr>
        <p:spPr>
          <a:xfrm>
            <a:off x="777240" y="3813048"/>
            <a:ext cx="4937760" cy="201168"/>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args = { max_turns = 5 }</a:t>
            </a:r>
            <a:endParaRPr lang="en-US" sz="1050" dirty="0"/>
          </a:p>
        </p:txBody>
      </p:sp>
      <p:sp>
        <p:nvSpPr>
          <p:cNvPr id="15" name="Text 13"/>
          <p:cNvSpPr/>
          <p:nvPr/>
        </p:nvSpPr>
        <p:spPr>
          <a:xfrm>
            <a:off x="777240" y="4169664"/>
            <a:ext cx="4937760" cy="201168"/>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[eval]</a:t>
            </a:r>
            <a:endParaRPr lang="en-US" sz="1050" dirty="0"/>
          </a:p>
        </p:txBody>
      </p:sp>
      <p:sp>
        <p:nvSpPr>
          <p:cNvPr id="16" name="Text 14"/>
          <p:cNvSpPr/>
          <p:nvPr/>
        </p:nvSpPr>
        <p:spPr>
          <a:xfrm>
            <a:off x="777240" y="4347972"/>
            <a:ext cx="4937760" cy="201168"/>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interval = 25</a:t>
            </a:r>
            <a:endParaRPr lang="en-US" sz="1050" dirty="0"/>
          </a:p>
        </p:txBody>
      </p:sp>
      <p:sp>
        <p:nvSpPr>
          <p:cNvPr id="17" name="Shape 15"/>
          <p:cNvSpPr/>
          <p:nvPr/>
        </p:nvSpPr>
        <p:spPr>
          <a:xfrm>
            <a:off x="6172200" y="1874520"/>
            <a:ext cx="5440680" cy="676656"/>
          </a:xfrm>
          <a:prstGeom prst="roundRect">
            <a:avLst>
              <a:gd name="adj" fmla="val 10811"/>
            </a:avLst>
          </a:prstGeom>
          <a:solidFill>
            <a:srgbClr val="F2F8FA"/>
          </a:solidFill>
          <a:ln/>
          <a:effectLst>
            <a:outerShdw sx="100000" sy="100000" kx="0" ky="0" algn="bl" rotWithShape="0" blurRad="101600" dist="25400" dir="5400000">
              <a:srgbClr val="1B2733">
                <a:alpha val="8000"/>
              </a:srgbClr>
            </a:outerShdw>
          </a:effectLst>
        </p:spPr>
      </p:sp>
      <p:sp>
        <p:nvSpPr>
          <p:cNvPr id="18" name="Text 16"/>
          <p:cNvSpPr/>
          <p:nvPr/>
        </p:nvSpPr>
        <p:spPr>
          <a:xfrm>
            <a:off x="6382512" y="1929384"/>
            <a:ext cx="5029200" cy="219456"/>
          </a:xfrm>
          <a:prstGeom prst="rect">
            <a:avLst/>
          </a:prstGeom>
          <a:noFill/>
          <a:ln/>
        </p:spPr>
        <p:txBody>
          <a:bodyPr wrap="square"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rollouts_per_example</a:t>
            </a:r>
            <a:endParaRPr lang="en-US" sz="1050" dirty="0"/>
          </a:p>
        </p:txBody>
      </p:sp>
      <p:sp>
        <p:nvSpPr>
          <p:cNvPr id="19" name="Text 17"/>
          <p:cNvSpPr/>
          <p:nvPr/>
        </p:nvSpPr>
        <p:spPr>
          <a:xfrm>
            <a:off x="6382512" y="2139696"/>
            <a:ext cx="5029200" cy="38404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How many attempts per problem get scored together. This is the group in group-relative optimisation — raise it to 16–32 when the reward is noisy.</a:t>
            </a:r>
            <a:endParaRPr lang="en-US" sz="1000" dirty="0"/>
          </a:p>
        </p:txBody>
      </p:sp>
      <p:sp>
        <p:nvSpPr>
          <p:cNvPr id="20" name="Shape 18"/>
          <p:cNvSpPr/>
          <p:nvPr/>
        </p:nvSpPr>
        <p:spPr>
          <a:xfrm>
            <a:off x="6172200" y="2624328"/>
            <a:ext cx="5440680" cy="676656"/>
          </a:xfrm>
          <a:prstGeom prst="roundRect">
            <a:avLst>
              <a:gd name="adj" fmla="val 10811"/>
            </a:avLst>
          </a:prstGeom>
          <a:solidFill>
            <a:srgbClr val="F2F8FA"/>
          </a:solidFill>
          <a:ln/>
          <a:effectLst>
            <a:outerShdw sx="100000" sy="100000" kx="0" ky="0" algn="bl" rotWithShape="0" blurRad="101600" dist="25400" dir="5400000">
              <a:srgbClr val="1B2733">
                <a:alpha val="8000"/>
              </a:srgbClr>
            </a:outerShdw>
          </a:effectLst>
        </p:spPr>
      </p:sp>
      <p:sp>
        <p:nvSpPr>
          <p:cNvPr id="21" name="Text 19"/>
          <p:cNvSpPr/>
          <p:nvPr/>
        </p:nvSpPr>
        <p:spPr>
          <a:xfrm>
            <a:off x="6382512" y="2679192"/>
            <a:ext cx="5029200" cy="219456"/>
          </a:xfrm>
          <a:prstGeom prst="rect">
            <a:avLst/>
          </a:prstGeom>
          <a:noFill/>
          <a:ln/>
        </p:spPr>
        <p:txBody>
          <a:bodyPr wrap="square"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batch_size</a:t>
            </a:r>
            <a:endParaRPr lang="en-US" sz="1050" dirty="0"/>
          </a:p>
        </p:txBody>
      </p:sp>
      <p:sp>
        <p:nvSpPr>
          <p:cNvPr id="22" name="Text 20"/>
          <p:cNvSpPr/>
          <p:nvPr/>
        </p:nvSpPr>
        <p:spPr>
          <a:xfrm>
            <a:off x="6382512" y="2889504"/>
            <a:ext cx="5029200" cy="38404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Problems per step. Bigger batches steady the signal and cost proportionally more.</a:t>
            </a:r>
            <a:endParaRPr lang="en-US" sz="1000" dirty="0"/>
          </a:p>
        </p:txBody>
      </p:sp>
      <p:sp>
        <p:nvSpPr>
          <p:cNvPr id="23" name="Shape 21"/>
          <p:cNvSpPr/>
          <p:nvPr/>
        </p:nvSpPr>
        <p:spPr>
          <a:xfrm>
            <a:off x="6172200" y="3374136"/>
            <a:ext cx="5440680" cy="676656"/>
          </a:xfrm>
          <a:prstGeom prst="roundRect">
            <a:avLst>
              <a:gd name="adj" fmla="val 10811"/>
            </a:avLst>
          </a:prstGeom>
          <a:solidFill>
            <a:srgbClr val="F2F8FA"/>
          </a:solidFill>
          <a:ln/>
          <a:effectLst>
            <a:outerShdw sx="100000" sy="100000" kx="0" ky="0" algn="bl" rotWithShape="0" blurRad="101600" dist="25400" dir="5400000">
              <a:srgbClr val="1B2733">
                <a:alpha val="8000"/>
              </a:srgbClr>
            </a:outerShdw>
          </a:effectLst>
        </p:spPr>
      </p:sp>
      <p:sp>
        <p:nvSpPr>
          <p:cNvPr id="24" name="Text 22"/>
          <p:cNvSpPr/>
          <p:nvPr/>
        </p:nvSpPr>
        <p:spPr>
          <a:xfrm>
            <a:off x="6382512" y="3429000"/>
            <a:ext cx="5029200" cy="219456"/>
          </a:xfrm>
          <a:prstGeom prst="rect">
            <a:avLst/>
          </a:prstGeom>
          <a:noFill/>
          <a:ln/>
        </p:spPr>
        <p:txBody>
          <a:bodyPr wrap="square"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[[env]] is repeatable</a:t>
            </a:r>
            <a:endParaRPr lang="en-US" sz="1050" dirty="0"/>
          </a:p>
        </p:txBody>
      </p:sp>
      <p:sp>
        <p:nvSpPr>
          <p:cNvPr id="25" name="Text 23"/>
          <p:cNvSpPr/>
          <p:nvPr/>
        </p:nvSpPr>
        <p:spPr>
          <a:xfrm>
            <a:off x="6382512" y="3639312"/>
            <a:ext cx="5029200" cy="38404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List several environments with ratio weights to train one model across multiple tasks at once.</a:t>
            </a:r>
            <a:endParaRPr lang="en-US" sz="1000" dirty="0"/>
          </a:p>
        </p:txBody>
      </p:sp>
      <p:sp>
        <p:nvSpPr>
          <p:cNvPr id="26" name="Shape 24"/>
          <p:cNvSpPr/>
          <p:nvPr/>
        </p:nvSpPr>
        <p:spPr>
          <a:xfrm>
            <a:off x="6172200" y="4123944"/>
            <a:ext cx="5440680" cy="676656"/>
          </a:xfrm>
          <a:prstGeom prst="roundRect">
            <a:avLst>
              <a:gd name="adj" fmla="val 10811"/>
            </a:avLst>
          </a:prstGeom>
          <a:solidFill>
            <a:srgbClr val="F2F8FA"/>
          </a:solidFill>
          <a:ln/>
          <a:effectLst>
            <a:outerShdw sx="100000" sy="100000" kx="0" ky="0" algn="bl" rotWithShape="0" blurRad="101600" dist="25400" dir="5400000">
              <a:srgbClr val="1B2733">
                <a:alpha val="8000"/>
              </a:srgbClr>
            </a:outerShdw>
          </a:effectLst>
        </p:spPr>
      </p:sp>
      <p:sp>
        <p:nvSpPr>
          <p:cNvPr id="27" name="Text 25"/>
          <p:cNvSpPr/>
          <p:nvPr/>
        </p:nvSpPr>
        <p:spPr>
          <a:xfrm>
            <a:off x="6382512" y="4178808"/>
            <a:ext cx="5029200" cy="219456"/>
          </a:xfrm>
          <a:prstGeom prst="rect">
            <a:avLst/>
          </a:prstGeom>
          <a:noFill/>
          <a:ln/>
        </p:spPr>
        <p:txBody>
          <a:bodyPr wrap="square"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[[pre_batch_filters]]</a:t>
            </a:r>
            <a:endParaRPr lang="en-US" sz="1050" dirty="0"/>
          </a:p>
        </p:txBody>
      </p:sp>
      <p:sp>
        <p:nvSpPr>
          <p:cNvPr id="28" name="Text 26"/>
          <p:cNvSpPr/>
          <p:nvPr/>
        </p:nvSpPr>
        <p:spPr>
          <a:xfrm>
            <a:off x="6382512" y="4389120"/>
            <a:ext cx="5029200" cy="384048"/>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Drop rollouts before they reach the trainer — gibberish, repetition, or zero-advantage groups that carry no learning signal.</a:t>
            </a:r>
            <a:endParaRPr lang="en-US" sz="1000" dirty="0"/>
          </a:p>
        </p:txBody>
      </p:sp>
      <p:sp>
        <p:nvSpPr>
          <p:cNvPr id="29" name="Shape 27"/>
          <p:cNvSpPr/>
          <p:nvPr/>
        </p:nvSpPr>
        <p:spPr>
          <a:xfrm>
            <a:off x="6172200" y="4956048"/>
            <a:ext cx="4297680" cy="310896"/>
          </a:xfrm>
          <a:prstGeom prst="roundRect">
            <a:avLst>
              <a:gd name="adj" fmla="val 50000"/>
            </a:avLst>
          </a:prstGeom>
          <a:solidFill>
            <a:srgbClr val="E9F1E6"/>
          </a:solidFill>
          <a:ln w="9525">
            <a:solidFill>
              <a:srgbClr val="8FB88F"/>
            </a:solidFill>
            <a:prstDash val="solid"/>
          </a:ln>
        </p:spPr>
      </p:sp>
      <p:sp>
        <p:nvSpPr>
          <p:cNvPr id="30" name="Text 28"/>
          <p:cNvSpPr/>
          <p:nvPr/>
        </p:nvSpPr>
        <p:spPr>
          <a:xfrm>
            <a:off x="6300216" y="4956048"/>
            <a:ext cx="404164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3, Learning From Outcomes</a:t>
            </a:r>
            <a:endParaRPr lang="en-US" sz="1000" dirty="0"/>
          </a:p>
        </p:txBody>
      </p:sp>
      <p:sp>
        <p:nvSpPr>
          <p:cNvPr id="31" name="Shape 29"/>
          <p:cNvSpPr/>
          <p:nvPr/>
        </p:nvSpPr>
        <p:spPr>
          <a:xfrm>
            <a:off x="548640" y="4956048"/>
            <a:ext cx="5394960" cy="1143000"/>
          </a:xfrm>
          <a:prstGeom prst="roundRect">
            <a:avLst>
              <a:gd name="adj" fmla="val 6400"/>
            </a:avLst>
          </a:prstGeom>
          <a:solidFill>
            <a:srgbClr val="FFF6E5"/>
          </a:solidFill>
          <a:ln w="12700">
            <a:solidFill>
              <a:srgbClr val="E0C27A"/>
            </a:solidFill>
            <a:prstDash val="solid"/>
          </a:ln>
        </p:spPr>
      </p:sp>
      <p:sp>
        <p:nvSpPr>
          <p:cNvPr id="32" name="Text 30"/>
          <p:cNvSpPr/>
          <p:nvPr/>
        </p:nvSpPr>
        <p:spPr>
          <a:xfrm>
            <a:off x="777240" y="5074920"/>
            <a:ext cx="4937760" cy="274320"/>
          </a:xfrm>
          <a:prstGeom prst="rect">
            <a:avLst/>
          </a:prstGeom>
          <a:noFill/>
          <a:ln/>
        </p:spPr>
        <p:txBody>
          <a:bodyPr wrap="square" rtlCol="0" anchor="ctr"/>
          <a:lstStyle/>
          <a:p>
            <a:pPr indent="0" marL="0">
              <a:buNone/>
            </a:pPr>
            <a:r>
              <a:rPr lang="en-US" sz="1200" b="1" dirty="0">
                <a:solidFill>
                  <a:srgbClr val="7A5A10"/>
                </a:solidFill>
                <a:latin typeface="Calibri" pitchFamily="34" charset="0"/>
                <a:ea typeface="Calibri" pitchFamily="34" charset="-122"/>
                <a:cs typeface="Calibri" pitchFamily="34" charset="-120"/>
              </a:rPr>
              <a:t>Check the baseline before you spend</a:t>
            </a:r>
            <a:endParaRPr lang="en-US" sz="1200" dirty="0"/>
          </a:p>
        </p:txBody>
      </p:sp>
      <p:sp>
        <p:nvSpPr>
          <p:cNvPr id="33" name="Text 31"/>
          <p:cNvSpPr/>
          <p:nvPr/>
        </p:nvSpPr>
        <p:spPr>
          <a:xfrm>
            <a:off x="777240" y="5349240"/>
            <a:ext cx="4937760" cy="658368"/>
          </a:xfrm>
          <a:prstGeom prst="rect">
            <a:avLst/>
          </a:prstGeom>
          <a:noFill/>
          <a:ln/>
        </p:spPr>
        <p:txBody>
          <a:bodyPr wrap="square" rtlCol="0" anchor="ctr"/>
          <a:lstStyle/>
          <a:p>
            <a:pPr indent="0" marL="0">
              <a:lnSpc>
                <a:spcPct val="120000"/>
              </a:lnSpc>
              <a:buNone/>
            </a:pPr>
            <a:r>
              <a:rPr lang="en-US" sz="1050" dirty="0">
                <a:solidFill>
                  <a:srgbClr val="8A6A20"/>
                </a:solidFill>
                <a:latin typeface="Calibri" pitchFamily="34" charset="0"/>
                <a:ea typeface="Calibri" pitchFamily="34" charset="-122"/>
                <a:cs typeface="Calibri" pitchFamily="34" charset="-120"/>
              </a:rPr>
              <a:t>Evaluate the environment first and confirm it scores roughly 10–35%. A short run with max_steps overridden to 10 is the cheap way to find out.</a:t>
            </a:r>
            <a:endParaRPr lang="en-US" sz="1050" dirty="0"/>
          </a:p>
        </p:txBody>
      </p:sp>
      <p:sp>
        <p:nvSpPr>
          <p:cNvPr id="34" name="Text 32"/>
          <p:cNvSpPr/>
          <p:nvPr/>
        </p:nvSpPr>
        <p:spPr>
          <a:xfrm>
            <a:off x="6172200" y="5394960"/>
            <a:ext cx="5440680" cy="457200"/>
          </a:xfrm>
          <a:prstGeom prst="rect">
            <a:avLst/>
          </a:prstGeom>
          <a:noFill/>
          <a:ln/>
        </p:spPr>
        <p:txBody>
          <a:bodyPr wrap="square" rtlCol="0" anchor="ctr"/>
          <a:lstStyle/>
          <a:p>
            <a:pPr indent="0" marL="0">
              <a:lnSpc>
                <a:spcPct val="120000"/>
              </a:lnSpc>
              <a:buNone/>
            </a:pPr>
            <a:r>
              <a:rPr lang="en-US" sz="1050" i="1" dirty="0">
                <a:solidFill>
                  <a:srgbClr val="5C7080"/>
                </a:solidFill>
                <a:latin typeface="Calibri" pitchFamily="34" charset="0"/>
                <a:ea typeface="Calibri" pitchFamily="34" charset="-122"/>
                <a:cs typeface="Calibri" pitchFamily="34" charset="-120"/>
              </a:rPr>
              <a:t>Secrets never go in the TOML — they're linked to the environment or passed at runtime.</a:t>
            </a:r>
            <a:endParaRPr lang="en-US" sz="1050" dirty="0"/>
          </a:p>
        </p:txBody>
      </p:sp>
      <p:sp>
        <p:nvSpPr>
          <p:cNvPr id="35" name="Text 33"/>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36" name="Text 3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INTERACTION</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One Binary Drives All of It</a:t>
            </a:r>
            <a:endParaRPr lang="en-US" sz="3000" dirty="0"/>
          </a:p>
        </p:txBody>
      </p:sp>
      <p:sp>
        <p:nvSpPr>
          <p:cNvPr id="4" name="Text 2"/>
          <p:cNvSpPr/>
          <p:nvPr/>
        </p:nvSpPr>
        <p:spPr>
          <a:xfrm>
            <a:off x="548640" y="1389888"/>
            <a:ext cx="11064240" cy="411480"/>
          </a:xfrm>
          <a:prstGeom prst="rect">
            <a:avLst/>
          </a:prstGeom>
          <a:noFill/>
          <a:ln/>
        </p:spPr>
        <p:txBody>
          <a:bodyPr wrap="square" rtlCol="0" anchor="ctr"/>
          <a:lstStyle/>
          <a:p>
            <a:pPr indent="0" marL="0">
              <a:buNone/>
            </a:pPr>
            <a:r>
              <a:rPr lang="en-US" sz="1300" dirty="0">
                <a:solidFill>
                  <a:srgbClr val="5C7080"/>
                </a:solidFill>
                <a:latin typeface="Calibri" pitchFamily="34" charset="0"/>
                <a:ea typeface="Calibri" pitchFamily="34" charset="-122"/>
                <a:cs typeface="Calibri" pitchFamily="34" charset="-120"/>
              </a:rPr>
              <a:t>The whole platform is reachable from a single command. Grouped by what you're doing rather than alphabetically, the surface is small enough to hold in your head.</a:t>
            </a:r>
            <a:endParaRPr lang="en-US" sz="1300" dirty="0"/>
          </a:p>
        </p:txBody>
      </p:sp>
      <p:sp>
        <p:nvSpPr>
          <p:cNvPr id="5" name="Shape 3"/>
          <p:cNvSpPr/>
          <p:nvPr/>
        </p:nvSpPr>
        <p:spPr>
          <a:xfrm>
            <a:off x="548640" y="1828800"/>
            <a:ext cx="5486400" cy="1920240"/>
          </a:xfrm>
          <a:prstGeom prst="roundRect">
            <a:avLst>
              <a:gd name="adj" fmla="val 3810"/>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777240" y="2029968"/>
            <a:ext cx="457200" cy="457200"/>
          </a:xfrm>
          <a:prstGeom prst="ellipse">
            <a:avLst/>
          </a:prstGeom>
          <a:solidFill>
            <a:srgbClr val="065A82"/>
          </a:solidFill>
          <a:ln/>
        </p:spPr>
      </p:sp>
      <p:pic>
        <p:nvPicPr>
          <p:cNvPr id="7" name="Image 0" descr="/tmp/b/icons/box_white.png">    </p:cNvPr>
          <p:cNvPicPr>
            <a:picLocks noChangeAspect="1"/>
          </p:cNvPicPr>
          <p:nvPr/>
        </p:nvPicPr>
        <p:blipFill>
          <a:blip r:embed="rId1"/>
          <a:stretch>
            <a:fillRect/>
          </a:stretch>
        </p:blipFill>
        <p:spPr>
          <a:xfrm>
            <a:off x="896112" y="2148840"/>
            <a:ext cx="219456" cy="219456"/>
          </a:xfrm>
          <a:prstGeom prst="rect">
            <a:avLst/>
          </a:prstGeom>
        </p:spPr>
      </p:pic>
      <p:sp>
        <p:nvSpPr>
          <p:cNvPr id="8" name="Text 5"/>
          <p:cNvSpPr/>
          <p:nvPr/>
        </p:nvSpPr>
        <p:spPr>
          <a:xfrm>
            <a:off x="1353312" y="2029968"/>
            <a:ext cx="4480560" cy="457200"/>
          </a:xfrm>
          <a:prstGeom prst="rect">
            <a:avLst/>
          </a:prstGeom>
          <a:noFill/>
          <a:ln/>
        </p:spPr>
        <p:txBody>
          <a:bodyPr wrap="square"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Environments</a:t>
            </a:r>
            <a:endParaRPr lang="en-US" sz="1350" dirty="0"/>
          </a:p>
        </p:txBody>
      </p:sp>
      <p:sp>
        <p:nvSpPr>
          <p:cNvPr id="9" name="Text 6"/>
          <p:cNvSpPr/>
          <p:nvPr/>
        </p:nvSpPr>
        <p:spPr>
          <a:xfrm>
            <a:off x="804672" y="2560320"/>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env init my-env</a:t>
            </a:r>
            <a:endParaRPr lang="en-US" sz="950" dirty="0"/>
          </a:p>
        </p:txBody>
      </p:sp>
      <p:sp>
        <p:nvSpPr>
          <p:cNvPr id="10" name="Text 7"/>
          <p:cNvSpPr/>
          <p:nvPr/>
        </p:nvSpPr>
        <p:spPr>
          <a:xfrm>
            <a:off x="804672" y="2834640"/>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env install owner/name</a:t>
            </a:r>
            <a:endParaRPr lang="en-US" sz="950" dirty="0"/>
          </a:p>
        </p:txBody>
      </p:sp>
      <p:sp>
        <p:nvSpPr>
          <p:cNvPr id="11" name="Text 8"/>
          <p:cNvSpPr/>
          <p:nvPr/>
        </p:nvSpPr>
        <p:spPr>
          <a:xfrm>
            <a:off x="804672" y="3108960"/>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env inspect owner/name FILE</a:t>
            </a:r>
            <a:endParaRPr lang="en-US" sz="950" dirty="0"/>
          </a:p>
        </p:txBody>
      </p:sp>
      <p:sp>
        <p:nvSpPr>
          <p:cNvPr id="12" name="Text 9"/>
          <p:cNvSpPr/>
          <p:nvPr/>
        </p:nvSpPr>
        <p:spPr>
          <a:xfrm>
            <a:off x="804672" y="3383280"/>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env push --visibility=PRIVATE</a:t>
            </a:r>
            <a:endParaRPr lang="en-US" sz="950" dirty="0"/>
          </a:p>
        </p:txBody>
      </p:sp>
      <p:sp>
        <p:nvSpPr>
          <p:cNvPr id="13" name="Shape 10"/>
          <p:cNvSpPr/>
          <p:nvPr/>
        </p:nvSpPr>
        <p:spPr>
          <a:xfrm>
            <a:off x="6172200" y="1828800"/>
            <a:ext cx="5486400" cy="1920240"/>
          </a:xfrm>
          <a:prstGeom prst="roundRect">
            <a:avLst>
              <a:gd name="adj" fmla="val 3810"/>
            </a:avLst>
          </a:prstGeom>
          <a:solidFill>
            <a:srgbClr val="F2F8FA"/>
          </a:solidFill>
          <a:ln/>
          <a:effectLst>
            <a:outerShdw sx="100000" sy="100000" kx="0" ky="0" algn="bl" rotWithShape="0" blurRad="101600" dist="25400" dir="5400000">
              <a:srgbClr val="1B2733">
                <a:alpha val="8000"/>
              </a:srgbClr>
            </a:outerShdw>
          </a:effectLst>
        </p:spPr>
      </p:sp>
      <p:sp>
        <p:nvSpPr>
          <p:cNvPr id="14" name="Shape 11"/>
          <p:cNvSpPr/>
          <p:nvPr/>
        </p:nvSpPr>
        <p:spPr>
          <a:xfrm>
            <a:off x="6400800" y="2029968"/>
            <a:ext cx="457200" cy="457200"/>
          </a:xfrm>
          <a:prstGeom prst="ellipse">
            <a:avLst/>
          </a:prstGeom>
          <a:solidFill>
            <a:srgbClr val="1C7293"/>
          </a:solidFill>
          <a:ln/>
        </p:spPr>
      </p:sp>
      <p:pic>
        <p:nvPicPr>
          <p:cNvPr id="15" name="Image 1" descr="/tmp/b/icons/chart_line_white.png">    </p:cNvPr>
          <p:cNvPicPr>
            <a:picLocks noChangeAspect="1"/>
          </p:cNvPicPr>
          <p:nvPr/>
        </p:nvPicPr>
        <p:blipFill>
          <a:blip r:embed="rId2"/>
          <a:stretch>
            <a:fillRect/>
          </a:stretch>
        </p:blipFill>
        <p:spPr>
          <a:xfrm>
            <a:off x="6519672" y="2148840"/>
            <a:ext cx="219456" cy="219456"/>
          </a:xfrm>
          <a:prstGeom prst="rect">
            <a:avLst/>
          </a:prstGeom>
        </p:spPr>
      </p:pic>
      <p:sp>
        <p:nvSpPr>
          <p:cNvPr id="16" name="Text 12"/>
          <p:cNvSpPr/>
          <p:nvPr/>
        </p:nvSpPr>
        <p:spPr>
          <a:xfrm>
            <a:off x="6976872" y="2029968"/>
            <a:ext cx="4480560" cy="457200"/>
          </a:xfrm>
          <a:prstGeom prst="rect">
            <a:avLst/>
          </a:prstGeom>
          <a:noFill/>
          <a:ln/>
        </p:spPr>
        <p:txBody>
          <a:bodyPr wrap="square"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Evaluation</a:t>
            </a:r>
            <a:endParaRPr lang="en-US" sz="1350" dirty="0"/>
          </a:p>
        </p:txBody>
      </p:sp>
      <p:sp>
        <p:nvSpPr>
          <p:cNvPr id="17" name="Text 13"/>
          <p:cNvSpPr/>
          <p:nvPr/>
        </p:nvSpPr>
        <p:spPr>
          <a:xfrm>
            <a:off x="6428232" y="2560320"/>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eval run my-env -m MODEL -n 20</a:t>
            </a:r>
            <a:endParaRPr lang="en-US" sz="950" dirty="0"/>
          </a:p>
        </p:txBody>
      </p:sp>
      <p:sp>
        <p:nvSpPr>
          <p:cNvPr id="18" name="Text 14"/>
          <p:cNvSpPr/>
          <p:nvPr/>
        </p:nvSpPr>
        <p:spPr>
          <a:xfrm>
            <a:off x="6428232" y="2834640"/>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eval run my-env --hosted --follow</a:t>
            </a:r>
            <a:endParaRPr lang="en-US" sz="950" dirty="0"/>
          </a:p>
        </p:txBody>
      </p:sp>
      <p:sp>
        <p:nvSpPr>
          <p:cNvPr id="19" name="Text 15"/>
          <p:cNvSpPr/>
          <p:nvPr/>
        </p:nvSpPr>
        <p:spPr>
          <a:xfrm>
            <a:off x="6428232" y="3108960"/>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eval tui</a:t>
            </a:r>
            <a:endParaRPr lang="en-US" sz="950" dirty="0"/>
          </a:p>
        </p:txBody>
      </p:sp>
      <p:sp>
        <p:nvSpPr>
          <p:cNvPr id="20" name="Shape 16"/>
          <p:cNvSpPr/>
          <p:nvPr/>
        </p:nvSpPr>
        <p:spPr>
          <a:xfrm>
            <a:off x="548640" y="3895344"/>
            <a:ext cx="5486400" cy="1920240"/>
          </a:xfrm>
          <a:prstGeom prst="roundRect">
            <a:avLst>
              <a:gd name="adj" fmla="val 3810"/>
            </a:avLst>
          </a:prstGeom>
          <a:solidFill>
            <a:srgbClr val="F2F8FA"/>
          </a:solidFill>
          <a:ln/>
          <a:effectLst>
            <a:outerShdw sx="100000" sy="100000" kx="0" ky="0" algn="bl" rotWithShape="0" blurRad="101600" dist="25400" dir="5400000">
              <a:srgbClr val="1B2733">
                <a:alpha val="8000"/>
              </a:srgbClr>
            </a:outerShdw>
          </a:effectLst>
        </p:spPr>
      </p:sp>
      <p:sp>
        <p:nvSpPr>
          <p:cNvPr id="21" name="Shape 17"/>
          <p:cNvSpPr/>
          <p:nvPr/>
        </p:nvSpPr>
        <p:spPr>
          <a:xfrm>
            <a:off x="777240" y="4096512"/>
            <a:ext cx="457200" cy="457200"/>
          </a:xfrm>
          <a:prstGeom prst="ellipse">
            <a:avLst/>
          </a:prstGeom>
          <a:solidFill>
            <a:srgbClr val="21295C"/>
          </a:solidFill>
          <a:ln/>
        </p:spPr>
      </p:sp>
      <p:pic>
        <p:nvPicPr>
          <p:cNvPr id="22" name="Image 2" descr="/tmp/b/icons/rocket_white.png">    </p:cNvPr>
          <p:cNvPicPr>
            <a:picLocks noChangeAspect="1"/>
          </p:cNvPicPr>
          <p:nvPr/>
        </p:nvPicPr>
        <p:blipFill>
          <a:blip r:embed="rId3"/>
          <a:stretch>
            <a:fillRect/>
          </a:stretch>
        </p:blipFill>
        <p:spPr>
          <a:xfrm>
            <a:off x="896112" y="4215384"/>
            <a:ext cx="219456" cy="219456"/>
          </a:xfrm>
          <a:prstGeom prst="rect">
            <a:avLst/>
          </a:prstGeom>
        </p:spPr>
      </p:pic>
      <p:sp>
        <p:nvSpPr>
          <p:cNvPr id="23" name="Text 18"/>
          <p:cNvSpPr/>
          <p:nvPr/>
        </p:nvSpPr>
        <p:spPr>
          <a:xfrm>
            <a:off x="1353312" y="4096512"/>
            <a:ext cx="4480560" cy="457200"/>
          </a:xfrm>
          <a:prstGeom prst="rect">
            <a:avLst/>
          </a:prstGeom>
          <a:noFill/>
          <a:ln/>
        </p:spPr>
        <p:txBody>
          <a:bodyPr wrap="square"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Training</a:t>
            </a:r>
            <a:endParaRPr lang="en-US" sz="1350" dirty="0"/>
          </a:p>
        </p:txBody>
      </p:sp>
      <p:sp>
        <p:nvSpPr>
          <p:cNvPr id="24" name="Text 19"/>
          <p:cNvSpPr/>
          <p:nvPr/>
        </p:nvSpPr>
        <p:spPr>
          <a:xfrm>
            <a:off x="804672" y="4626864"/>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train models</a:t>
            </a:r>
            <a:endParaRPr lang="en-US" sz="950" dirty="0"/>
          </a:p>
        </p:txBody>
      </p:sp>
      <p:sp>
        <p:nvSpPr>
          <p:cNvPr id="25" name="Text 20"/>
          <p:cNvSpPr/>
          <p:nvPr/>
        </p:nvSpPr>
        <p:spPr>
          <a:xfrm>
            <a:off x="804672" y="4901184"/>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train run configs/rl/x.toml</a:t>
            </a:r>
            <a:endParaRPr lang="en-US" sz="950" dirty="0"/>
          </a:p>
        </p:txBody>
      </p:sp>
      <p:sp>
        <p:nvSpPr>
          <p:cNvPr id="26" name="Text 21"/>
          <p:cNvSpPr/>
          <p:nvPr/>
        </p:nvSpPr>
        <p:spPr>
          <a:xfrm>
            <a:off x="804672" y="5175504"/>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train logs &lt;run-id&gt; -f</a:t>
            </a:r>
            <a:endParaRPr lang="en-US" sz="950" dirty="0"/>
          </a:p>
        </p:txBody>
      </p:sp>
      <p:sp>
        <p:nvSpPr>
          <p:cNvPr id="27" name="Text 22"/>
          <p:cNvSpPr/>
          <p:nvPr/>
        </p:nvSpPr>
        <p:spPr>
          <a:xfrm>
            <a:off x="804672" y="5449824"/>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deployments create &lt;adapter_id&gt;</a:t>
            </a:r>
            <a:endParaRPr lang="en-US" sz="950" dirty="0"/>
          </a:p>
        </p:txBody>
      </p:sp>
      <p:sp>
        <p:nvSpPr>
          <p:cNvPr id="28" name="Shape 23"/>
          <p:cNvSpPr/>
          <p:nvPr/>
        </p:nvSpPr>
        <p:spPr>
          <a:xfrm>
            <a:off x="6172200" y="3895344"/>
            <a:ext cx="5486400" cy="1920240"/>
          </a:xfrm>
          <a:prstGeom prst="roundRect">
            <a:avLst>
              <a:gd name="adj" fmla="val 3810"/>
            </a:avLst>
          </a:prstGeom>
          <a:solidFill>
            <a:srgbClr val="F2F8FA"/>
          </a:solidFill>
          <a:ln/>
          <a:effectLst>
            <a:outerShdw sx="100000" sy="100000" kx="0" ky="0" algn="bl" rotWithShape="0" blurRad="101600" dist="25400" dir="5400000">
              <a:srgbClr val="1B2733">
                <a:alpha val="8000"/>
              </a:srgbClr>
            </a:outerShdw>
          </a:effectLst>
        </p:spPr>
      </p:sp>
      <p:sp>
        <p:nvSpPr>
          <p:cNvPr id="29" name="Shape 24"/>
          <p:cNvSpPr/>
          <p:nvPr/>
        </p:nvSpPr>
        <p:spPr>
          <a:xfrm>
            <a:off x="6400800" y="4096512"/>
            <a:ext cx="457200" cy="457200"/>
          </a:xfrm>
          <a:prstGeom prst="ellipse">
            <a:avLst/>
          </a:prstGeom>
          <a:solidFill>
            <a:srgbClr val="065A82"/>
          </a:solidFill>
          <a:ln/>
        </p:spPr>
      </p:sp>
      <p:pic>
        <p:nvPicPr>
          <p:cNvPr id="30" name="Image 3" descr="/tmp/b/icons/cubes_white.png">    </p:cNvPr>
          <p:cNvPicPr>
            <a:picLocks noChangeAspect="1"/>
          </p:cNvPicPr>
          <p:nvPr/>
        </p:nvPicPr>
        <p:blipFill>
          <a:blip r:embed="rId4"/>
          <a:stretch>
            <a:fillRect/>
          </a:stretch>
        </p:blipFill>
        <p:spPr>
          <a:xfrm>
            <a:off x="6519672" y="4215384"/>
            <a:ext cx="219456" cy="219456"/>
          </a:xfrm>
          <a:prstGeom prst="rect">
            <a:avLst/>
          </a:prstGeom>
        </p:spPr>
      </p:pic>
      <p:sp>
        <p:nvSpPr>
          <p:cNvPr id="31" name="Text 25"/>
          <p:cNvSpPr/>
          <p:nvPr/>
        </p:nvSpPr>
        <p:spPr>
          <a:xfrm>
            <a:off x="6976872" y="4096512"/>
            <a:ext cx="4480560" cy="457200"/>
          </a:xfrm>
          <a:prstGeom prst="rect">
            <a:avLst/>
          </a:prstGeom>
          <a:noFill/>
          <a:ln/>
        </p:spPr>
        <p:txBody>
          <a:bodyPr wrap="square"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Sandboxes &amp; compute</a:t>
            </a:r>
            <a:endParaRPr lang="en-US" sz="1350" dirty="0"/>
          </a:p>
        </p:txBody>
      </p:sp>
      <p:sp>
        <p:nvSpPr>
          <p:cNvPr id="32" name="Text 26"/>
          <p:cNvSpPr/>
          <p:nvPr/>
        </p:nvSpPr>
        <p:spPr>
          <a:xfrm>
            <a:off x="6428232" y="4626864"/>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sandbox create python:3.11-slim</a:t>
            </a:r>
            <a:endParaRPr lang="en-US" sz="950" dirty="0"/>
          </a:p>
        </p:txBody>
      </p:sp>
      <p:sp>
        <p:nvSpPr>
          <p:cNvPr id="33" name="Text 27"/>
          <p:cNvSpPr/>
          <p:nvPr/>
        </p:nvSpPr>
        <p:spPr>
          <a:xfrm>
            <a:off x="6428232" y="4901184"/>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sandbox run &lt;id&gt; "python x.py"</a:t>
            </a:r>
            <a:endParaRPr lang="en-US" sz="950" dirty="0"/>
          </a:p>
        </p:txBody>
      </p:sp>
      <p:sp>
        <p:nvSpPr>
          <p:cNvPr id="34" name="Text 28"/>
          <p:cNvSpPr/>
          <p:nvPr/>
        </p:nvSpPr>
        <p:spPr>
          <a:xfrm>
            <a:off x="6428232" y="5175504"/>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availability list --gpu-type H100_80GB</a:t>
            </a:r>
            <a:endParaRPr lang="en-US" sz="950" dirty="0"/>
          </a:p>
        </p:txBody>
      </p:sp>
      <p:sp>
        <p:nvSpPr>
          <p:cNvPr id="35" name="Text 29"/>
          <p:cNvSpPr/>
          <p:nvPr/>
        </p:nvSpPr>
        <p:spPr>
          <a:xfrm>
            <a:off x="6428232" y="5449824"/>
            <a:ext cx="4974336" cy="237744"/>
          </a:xfrm>
          <a:prstGeom prst="rect">
            <a:avLst/>
          </a:prstGeom>
          <a:noFill/>
          <a:ln/>
        </p:spPr>
        <p:txBody>
          <a:bodyPr wrap="square" lIns="0" tIns="0" rIns="0" bIns="0" rtlCol="0" anchor="ctr"/>
          <a:lstStyle/>
          <a:p>
            <a:pPr indent="0" marL="0">
              <a:buNone/>
            </a:pPr>
            <a:r>
              <a:rPr lang="en-US" sz="950" dirty="0">
                <a:solidFill>
                  <a:srgbClr val="065A82"/>
                </a:solidFill>
                <a:latin typeface="Courier New" pitchFamily="34" charset="0"/>
                <a:ea typeface="Courier New" pitchFamily="34" charset="-122"/>
                <a:cs typeface="Courier New" pitchFamily="34" charset="-120"/>
              </a:rPr>
              <a:t>$ prime pods create --id &lt;short-id&gt;</a:t>
            </a:r>
            <a:endParaRPr lang="en-US" sz="950" dirty="0"/>
          </a:p>
        </p:txBody>
      </p:sp>
      <p:sp>
        <p:nvSpPr>
          <p:cNvPr id="36" name="Text 30"/>
          <p:cNvSpPr/>
          <p:nvPr/>
        </p:nvSpPr>
        <p:spPr>
          <a:xfrm>
            <a:off x="548640" y="5943600"/>
            <a:ext cx="11064240" cy="292608"/>
          </a:xfrm>
          <a:prstGeom prst="rect">
            <a:avLst/>
          </a:prstGeom>
          <a:noFill/>
          <a:ln/>
        </p:spPr>
        <p:txBody>
          <a:bodyPr wrap="square" rtlCol="0" anchor="ctr"/>
          <a:lstStyle/>
          <a:p>
            <a:pPr indent="0" marL="0">
              <a:lnSpc>
                <a:spcPct val="115000"/>
              </a:lnSpc>
              <a:buNone/>
            </a:pPr>
            <a:r>
              <a:rPr lang="en-US" sz="1100" b="1" dirty="0">
                <a:solidFill>
                  <a:srgbClr val="065A82"/>
                </a:solidFill>
                <a:latin typeface="Courier New" pitchFamily="34" charset="0"/>
                <a:ea typeface="Courier New" pitchFamily="34" charset="-122"/>
                <a:cs typeface="Courier New" pitchFamily="34" charset="-120"/>
              </a:rPr>
              <a:t>prime env inspect </a:t>
            </a:r>
            <a:pPr indent="0" marL="0">
              <a:lnSpc>
                <a:spcPct val="115000"/>
              </a:lnSpc>
              <a:buNone/>
            </a:pPr>
            <a:r>
              <a:rPr lang="en-US" sz="1100" dirty="0">
                <a:solidFill>
                  <a:srgbClr val="5C7080"/>
                </a:solidFill>
                <a:latin typeface="Calibri" pitchFamily="34" charset="0"/>
                <a:ea typeface="Calibri" pitchFamily="34" charset="-122"/>
                <a:cs typeface="Calibri" pitchFamily="34" charset="-120"/>
              </a:rPr>
              <a:t>prints any file from a published environment without installing it — so you can read someone's rubric before trusting their score.</a:t>
            </a:r>
            <a:endParaRPr lang="en-US" sz="1100" dirty="0"/>
          </a:p>
        </p:txBody>
      </p:sp>
      <p:sp>
        <p:nvSpPr>
          <p:cNvPr id="37" name="Text 31"/>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38" name="Text 3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IN PRACTICE</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What People Actually Use This For</a:t>
            </a:r>
            <a:endParaRPr lang="en-US" sz="3000" dirty="0"/>
          </a:p>
        </p:txBody>
      </p:sp>
      <p:sp>
        <p:nvSpPr>
          <p:cNvPr id="4" name="Shape 2"/>
          <p:cNvSpPr/>
          <p:nvPr/>
        </p:nvSpPr>
        <p:spPr>
          <a:xfrm>
            <a:off x="548640" y="1481328"/>
            <a:ext cx="3593592" cy="1481328"/>
          </a:xfrm>
          <a:prstGeom prst="roundRect">
            <a:avLst>
              <a:gd name="adj" fmla="val 4938"/>
            </a:avLst>
          </a:prstGeom>
          <a:solidFill>
            <a:srgbClr val="F2F8FA"/>
          </a:solidFill>
          <a:ln/>
          <a:effectLst>
            <a:outerShdw sx="100000" sy="100000" kx="0" ky="0" algn="bl" rotWithShape="0" blurRad="101600" dist="25400" dir="5400000">
              <a:srgbClr val="1B2733">
                <a:alpha val="8000"/>
              </a:srgbClr>
            </a:outerShdw>
          </a:effectLst>
        </p:spPr>
      </p:sp>
      <p:sp>
        <p:nvSpPr>
          <p:cNvPr id="5" name="Shape 3"/>
          <p:cNvSpPr/>
          <p:nvPr/>
        </p:nvSpPr>
        <p:spPr>
          <a:xfrm>
            <a:off x="786384" y="1719072"/>
            <a:ext cx="530352" cy="530352"/>
          </a:xfrm>
          <a:prstGeom prst="ellipse">
            <a:avLst/>
          </a:prstGeom>
          <a:solidFill>
            <a:srgbClr val="065A82"/>
          </a:solidFill>
          <a:ln/>
        </p:spPr>
      </p:sp>
      <p:pic>
        <p:nvPicPr>
          <p:cNvPr id="6" name="Image 0" descr="/tmp/b/icons/hammer_white.png">    </p:cNvPr>
          <p:cNvPicPr>
            <a:picLocks noChangeAspect="1"/>
          </p:cNvPicPr>
          <p:nvPr/>
        </p:nvPicPr>
        <p:blipFill>
          <a:blip r:embed="rId1"/>
          <a:stretch>
            <a:fillRect/>
          </a:stretch>
        </p:blipFill>
        <p:spPr>
          <a:xfrm>
            <a:off x="924276" y="1856964"/>
            <a:ext cx="254569" cy="254569"/>
          </a:xfrm>
          <a:prstGeom prst="rect">
            <a:avLst/>
          </a:prstGeom>
        </p:spPr>
      </p:pic>
      <p:sp>
        <p:nvSpPr>
          <p:cNvPr id="7" name="Text 4"/>
          <p:cNvSpPr/>
          <p:nvPr/>
        </p:nvSpPr>
        <p:spPr>
          <a:xfrm>
            <a:off x="1444752" y="1737360"/>
            <a:ext cx="2496312" cy="493776"/>
          </a:xfrm>
          <a:prstGeom prst="rect">
            <a:avLst/>
          </a:prstGeom>
          <a:noFill/>
          <a:ln/>
        </p:spPr>
        <p:txBody>
          <a:bodyPr wrap="square"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Specialising a small model</a:t>
            </a:r>
            <a:endParaRPr lang="en-US" sz="1300" dirty="0"/>
          </a:p>
        </p:txBody>
      </p:sp>
      <p:sp>
        <p:nvSpPr>
          <p:cNvPr id="8" name="Text 5"/>
          <p:cNvSpPr/>
          <p:nvPr/>
        </p:nvSpPr>
        <p:spPr>
          <a:xfrm>
            <a:off x="786384" y="2340864"/>
            <a:ext cx="3118104" cy="493776"/>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Take a 4B model that's mediocre at your specific task and train it until it's competitive with something far larger — then serve it at a fraction of the cost.</a:t>
            </a:r>
            <a:endParaRPr lang="en-US" sz="1050" dirty="0"/>
          </a:p>
        </p:txBody>
      </p:sp>
      <p:sp>
        <p:nvSpPr>
          <p:cNvPr id="9" name="Shape 6"/>
          <p:cNvSpPr/>
          <p:nvPr/>
        </p:nvSpPr>
        <p:spPr>
          <a:xfrm>
            <a:off x="4279392" y="1481328"/>
            <a:ext cx="3593592" cy="1481328"/>
          </a:xfrm>
          <a:prstGeom prst="roundRect">
            <a:avLst>
              <a:gd name="adj" fmla="val 4938"/>
            </a:avLst>
          </a:prstGeom>
          <a:solidFill>
            <a:srgbClr val="F2F8FA"/>
          </a:solidFill>
          <a:ln/>
          <a:effectLst>
            <a:outerShdw sx="100000" sy="100000" kx="0" ky="0" algn="bl" rotWithShape="0" blurRad="101600" dist="25400" dir="5400000">
              <a:srgbClr val="1B2733">
                <a:alpha val="8000"/>
              </a:srgbClr>
            </a:outerShdw>
          </a:effectLst>
        </p:spPr>
      </p:sp>
      <p:sp>
        <p:nvSpPr>
          <p:cNvPr id="10" name="Shape 7"/>
          <p:cNvSpPr/>
          <p:nvPr/>
        </p:nvSpPr>
        <p:spPr>
          <a:xfrm>
            <a:off x="4517136" y="1719072"/>
            <a:ext cx="530352" cy="530352"/>
          </a:xfrm>
          <a:prstGeom prst="ellipse">
            <a:avLst/>
          </a:prstGeom>
          <a:solidFill>
            <a:srgbClr val="1C7293"/>
          </a:solidFill>
          <a:ln/>
        </p:spPr>
      </p:sp>
      <p:pic>
        <p:nvPicPr>
          <p:cNvPr id="11" name="Image 1" descr="/tmp/b/icons/magnifying_glass_white.png">    </p:cNvPr>
          <p:cNvPicPr>
            <a:picLocks noChangeAspect="1"/>
          </p:cNvPicPr>
          <p:nvPr/>
        </p:nvPicPr>
        <p:blipFill>
          <a:blip r:embed="rId2"/>
          <a:stretch>
            <a:fillRect/>
          </a:stretch>
        </p:blipFill>
        <p:spPr>
          <a:xfrm>
            <a:off x="4655028" y="1856964"/>
            <a:ext cx="254569" cy="254569"/>
          </a:xfrm>
          <a:prstGeom prst="rect">
            <a:avLst/>
          </a:prstGeom>
        </p:spPr>
      </p:pic>
      <p:sp>
        <p:nvSpPr>
          <p:cNvPr id="12" name="Text 8"/>
          <p:cNvSpPr/>
          <p:nvPr/>
        </p:nvSpPr>
        <p:spPr>
          <a:xfrm>
            <a:off x="5175504" y="1737360"/>
            <a:ext cx="2496312" cy="493776"/>
          </a:xfrm>
          <a:prstGeom prst="rect">
            <a:avLst/>
          </a:prstGeom>
          <a:noFill/>
          <a:ln/>
        </p:spPr>
        <p:txBody>
          <a:bodyPr wrap="square"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Domain search agents</a:t>
            </a:r>
            <a:endParaRPr lang="en-US" sz="1300" dirty="0"/>
          </a:p>
        </p:txBody>
      </p:sp>
      <p:sp>
        <p:nvSpPr>
          <p:cNvPr id="13" name="Text 9"/>
          <p:cNvSpPr/>
          <p:nvPr/>
        </p:nvSpPr>
        <p:spPr>
          <a:xfrm>
            <a:off x="4517136" y="2340864"/>
            <a:ext cx="3118104" cy="493776"/>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A published case study builds a three-level curriculum over patent documents — metadata lookup, then multi-step computation, then open-ended analysis with a judge.</a:t>
            </a:r>
            <a:endParaRPr lang="en-US" sz="1050" dirty="0"/>
          </a:p>
        </p:txBody>
      </p:sp>
      <p:sp>
        <p:nvSpPr>
          <p:cNvPr id="14" name="Shape 10"/>
          <p:cNvSpPr/>
          <p:nvPr/>
        </p:nvSpPr>
        <p:spPr>
          <a:xfrm>
            <a:off x="8010144" y="1481328"/>
            <a:ext cx="3593592" cy="1481328"/>
          </a:xfrm>
          <a:prstGeom prst="roundRect">
            <a:avLst>
              <a:gd name="adj" fmla="val 4938"/>
            </a:avLst>
          </a:prstGeom>
          <a:solidFill>
            <a:srgbClr val="F2F8FA"/>
          </a:solidFill>
          <a:ln/>
          <a:effectLst>
            <a:outerShdw sx="100000" sy="100000" kx="0" ky="0" algn="bl" rotWithShape="0" blurRad="101600" dist="25400" dir="5400000">
              <a:srgbClr val="1B2733">
                <a:alpha val="8000"/>
              </a:srgbClr>
            </a:outerShdw>
          </a:effectLst>
        </p:spPr>
      </p:sp>
      <p:sp>
        <p:nvSpPr>
          <p:cNvPr id="15" name="Shape 11"/>
          <p:cNvSpPr/>
          <p:nvPr/>
        </p:nvSpPr>
        <p:spPr>
          <a:xfrm>
            <a:off x="8247888" y="1719072"/>
            <a:ext cx="530352" cy="530352"/>
          </a:xfrm>
          <a:prstGeom prst="ellipse">
            <a:avLst/>
          </a:prstGeom>
          <a:solidFill>
            <a:srgbClr val="21295C"/>
          </a:solidFill>
          <a:ln/>
        </p:spPr>
      </p:sp>
      <p:pic>
        <p:nvPicPr>
          <p:cNvPr id="16" name="Image 2" descr="/tmp/b/icons/file_code_white.png">    </p:cNvPr>
          <p:cNvPicPr>
            <a:picLocks noChangeAspect="1"/>
          </p:cNvPicPr>
          <p:nvPr/>
        </p:nvPicPr>
        <p:blipFill>
          <a:blip r:embed="rId3"/>
          <a:stretch>
            <a:fillRect/>
          </a:stretch>
        </p:blipFill>
        <p:spPr>
          <a:xfrm>
            <a:off x="8385780" y="1856964"/>
            <a:ext cx="254569" cy="254569"/>
          </a:xfrm>
          <a:prstGeom prst="rect">
            <a:avLst/>
          </a:prstGeom>
        </p:spPr>
      </p:pic>
      <p:sp>
        <p:nvSpPr>
          <p:cNvPr id="17" name="Text 12"/>
          <p:cNvSpPr/>
          <p:nvPr/>
        </p:nvSpPr>
        <p:spPr>
          <a:xfrm>
            <a:off x="8906256" y="1737360"/>
            <a:ext cx="2496312" cy="493776"/>
          </a:xfrm>
          <a:prstGeom prst="rect">
            <a:avLst/>
          </a:prstGeom>
          <a:noFill/>
          <a:ln/>
        </p:spPr>
        <p:txBody>
          <a:bodyPr wrap="square"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Coding and tool use</a:t>
            </a:r>
            <a:endParaRPr lang="en-US" sz="1300" dirty="0"/>
          </a:p>
        </p:txBody>
      </p:sp>
      <p:sp>
        <p:nvSpPr>
          <p:cNvPr id="18" name="Text 13"/>
          <p:cNvSpPr/>
          <p:nvPr/>
        </p:nvSpPr>
        <p:spPr>
          <a:xfrm>
            <a:off x="8247888" y="2340864"/>
            <a:ext cx="3118104" cy="493776"/>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Execution-scored environments where the reward is simply whether the tests passed — a signal that needs no human labelling at all.</a:t>
            </a:r>
            <a:endParaRPr lang="en-US" sz="1050" dirty="0"/>
          </a:p>
        </p:txBody>
      </p:sp>
      <p:sp>
        <p:nvSpPr>
          <p:cNvPr id="19" name="Shape 14"/>
          <p:cNvSpPr/>
          <p:nvPr/>
        </p:nvSpPr>
        <p:spPr>
          <a:xfrm>
            <a:off x="548640" y="3145536"/>
            <a:ext cx="3593592" cy="1481328"/>
          </a:xfrm>
          <a:prstGeom prst="roundRect">
            <a:avLst>
              <a:gd name="adj" fmla="val 4938"/>
            </a:avLst>
          </a:prstGeom>
          <a:solidFill>
            <a:srgbClr val="F2F8FA"/>
          </a:solidFill>
          <a:ln/>
          <a:effectLst>
            <a:outerShdw sx="100000" sy="100000" kx="0" ky="0" algn="bl" rotWithShape="0" blurRad="101600" dist="25400" dir="5400000">
              <a:srgbClr val="1B2733">
                <a:alpha val="8000"/>
              </a:srgbClr>
            </a:outerShdw>
          </a:effectLst>
        </p:spPr>
      </p:sp>
      <p:sp>
        <p:nvSpPr>
          <p:cNvPr id="20" name="Shape 15"/>
          <p:cNvSpPr/>
          <p:nvPr/>
        </p:nvSpPr>
        <p:spPr>
          <a:xfrm>
            <a:off x="786384" y="3383280"/>
            <a:ext cx="530352" cy="530352"/>
          </a:xfrm>
          <a:prstGeom prst="ellipse">
            <a:avLst/>
          </a:prstGeom>
          <a:solidFill>
            <a:srgbClr val="065A82"/>
          </a:solidFill>
          <a:ln/>
        </p:spPr>
      </p:sp>
      <p:pic>
        <p:nvPicPr>
          <p:cNvPr id="21" name="Image 3" descr="/tmp/b/icons/comments_white.png">    </p:cNvPr>
          <p:cNvPicPr>
            <a:picLocks noChangeAspect="1"/>
          </p:cNvPicPr>
          <p:nvPr/>
        </p:nvPicPr>
        <p:blipFill>
          <a:blip r:embed="rId4"/>
          <a:stretch>
            <a:fillRect/>
          </a:stretch>
        </p:blipFill>
        <p:spPr>
          <a:xfrm>
            <a:off x="924276" y="3521172"/>
            <a:ext cx="254569" cy="254569"/>
          </a:xfrm>
          <a:prstGeom prst="rect">
            <a:avLst/>
          </a:prstGeom>
        </p:spPr>
      </p:pic>
      <p:sp>
        <p:nvSpPr>
          <p:cNvPr id="22" name="Text 16"/>
          <p:cNvSpPr/>
          <p:nvPr/>
        </p:nvSpPr>
        <p:spPr>
          <a:xfrm>
            <a:off x="1444752" y="3401568"/>
            <a:ext cx="2496312" cy="493776"/>
          </a:xfrm>
          <a:prstGeom prst="rect">
            <a:avLst/>
          </a:prstGeom>
          <a:noFill/>
          <a:ln/>
        </p:spPr>
        <p:txBody>
          <a:bodyPr wrap="square"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Browser and computer use</a:t>
            </a:r>
            <a:endParaRPr lang="en-US" sz="1300" dirty="0"/>
          </a:p>
        </p:txBody>
      </p:sp>
      <p:sp>
        <p:nvSpPr>
          <p:cNvPr id="23" name="Text 17"/>
          <p:cNvSpPr/>
          <p:nvPr/>
        </p:nvSpPr>
        <p:spPr>
          <a:xfrm>
            <a:off x="786384" y="4005072"/>
            <a:ext cx="3118104" cy="493776"/>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Agents driving real web pages, scored on task completion, in either a DOM-reading or a screenshot-reading mode.</a:t>
            </a:r>
            <a:endParaRPr lang="en-US" sz="1050" dirty="0"/>
          </a:p>
        </p:txBody>
      </p:sp>
      <p:sp>
        <p:nvSpPr>
          <p:cNvPr id="24" name="Shape 18"/>
          <p:cNvSpPr/>
          <p:nvPr/>
        </p:nvSpPr>
        <p:spPr>
          <a:xfrm>
            <a:off x="4279392" y="3145536"/>
            <a:ext cx="3593592" cy="1481328"/>
          </a:xfrm>
          <a:prstGeom prst="roundRect">
            <a:avLst>
              <a:gd name="adj" fmla="val 4938"/>
            </a:avLst>
          </a:prstGeom>
          <a:solidFill>
            <a:srgbClr val="F2F8FA"/>
          </a:solidFill>
          <a:ln/>
          <a:effectLst>
            <a:outerShdw sx="100000" sy="100000" kx="0" ky="0" algn="bl" rotWithShape="0" blurRad="101600" dist="25400" dir="5400000">
              <a:srgbClr val="1B2733">
                <a:alpha val="8000"/>
              </a:srgbClr>
            </a:outerShdw>
          </a:effectLst>
        </p:spPr>
      </p:sp>
      <p:sp>
        <p:nvSpPr>
          <p:cNvPr id="25" name="Shape 19"/>
          <p:cNvSpPr/>
          <p:nvPr/>
        </p:nvSpPr>
        <p:spPr>
          <a:xfrm>
            <a:off x="4517136" y="3383280"/>
            <a:ext cx="530352" cy="530352"/>
          </a:xfrm>
          <a:prstGeom prst="ellipse">
            <a:avLst/>
          </a:prstGeom>
          <a:solidFill>
            <a:srgbClr val="1C7293"/>
          </a:solidFill>
          <a:ln/>
        </p:spPr>
      </p:sp>
      <p:pic>
        <p:nvPicPr>
          <p:cNvPr id="26" name="Image 4" descr="/tmp/b/icons/scale_balanced_white.png">    </p:cNvPr>
          <p:cNvPicPr>
            <a:picLocks noChangeAspect="1"/>
          </p:cNvPicPr>
          <p:nvPr/>
        </p:nvPicPr>
        <p:blipFill>
          <a:blip r:embed="rId5"/>
          <a:stretch>
            <a:fillRect/>
          </a:stretch>
        </p:blipFill>
        <p:spPr>
          <a:xfrm>
            <a:off x="4655028" y="3521172"/>
            <a:ext cx="254569" cy="254569"/>
          </a:xfrm>
          <a:prstGeom prst="rect">
            <a:avLst/>
          </a:prstGeom>
        </p:spPr>
      </p:pic>
      <p:sp>
        <p:nvSpPr>
          <p:cNvPr id="27" name="Text 20"/>
          <p:cNvSpPr/>
          <p:nvPr/>
        </p:nvSpPr>
        <p:spPr>
          <a:xfrm>
            <a:off x="5175504" y="3401568"/>
            <a:ext cx="2496312" cy="493776"/>
          </a:xfrm>
          <a:prstGeom prst="rect">
            <a:avLst/>
          </a:prstGeom>
          <a:noFill/>
          <a:ln/>
        </p:spPr>
        <p:txBody>
          <a:bodyPr wrap="square"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Publishing a benchmark</a:t>
            </a:r>
            <a:endParaRPr lang="en-US" sz="1300" dirty="0"/>
          </a:p>
        </p:txBody>
      </p:sp>
      <p:sp>
        <p:nvSpPr>
          <p:cNvPr id="28" name="Text 21"/>
          <p:cNvSpPr/>
          <p:nvPr/>
        </p:nvSpPr>
        <p:spPr>
          <a:xfrm>
            <a:off x="4517136" y="4005072"/>
            <a:ext cx="3118104" cy="493776"/>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Package an evaluation once and anyone can run it against any model with one command — the fragmentation problem the Hub exists to solve.</a:t>
            </a:r>
            <a:endParaRPr lang="en-US" sz="1050" dirty="0"/>
          </a:p>
        </p:txBody>
      </p:sp>
      <p:sp>
        <p:nvSpPr>
          <p:cNvPr id="29" name="Shape 22"/>
          <p:cNvSpPr/>
          <p:nvPr/>
        </p:nvSpPr>
        <p:spPr>
          <a:xfrm>
            <a:off x="8010144" y="3145536"/>
            <a:ext cx="3593592" cy="1481328"/>
          </a:xfrm>
          <a:prstGeom prst="roundRect">
            <a:avLst>
              <a:gd name="adj" fmla="val 4938"/>
            </a:avLst>
          </a:prstGeom>
          <a:solidFill>
            <a:srgbClr val="F2F8FA"/>
          </a:solidFill>
          <a:ln/>
          <a:effectLst>
            <a:outerShdw sx="100000" sy="100000" kx="0" ky="0" algn="bl" rotWithShape="0" blurRad="101600" dist="25400" dir="5400000">
              <a:srgbClr val="1B2733">
                <a:alpha val="8000"/>
              </a:srgbClr>
            </a:outerShdw>
          </a:effectLst>
        </p:spPr>
      </p:sp>
      <p:sp>
        <p:nvSpPr>
          <p:cNvPr id="30" name="Shape 23"/>
          <p:cNvSpPr/>
          <p:nvPr/>
        </p:nvSpPr>
        <p:spPr>
          <a:xfrm>
            <a:off x="8247888" y="3383280"/>
            <a:ext cx="530352" cy="530352"/>
          </a:xfrm>
          <a:prstGeom prst="ellipse">
            <a:avLst/>
          </a:prstGeom>
          <a:solidFill>
            <a:srgbClr val="21295C"/>
          </a:solidFill>
          <a:ln/>
        </p:spPr>
      </p:sp>
      <p:pic>
        <p:nvPicPr>
          <p:cNvPr id="31" name="Image 5" descr="/tmp/b/icons/graduation_cap_white.png">    </p:cNvPr>
          <p:cNvPicPr>
            <a:picLocks noChangeAspect="1"/>
          </p:cNvPicPr>
          <p:nvPr/>
        </p:nvPicPr>
        <p:blipFill>
          <a:blip r:embed="rId6"/>
          <a:stretch>
            <a:fillRect/>
          </a:stretch>
        </p:blipFill>
        <p:spPr>
          <a:xfrm>
            <a:off x="8385780" y="3521172"/>
            <a:ext cx="254569" cy="254569"/>
          </a:xfrm>
          <a:prstGeom prst="rect">
            <a:avLst/>
          </a:prstGeom>
        </p:spPr>
      </p:pic>
      <p:sp>
        <p:nvSpPr>
          <p:cNvPr id="32" name="Text 24"/>
          <p:cNvSpPr/>
          <p:nvPr/>
        </p:nvSpPr>
        <p:spPr>
          <a:xfrm>
            <a:off x="8906256" y="3401568"/>
            <a:ext cx="2496312" cy="493776"/>
          </a:xfrm>
          <a:prstGeom prst="rect">
            <a:avLst/>
          </a:prstGeom>
          <a:noFill/>
          <a:ln/>
        </p:spPr>
        <p:txBody>
          <a:bodyPr wrap="square"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Learning RL at all</a:t>
            </a:r>
            <a:endParaRPr lang="en-US" sz="1300" dirty="0"/>
          </a:p>
        </p:txBody>
      </p:sp>
      <p:sp>
        <p:nvSpPr>
          <p:cNvPr id="33" name="Text 25"/>
          <p:cNvSpPr/>
          <p:nvPr/>
        </p:nvSpPr>
        <p:spPr>
          <a:xfrm>
            <a:off x="8247888" y="4005072"/>
            <a:ext cx="3118104" cy="493776"/>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Because the infrastructure is handled, the only thing left to get right is the task and the reward — which is the part worth learning anyway.</a:t>
            </a:r>
            <a:endParaRPr lang="en-US" sz="1050" dirty="0"/>
          </a:p>
        </p:txBody>
      </p:sp>
      <p:sp>
        <p:nvSpPr>
          <p:cNvPr id="34" name="Shape 26"/>
          <p:cNvSpPr/>
          <p:nvPr/>
        </p:nvSpPr>
        <p:spPr>
          <a:xfrm>
            <a:off x="548640" y="4846320"/>
            <a:ext cx="4572000" cy="310896"/>
          </a:xfrm>
          <a:prstGeom prst="roundRect">
            <a:avLst>
              <a:gd name="adj" fmla="val 50000"/>
            </a:avLst>
          </a:prstGeom>
          <a:solidFill>
            <a:srgbClr val="E9F1E6"/>
          </a:solidFill>
          <a:ln w="9525">
            <a:solidFill>
              <a:srgbClr val="8FB88F"/>
            </a:solidFill>
            <a:prstDash val="solid"/>
          </a:ln>
        </p:spPr>
      </p:sp>
      <p:sp>
        <p:nvSpPr>
          <p:cNvPr id="35" name="Text 27"/>
          <p:cNvSpPr/>
          <p:nvPr/>
        </p:nvSpPr>
        <p:spPr>
          <a:xfrm>
            <a:off x="676656" y="4846320"/>
            <a:ext cx="431596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7, Benchmarks Are Training Tasks</a:t>
            </a:r>
            <a:endParaRPr lang="en-US" sz="1000" dirty="0"/>
          </a:p>
        </p:txBody>
      </p:sp>
      <p:sp>
        <p:nvSpPr>
          <p:cNvPr id="36" name="Text 28"/>
          <p:cNvSpPr/>
          <p:nvPr/>
        </p:nvSpPr>
        <p:spPr>
          <a:xfrm>
            <a:off x="5394960" y="4800600"/>
            <a:ext cx="6217920" cy="548640"/>
          </a:xfrm>
          <a:prstGeom prst="rect">
            <a:avLst/>
          </a:prstGeom>
          <a:noFill/>
          <a:ln/>
        </p:spPr>
        <p:txBody>
          <a:bodyPr wrap="square"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Notice that the last two entries are the same activity. Publishing a benchmark and publishing a training task produce the same artifact, in the same registry, run by the same command.</a:t>
            </a:r>
            <a:endParaRPr lang="en-US" sz="1100" dirty="0"/>
          </a:p>
        </p:txBody>
      </p:sp>
      <p:sp>
        <p:nvSpPr>
          <p:cNvPr id="37" name="Text 29"/>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38" name="Text 30"/>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B5651D"/>
                </a:solidFill>
                <a:latin typeface="Calibri" pitchFamily="34" charset="0"/>
                <a:ea typeface="Calibri" pitchFamily="34" charset="-122"/>
                <a:cs typeface="Calibri" pitchFamily="34" charset="-120"/>
              </a:rPr>
              <a:t>HONEST ASSESSMENT</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Limitations, Including One We Found</a:t>
            </a:r>
            <a:endParaRPr lang="en-US" sz="3000" dirty="0"/>
          </a:p>
        </p:txBody>
      </p:sp>
      <p:sp>
        <p:nvSpPr>
          <p:cNvPr id="4" name="Shape 2"/>
          <p:cNvSpPr/>
          <p:nvPr/>
        </p:nvSpPr>
        <p:spPr>
          <a:xfrm>
            <a:off x="548640" y="1371600"/>
            <a:ext cx="11064240" cy="1572768"/>
          </a:xfrm>
          <a:prstGeom prst="roundRect">
            <a:avLst>
              <a:gd name="adj" fmla="val 4651"/>
            </a:avLst>
          </a:prstGeom>
          <a:solidFill>
            <a:srgbClr val="FDF0EC"/>
          </a:solidFill>
          <a:ln w="15875">
            <a:solidFill>
              <a:srgbClr val="D98A6A"/>
            </a:solidFill>
            <a:prstDash val="solid"/>
          </a:ln>
        </p:spPr>
      </p:sp>
      <p:sp>
        <p:nvSpPr>
          <p:cNvPr id="5" name="Shape 3"/>
          <p:cNvSpPr/>
          <p:nvPr/>
        </p:nvSpPr>
        <p:spPr>
          <a:xfrm>
            <a:off x="822960" y="1783080"/>
            <a:ext cx="621792" cy="621792"/>
          </a:xfrm>
          <a:prstGeom prst="ellipse">
            <a:avLst/>
          </a:prstGeom>
          <a:solidFill>
            <a:srgbClr val="FFFFFF"/>
          </a:solidFill>
          <a:ln/>
        </p:spPr>
      </p:sp>
      <p:pic>
        <p:nvPicPr>
          <p:cNvPr id="6" name="Image 0" descr="/tmp/b/icons/bug_teal.png">    </p:cNvPr>
          <p:cNvPicPr>
            <a:picLocks noChangeAspect="1"/>
          </p:cNvPicPr>
          <p:nvPr/>
        </p:nvPicPr>
        <p:blipFill>
          <a:blip r:embed="rId1"/>
          <a:stretch>
            <a:fillRect/>
          </a:stretch>
        </p:blipFill>
        <p:spPr>
          <a:xfrm>
            <a:off x="984626" y="1944746"/>
            <a:ext cx="298460" cy="298460"/>
          </a:xfrm>
          <a:prstGeom prst="rect">
            <a:avLst/>
          </a:prstGeom>
        </p:spPr>
      </p:pic>
      <p:sp>
        <p:nvSpPr>
          <p:cNvPr id="7" name="Text 4"/>
          <p:cNvSpPr/>
          <p:nvPr/>
        </p:nvSpPr>
        <p:spPr>
          <a:xfrm>
            <a:off x="1600200" y="1536192"/>
            <a:ext cx="9875520" cy="320040"/>
          </a:xfrm>
          <a:prstGeom prst="rect">
            <a:avLst/>
          </a:prstGeom>
          <a:noFill/>
          <a:ln/>
        </p:spPr>
        <p:txBody>
          <a:bodyPr wrap="square" rtlCol="0" anchor="ctr"/>
          <a:lstStyle/>
          <a:p>
            <a:pPr indent="0" marL="0">
              <a:buNone/>
            </a:pPr>
            <a:r>
              <a:rPr lang="en-US" sz="1450" b="1" dirty="0">
                <a:solidFill>
                  <a:srgbClr val="A6402A"/>
                </a:solidFill>
                <a:latin typeface="Calibri" pitchFamily="34" charset="0"/>
                <a:ea typeface="Calibri" pitchFamily="34" charset="-122"/>
                <a:cs typeface="Calibri" pitchFamily="34" charset="-120"/>
              </a:rPr>
              <a:t>The environment we read on slide 14 can be gamed</a:t>
            </a:r>
            <a:endParaRPr lang="en-US" sz="1450" dirty="0"/>
          </a:p>
        </p:txBody>
      </p:sp>
      <p:sp>
        <p:nvSpPr>
          <p:cNvPr id="8" name="Text 5"/>
          <p:cNvSpPr/>
          <p:nvPr/>
        </p:nvSpPr>
        <p:spPr>
          <a:xfrm>
            <a:off x="1600200" y="1874520"/>
            <a:ext cx="9875520" cy="960120"/>
          </a:xfrm>
          <a:prstGeom prst="rect">
            <a:avLst/>
          </a:prstGeom>
          <a:noFill/>
          <a:ln/>
        </p:spPr>
        <p:txBody>
          <a:bodyPr wrap="square" rtlCol="0" anchor="ctr"/>
          <a:lstStyle/>
          <a:p>
            <a:pPr indent="0" marL="0">
              <a:lnSpc>
                <a:spcPct val="122000"/>
              </a:lnSpc>
              <a:buNone/>
            </a:pPr>
            <a:r>
              <a:rPr lang="en-US" sz="1150" dirty="0">
                <a:solidFill>
                  <a:srgbClr val="8A3A26"/>
                </a:solidFill>
                <a:latin typeface="Calibri" pitchFamily="34" charset="0"/>
                <a:ea typeface="Calibri" pitchFamily="34" charset="-122"/>
                <a:cs typeface="Calibri" pitchFamily="34" charset="-120"/>
              </a:rPr>
              <a:t>_test_solution() writes every filename the model asked for into the exercise directory, with no allowlist and no path check — including the test files it was graded against. A model that emits a test file containing a trivially passing assertion scores 1.0 without solving anything. The environment already stores the list of legitimate filenames in info['template_files'] and never checks against it. The only thing standing in the way is a sentence in the prompt asking the model not to.</a:t>
            </a:r>
            <a:endParaRPr lang="en-US" sz="1150" dirty="0"/>
          </a:p>
        </p:txBody>
      </p:sp>
      <p:sp>
        <p:nvSpPr>
          <p:cNvPr id="9" name="Shape 6"/>
          <p:cNvSpPr/>
          <p:nvPr/>
        </p:nvSpPr>
        <p:spPr>
          <a:xfrm>
            <a:off x="548640" y="3035808"/>
            <a:ext cx="4023360" cy="310896"/>
          </a:xfrm>
          <a:prstGeom prst="roundRect">
            <a:avLst>
              <a:gd name="adj" fmla="val 50000"/>
            </a:avLst>
          </a:prstGeom>
          <a:solidFill>
            <a:srgbClr val="E9F1E6"/>
          </a:solidFill>
          <a:ln w="9525">
            <a:solidFill>
              <a:srgbClr val="8FB88F"/>
            </a:solidFill>
            <a:prstDash val="solid"/>
          </a:ln>
        </p:spPr>
      </p:sp>
      <p:sp>
        <p:nvSpPr>
          <p:cNvPr id="10" name="Text 7"/>
          <p:cNvSpPr/>
          <p:nvPr/>
        </p:nvSpPr>
        <p:spPr>
          <a:xfrm>
            <a:off x="676656" y="3035808"/>
            <a:ext cx="376732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5, Gaming the Reward</a:t>
            </a:r>
            <a:endParaRPr lang="en-US" sz="1000" dirty="0"/>
          </a:p>
        </p:txBody>
      </p:sp>
      <p:sp>
        <p:nvSpPr>
          <p:cNvPr id="11" name="Text 8"/>
          <p:cNvSpPr/>
          <p:nvPr/>
        </p:nvSpPr>
        <p:spPr>
          <a:xfrm>
            <a:off x="4754880" y="2999232"/>
            <a:ext cx="6858000" cy="411480"/>
          </a:xfrm>
          <a:prstGeom prst="rect">
            <a:avLst/>
          </a:prstGeom>
          <a:noFill/>
          <a:ln/>
        </p:spPr>
        <p:txBody>
          <a:bodyPr wrap="square" rtlCol="0" anchor="ctr"/>
          <a:lstStyle/>
          <a:p>
            <a:pPr indent="0" marL="0">
              <a:lnSpc>
                <a:spcPct val="115000"/>
              </a:lnSpc>
              <a:buNone/>
            </a:pPr>
            <a:r>
              <a:rPr lang="en-US" sz="1050" i="1" dirty="0">
                <a:solidFill>
                  <a:srgbClr val="5C7080"/>
                </a:solidFill>
                <a:latin typeface="Calibri" pitchFamily="34" charset="0"/>
                <a:ea typeface="Calibri" pitchFamily="34" charset="-122"/>
                <a:cs typeface="Calibri" pitchFamily="34" charset="-120"/>
              </a:rPr>
              <a:t>Textbook “reaching the scorer.” Note it is a benchmark-validity flaw, not a security hole — nothing escapes a container the model already controls.</a:t>
            </a:r>
            <a:endParaRPr lang="en-US" sz="1050" dirty="0"/>
          </a:p>
        </p:txBody>
      </p:sp>
      <p:sp>
        <p:nvSpPr>
          <p:cNvPr id="12" name="Shape 9"/>
          <p:cNvSpPr/>
          <p:nvPr/>
        </p:nvSpPr>
        <p:spPr>
          <a:xfrm>
            <a:off x="548640" y="3584448"/>
            <a:ext cx="5486400" cy="1207008"/>
          </a:xfrm>
          <a:prstGeom prst="roundRect">
            <a:avLst>
              <a:gd name="adj" fmla="val 6061"/>
            </a:avLst>
          </a:prstGeom>
          <a:solidFill>
            <a:srgbClr val="F2F8FA"/>
          </a:solidFill>
          <a:ln/>
          <a:effectLst>
            <a:outerShdw sx="100000" sy="100000" kx="0" ky="0" algn="bl" rotWithShape="0" blurRad="101600" dist="25400" dir="5400000">
              <a:srgbClr val="1B2733">
                <a:alpha val="8000"/>
              </a:srgbClr>
            </a:outerShdw>
          </a:effectLst>
        </p:spPr>
      </p:sp>
      <p:sp>
        <p:nvSpPr>
          <p:cNvPr id="13" name="Shape 10"/>
          <p:cNvSpPr/>
          <p:nvPr/>
        </p:nvSpPr>
        <p:spPr>
          <a:xfrm>
            <a:off x="768096" y="3785616"/>
            <a:ext cx="457200" cy="457200"/>
          </a:xfrm>
          <a:prstGeom prst="ellipse">
            <a:avLst/>
          </a:prstGeom>
          <a:solidFill>
            <a:srgbClr val="1C7293"/>
          </a:solidFill>
          <a:ln/>
        </p:spPr>
      </p:sp>
      <p:pic>
        <p:nvPicPr>
          <p:cNvPr id="14" name="Image 1" descr="/tmp/b/icons/triangle_exclamation_white.png">    </p:cNvPr>
          <p:cNvPicPr>
            <a:picLocks noChangeAspect="1"/>
          </p:cNvPicPr>
          <p:nvPr/>
        </p:nvPicPr>
        <p:blipFill>
          <a:blip r:embed="rId2"/>
          <a:stretch>
            <a:fillRect/>
          </a:stretch>
        </p:blipFill>
        <p:spPr>
          <a:xfrm>
            <a:off x="886968" y="3904488"/>
            <a:ext cx="219456" cy="219456"/>
          </a:xfrm>
          <a:prstGeom prst="rect">
            <a:avLst/>
          </a:prstGeom>
        </p:spPr>
      </p:pic>
      <p:sp>
        <p:nvSpPr>
          <p:cNvPr id="15" name="Text 11"/>
          <p:cNvSpPr/>
          <p:nvPr/>
        </p:nvSpPr>
        <p:spPr>
          <a:xfrm>
            <a:off x="1335024" y="3767328"/>
            <a:ext cx="4480560" cy="457200"/>
          </a:xfrm>
          <a:prstGeom prst="rect">
            <a:avLst/>
          </a:prstGeom>
          <a:noFill/>
          <a:ln/>
        </p:spPr>
        <p:txBody>
          <a:bodyPr wrap="square"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Documentation drifts from code</a:t>
            </a:r>
            <a:endParaRPr lang="en-US" sz="1200" dirty="0"/>
          </a:p>
        </p:txBody>
      </p:sp>
      <p:sp>
        <p:nvSpPr>
          <p:cNvPr id="16" name="Text 12"/>
          <p:cNvSpPr/>
          <p:nvPr/>
        </p:nvSpPr>
        <p:spPr>
          <a:xfrm>
            <a:off x="786384" y="4242816"/>
            <a:ext cx="5010912" cy="429768"/>
          </a:xfrm>
          <a:prstGeom prst="rect">
            <a:avLst/>
          </a:prstGeom>
          <a:noFill/>
          <a:ln/>
        </p:spPr>
        <p:txBody>
          <a:bodyPr wrap="square" rtlCol="0" anchor="ctr"/>
          <a:lstStyle/>
          <a:p>
            <a:pPr indent="0" marL="0">
              <a:lnSpc>
                <a:spcPct val="118000"/>
              </a:lnSpc>
              <a:buNone/>
            </a:pPr>
            <a:r>
              <a:rPr lang="en-US" sz="1000" dirty="0">
                <a:solidFill>
                  <a:srgbClr val="5C7080"/>
                </a:solidFill>
                <a:latin typeface="Calibri" pitchFamily="34" charset="0"/>
                <a:ea typeface="Calibri" pitchFamily="34" charset="-122"/>
                <a:cs typeface="Calibri" pitchFamily="34" charset="-120"/>
              </a:rPr>
              <a:t>That same environment's README disagrees with its source in eight places — default turn count, default language, every container image, and the test runner. Read the source.</a:t>
            </a:r>
            <a:endParaRPr lang="en-US" sz="1000" dirty="0"/>
          </a:p>
        </p:txBody>
      </p:sp>
      <p:sp>
        <p:nvSpPr>
          <p:cNvPr id="17" name="Shape 13"/>
          <p:cNvSpPr/>
          <p:nvPr/>
        </p:nvSpPr>
        <p:spPr>
          <a:xfrm>
            <a:off x="6172200" y="3584448"/>
            <a:ext cx="5486400" cy="1207008"/>
          </a:xfrm>
          <a:prstGeom prst="roundRect">
            <a:avLst>
              <a:gd name="adj" fmla="val 6061"/>
            </a:avLst>
          </a:prstGeom>
          <a:solidFill>
            <a:srgbClr val="F2F8FA"/>
          </a:solidFill>
          <a:ln/>
          <a:effectLst>
            <a:outerShdw sx="100000" sy="100000" kx="0" ky="0" algn="bl" rotWithShape="0" blurRad="101600" dist="25400" dir="5400000">
              <a:srgbClr val="1B2733">
                <a:alpha val="8000"/>
              </a:srgbClr>
            </a:outerShdw>
          </a:effectLst>
        </p:spPr>
      </p:sp>
      <p:sp>
        <p:nvSpPr>
          <p:cNvPr id="18" name="Shape 14"/>
          <p:cNvSpPr/>
          <p:nvPr/>
        </p:nvSpPr>
        <p:spPr>
          <a:xfrm>
            <a:off x="6391656" y="3785616"/>
            <a:ext cx="457200" cy="457200"/>
          </a:xfrm>
          <a:prstGeom prst="ellipse">
            <a:avLst/>
          </a:prstGeom>
          <a:solidFill>
            <a:srgbClr val="21295C"/>
          </a:solidFill>
          <a:ln/>
        </p:spPr>
      </p:sp>
      <p:pic>
        <p:nvPicPr>
          <p:cNvPr id="19" name="Image 2" descr="/tmp/b/icons/lock_white.png">    </p:cNvPr>
          <p:cNvPicPr>
            <a:picLocks noChangeAspect="1"/>
          </p:cNvPicPr>
          <p:nvPr/>
        </p:nvPicPr>
        <p:blipFill>
          <a:blip r:embed="rId3"/>
          <a:stretch>
            <a:fillRect/>
          </a:stretch>
        </p:blipFill>
        <p:spPr>
          <a:xfrm>
            <a:off x="6510528" y="3904488"/>
            <a:ext cx="219456" cy="219456"/>
          </a:xfrm>
          <a:prstGeom prst="rect">
            <a:avLst/>
          </a:prstGeom>
        </p:spPr>
      </p:pic>
      <p:sp>
        <p:nvSpPr>
          <p:cNvPr id="20" name="Text 15"/>
          <p:cNvSpPr/>
          <p:nvPr/>
        </p:nvSpPr>
        <p:spPr>
          <a:xfrm>
            <a:off x="6958584" y="3767328"/>
            <a:ext cx="4480560" cy="457200"/>
          </a:xfrm>
          <a:prstGeom prst="rect">
            <a:avLst/>
          </a:prstGeom>
          <a:noFill/>
          <a:ln/>
        </p:spPr>
        <p:txBody>
          <a:bodyPr wrap="square"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Third-party dependencies bite</a:t>
            </a:r>
            <a:endParaRPr lang="en-US" sz="1200" dirty="0"/>
          </a:p>
        </p:txBody>
      </p:sp>
      <p:sp>
        <p:nvSpPr>
          <p:cNvPr id="21" name="Text 16"/>
          <p:cNvSpPr/>
          <p:nvPr/>
        </p:nvSpPr>
        <p:spPr>
          <a:xfrm>
            <a:off x="6409944" y="4242816"/>
            <a:ext cx="5010912" cy="429768"/>
          </a:xfrm>
          <a:prstGeom prst="rect">
            <a:avLst/>
          </a:prstGeom>
          <a:noFill/>
          <a:ln/>
        </p:spPr>
        <p:txBody>
          <a:bodyPr wrap="square" rtlCol="0" anchor="ctr"/>
          <a:lstStyle/>
          <a:p>
            <a:pPr indent="0" marL="0">
              <a:lnSpc>
                <a:spcPct val="118000"/>
              </a:lnSpc>
              <a:buNone/>
            </a:pPr>
            <a:r>
              <a:rPr lang="en-US" sz="1000" dirty="0">
                <a:solidFill>
                  <a:srgbClr val="5C7080"/>
                </a:solidFill>
                <a:latin typeface="Calibri" pitchFamily="34" charset="0"/>
                <a:ea typeface="Calibri" pitchFamily="34" charset="-122"/>
                <a:cs typeface="Calibri" pitchFamily="34" charset="-120"/>
              </a:rPr>
              <a:t>It also depends on an outside sandbox provider, so its own automated integration test has been failing on Prime's build system for six months: no credentials there to authenticate with.</a:t>
            </a:r>
            <a:endParaRPr lang="en-US" sz="1000" dirty="0"/>
          </a:p>
        </p:txBody>
      </p:sp>
      <p:sp>
        <p:nvSpPr>
          <p:cNvPr id="22" name="Shape 17"/>
          <p:cNvSpPr/>
          <p:nvPr/>
        </p:nvSpPr>
        <p:spPr>
          <a:xfrm>
            <a:off x="548640" y="4919472"/>
            <a:ext cx="5486400" cy="1207008"/>
          </a:xfrm>
          <a:prstGeom prst="roundRect">
            <a:avLst>
              <a:gd name="adj" fmla="val 6061"/>
            </a:avLst>
          </a:prstGeom>
          <a:solidFill>
            <a:srgbClr val="F2F8FA"/>
          </a:solidFill>
          <a:ln/>
          <a:effectLst>
            <a:outerShdw sx="100000" sy="100000" kx="0" ky="0" algn="bl" rotWithShape="0" blurRad="101600" dist="25400" dir="5400000">
              <a:srgbClr val="1B2733">
                <a:alpha val="8000"/>
              </a:srgbClr>
            </a:outerShdw>
          </a:effectLst>
        </p:spPr>
      </p:sp>
      <p:sp>
        <p:nvSpPr>
          <p:cNvPr id="23" name="Shape 18"/>
          <p:cNvSpPr/>
          <p:nvPr/>
        </p:nvSpPr>
        <p:spPr>
          <a:xfrm>
            <a:off x="768096" y="5120640"/>
            <a:ext cx="457200" cy="457200"/>
          </a:xfrm>
          <a:prstGeom prst="ellipse">
            <a:avLst/>
          </a:prstGeom>
          <a:solidFill>
            <a:srgbClr val="1C7293"/>
          </a:solidFill>
          <a:ln/>
        </p:spPr>
      </p:sp>
      <p:pic>
        <p:nvPicPr>
          <p:cNvPr id="24" name="Image 3" descr="/tmp/b/icons/coins_white.png">    </p:cNvPr>
          <p:cNvPicPr>
            <a:picLocks noChangeAspect="1"/>
          </p:cNvPicPr>
          <p:nvPr/>
        </p:nvPicPr>
        <p:blipFill>
          <a:blip r:embed="rId4"/>
          <a:stretch>
            <a:fillRect/>
          </a:stretch>
        </p:blipFill>
        <p:spPr>
          <a:xfrm>
            <a:off x="886968" y="5239512"/>
            <a:ext cx="219456" cy="219456"/>
          </a:xfrm>
          <a:prstGeom prst="rect">
            <a:avLst/>
          </a:prstGeom>
        </p:spPr>
      </p:pic>
      <p:sp>
        <p:nvSpPr>
          <p:cNvPr id="25" name="Text 19"/>
          <p:cNvSpPr/>
          <p:nvPr/>
        </p:nvSpPr>
        <p:spPr>
          <a:xfrm>
            <a:off x="1335024" y="5102352"/>
            <a:ext cx="4480560" cy="457200"/>
          </a:xfrm>
          <a:prstGeom prst="rect">
            <a:avLst/>
          </a:prstGeom>
          <a:noFill/>
          <a:ln/>
        </p:spPr>
        <p:txBody>
          <a:bodyPr wrap="square"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The free tier doesn't line up</a:t>
            </a:r>
            <a:endParaRPr lang="en-US" sz="1200" dirty="0"/>
          </a:p>
        </p:txBody>
      </p:sp>
      <p:sp>
        <p:nvSpPr>
          <p:cNvPr id="26" name="Text 20"/>
          <p:cNvSpPr/>
          <p:nvPr/>
        </p:nvSpPr>
        <p:spPr>
          <a:xfrm>
            <a:off x="786384" y="5577840"/>
            <a:ext cx="5010912" cy="429768"/>
          </a:xfrm>
          <a:prstGeom prst="rect">
            <a:avLst/>
          </a:prstGeom>
          <a:noFill/>
          <a:ln/>
        </p:spPr>
        <p:txBody>
          <a:bodyPr wrap="square" rtlCol="0" anchor="ctr"/>
          <a:lstStyle/>
          <a:p>
            <a:pPr indent="0" marL="0">
              <a:lnSpc>
                <a:spcPct val="118000"/>
              </a:lnSpc>
              <a:buNone/>
            </a:pPr>
            <a:r>
              <a:rPr lang="en-US" sz="1000" dirty="0">
                <a:solidFill>
                  <a:srgbClr val="5C7080"/>
                </a:solidFill>
                <a:latin typeface="Calibri" pitchFamily="34" charset="0"/>
                <a:ea typeface="Calibri" pitchFamily="34" charset="-122"/>
                <a:cs typeface="Calibri" pitchFamily="34" charset="-120"/>
              </a:rPr>
              <a:t>The models that are free to train are absent from the inference list, and the free inference model isn't trainable. There is no single model that is free for both.</a:t>
            </a:r>
            <a:endParaRPr lang="en-US" sz="1000" dirty="0"/>
          </a:p>
        </p:txBody>
      </p:sp>
      <p:sp>
        <p:nvSpPr>
          <p:cNvPr id="27" name="Shape 21"/>
          <p:cNvSpPr/>
          <p:nvPr/>
        </p:nvSpPr>
        <p:spPr>
          <a:xfrm>
            <a:off x="6172200" y="4919472"/>
            <a:ext cx="5486400" cy="1207008"/>
          </a:xfrm>
          <a:prstGeom prst="roundRect">
            <a:avLst>
              <a:gd name="adj" fmla="val 6061"/>
            </a:avLst>
          </a:prstGeom>
          <a:solidFill>
            <a:srgbClr val="F2F8FA"/>
          </a:solidFill>
          <a:ln/>
          <a:effectLst>
            <a:outerShdw sx="100000" sy="100000" kx="0" ky="0" algn="bl" rotWithShape="0" blurRad="101600" dist="25400" dir="5400000">
              <a:srgbClr val="1B2733">
                <a:alpha val="8000"/>
              </a:srgbClr>
            </a:outerShdw>
          </a:effectLst>
        </p:spPr>
      </p:sp>
      <p:sp>
        <p:nvSpPr>
          <p:cNvPr id="28" name="Shape 22"/>
          <p:cNvSpPr/>
          <p:nvPr/>
        </p:nvSpPr>
        <p:spPr>
          <a:xfrm>
            <a:off x="6391656" y="5120640"/>
            <a:ext cx="457200" cy="457200"/>
          </a:xfrm>
          <a:prstGeom prst="ellipse">
            <a:avLst/>
          </a:prstGeom>
          <a:solidFill>
            <a:srgbClr val="21295C"/>
          </a:solidFill>
          <a:ln/>
        </p:spPr>
      </p:sp>
      <p:pic>
        <p:nvPicPr>
          <p:cNvPr id="29" name="Image 4" descr="/tmp/b/icons/cubes_white.png">    </p:cNvPr>
          <p:cNvPicPr>
            <a:picLocks noChangeAspect="1"/>
          </p:cNvPicPr>
          <p:nvPr/>
        </p:nvPicPr>
        <p:blipFill>
          <a:blip r:embed="rId5"/>
          <a:stretch>
            <a:fillRect/>
          </a:stretch>
        </p:blipFill>
        <p:spPr>
          <a:xfrm>
            <a:off x="6510528" y="5239512"/>
            <a:ext cx="219456" cy="219456"/>
          </a:xfrm>
          <a:prstGeom prst="rect">
            <a:avLst/>
          </a:prstGeom>
        </p:spPr>
      </p:pic>
      <p:sp>
        <p:nvSpPr>
          <p:cNvPr id="30" name="Text 23"/>
          <p:cNvSpPr/>
          <p:nvPr/>
        </p:nvSpPr>
        <p:spPr>
          <a:xfrm>
            <a:off x="6958584" y="5102352"/>
            <a:ext cx="4480560" cy="457200"/>
          </a:xfrm>
          <a:prstGeom prst="rect">
            <a:avLst/>
          </a:prstGeom>
          <a:noFill/>
          <a:ln/>
        </p:spPr>
        <p:txBody>
          <a:bodyPr wrap="square"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Platform edges</a:t>
            </a:r>
            <a:endParaRPr lang="en-US" sz="1200" dirty="0"/>
          </a:p>
        </p:txBody>
      </p:sp>
      <p:sp>
        <p:nvSpPr>
          <p:cNvPr id="31" name="Text 24"/>
          <p:cNvSpPr/>
          <p:nvPr/>
        </p:nvSpPr>
        <p:spPr>
          <a:xfrm>
            <a:off x="6409944" y="5577840"/>
            <a:ext cx="5010912" cy="429768"/>
          </a:xfrm>
          <a:prstGeom prst="rect">
            <a:avLst/>
          </a:prstGeom>
          <a:noFill/>
          <a:ln/>
        </p:spPr>
        <p:txBody>
          <a:bodyPr wrap="square" rtlCol="0" anchor="ctr"/>
          <a:lstStyle/>
          <a:p>
            <a:pPr indent="0" marL="0">
              <a:lnSpc>
                <a:spcPct val="118000"/>
              </a:lnSpc>
              <a:buNone/>
            </a:pPr>
            <a:r>
              <a:rPr lang="en-US" sz="1000" dirty="0">
                <a:solidFill>
                  <a:srgbClr val="5C7080"/>
                </a:solidFill>
                <a:latin typeface="Calibri" pitchFamily="34" charset="0"/>
                <a:ea typeface="Calibri" pitchFamily="34" charset="-122"/>
                <a:cs typeface="Calibri" pitchFamily="34" charset="-120"/>
              </a:rPr>
              <a:t>Sandboxes are CPU-only. Full-parameter training is closed beta. The library is mid-migration between two APIs, so published environments target different generations.</a:t>
            </a:r>
            <a:endParaRPr lang="en-US" sz="1000" dirty="0"/>
          </a:p>
        </p:txBody>
      </p:sp>
      <p:sp>
        <p:nvSpPr>
          <p:cNvPr id="32" name="Text 25"/>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PRIME INTELLECT  ·  AI SEMINAR, LECTURE 4</a:t>
            </a:r>
            <a:endParaRPr lang="en-US" sz="900" dirty="0"/>
          </a:p>
        </p:txBody>
      </p:sp>
      <p:sp>
        <p:nvSpPr>
          <p:cNvPr id="33" name="Text 2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21295C">
              <a:alpha val="55000"/>
            </a:srgbClr>
          </a:solidFill>
          <a:ln/>
        </p:spPr>
      </p:sp>
      <p:sp>
        <p:nvSpPr>
          <p:cNvPr id="3" name="Shape 1"/>
          <p:cNvSpPr/>
          <p:nvPr/>
        </p:nvSpPr>
        <p:spPr>
          <a:xfrm>
            <a:off x="10424160" y="-1097280"/>
            <a:ext cx="3291840" cy="3291840"/>
          </a:xfrm>
          <a:prstGeom prst="ellipse">
            <a:avLst/>
          </a:prstGeom>
          <a:solidFill>
            <a:srgbClr val="065A82">
              <a:alpha val="40000"/>
            </a:srgbClr>
          </a:solidFill>
          <a:ln/>
        </p:spPr>
      </p:sp>
      <p:sp>
        <p:nvSpPr>
          <p:cNvPr id="4" name="Text 2"/>
          <p:cNvSpPr/>
          <p:nvPr/>
        </p:nvSpPr>
        <p:spPr>
          <a:xfrm>
            <a:off x="731520" y="777240"/>
            <a:ext cx="7315200" cy="365760"/>
          </a:xfrm>
          <a:prstGeom prst="rect">
            <a:avLst/>
          </a:prstGeom>
          <a:noFill/>
          <a:ln/>
        </p:spPr>
        <p:txBody>
          <a:bodyPr wrap="square" rtlCol="0" anchor="ctr"/>
          <a:lstStyle/>
          <a:p>
            <a:pPr indent="0" marL="0">
              <a:buNone/>
            </a:pPr>
            <a:r>
              <a:rPr lang="en-US" sz="1400" b="1" spc="300" kern="0" dirty="0">
                <a:solidFill>
                  <a:srgbClr val="7FB8D6"/>
                </a:solidFill>
                <a:latin typeface="Calibri" pitchFamily="34" charset="0"/>
                <a:ea typeface="Calibri" pitchFamily="34" charset="-122"/>
                <a:cs typeface="Calibri" pitchFamily="34" charset="-120"/>
              </a:rPr>
              <a:t>WHERE TO GO NEXT</a:t>
            </a:r>
            <a:endParaRPr lang="en-US" sz="1400" dirty="0"/>
          </a:p>
        </p:txBody>
      </p:sp>
      <p:sp>
        <p:nvSpPr>
          <p:cNvPr id="5" name="Text 3"/>
          <p:cNvSpPr/>
          <p:nvPr/>
        </p:nvSpPr>
        <p:spPr>
          <a:xfrm>
            <a:off x="685800" y="1133856"/>
            <a:ext cx="96012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Resources</a:t>
            </a:r>
            <a:endParaRPr lang="en-US" sz="3800" dirty="0"/>
          </a:p>
        </p:txBody>
      </p:sp>
      <p:sp>
        <p:nvSpPr>
          <p:cNvPr id="6" name="Shape 4"/>
          <p:cNvSpPr/>
          <p:nvPr/>
        </p:nvSpPr>
        <p:spPr>
          <a:xfrm>
            <a:off x="731520" y="2194560"/>
            <a:ext cx="457200" cy="457200"/>
          </a:xfrm>
          <a:prstGeom prst="ellipse">
            <a:avLst/>
          </a:prstGeom>
          <a:solidFill>
            <a:srgbClr val="065A82"/>
          </a:solidFill>
          <a:ln/>
        </p:spPr>
      </p:sp>
      <p:pic>
        <p:nvPicPr>
          <p:cNvPr id="7" name="Image 0" descr="/tmp/b/icons/book_white.png">    </p:cNvPr>
          <p:cNvPicPr>
            <a:picLocks noChangeAspect="1"/>
          </p:cNvPicPr>
          <p:nvPr/>
        </p:nvPicPr>
        <p:blipFill>
          <a:blip r:embed="rId1"/>
          <a:stretch>
            <a:fillRect/>
          </a:stretch>
        </p:blipFill>
        <p:spPr>
          <a:xfrm>
            <a:off x="850392" y="2313432"/>
            <a:ext cx="219456" cy="219456"/>
          </a:xfrm>
          <a:prstGeom prst="rect">
            <a:avLst/>
          </a:prstGeom>
        </p:spPr>
      </p:pic>
      <p:sp>
        <p:nvSpPr>
          <p:cNvPr id="8" name="Text 5"/>
          <p:cNvSpPr/>
          <p:nvPr/>
        </p:nvSpPr>
        <p:spPr>
          <a:xfrm>
            <a:off x="1371600" y="2176272"/>
            <a:ext cx="2011680" cy="274320"/>
          </a:xfrm>
          <a:prstGeom prst="rect">
            <a:avLst/>
          </a:prstGeom>
          <a:noFill/>
          <a:ln/>
        </p:spPr>
        <p:txBody>
          <a:bodyPr wrap="square" rtlCol="0" anchor="ctr"/>
          <a:lstStyle/>
          <a:p>
            <a:pPr indent="0" marL="0">
              <a:buNone/>
            </a:pPr>
            <a:r>
              <a:rPr lang="en-US" sz="1100" dirty="0">
                <a:solidFill>
                  <a:srgbClr val="9FC3D9"/>
                </a:solidFill>
                <a:latin typeface="Calibri" pitchFamily="34" charset="0"/>
                <a:ea typeface="Calibri" pitchFamily="34" charset="-122"/>
                <a:cs typeface="Calibri" pitchFamily="34" charset="-120"/>
              </a:rPr>
              <a:t>Docs</a:t>
            </a:r>
            <a:endParaRPr lang="en-US" sz="1100" dirty="0"/>
          </a:p>
        </p:txBody>
      </p:sp>
      <p:sp>
        <p:nvSpPr>
          <p:cNvPr id="9" name="Text 6"/>
          <p:cNvSpPr/>
          <p:nvPr/>
        </p:nvSpPr>
        <p:spPr>
          <a:xfrm>
            <a:off x="1371600" y="2432304"/>
            <a:ext cx="9692640" cy="502920"/>
          </a:xfrm>
          <a:prstGeom prst="rect">
            <a:avLst/>
          </a:prstGeom>
          <a:noFill/>
          <a:ln/>
        </p:spPr>
        <p:txBody>
          <a:bodyPr wrap="square" rtlCol="0" anchor="ctr"/>
          <a:lstStyle/>
          <a:p>
            <a:pPr indent="0" marL="0">
              <a:lnSpc>
                <a:spcPct val="120000"/>
              </a:lnSpc>
              <a:buNone/>
            </a:pPr>
            <a:r>
              <a:rPr lang="en-US" sz="12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docs.primeintellect.ai — start with the Lab guides; “Your First Model Training” is the end-to-end walkthrough.</a:t>
            </a:r>
            <a:endParaRPr lang="en-US" sz="1200" dirty="0"/>
          </a:p>
        </p:txBody>
      </p:sp>
      <p:sp>
        <p:nvSpPr>
          <p:cNvPr id="10" name="Shape 7"/>
          <p:cNvSpPr/>
          <p:nvPr/>
        </p:nvSpPr>
        <p:spPr>
          <a:xfrm>
            <a:off x="731520" y="2999232"/>
            <a:ext cx="457200" cy="457200"/>
          </a:xfrm>
          <a:prstGeom prst="ellipse">
            <a:avLst/>
          </a:prstGeom>
          <a:solidFill>
            <a:srgbClr val="065A82"/>
          </a:solidFill>
          <a:ln/>
        </p:spPr>
      </p:sp>
      <p:pic>
        <p:nvPicPr>
          <p:cNvPr id="11" name="Image 1" descr="/tmp/b/icons/code_branch_white.png">    </p:cNvPr>
          <p:cNvPicPr>
            <a:picLocks noChangeAspect="1"/>
          </p:cNvPicPr>
          <p:nvPr/>
        </p:nvPicPr>
        <p:blipFill>
          <a:blip r:embed="rId3"/>
          <a:stretch>
            <a:fillRect/>
          </a:stretch>
        </p:blipFill>
        <p:spPr>
          <a:xfrm>
            <a:off x="850392" y="3118104"/>
            <a:ext cx="219456" cy="219456"/>
          </a:xfrm>
          <a:prstGeom prst="rect">
            <a:avLst/>
          </a:prstGeom>
        </p:spPr>
      </p:pic>
      <p:sp>
        <p:nvSpPr>
          <p:cNvPr id="12" name="Text 8"/>
          <p:cNvSpPr/>
          <p:nvPr/>
        </p:nvSpPr>
        <p:spPr>
          <a:xfrm>
            <a:off x="1371600" y="2980944"/>
            <a:ext cx="2011680" cy="274320"/>
          </a:xfrm>
          <a:prstGeom prst="rect">
            <a:avLst/>
          </a:prstGeom>
          <a:noFill/>
          <a:ln/>
        </p:spPr>
        <p:txBody>
          <a:bodyPr wrap="square" rtlCol="0" anchor="ctr"/>
          <a:lstStyle/>
          <a:p>
            <a:pPr indent="0" marL="0">
              <a:buNone/>
            </a:pPr>
            <a:r>
              <a:rPr lang="en-US" sz="1100" dirty="0">
                <a:solidFill>
                  <a:srgbClr val="9FC3D9"/>
                </a:solidFill>
                <a:latin typeface="Calibri" pitchFamily="34" charset="0"/>
                <a:ea typeface="Calibri" pitchFamily="34" charset="-122"/>
                <a:cs typeface="Calibri" pitchFamily="34" charset="-120"/>
              </a:rPr>
              <a:t>Source</a:t>
            </a:r>
            <a:endParaRPr lang="en-US" sz="1100" dirty="0"/>
          </a:p>
        </p:txBody>
      </p:sp>
      <p:sp>
        <p:nvSpPr>
          <p:cNvPr id="13" name="Text 9"/>
          <p:cNvSpPr/>
          <p:nvPr/>
        </p:nvSpPr>
        <p:spPr>
          <a:xfrm>
            <a:off x="1371600" y="3236976"/>
            <a:ext cx="9692640" cy="502920"/>
          </a:xfrm>
          <a:prstGeom prst="rect">
            <a:avLst/>
          </a:prstGeom>
          <a:noFill/>
          <a:ln/>
        </p:spPr>
        <p:txBody>
          <a:bodyPr wrap="square" rtlCol="0" anchor="ctr"/>
          <a:lstStyle/>
          <a:p>
            <a:pPr indent="0" marL="0">
              <a:lnSpc>
                <a:spcPct val="120000"/>
              </a:lnSpc>
              <a:buNone/>
            </a:pPr>
            <a:r>
              <a:rPr lang="en-US" sz="1200" u="sng" dirty="0">
                <a:solidFill>
                  <a:srgbClr val="FFFFF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github.com/PrimeIntellect-ai/verifiers — the environment library. prime-rl is the trainer beneath it.</a:t>
            </a:r>
            <a:endParaRPr lang="en-US" sz="1200" dirty="0"/>
          </a:p>
        </p:txBody>
      </p:sp>
      <p:sp>
        <p:nvSpPr>
          <p:cNvPr id="14" name="Shape 10"/>
          <p:cNvSpPr/>
          <p:nvPr/>
        </p:nvSpPr>
        <p:spPr>
          <a:xfrm>
            <a:off x="731520" y="3803904"/>
            <a:ext cx="457200" cy="457200"/>
          </a:xfrm>
          <a:prstGeom prst="ellipse">
            <a:avLst/>
          </a:prstGeom>
          <a:solidFill>
            <a:srgbClr val="065A82"/>
          </a:solidFill>
          <a:ln/>
        </p:spPr>
      </p:sp>
      <p:pic>
        <p:nvPicPr>
          <p:cNvPr id="15" name="Image 2" descr="/tmp/b/icons/box_white.png">    </p:cNvPr>
          <p:cNvPicPr>
            <a:picLocks noChangeAspect="1"/>
          </p:cNvPicPr>
          <p:nvPr/>
        </p:nvPicPr>
        <p:blipFill>
          <a:blip r:embed="rId5"/>
          <a:stretch>
            <a:fillRect/>
          </a:stretch>
        </p:blipFill>
        <p:spPr>
          <a:xfrm>
            <a:off x="850392" y="3922776"/>
            <a:ext cx="219456" cy="219456"/>
          </a:xfrm>
          <a:prstGeom prst="rect">
            <a:avLst/>
          </a:prstGeom>
        </p:spPr>
      </p:pic>
      <p:sp>
        <p:nvSpPr>
          <p:cNvPr id="16" name="Text 11"/>
          <p:cNvSpPr/>
          <p:nvPr/>
        </p:nvSpPr>
        <p:spPr>
          <a:xfrm>
            <a:off x="1371600" y="3785616"/>
            <a:ext cx="2011680" cy="274320"/>
          </a:xfrm>
          <a:prstGeom prst="rect">
            <a:avLst/>
          </a:prstGeom>
          <a:noFill/>
          <a:ln/>
        </p:spPr>
        <p:txBody>
          <a:bodyPr wrap="square" rtlCol="0" anchor="ctr"/>
          <a:lstStyle/>
          <a:p>
            <a:pPr indent="0" marL="0">
              <a:buNone/>
            </a:pPr>
            <a:r>
              <a:rPr lang="en-US" sz="1100" dirty="0">
                <a:solidFill>
                  <a:srgbClr val="9FC3D9"/>
                </a:solidFill>
                <a:latin typeface="Calibri" pitchFamily="34" charset="0"/>
                <a:ea typeface="Calibri" pitchFamily="34" charset="-122"/>
                <a:cs typeface="Calibri" pitchFamily="34" charset="-120"/>
              </a:rPr>
              <a:t>Environments Hub</a:t>
            </a:r>
            <a:endParaRPr lang="en-US" sz="1100" dirty="0"/>
          </a:p>
        </p:txBody>
      </p:sp>
      <p:sp>
        <p:nvSpPr>
          <p:cNvPr id="17" name="Text 12"/>
          <p:cNvSpPr/>
          <p:nvPr/>
        </p:nvSpPr>
        <p:spPr>
          <a:xfrm>
            <a:off x="1371600" y="4041648"/>
            <a:ext cx="9692640" cy="502920"/>
          </a:xfrm>
          <a:prstGeom prst="rect">
            <a:avLst/>
          </a:prstGeom>
          <a:noFill/>
          <a:ln/>
        </p:spPr>
        <p:txBody>
          <a:bodyPr wrap="square" rtlCol="0" anchor="ctr"/>
          <a:lstStyle/>
          <a:p>
            <a:pPr indent="0" marL="0">
              <a:lnSpc>
                <a:spcPct val="120000"/>
              </a:lnSpc>
              <a:buNone/>
            </a:pPr>
            <a:r>
              <a:rPr lang="en-US" sz="1200" u="sng" dirty="0">
                <a:solidFill>
                  <a:srgbClr val="FFFFFF"/>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app.primeintellect.ai/dashboard/environments — browse published environments and read their source before trusting a score.</a:t>
            </a:r>
            <a:endParaRPr lang="en-US" sz="1200" dirty="0"/>
          </a:p>
        </p:txBody>
      </p:sp>
      <p:sp>
        <p:nvSpPr>
          <p:cNvPr id="18" name="Shape 13"/>
          <p:cNvSpPr/>
          <p:nvPr/>
        </p:nvSpPr>
        <p:spPr>
          <a:xfrm>
            <a:off x="731520" y="4700016"/>
            <a:ext cx="5486400" cy="0"/>
          </a:xfrm>
          <a:prstGeom prst="line">
            <a:avLst/>
          </a:prstGeom>
          <a:noFill/>
          <a:ln w="12700">
            <a:solidFill>
              <a:srgbClr val="1C7293"/>
            </a:solidFill>
            <a:prstDash val="solid"/>
          </a:ln>
        </p:spPr>
      </p:sp>
      <p:sp>
        <p:nvSpPr>
          <p:cNvPr id="19" name="Text 14"/>
          <p:cNvSpPr/>
          <p:nvPr/>
        </p:nvSpPr>
        <p:spPr>
          <a:xfrm>
            <a:off x="731520" y="4882896"/>
            <a:ext cx="7315200" cy="320040"/>
          </a:xfrm>
          <a:prstGeom prst="rect">
            <a:avLst/>
          </a:prstGeom>
          <a:noFill/>
          <a:ln/>
        </p:spPr>
        <p:txBody>
          <a:bodyPr wrap="square" rtlCol="0" anchor="ctr"/>
          <a:lstStyle/>
          <a:p>
            <a:pPr indent="0" marL="0">
              <a:buNone/>
            </a:pPr>
            <a:r>
              <a:rPr lang="en-US" sz="1300" b="1" dirty="0">
                <a:solidFill>
                  <a:srgbClr val="8FD4E8"/>
                </a:solidFill>
                <a:latin typeface="Calibri" pitchFamily="34" charset="0"/>
                <a:ea typeface="Calibri" pitchFamily="34" charset="-122"/>
                <a:cs typeface="Calibri" pitchFamily="34" charset="-120"/>
              </a:rPr>
              <a:t>A Question to Sit With</a:t>
            </a:r>
            <a:endParaRPr lang="en-US" sz="1300" dirty="0"/>
          </a:p>
        </p:txBody>
      </p:sp>
      <p:sp>
        <p:nvSpPr>
          <p:cNvPr id="20" name="Text 15"/>
          <p:cNvSpPr/>
          <p:nvPr/>
        </p:nvSpPr>
        <p:spPr>
          <a:xfrm>
            <a:off x="731520" y="5248656"/>
            <a:ext cx="10332720" cy="868680"/>
          </a:xfrm>
          <a:prstGeom prst="rect">
            <a:avLst/>
          </a:prstGeom>
          <a:noFill/>
          <a:ln/>
        </p:spPr>
        <p:txBody>
          <a:bodyPr wrap="square" rtlCol="0" anchor="ctr"/>
          <a:lstStyle/>
          <a:p>
            <a:pPr indent="0" marL="0">
              <a:lnSpc>
                <a:spcPct val="125000"/>
              </a:lnSpc>
              <a:buNone/>
            </a:pPr>
            <a:r>
              <a:rPr lang="en-US" sz="1300" i="1" dirty="0">
                <a:solidFill>
                  <a:srgbClr val="D7E9F2"/>
                </a:solidFill>
                <a:latin typeface="Calibri" pitchFamily="34" charset="0"/>
                <a:ea typeface="Calibri" pitchFamily="34" charset="-122"/>
                <a:cs typeface="Calibri" pitchFamily="34" charset="-120"/>
              </a:rPr>
              <a:t>The environment on slide 14 asks the model, in plain English, not to edit the tests — and then hands it the ability to do so. Suppose you couldn't add the missing filename check. What else could you change about how the task is scored so that editing the tests stops being worth doing?</a:t>
            </a:r>
            <a:endParaRPr lang="en-US" sz="1300" dirty="0"/>
          </a:p>
        </p:txBody>
      </p:sp>
      <p:sp>
        <p:nvSpPr>
          <p:cNvPr id="21" name="Text 16"/>
          <p:cNvSpPr/>
          <p:nvPr/>
        </p:nvSpPr>
        <p:spPr>
          <a:xfrm>
            <a:off x="548640" y="6446520"/>
            <a:ext cx="64008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PRIME INTELLECT  ·  AI SEMINAR, LECTURE 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 Intellect: RL Environments, Hosted Training, and the Compute Underneath</dc:title>
  <dc:subject>PptxGenJS Presentation</dc:subject>
  <dc:creator>AI Seminar</dc:creator>
  <cp:lastModifiedBy>AI Seminar</cp:lastModifiedBy>
  <cp:revision>1</cp:revision>
  <dcterms:created xsi:type="dcterms:W3CDTF">2026-07-29T01:42:59Z</dcterms:created>
  <dcterms:modified xsi:type="dcterms:W3CDTF">2026-07-29T01:42:59Z</dcterms:modified>
</cp:coreProperties>
</file>