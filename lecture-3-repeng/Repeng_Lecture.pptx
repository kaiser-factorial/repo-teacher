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Shape 0"/>
          <p:cNvSpPr/>
          <p:nvPr/>
        </p:nvSpPr>
        <p:spPr>
          <a:xfrm>
            <a:off x="9326880" y="-1463040"/>
            <a:ext cx="4937760" cy="4937760"/>
          </a:xfrm>
          <a:prstGeom prst="ellipse">
            <a:avLst/>
          </a:prstGeom>
          <a:solidFill>
            <a:srgbClr val="21295C">
              <a:alpha val="60000"/>
            </a:srgbClr>
          </a:solidFill>
          <a:ln/>
        </p:spPr>
      </p:sp>
      <p:sp>
        <p:nvSpPr>
          <p:cNvPr id="3" name="Shape 1"/>
          <p:cNvSpPr/>
          <p:nvPr/>
        </p:nvSpPr>
        <p:spPr>
          <a:xfrm>
            <a:off x="10972800" y="4389120"/>
            <a:ext cx="3108960" cy="3108960"/>
          </a:xfrm>
          <a:prstGeom prst="ellipse">
            <a:avLst/>
          </a:prstGeom>
          <a:solidFill>
            <a:srgbClr val="065A82">
              <a:alpha val="45000"/>
            </a:srgbClr>
          </a:solidFill>
          <a:ln/>
        </p:spPr>
      </p:sp>
      <p:sp>
        <p:nvSpPr>
          <p:cNvPr id="4" name="Shape 2"/>
          <p:cNvSpPr/>
          <p:nvPr/>
        </p:nvSpPr>
        <p:spPr>
          <a:xfrm>
            <a:off x="9052560" y="1143000"/>
            <a:ext cx="2286000" cy="219456"/>
          </a:xfrm>
          <a:prstGeom prst="roundRect">
            <a:avLst>
              <a:gd name="adj" fmla="val 12500"/>
            </a:avLst>
          </a:prstGeom>
          <a:solidFill>
            <a:srgbClr val="17395A"/>
          </a:solidFill>
          <a:ln w="9525">
            <a:solidFill>
              <a:srgbClr val="23496B"/>
            </a:solidFill>
            <a:prstDash val="solid"/>
          </a:ln>
        </p:spPr>
      </p:sp>
      <p:sp>
        <p:nvSpPr>
          <p:cNvPr id="5" name="Shape 3"/>
          <p:cNvSpPr/>
          <p:nvPr/>
        </p:nvSpPr>
        <p:spPr>
          <a:xfrm>
            <a:off x="9052560" y="1463040"/>
            <a:ext cx="2286000" cy="219456"/>
          </a:xfrm>
          <a:prstGeom prst="roundRect">
            <a:avLst>
              <a:gd name="adj" fmla="val 12500"/>
            </a:avLst>
          </a:prstGeom>
          <a:solidFill>
            <a:srgbClr val="17395A"/>
          </a:solidFill>
          <a:ln w="9525">
            <a:solidFill>
              <a:srgbClr val="23496B"/>
            </a:solidFill>
            <a:prstDash val="solid"/>
          </a:ln>
        </p:spPr>
      </p:sp>
      <p:sp>
        <p:nvSpPr>
          <p:cNvPr id="6" name="Shape 4"/>
          <p:cNvSpPr/>
          <p:nvPr/>
        </p:nvSpPr>
        <p:spPr>
          <a:xfrm>
            <a:off x="9052560" y="1783080"/>
            <a:ext cx="2286000" cy="219456"/>
          </a:xfrm>
          <a:prstGeom prst="roundRect">
            <a:avLst>
              <a:gd name="adj" fmla="val 12500"/>
            </a:avLst>
          </a:prstGeom>
          <a:solidFill>
            <a:srgbClr val="17395A"/>
          </a:solidFill>
          <a:ln w="9525">
            <a:solidFill>
              <a:srgbClr val="23496B"/>
            </a:solidFill>
            <a:prstDash val="solid"/>
          </a:ln>
        </p:spPr>
      </p:sp>
      <p:sp>
        <p:nvSpPr>
          <p:cNvPr id="7" name="Shape 5"/>
          <p:cNvSpPr/>
          <p:nvPr/>
        </p:nvSpPr>
        <p:spPr>
          <a:xfrm>
            <a:off x="9052560" y="2103120"/>
            <a:ext cx="2286000" cy="219456"/>
          </a:xfrm>
          <a:prstGeom prst="roundRect">
            <a:avLst>
              <a:gd name="adj" fmla="val 12500"/>
            </a:avLst>
          </a:prstGeom>
          <a:solidFill>
            <a:srgbClr val="17395A"/>
          </a:solidFill>
          <a:ln w="9525">
            <a:solidFill>
              <a:srgbClr val="23496B"/>
            </a:solidFill>
            <a:prstDash val="solid"/>
          </a:ln>
        </p:spPr>
      </p:sp>
      <p:sp>
        <p:nvSpPr>
          <p:cNvPr id="8" name="Shape 6"/>
          <p:cNvSpPr/>
          <p:nvPr/>
        </p:nvSpPr>
        <p:spPr>
          <a:xfrm>
            <a:off x="9052560" y="2423160"/>
            <a:ext cx="2286000" cy="219456"/>
          </a:xfrm>
          <a:prstGeom prst="roundRect">
            <a:avLst>
              <a:gd name="adj" fmla="val 12500"/>
            </a:avLst>
          </a:prstGeom>
          <a:solidFill>
            <a:srgbClr val="2F6E8F"/>
          </a:solidFill>
          <a:ln w="9525">
            <a:solidFill>
              <a:srgbClr val="8FD4E8"/>
            </a:solidFill>
            <a:prstDash val="solid"/>
          </a:ln>
        </p:spPr>
      </p:sp>
      <p:sp>
        <p:nvSpPr>
          <p:cNvPr id="9" name="Shape 7"/>
          <p:cNvSpPr/>
          <p:nvPr/>
        </p:nvSpPr>
        <p:spPr>
          <a:xfrm>
            <a:off x="9052560" y="2743200"/>
            <a:ext cx="2286000" cy="219456"/>
          </a:xfrm>
          <a:prstGeom prst="roundRect">
            <a:avLst>
              <a:gd name="adj" fmla="val 12500"/>
            </a:avLst>
          </a:prstGeom>
          <a:solidFill>
            <a:srgbClr val="2F6E8F"/>
          </a:solidFill>
          <a:ln w="9525">
            <a:solidFill>
              <a:srgbClr val="8FD4E8"/>
            </a:solidFill>
            <a:prstDash val="solid"/>
          </a:ln>
        </p:spPr>
      </p:sp>
      <p:sp>
        <p:nvSpPr>
          <p:cNvPr id="10" name="Shape 8"/>
          <p:cNvSpPr/>
          <p:nvPr/>
        </p:nvSpPr>
        <p:spPr>
          <a:xfrm>
            <a:off x="9052560" y="3063240"/>
            <a:ext cx="2286000" cy="219456"/>
          </a:xfrm>
          <a:prstGeom prst="roundRect">
            <a:avLst>
              <a:gd name="adj" fmla="val 12500"/>
            </a:avLst>
          </a:prstGeom>
          <a:solidFill>
            <a:srgbClr val="2F6E8F"/>
          </a:solidFill>
          <a:ln w="9525">
            <a:solidFill>
              <a:srgbClr val="8FD4E8"/>
            </a:solidFill>
            <a:prstDash val="solid"/>
          </a:ln>
        </p:spPr>
      </p:sp>
      <p:sp>
        <p:nvSpPr>
          <p:cNvPr id="11" name="Shape 9"/>
          <p:cNvSpPr/>
          <p:nvPr/>
        </p:nvSpPr>
        <p:spPr>
          <a:xfrm>
            <a:off x="9052560" y="3383280"/>
            <a:ext cx="2286000" cy="219456"/>
          </a:xfrm>
          <a:prstGeom prst="roundRect">
            <a:avLst>
              <a:gd name="adj" fmla="val 12500"/>
            </a:avLst>
          </a:prstGeom>
          <a:solidFill>
            <a:srgbClr val="2F6E8F"/>
          </a:solidFill>
          <a:ln w="9525">
            <a:solidFill>
              <a:srgbClr val="8FD4E8"/>
            </a:solidFill>
            <a:prstDash val="solid"/>
          </a:ln>
        </p:spPr>
      </p:sp>
      <p:sp>
        <p:nvSpPr>
          <p:cNvPr id="12" name="Shape 10"/>
          <p:cNvSpPr/>
          <p:nvPr/>
        </p:nvSpPr>
        <p:spPr>
          <a:xfrm>
            <a:off x="9052560" y="3703320"/>
            <a:ext cx="2286000" cy="219456"/>
          </a:xfrm>
          <a:prstGeom prst="roundRect">
            <a:avLst>
              <a:gd name="adj" fmla="val 12500"/>
            </a:avLst>
          </a:prstGeom>
          <a:solidFill>
            <a:srgbClr val="2F6E8F"/>
          </a:solidFill>
          <a:ln w="9525">
            <a:solidFill>
              <a:srgbClr val="8FD4E8"/>
            </a:solidFill>
            <a:prstDash val="solid"/>
          </a:ln>
        </p:spPr>
      </p:sp>
      <p:sp>
        <p:nvSpPr>
          <p:cNvPr id="13" name="Shape 11"/>
          <p:cNvSpPr/>
          <p:nvPr/>
        </p:nvSpPr>
        <p:spPr>
          <a:xfrm>
            <a:off x="9052560" y="4023360"/>
            <a:ext cx="2286000" cy="219456"/>
          </a:xfrm>
          <a:prstGeom prst="roundRect">
            <a:avLst>
              <a:gd name="adj" fmla="val 12500"/>
            </a:avLst>
          </a:prstGeom>
          <a:solidFill>
            <a:srgbClr val="2F6E8F"/>
          </a:solidFill>
          <a:ln w="9525">
            <a:solidFill>
              <a:srgbClr val="8FD4E8"/>
            </a:solidFill>
            <a:prstDash val="solid"/>
          </a:ln>
        </p:spPr>
      </p:sp>
      <p:sp>
        <p:nvSpPr>
          <p:cNvPr id="14" name="Shape 12"/>
          <p:cNvSpPr/>
          <p:nvPr/>
        </p:nvSpPr>
        <p:spPr>
          <a:xfrm>
            <a:off x="9052560" y="4343400"/>
            <a:ext cx="2286000" cy="219456"/>
          </a:xfrm>
          <a:prstGeom prst="roundRect">
            <a:avLst>
              <a:gd name="adj" fmla="val 12500"/>
            </a:avLst>
          </a:prstGeom>
          <a:solidFill>
            <a:srgbClr val="17395A"/>
          </a:solidFill>
          <a:ln w="9525">
            <a:solidFill>
              <a:srgbClr val="23496B"/>
            </a:solidFill>
            <a:prstDash val="solid"/>
          </a:ln>
        </p:spPr>
      </p:sp>
      <p:sp>
        <p:nvSpPr>
          <p:cNvPr id="15" name="Shape 13"/>
          <p:cNvSpPr/>
          <p:nvPr/>
        </p:nvSpPr>
        <p:spPr>
          <a:xfrm>
            <a:off x="9052560" y="4663440"/>
            <a:ext cx="2286000" cy="219456"/>
          </a:xfrm>
          <a:prstGeom prst="roundRect">
            <a:avLst>
              <a:gd name="adj" fmla="val 12500"/>
            </a:avLst>
          </a:prstGeom>
          <a:solidFill>
            <a:srgbClr val="17395A"/>
          </a:solidFill>
          <a:ln w="9525">
            <a:solidFill>
              <a:srgbClr val="23496B"/>
            </a:solidFill>
            <a:prstDash val="solid"/>
          </a:ln>
        </p:spPr>
      </p:sp>
      <p:sp>
        <p:nvSpPr>
          <p:cNvPr id="16" name="Shape 14"/>
          <p:cNvSpPr/>
          <p:nvPr/>
        </p:nvSpPr>
        <p:spPr>
          <a:xfrm>
            <a:off x="9052560" y="4983480"/>
            <a:ext cx="2286000" cy="219456"/>
          </a:xfrm>
          <a:prstGeom prst="roundRect">
            <a:avLst>
              <a:gd name="adj" fmla="val 12500"/>
            </a:avLst>
          </a:prstGeom>
          <a:solidFill>
            <a:srgbClr val="17395A"/>
          </a:solidFill>
          <a:ln w="9525">
            <a:solidFill>
              <a:srgbClr val="23496B"/>
            </a:solidFill>
            <a:prstDash val="solid"/>
          </a:ln>
        </p:spPr>
      </p:sp>
      <p:sp>
        <p:nvSpPr>
          <p:cNvPr id="17" name="Shape 15"/>
          <p:cNvSpPr/>
          <p:nvPr/>
        </p:nvSpPr>
        <p:spPr>
          <a:xfrm>
            <a:off x="8595360" y="2532888"/>
            <a:ext cx="347472" cy="0"/>
          </a:xfrm>
          <a:prstGeom prst="line">
            <a:avLst/>
          </a:prstGeom>
          <a:noFill/>
          <a:ln w="19050">
            <a:solidFill>
              <a:srgbClr val="8FD4E8"/>
            </a:solidFill>
            <a:prstDash val="solid"/>
            <a:tailEnd type="triangle"/>
          </a:ln>
        </p:spPr>
      </p:sp>
      <p:sp>
        <p:nvSpPr>
          <p:cNvPr id="18" name="Shape 16"/>
          <p:cNvSpPr/>
          <p:nvPr/>
        </p:nvSpPr>
        <p:spPr>
          <a:xfrm>
            <a:off x="8595360" y="2852928"/>
            <a:ext cx="347472" cy="0"/>
          </a:xfrm>
          <a:prstGeom prst="line">
            <a:avLst/>
          </a:prstGeom>
          <a:noFill/>
          <a:ln w="19050">
            <a:solidFill>
              <a:srgbClr val="8FD4E8"/>
            </a:solidFill>
            <a:prstDash val="solid"/>
            <a:tailEnd type="triangle"/>
          </a:ln>
        </p:spPr>
      </p:sp>
      <p:sp>
        <p:nvSpPr>
          <p:cNvPr id="19" name="Shape 17"/>
          <p:cNvSpPr/>
          <p:nvPr/>
        </p:nvSpPr>
        <p:spPr>
          <a:xfrm>
            <a:off x="8595360" y="3172968"/>
            <a:ext cx="347472" cy="0"/>
          </a:xfrm>
          <a:prstGeom prst="line">
            <a:avLst/>
          </a:prstGeom>
          <a:noFill/>
          <a:ln w="19050">
            <a:solidFill>
              <a:srgbClr val="8FD4E8"/>
            </a:solidFill>
            <a:prstDash val="solid"/>
            <a:tailEnd type="triangle"/>
          </a:ln>
        </p:spPr>
      </p:sp>
      <p:sp>
        <p:nvSpPr>
          <p:cNvPr id="20" name="Shape 18"/>
          <p:cNvSpPr/>
          <p:nvPr/>
        </p:nvSpPr>
        <p:spPr>
          <a:xfrm>
            <a:off x="8595360" y="3493008"/>
            <a:ext cx="347472" cy="0"/>
          </a:xfrm>
          <a:prstGeom prst="line">
            <a:avLst/>
          </a:prstGeom>
          <a:noFill/>
          <a:ln w="19050">
            <a:solidFill>
              <a:srgbClr val="8FD4E8"/>
            </a:solidFill>
            <a:prstDash val="solid"/>
            <a:tailEnd type="triangle"/>
          </a:ln>
        </p:spPr>
      </p:sp>
      <p:sp>
        <p:nvSpPr>
          <p:cNvPr id="21" name="Shape 19"/>
          <p:cNvSpPr/>
          <p:nvPr/>
        </p:nvSpPr>
        <p:spPr>
          <a:xfrm>
            <a:off x="8595360" y="3813048"/>
            <a:ext cx="347472" cy="0"/>
          </a:xfrm>
          <a:prstGeom prst="line">
            <a:avLst/>
          </a:prstGeom>
          <a:noFill/>
          <a:ln w="19050">
            <a:solidFill>
              <a:srgbClr val="8FD4E8"/>
            </a:solidFill>
            <a:prstDash val="solid"/>
            <a:tailEnd type="triangle"/>
          </a:ln>
        </p:spPr>
      </p:sp>
      <p:sp>
        <p:nvSpPr>
          <p:cNvPr id="22" name="Shape 20"/>
          <p:cNvSpPr/>
          <p:nvPr/>
        </p:nvSpPr>
        <p:spPr>
          <a:xfrm>
            <a:off x="8595360" y="4133088"/>
            <a:ext cx="347472" cy="0"/>
          </a:xfrm>
          <a:prstGeom prst="line">
            <a:avLst/>
          </a:prstGeom>
          <a:noFill/>
          <a:ln w="19050">
            <a:solidFill>
              <a:srgbClr val="8FD4E8"/>
            </a:solidFill>
            <a:prstDash val="solid"/>
            <a:tailEnd type="triangle"/>
          </a:ln>
        </p:spPr>
      </p:sp>
      <p:sp>
        <p:nvSpPr>
          <p:cNvPr id="23" name="Text 21"/>
          <p:cNvSpPr/>
          <p:nvPr/>
        </p:nvSpPr>
        <p:spPr>
          <a:xfrm>
            <a:off x="7973568" y="3017520"/>
            <a:ext cx="566928" cy="320040"/>
          </a:xfrm>
          <a:prstGeom prst="rect">
            <a:avLst/>
          </a:prstGeom>
          <a:noFill/>
          <a:ln/>
        </p:spPr>
        <p:txBody>
          <a:bodyPr wrap="square" lIns="0" tIns="0" rIns="0" bIns="0" rtlCol="0" anchor="ctr"/>
          <a:lstStyle/>
          <a:p>
            <a:pPr algn="r" indent="0" marL="0">
              <a:buNone/>
            </a:pPr>
            <a:r>
              <a:rPr lang="en-US" sz="1400" b="1" dirty="0">
                <a:solidFill>
                  <a:srgbClr val="8FD4E8"/>
                </a:solidFill>
                <a:latin typeface="Courier New" pitchFamily="34" charset="0"/>
                <a:ea typeface="Courier New" pitchFamily="34" charset="-122"/>
                <a:cs typeface="Courier New" pitchFamily="34" charset="-120"/>
              </a:rPr>
              <a:t>+ v</a:t>
            </a:r>
            <a:endParaRPr lang="en-US" sz="1400" dirty="0"/>
          </a:p>
        </p:txBody>
      </p:sp>
      <p:sp>
        <p:nvSpPr>
          <p:cNvPr id="24" name="Text 22"/>
          <p:cNvSpPr/>
          <p:nvPr/>
        </p:nvSpPr>
        <p:spPr>
          <a:xfrm>
            <a:off x="731520" y="1417320"/>
            <a:ext cx="7315200" cy="365760"/>
          </a:xfrm>
          <a:prstGeom prst="rect">
            <a:avLst/>
          </a:prstGeom>
          <a:noFill/>
          <a:ln/>
        </p:spPr>
        <p:txBody>
          <a:bodyPr wrap="square" rtlCol="0" anchor="ctr"/>
          <a:lstStyle/>
          <a:p>
            <a:pPr indent="0" marL="0">
              <a:buNone/>
            </a:pPr>
            <a:r>
              <a:rPr lang="en-US" sz="1400" b="1" spc="300" kern="0" dirty="0">
                <a:solidFill>
                  <a:srgbClr val="7FB8D6"/>
                </a:solidFill>
                <a:latin typeface="Calibri" pitchFamily="34" charset="0"/>
                <a:ea typeface="Calibri" pitchFamily="34" charset="-122"/>
                <a:cs typeface="Calibri" pitchFamily="34" charset="-120"/>
              </a:rPr>
              <a:t>AI SEMINAR  ·  LECTURE 3</a:t>
            </a:r>
            <a:endParaRPr lang="en-US" sz="1400" dirty="0"/>
          </a:p>
        </p:txBody>
      </p:sp>
      <p:sp>
        <p:nvSpPr>
          <p:cNvPr id="25" name="Text 23"/>
          <p:cNvSpPr/>
          <p:nvPr/>
        </p:nvSpPr>
        <p:spPr>
          <a:xfrm>
            <a:off x="685800" y="1874520"/>
            <a:ext cx="7863840" cy="137160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repeng</a:t>
            </a:r>
            <a:endParaRPr lang="en-US" sz="6400" dirty="0"/>
          </a:p>
        </p:txBody>
      </p:sp>
      <p:sp>
        <p:nvSpPr>
          <p:cNvPr id="26" name="Text 24"/>
          <p:cNvSpPr/>
          <p:nvPr/>
        </p:nvSpPr>
        <p:spPr>
          <a:xfrm>
            <a:off x="731520" y="3108960"/>
            <a:ext cx="6949440" cy="868680"/>
          </a:xfrm>
          <a:prstGeom prst="rect">
            <a:avLst/>
          </a:prstGeom>
          <a:noFill/>
          <a:ln/>
        </p:spPr>
        <p:txBody>
          <a:bodyPr wrap="square" rtlCol="0" anchor="ctr"/>
          <a:lstStyle/>
          <a:p>
            <a:pPr indent="0" marL="0">
              <a:lnSpc>
                <a:spcPct val="115000"/>
              </a:lnSpc>
              <a:buNone/>
            </a:pPr>
            <a:r>
              <a:rPr lang="en-US" sz="1900" dirty="0">
                <a:solidFill>
                  <a:srgbClr val="CFE8F0"/>
                </a:solidFill>
                <a:latin typeface="Calibri" pitchFamily="34" charset="0"/>
                <a:ea typeface="Calibri" pitchFamily="34" charset="-122"/>
                <a:cs typeface="Calibri" pitchFamily="34" charset="-120"/>
              </a:rPr>
              <a:t>Representation Engineering: Training Control Vectors That Steer a Model From the Inside</a:t>
            </a:r>
            <a:endParaRPr lang="en-US" sz="1900" dirty="0"/>
          </a:p>
        </p:txBody>
      </p:sp>
      <p:sp>
        <p:nvSpPr>
          <p:cNvPr id="27" name="Text 25"/>
          <p:cNvSpPr/>
          <p:nvPr/>
        </p:nvSpPr>
        <p:spPr>
          <a:xfrm>
            <a:off x="731520" y="4114800"/>
            <a:ext cx="7863840" cy="1371600"/>
          </a:xfrm>
          <a:prstGeom prst="rect">
            <a:avLst/>
          </a:prstGeom>
          <a:noFill/>
          <a:ln/>
        </p:spPr>
        <p:txBody>
          <a:bodyPr wrap="square" rtlCol="0" anchor="ctr"/>
          <a:lstStyle/>
          <a:p>
            <a:pPr indent="0" marL="0">
              <a:lnSpc>
                <a:spcPct val="125000"/>
              </a:lnSpc>
              <a:buNone/>
            </a:pPr>
            <a:r>
              <a:rPr lang="en-US" sz="1350" b="1" dirty="0">
                <a:solidFill>
                  <a:srgbClr val="BFE0EE"/>
                </a:solidFill>
                <a:latin typeface="Calibri" pitchFamily="34" charset="0"/>
                <a:ea typeface="Calibri" pitchFamily="34" charset="-122"/>
                <a:cs typeface="Calibri" pitchFamily="34" charset="-120"/>
              </a:rPr>
              <a:t>How we'll get there: </a:t>
            </a:r>
            <a:pPr indent="0" marL="0">
              <a:lnSpc>
                <a:spcPct val="125000"/>
              </a:lnSpc>
              <a:buNone/>
            </a:pPr>
            <a:r>
              <a:rPr lang="en-US" sz="1350" dirty="0">
                <a:solidFill>
                  <a:srgbClr val="9FC3D9"/>
                </a:solidFill>
                <a:latin typeface="Calibri" pitchFamily="34" charset="0"/>
                <a:ea typeface="Calibri" pitchFamily="34" charset="-122"/>
                <a:cs typeface="Calibri" pitchFamily="34" charset="-120"/>
              </a:rPr>
              <a:t>a one-paragraph preview, then a standalone background section on contrast pairs, one-component PCA, activation addition, chat templates, and network depth — then back to repeng for the real training loop, the layer-targeting dial, and the places it breaks.</a:t>
            </a:r>
            <a:endParaRPr lang="en-US" sz="1350" dirty="0"/>
          </a:p>
        </p:txBody>
      </p:sp>
      <p:sp>
        <p:nvSpPr>
          <p:cNvPr id="28" name="Text 26"/>
          <p:cNvSpPr/>
          <p:nvPr/>
        </p:nvSpPr>
        <p:spPr>
          <a:xfrm>
            <a:off x="731520" y="6035040"/>
            <a:ext cx="8229600" cy="365760"/>
          </a:xfrm>
          <a:prstGeom prst="rect">
            <a:avLst/>
          </a:prstGeom>
          <a:noFill/>
          <a:ln/>
        </p:spPr>
        <p:txBody>
          <a:bodyPr wrap="square" rtlCol="0" anchor="ctr"/>
          <a:lstStyle/>
          <a:p>
            <a:pPr indent="0" marL="0">
              <a:buNone/>
            </a:pPr>
            <a:r>
              <a:rPr lang="en-US" sz="1200" dirty="0">
                <a:solidFill>
                  <a:srgbClr val="6FA0BE"/>
                </a:solidFill>
                <a:latin typeface="Courier New" pitchFamily="34" charset="0"/>
                <a:ea typeface="Courier New" pitchFamily="34" charset="-122"/>
                <a:cs typeface="Courier New" pitchFamily="34" charset="-120"/>
              </a:rPr>
              <a:t>github.com/vgel/repeng   ·   vgel.me/posts/representation-engineering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PREVIEW</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Snapshot: What repeng Does</a:t>
            </a:r>
            <a:endParaRPr lang="en-US" sz="3200" dirty="0"/>
          </a:p>
        </p:txBody>
      </p:sp>
      <p:sp>
        <p:nvSpPr>
          <p:cNvPr id="4" name="Shape 2"/>
          <p:cNvSpPr/>
          <p:nvPr/>
        </p:nvSpPr>
        <p:spPr>
          <a:xfrm>
            <a:off x="548640" y="1600200"/>
            <a:ext cx="6583680" cy="3520440"/>
          </a:xfrm>
          <a:prstGeom prst="roundRect">
            <a:avLst>
              <a:gd name="adj" fmla="val 2078"/>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874520"/>
            <a:ext cx="6035040" cy="1828800"/>
          </a:xfrm>
          <a:prstGeom prst="rect">
            <a:avLst/>
          </a:prstGeom>
          <a:noFill/>
          <a:ln/>
        </p:spPr>
        <p:txBody>
          <a:bodyPr wrap="square" rtlCol="0" anchor="ctr"/>
          <a:lstStyle/>
          <a:p>
            <a:pPr indent="0" marL="0">
              <a:lnSpc>
                <a:spcPct val="130000"/>
              </a:lnSpc>
              <a:buNone/>
            </a:pPr>
            <a:r>
              <a:rPr lang="en-US" sz="1550" b="1" dirty="0">
                <a:solidFill>
                  <a:srgbClr val="065A82"/>
                </a:solidFill>
                <a:latin typeface="Courier New" pitchFamily="34" charset="0"/>
                <a:ea typeface="Courier New" pitchFamily="34" charset="-122"/>
                <a:cs typeface="Courier New" pitchFamily="34" charset="-120"/>
              </a:rPr>
              <a:t>repeng</a:t>
            </a:r>
            <a:pPr indent="0" marL="0">
              <a:lnSpc>
                <a:spcPct val="130000"/>
              </a:lnSpc>
              <a:buNone/>
            </a:pPr>
            <a:r>
              <a:rPr lang="en-US" sz="1550" dirty="0">
                <a:solidFill>
                  <a:srgbClr val="1B2733"/>
                </a:solidFill>
                <a:latin typeface="Calibri" pitchFamily="34" charset="0"/>
                <a:ea typeface="Calibri" pitchFamily="34" charset="-122"/>
                <a:cs typeface="Calibri" pitchFamily="34" charset="-120"/>
              </a:rPr>
              <a:t> is a small Python library that reads a model's own internal </a:t>
            </a:r>
            <a:pPr indent="0" marL="0">
              <a:lnSpc>
                <a:spcPct val="130000"/>
              </a:lnSpc>
              <a:buNone/>
            </a:pPr>
            <a:r>
              <a:rPr lang="en-US" sz="1550" b="1" dirty="0">
                <a:solidFill>
                  <a:srgbClr val="1B2733"/>
                </a:solidFill>
                <a:latin typeface="Calibri" pitchFamily="34" charset="0"/>
                <a:ea typeface="Calibri" pitchFamily="34" charset="-122"/>
                <a:cs typeface="Calibri" pitchFamily="34" charset="-120"/>
              </a:rPr>
              <a:t>activations</a:t>
            </a:r>
            <a:pPr indent="0" marL="0">
              <a:lnSpc>
                <a:spcPct val="130000"/>
              </a:lnSpc>
              <a:buNone/>
            </a:pPr>
            <a:r>
              <a:rPr lang="en-US" sz="1550" dirty="0">
                <a:solidFill>
                  <a:srgbClr val="1B2733"/>
                </a:solidFill>
                <a:latin typeface="Calibri" pitchFamily="34" charset="0"/>
                <a:ea typeface="Calibri" pitchFamily="34" charset="-122"/>
                <a:cs typeface="Calibri" pitchFamily="34" charset="-120"/>
              </a:rPr>
              <a:t> on pairs of opposite prompts, distills the difference into a single </a:t>
            </a:r>
            <a:pPr indent="0" marL="0">
              <a:lnSpc>
                <a:spcPct val="130000"/>
              </a:lnSpc>
              <a:buNone/>
            </a:pPr>
            <a:r>
              <a:rPr lang="en-US" sz="1550" b="1" dirty="0">
                <a:solidFill>
                  <a:srgbClr val="1B2733"/>
                </a:solidFill>
                <a:latin typeface="Calibri" pitchFamily="34" charset="0"/>
                <a:ea typeface="Calibri" pitchFamily="34" charset="-122"/>
                <a:cs typeface="Calibri" pitchFamily="34" charset="-120"/>
              </a:rPr>
              <a:t>direction</a:t>
            </a:r>
            <a:pPr indent="0" marL="0">
              <a:lnSpc>
                <a:spcPct val="130000"/>
              </a:lnSpc>
              <a:buNone/>
            </a:pPr>
            <a:r>
              <a:rPr lang="en-US" sz="1550" dirty="0">
                <a:solidFill>
                  <a:srgbClr val="1B2733"/>
                </a:solidFill>
                <a:latin typeface="Calibri" pitchFamily="34" charset="0"/>
                <a:ea typeface="Calibri" pitchFamily="34" charset="-122"/>
                <a:cs typeface="Calibri" pitchFamily="34" charset="-120"/>
              </a:rPr>
              <a:t> per layer, and then </a:t>
            </a:r>
            <a:pPr indent="0" marL="0">
              <a:lnSpc>
                <a:spcPct val="130000"/>
              </a:lnSpc>
              <a:buNone/>
            </a:pPr>
            <a:r>
              <a:rPr lang="en-US" sz="1550" b="1" dirty="0">
                <a:solidFill>
                  <a:srgbClr val="1B2733"/>
                </a:solidFill>
                <a:latin typeface="Calibri" pitchFamily="34" charset="0"/>
                <a:ea typeface="Calibri" pitchFamily="34" charset="-122"/>
                <a:cs typeface="Calibri" pitchFamily="34" charset="-120"/>
              </a:rPr>
              <a:t>adds that direction back in</a:t>
            </a:r>
            <a:pPr indent="0" marL="0">
              <a:lnSpc>
                <a:spcPct val="130000"/>
              </a:lnSpc>
              <a:buNone/>
            </a:pPr>
            <a:r>
              <a:rPr lang="en-US" sz="1550" dirty="0">
                <a:solidFill>
                  <a:srgbClr val="1B2733"/>
                </a:solidFill>
                <a:latin typeface="Calibri" pitchFamily="34" charset="0"/>
                <a:ea typeface="Calibri" pitchFamily="34" charset="-122"/>
                <a:cs typeface="Calibri" pitchFamily="34" charset="-120"/>
              </a:rPr>
              <a:t> during generation — giving you a continuous dial on a behaviour without touching a single weight.</a:t>
            </a:r>
            <a:endParaRPr lang="en-US" sz="1550" dirty="0"/>
          </a:p>
        </p:txBody>
      </p:sp>
      <p:sp>
        <p:nvSpPr>
          <p:cNvPr id="6" name="Text 4"/>
          <p:cNvSpPr/>
          <p:nvPr/>
        </p:nvSpPr>
        <p:spPr>
          <a:xfrm>
            <a:off x="868680" y="3886200"/>
            <a:ext cx="6035040" cy="1005840"/>
          </a:xfrm>
          <a:prstGeom prst="rect">
            <a:avLst/>
          </a:prstGeom>
          <a:noFill/>
          <a:ln/>
        </p:spPr>
        <p:txBody>
          <a:bodyPr wrap="square" rtlCol="0" anchor="ctr"/>
          <a:lstStyle/>
          <a:p>
            <a:pPr indent="0" marL="0">
              <a:lnSpc>
                <a:spcPct val="130000"/>
              </a:lnSpc>
              <a:buNone/>
            </a:pPr>
            <a:r>
              <a:rPr lang="en-US" sz="1250" b="1" dirty="0">
                <a:solidFill>
                  <a:srgbClr val="065A82"/>
                </a:solidFill>
                <a:latin typeface="Calibri" pitchFamily="34" charset="0"/>
                <a:ea typeface="Calibri" pitchFamily="34" charset="-122"/>
                <a:cs typeface="Calibri" pitchFamily="34" charset="-120"/>
              </a:rPr>
              <a:t>Three moving parts: </a:t>
            </a:r>
            <a:pPr indent="0" marL="0">
              <a:lnSpc>
                <a:spcPct val="130000"/>
              </a:lnSpc>
              <a:buNone/>
            </a:pPr>
            <a:r>
              <a:rPr lang="en-US" sz="1250" dirty="0">
                <a:solidFill>
                  <a:srgbClr val="5C7080"/>
                </a:solidFill>
                <a:latin typeface="Calibri" pitchFamily="34" charset="0"/>
                <a:ea typeface="Calibri" pitchFamily="34" charset="-122"/>
                <a:cs typeface="Calibri" pitchFamily="34" charset="-120"/>
              </a:rPr>
              <a:t>a contrast dataset of paired prompts, a per-layer direction extracted from the activations those prompts produce, and a hook that adds the direction back during generation. The next five slides build up each one.</a:t>
            </a:r>
            <a:endParaRPr lang="en-US" sz="1250" dirty="0"/>
          </a:p>
        </p:txBody>
      </p:sp>
      <p:sp>
        <p:nvSpPr>
          <p:cNvPr id="7" name="Shape 5"/>
          <p:cNvSpPr/>
          <p:nvPr/>
        </p:nvSpPr>
        <p:spPr>
          <a:xfrm>
            <a:off x="7452360" y="1600200"/>
            <a:ext cx="4160520" cy="3520440"/>
          </a:xfrm>
          <a:prstGeom prst="roundRect">
            <a:avLst>
              <a:gd name="adj" fmla="val 2078"/>
            </a:avLst>
          </a:prstGeom>
          <a:solidFill>
            <a:srgbClr val="21295C"/>
          </a:solidFill>
          <a:ln/>
        </p:spPr>
      </p:sp>
      <p:sp>
        <p:nvSpPr>
          <p:cNvPr id="8" name="Text 6"/>
          <p:cNvSpPr/>
          <p:nvPr/>
        </p:nvSpPr>
        <p:spPr>
          <a:xfrm>
            <a:off x="7863840" y="1783080"/>
            <a:ext cx="3383280" cy="274320"/>
          </a:xfrm>
          <a:prstGeom prst="rect">
            <a:avLst/>
          </a:prstGeom>
          <a:noFill/>
          <a:ln/>
        </p:spPr>
        <p:txBody>
          <a:bodyPr wrap="square" rtlCol="0" anchor="ctr"/>
          <a:lstStyle/>
          <a:p>
            <a:pPr indent="0" marL="0">
              <a:buNone/>
            </a:pPr>
            <a:r>
              <a:rPr lang="en-US" sz="1050" i="1" dirty="0">
                <a:solidFill>
                  <a:srgbClr val="9FC3D9"/>
                </a:solidFill>
                <a:latin typeface="Calibri" pitchFamily="34" charset="0"/>
                <a:ea typeface="Calibri" pitchFamily="34" charset="-122"/>
                <a:cs typeface="Calibri" pitchFamily="34" charset="-120"/>
              </a:rPr>
              <a:t>one layer's output, one token</a:t>
            </a:r>
            <a:endParaRPr lang="en-US" sz="1050" dirty="0"/>
          </a:p>
        </p:txBody>
      </p:sp>
      <p:sp>
        <p:nvSpPr>
          <p:cNvPr id="9" name="Text 7"/>
          <p:cNvSpPr/>
          <p:nvPr/>
        </p:nvSpPr>
        <p:spPr>
          <a:xfrm>
            <a:off x="7863840" y="2240280"/>
            <a:ext cx="685800" cy="365760"/>
          </a:xfrm>
          <a:prstGeom prst="rect">
            <a:avLst/>
          </a:prstGeom>
          <a:noFill/>
          <a:ln/>
        </p:spPr>
        <p:txBody>
          <a:bodyPr wrap="square" lIns="0" tIns="0" rIns="0" bIns="0" rtlCol="0" anchor="ctr"/>
          <a:lstStyle/>
          <a:p>
            <a:pPr indent="0" marL="0">
              <a:buNone/>
            </a:pPr>
            <a:r>
              <a:rPr lang="en-US" sz="1500" b="1" dirty="0">
                <a:solidFill>
                  <a:srgbClr val="DDEAF3"/>
                </a:solidFill>
                <a:latin typeface="Courier New" pitchFamily="34" charset="0"/>
                <a:ea typeface="Courier New" pitchFamily="34" charset="-122"/>
                <a:cs typeface="Courier New" pitchFamily="34" charset="-120"/>
              </a:rPr>
              <a:t>h</a:t>
            </a:r>
            <a:endParaRPr lang="en-US" sz="1500" dirty="0"/>
          </a:p>
        </p:txBody>
      </p:sp>
      <p:sp>
        <p:nvSpPr>
          <p:cNvPr id="10" name="Shape 8"/>
          <p:cNvSpPr/>
          <p:nvPr/>
        </p:nvSpPr>
        <p:spPr>
          <a:xfrm>
            <a:off x="8595360" y="2361438"/>
            <a:ext cx="219456" cy="123444"/>
          </a:xfrm>
          <a:prstGeom prst="roundRect">
            <a:avLst>
              <a:gd name="adj" fmla="val 14815"/>
            </a:avLst>
          </a:prstGeom>
          <a:solidFill>
            <a:srgbClr val="3F6E8C"/>
          </a:solidFill>
          <a:ln/>
        </p:spPr>
      </p:sp>
      <p:sp>
        <p:nvSpPr>
          <p:cNvPr id="11" name="Shape 9"/>
          <p:cNvSpPr/>
          <p:nvPr/>
        </p:nvSpPr>
        <p:spPr>
          <a:xfrm>
            <a:off x="8897112" y="2286629"/>
            <a:ext cx="219456" cy="273062"/>
          </a:xfrm>
          <a:prstGeom prst="roundRect">
            <a:avLst>
              <a:gd name="adj" fmla="val 8333"/>
            </a:avLst>
          </a:prstGeom>
          <a:solidFill>
            <a:srgbClr val="3F6E8C"/>
          </a:solidFill>
          <a:ln/>
        </p:spPr>
      </p:sp>
      <p:sp>
        <p:nvSpPr>
          <p:cNvPr id="12" name="Shape 10"/>
          <p:cNvSpPr/>
          <p:nvPr/>
        </p:nvSpPr>
        <p:spPr>
          <a:xfrm>
            <a:off x="9198864" y="2342160"/>
            <a:ext cx="219456" cy="161999"/>
          </a:xfrm>
          <a:prstGeom prst="roundRect">
            <a:avLst>
              <a:gd name="adj" fmla="val 11289"/>
            </a:avLst>
          </a:prstGeom>
          <a:solidFill>
            <a:srgbClr val="3F6E8C"/>
          </a:solidFill>
          <a:ln/>
        </p:spPr>
      </p:sp>
      <p:sp>
        <p:nvSpPr>
          <p:cNvPr id="13" name="Shape 11"/>
          <p:cNvSpPr/>
          <p:nvPr/>
        </p:nvSpPr>
        <p:spPr>
          <a:xfrm>
            <a:off x="9500616" y="2291596"/>
            <a:ext cx="219456" cy="263127"/>
          </a:xfrm>
          <a:prstGeom prst="roundRect">
            <a:avLst>
              <a:gd name="adj" fmla="val 8333"/>
            </a:avLst>
          </a:prstGeom>
          <a:solidFill>
            <a:srgbClr val="3F6E8C"/>
          </a:solidFill>
          <a:ln/>
        </p:spPr>
      </p:sp>
      <p:sp>
        <p:nvSpPr>
          <p:cNvPr id="14" name="Shape 12"/>
          <p:cNvSpPr/>
          <p:nvPr/>
        </p:nvSpPr>
        <p:spPr>
          <a:xfrm>
            <a:off x="9802368" y="2324163"/>
            <a:ext cx="219456" cy="197994"/>
          </a:xfrm>
          <a:prstGeom prst="roundRect">
            <a:avLst>
              <a:gd name="adj" fmla="val 9237"/>
            </a:avLst>
          </a:prstGeom>
          <a:solidFill>
            <a:srgbClr val="3F6E8C"/>
          </a:solidFill>
          <a:ln/>
        </p:spPr>
      </p:sp>
      <p:sp>
        <p:nvSpPr>
          <p:cNvPr id="15" name="Shape 13"/>
          <p:cNvSpPr/>
          <p:nvPr/>
        </p:nvSpPr>
        <p:spPr>
          <a:xfrm>
            <a:off x="10104120" y="2301202"/>
            <a:ext cx="219456" cy="243917"/>
          </a:xfrm>
          <a:prstGeom prst="roundRect">
            <a:avLst>
              <a:gd name="adj" fmla="val 8333"/>
            </a:avLst>
          </a:prstGeom>
          <a:solidFill>
            <a:srgbClr val="3F6E8C"/>
          </a:solidFill>
          <a:ln/>
        </p:spPr>
      </p:sp>
      <p:sp>
        <p:nvSpPr>
          <p:cNvPr id="16" name="Shape 14"/>
          <p:cNvSpPr/>
          <p:nvPr/>
        </p:nvSpPr>
        <p:spPr>
          <a:xfrm>
            <a:off x="10405872" y="2308641"/>
            <a:ext cx="219456" cy="229038"/>
          </a:xfrm>
          <a:prstGeom prst="roundRect">
            <a:avLst>
              <a:gd name="adj" fmla="val 8333"/>
            </a:avLst>
          </a:prstGeom>
          <a:solidFill>
            <a:srgbClr val="3F6E8C"/>
          </a:solidFill>
          <a:ln/>
        </p:spPr>
      </p:sp>
      <p:sp>
        <p:nvSpPr>
          <p:cNvPr id="17" name="Shape 15"/>
          <p:cNvSpPr/>
          <p:nvPr/>
        </p:nvSpPr>
        <p:spPr>
          <a:xfrm>
            <a:off x="10707624" y="2314807"/>
            <a:ext cx="219456" cy="216706"/>
          </a:xfrm>
          <a:prstGeom prst="roundRect">
            <a:avLst>
              <a:gd name="adj" fmla="val 8439"/>
            </a:avLst>
          </a:prstGeom>
          <a:solidFill>
            <a:srgbClr val="3F6E8C"/>
          </a:solidFill>
          <a:ln/>
        </p:spPr>
      </p:sp>
      <p:sp>
        <p:nvSpPr>
          <p:cNvPr id="18" name="Shape 16"/>
          <p:cNvSpPr/>
          <p:nvPr/>
        </p:nvSpPr>
        <p:spPr>
          <a:xfrm>
            <a:off x="11009376" y="2296625"/>
            <a:ext cx="219456" cy="253071"/>
          </a:xfrm>
          <a:prstGeom prst="roundRect">
            <a:avLst>
              <a:gd name="adj" fmla="val 8333"/>
            </a:avLst>
          </a:prstGeom>
          <a:solidFill>
            <a:srgbClr val="3F6E8C"/>
          </a:solidFill>
          <a:ln/>
        </p:spPr>
      </p:sp>
      <p:sp>
        <p:nvSpPr>
          <p:cNvPr id="19" name="Text 17"/>
          <p:cNvSpPr/>
          <p:nvPr/>
        </p:nvSpPr>
        <p:spPr>
          <a:xfrm>
            <a:off x="7863840" y="3063240"/>
            <a:ext cx="685800" cy="365760"/>
          </a:xfrm>
          <a:prstGeom prst="rect">
            <a:avLst/>
          </a:prstGeom>
          <a:noFill/>
          <a:ln/>
        </p:spPr>
        <p:txBody>
          <a:bodyPr wrap="square" lIns="0" tIns="0" rIns="0" bIns="0" rtlCol="0" anchor="ctr"/>
          <a:lstStyle/>
          <a:p>
            <a:pPr indent="0" marL="0">
              <a:buNone/>
            </a:pPr>
            <a:r>
              <a:rPr lang="en-US" sz="1500" b="1" dirty="0">
                <a:solidFill>
                  <a:srgbClr val="DDEAF3"/>
                </a:solidFill>
                <a:latin typeface="Courier New" pitchFamily="34" charset="0"/>
                <a:ea typeface="Courier New" pitchFamily="34" charset="-122"/>
                <a:cs typeface="Courier New" pitchFamily="34" charset="-120"/>
              </a:rPr>
              <a:t>v</a:t>
            </a:r>
            <a:endParaRPr lang="en-US" sz="1500" dirty="0"/>
          </a:p>
        </p:txBody>
      </p:sp>
      <p:sp>
        <p:nvSpPr>
          <p:cNvPr id="20" name="Shape 18"/>
          <p:cNvSpPr/>
          <p:nvPr/>
        </p:nvSpPr>
        <p:spPr>
          <a:xfrm>
            <a:off x="8595360" y="3179346"/>
            <a:ext cx="219456" cy="133548"/>
          </a:xfrm>
          <a:prstGeom prst="roundRect">
            <a:avLst>
              <a:gd name="adj" fmla="val 13694"/>
            </a:avLst>
          </a:prstGeom>
          <a:solidFill>
            <a:srgbClr val="8FD4E8"/>
          </a:solidFill>
          <a:ln/>
        </p:spPr>
      </p:sp>
      <p:sp>
        <p:nvSpPr>
          <p:cNvPr id="21" name="Shape 19"/>
          <p:cNvSpPr/>
          <p:nvPr/>
        </p:nvSpPr>
        <p:spPr>
          <a:xfrm>
            <a:off x="8897112" y="3196007"/>
            <a:ext cx="219456" cy="100227"/>
          </a:xfrm>
          <a:prstGeom prst="roundRect">
            <a:avLst>
              <a:gd name="adj" fmla="val 18247"/>
            </a:avLst>
          </a:prstGeom>
          <a:solidFill>
            <a:srgbClr val="8FD4E8"/>
          </a:solidFill>
          <a:ln/>
        </p:spPr>
      </p:sp>
      <p:sp>
        <p:nvSpPr>
          <p:cNvPr id="22" name="Shape 20"/>
          <p:cNvSpPr/>
          <p:nvPr/>
        </p:nvSpPr>
        <p:spPr>
          <a:xfrm>
            <a:off x="9198864" y="3174915"/>
            <a:ext cx="219456" cy="142410"/>
          </a:xfrm>
          <a:prstGeom prst="roundRect">
            <a:avLst>
              <a:gd name="adj" fmla="val 12842"/>
            </a:avLst>
          </a:prstGeom>
          <a:solidFill>
            <a:srgbClr val="8FD4E8"/>
          </a:solidFill>
          <a:ln/>
        </p:spPr>
      </p:sp>
      <p:sp>
        <p:nvSpPr>
          <p:cNvPr id="23" name="Shape 21"/>
          <p:cNvSpPr/>
          <p:nvPr/>
        </p:nvSpPr>
        <p:spPr>
          <a:xfrm>
            <a:off x="9500616" y="3205873"/>
            <a:ext cx="219456" cy="80495"/>
          </a:xfrm>
          <a:prstGeom prst="roundRect">
            <a:avLst>
              <a:gd name="adj" fmla="val 22719"/>
            </a:avLst>
          </a:prstGeom>
          <a:solidFill>
            <a:srgbClr val="8FD4E8"/>
          </a:solidFill>
          <a:ln/>
        </p:spPr>
      </p:sp>
      <p:sp>
        <p:nvSpPr>
          <p:cNvPr id="24" name="Shape 22"/>
          <p:cNvSpPr/>
          <p:nvPr/>
        </p:nvSpPr>
        <p:spPr>
          <a:xfrm>
            <a:off x="9802368" y="3173027"/>
            <a:ext cx="219456" cy="146187"/>
          </a:xfrm>
          <a:prstGeom prst="roundRect">
            <a:avLst>
              <a:gd name="adj" fmla="val 12510"/>
            </a:avLst>
          </a:prstGeom>
          <a:solidFill>
            <a:srgbClr val="8FD4E8"/>
          </a:solidFill>
          <a:ln/>
        </p:spPr>
      </p:sp>
      <p:sp>
        <p:nvSpPr>
          <p:cNvPr id="25" name="Shape 23"/>
          <p:cNvSpPr/>
          <p:nvPr/>
        </p:nvSpPr>
        <p:spPr>
          <a:xfrm>
            <a:off x="10104120" y="3210178"/>
            <a:ext cx="219456" cy="71884"/>
          </a:xfrm>
          <a:prstGeom prst="roundRect">
            <a:avLst>
              <a:gd name="adj" fmla="val 25441"/>
            </a:avLst>
          </a:prstGeom>
          <a:solidFill>
            <a:srgbClr val="8FD4E8"/>
          </a:solidFill>
          <a:ln/>
        </p:spPr>
      </p:sp>
      <p:sp>
        <p:nvSpPr>
          <p:cNvPr id="26" name="Shape 24"/>
          <p:cNvSpPr/>
          <p:nvPr/>
        </p:nvSpPr>
        <p:spPr>
          <a:xfrm>
            <a:off x="10405872" y="3173806"/>
            <a:ext cx="219456" cy="144628"/>
          </a:xfrm>
          <a:prstGeom prst="roundRect">
            <a:avLst>
              <a:gd name="adj" fmla="val 12645"/>
            </a:avLst>
          </a:prstGeom>
          <a:solidFill>
            <a:srgbClr val="8FD4E8"/>
          </a:solidFill>
          <a:ln/>
        </p:spPr>
      </p:sp>
      <p:sp>
        <p:nvSpPr>
          <p:cNvPr id="27" name="Shape 25"/>
          <p:cNvSpPr/>
          <p:nvPr/>
        </p:nvSpPr>
        <p:spPr>
          <a:xfrm>
            <a:off x="10707624" y="3200026"/>
            <a:ext cx="219456" cy="92188"/>
          </a:xfrm>
          <a:prstGeom prst="roundRect">
            <a:avLst>
              <a:gd name="adj" fmla="val 19838"/>
            </a:avLst>
          </a:prstGeom>
          <a:solidFill>
            <a:srgbClr val="8FD4E8"/>
          </a:solidFill>
          <a:ln/>
        </p:spPr>
      </p:sp>
      <p:sp>
        <p:nvSpPr>
          <p:cNvPr id="28" name="Shape 26"/>
          <p:cNvSpPr/>
          <p:nvPr/>
        </p:nvSpPr>
        <p:spPr>
          <a:xfrm>
            <a:off x="11009376" y="3177201"/>
            <a:ext cx="219456" cy="137838"/>
          </a:xfrm>
          <a:prstGeom prst="roundRect">
            <a:avLst>
              <a:gd name="adj" fmla="val 13268"/>
            </a:avLst>
          </a:prstGeom>
          <a:solidFill>
            <a:srgbClr val="8FD4E8"/>
          </a:solidFill>
          <a:ln/>
        </p:spPr>
      </p:sp>
      <p:sp>
        <p:nvSpPr>
          <p:cNvPr id="29" name="Text 27"/>
          <p:cNvSpPr/>
          <p:nvPr/>
        </p:nvSpPr>
        <p:spPr>
          <a:xfrm>
            <a:off x="7863840" y="3886200"/>
            <a:ext cx="685800" cy="365760"/>
          </a:xfrm>
          <a:prstGeom prst="rect">
            <a:avLst/>
          </a:prstGeom>
          <a:noFill/>
          <a:ln/>
        </p:spPr>
        <p:txBody>
          <a:bodyPr wrap="square" lIns="0" tIns="0" rIns="0" bIns="0" rtlCol="0" anchor="ctr"/>
          <a:lstStyle/>
          <a:p>
            <a:pPr indent="0" marL="0">
              <a:buNone/>
            </a:pPr>
            <a:r>
              <a:rPr lang="en-US" sz="1500" b="1" dirty="0">
                <a:solidFill>
                  <a:srgbClr val="DDEAF3"/>
                </a:solidFill>
                <a:latin typeface="Courier New" pitchFamily="34" charset="0"/>
                <a:ea typeface="Courier New" pitchFamily="34" charset="-122"/>
                <a:cs typeface="Courier New" pitchFamily="34" charset="-120"/>
              </a:rPr>
              <a:t>h + αv</a:t>
            </a:r>
            <a:endParaRPr lang="en-US" sz="1500" dirty="0"/>
          </a:p>
        </p:txBody>
      </p:sp>
      <p:sp>
        <p:nvSpPr>
          <p:cNvPr id="30" name="Shape 28"/>
          <p:cNvSpPr/>
          <p:nvPr/>
        </p:nvSpPr>
        <p:spPr>
          <a:xfrm>
            <a:off x="8595360" y="3895323"/>
            <a:ext cx="219456" cy="347514"/>
          </a:xfrm>
          <a:prstGeom prst="roundRect">
            <a:avLst>
              <a:gd name="adj" fmla="val 8333"/>
            </a:avLst>
          </a:prstGeom>
          <a:solidFill>
            <a:srgbClr val="4FB3A0"/>
          </a:solidFill>
          <a:ln/>
        </p:spPr>
      </p:sp>
      <p:sp>
        <p:nvSpPr>
          <p:cNvPr id="31" name="Shape 29"/>
          <p:cNvSpPr/>
          <p:nvPr/>
        </p:nvSpPr>
        <p:spPr>
          <a:xfrm>
            <a:off x="8897112" y="3933491"/>
            <a:ext cx="219456" cy="271178"/>
          </a:xfrm>
          <a:prstGeom prst="roundRect">
            <a:avLst>
              <a:gd name="adj" fmla="val 8333"/>
            </a:avLst>
          </a:prstGeom>
          <a:solidFill>
            <a:srgbClr val="4FB3A0"/>
          </a:solidFill>
          <a:ln/>
        </p:spPr>
      </p:sp>
      <p:sp>
        <p:nvSpPr>
          <p:cNvPr id="32" name="Shape 30"/>
          <p:cNvSpPr/>
          <p:nvPr/>
        </p:nvSpPr>
        <p:spPr>
          <a:xfrm>
            <a:off x="9198864" y="3909056"/>
            <a:ext cx="219456" cy="320047"/>
          </a:xfrm>
          <a:prstGeom prst="roundRect">
            <a:avLst>
              <a:gd name="adj" fmla="val 8333"/>
            </a:avLst>
          </a:prstGeom>
          <a:solidFill>
            <a:srgbClr val="4FB3A0"/>
          </a:solidFill>
          <a:ln/>
        </p:spPr>
      </p:sp>
      <p:sp>
        <p:nvSpPr>
          <p:cNvPr id="33" name="Shape 31"/>
          <p:cNvSpPr/>
          <p:nvPr/>
        </p:nvSpPr>
        <p:spPr>
          <a:xfrm>
            <a:off x="9500616" y="3913461"/>
            <a:ext cx="219456" cy="311237"/>
          </a:xfrm>
          <a:prstGeom prst="roundRect">
            <a:avLst>
              <a:gd name="adj" fmla="val 8333"/>
            </a:avLst>
          </a:prstGeom>
          <a:solidFill>
            <a:srgbClr val="4FB3A0"/>
          </a:solidFill>
          <a:ln/>
        </p:spPr>
      </p:sp>
      <p:sp>
        <p:nvSpPr>
          <p:cNvPr id="34" name="Shape 32"/>
          <p:cNvSpPr/>
          <p:nvPr/>
        </p:nvSpPr>
        <p:spPr>
          <a:xfrm>
            <a:off x="9802368" y="3927951"/>
            <a:ext cx="219456" cy="282259"/>
          </a:xfrm>
          <a:prstGeom prst="roundRect">
            <a:avLst>
              <a:gd name="adj" fmla="val 8333"/>
            </a:avLst>
          </a:prstGeom>
          <a:solidFill>
            <a:srgbClr val="4FB3A0"/>
          </a:solidFill>
          <a:ln/>
        </p:spPr>
      </p:sp>
      <p:sp>
        <p:nvSpPr>
          <p:cNvPr id="35" name="Shape 33"/>
          <p:cNvSpPr/>
          <p:nvPr/>
        </p:nvSpPr>
        <p:spPr>
          <a:xfrm>
            <a:off x="10104120" y="3898301"/>
            <a:ext cx="219456" cy="341559"/>
          </a:xfrm>
          <a:prstGeom prst="roundRect">
            <a:avLst>
              <a:gd name="adj" fmla="val 8333"/>
            </a:avLst>
          </a:prstGeom>
          <a:solidFill>
            <a:srgbClr val="4FB3A0"/>
          </a:solidFill>
          <a:ln/>
        </p:spPr>
      </p:sp>
      <p:sp>
        <p:nvSpPr>
          <p:cNvPr id="36" name="Shape 34"/>
          <p:cNvSpPr/>
          <p:nvPr/>
        </p:nvSpPr>
        <p:spPr>
          <a:xfrm>
            <a:off x="10405872" y="3950752"/>
            <a:ext cx="219456" cy="236656"/>
          </a:xfrm>
          <a:prstGeom prst="roundRect">
            <a:avLst>
              <a:gd name="adj" fmla="val 8333"/>
            </a:avLst>
          </a:prstGeom>
          <a:solidFill>
            <a:srgbClr val="4FB3A0"/>
          </a:solidFill>
          <a:ln/>
        </p:spPr>
      </p:sp>
      <p:sp>
        <p:nvSpPr>
          <p:cNvPr id="37" name="Shape 35"/>
          <p:cNvSpPr/>
          <p:nvPr/>
        </p:nvSpPr>
        <p:spPr>
          <a:xfrm>
            <a:off x="10707624" y="3889016"/>
            <a:ext cx="219456" cy="360129"/>
          </a:xfrm>
          <a:prstGeom prst="roundRect">
            <a:avLst>
              <a:gd name="adj" fmla="val 8333"/>
            </a:avLst>
          </a:prstGeom>
          <a:solidFill>
            <a:srgbClr val="4FB3A0"/>
          </a:solidFill>
          <a:ln/>
        </p:spPr>
      </p:sp>
      <p:sp>
        <p:nvSpPr>
          <p:cNvPr id="38" name="Shape 36"/>
          <p:cNvSpPr/>
          <p:nvPr/>
        </p:nvSpPr>
        <p:spPr>
          <a:xfrm>
            <a:off x="11009376" y="3975946"/>
            <a:ext cx="219456" cy="186269"/>
          </a:xfrm>
          <a:prstGeom prst="roundRect">
            <a:avLst>
              <a:gd name="adj" fmla="val 9818"/>
            </a:avLst>
          </a:prstGeom>
          <a:solidFill>
            <a:srgbClr val="4FB3A0"/>
          </a:solidFill>
          <a:ln/>
        </p:spPr>
      </p:sp>
      <p:sp>
        <p:nvSpPr>
          <p:cNvPr id="39" name="Text 37"/>
          <p:cNvSpPr/>
          <p:nvPr/>
        </p:nvSpPr>
        <p:spPr>
          <a:xfrm>
            <a:off x="7863840" y="4526280"/>
            <a:ext cx="3291840" cy="274320"/>
          </a:xfrm>
          <a:prstGeom prst="rect">
            <a:avLst/>
          </a:prstGeom>
          <a:noFill/>
          <a:ln/>
        </p:spPr>
        <p:txBody>
          <a:bodyPr wrap="square" rtlCol="0" anchor="ctr"/>
          <a:lstStyle/>
          <a:p>
            <a:pPr indent="0" marL="0">
              <a:buNone/>
            </a:pPr>
            <a:r>
              <a:rPr lang="en-US" sz="1100" i="1" dirty="0">
                <a:solidFill>
                  <a:srgbClr val="8FD4E8"/>
                </a:solidFill>
                <a:latin typeface="Calibri" pitchFamily="34" charset="0"/>
                <a:ea typeface="Calibri" pitchFamily="34" charset="-122"/>
                <a:cs typeface="Calibri" pitchFamily="34" charset="-120"/>
              </a:rPr>
              <a:t>α = strength dial</a:t>
            </a:r>
            <a:endParaRPr lang="en-US" sz="1100" dirty="0"/>
          </a:p>
        </p:txBody>
      </p:sp>
      <p:sp>
        <p:nvSpPr>
          <p:cNvPr id="40" name="Text 38"/>
          <p:cNvSpPr/>
          <p:nvPr/>
        </p:nvSpPr>
        <p:spPr>
          <a:xfrm>
            <a:off x="548640" y="5349240"/>
            <a:ext cx="11064240" cy="45720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No weights are updated. No prompt text is added. The change happens between layers, at inference time.</a:t>
            </a:r>
            <a:endParaRPr lang="en-US" sz="1300" dirty="0"/>
          </a:p>
        </p:txBody>
      </p:sp>
      <p:sp>
        <p:nvSpPr>
          <p:cNvPr id="41" name="Text 39"/>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2" name="Text 4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 OF 5</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Two Prompts That Differ in Exactly One Way</a:t>
            </a:r>
            <a:endParaRPr lang="en-US" sz="3200" dirty="0"/>
          </a:p>
        </p:txBody>
      </p:sp>
      <p:sp>
        <p:nvSpPr>
          <p:cNvPr id="4" name="Text 2"/>
          <p:cNvSpPr/>
          <p:nvPr/>
        </p:nvSpPr>
        <p:spPr>
          <a:xfrm>
            <a:off x="548640" y="1572768"/>
            <a:ext cx="6492240" cy="868680"/>
          </a:xfrm>
          <a:prstGeom prst="rect">
            <a:avLst/>
          </a:prstGeom>
          <a:noFill/>
          <a:ln/>
        </p:spPr>
        <p:txBody>
          <a:bodyPr wrap="square" rtlCol="0" anchor="ctr"/>
          <a:lstStyle/>
          <a:p>
            <a:pPr indent="0" marL="0">
              <a:lnSpc>
                <a:spcPct val="125000"/>
              </a:lnSpc>
              <a:buNone/>
            </a:pPr>
            <a:r>
              <a:rPr lang="en-US" sz="1400" dirty="0">
                <a:solidFill>
                  <a:srgbClr val="1B2733"/>
                </a:solidFill>
                <a:latin typeface="Calibri" pitchFamily="34" charset="0"/>
                <a:ea typeface="Calibri" pitchFamily="34" charset="-122"/>
                <a:cs typeface="Calibri" pitchFamily="34" charset="-120"/>
              </a:rPr>
              <a:t>To isolate a concept inside a network, you need two inputs that are identical in every respect except that concept. Everything shared cancels; what's left is the axis you care about.</a:t>
            </a:r>
            <a:endParaRPr lang="en-US" sz="1400" dirty="0"/>
          </a:p>
        </p:txBody>
      </p:sp>
      <p:sp>
        <p:nvSpPr>
          <p:cNvPr id="5" name="Shape 3"/>
          <p:cNvSpPr/>
          <p:nvPr/>
        </p:nvSpPr>
        <p:spPr>
          <a:xfrm>
            <a:off x="548640" y="2606040"/>
            <a:ext cx="6492240" cy="749808"/>
          </a:xfrm>
          <a:prstGeom prst="roundRect">
            <a:avLst>
              <a:gd name="adj" fmla="val 9756"/>
            </a:avLst>
          </a:prstGeom>
          <a:solidFill>
            <a:srgbClr val="F2F8FA"/>
          </a:solidFill>
          <a:ln w="12700">
            <a:solidFill>
              <a:srgbClr val="DCE7EC"/>
            </a:solidFill>
            <a:prstDash val="solid"/>
          </a:ln>
        </p:spPr>
      </p:sp>
      <p:sp>
        <p:nvSpPr>
          <p:cNvPr id="6" name="Text 4"/>
          <p:cNvSpPr/>
          <p:nvPr/>
        </p:nvSpPr>
        <p:spPr>
          <a:xfrm>
            <a:off x="713232" y="2679192"/>
            <a:ext cx="1005840" cy="256032"/>
          </a:xfrm>
          <a:prstGeom prst="rect">
            <a:avLst/>
          </a:prstGeom>
          <a:noFill/>
          <a:ln/>
        </p:spPr>
        <p:txBody>
          <a:bodyPr wrap="square" lIns="0" tIns="0" rIns="0" bIns="0" rtlCol="0" anchor="ctr"/>
          <a:lstStyle/>
          <a:p>
            <a:pPr indent="0" marL="0">
              <a:buNone/>
            </a:pPr>
            <a:r>
              <a:rPr lang="en-US" sz="950" b="1" spc="100" kern="0" dirty="0">
                <a:solidFill>
                  <a:srgbClr val="1C7293"/>
                </a:solidFill>
                <a:latin typeface="Calibri" pitchFamily="34" charset="0"/>
                <a:ea typeface="Calibri" pitchFamily="34" charset="-122"/>
                <a:cs typeface="Calibri" pitchFamily="34" charset="-120"/>
              </a:rPr>
              <a:t>POSITIVE</a:t>
            </a:r>
            <a:endParaRPr lang="en-US" sz="950" dirty="0"/>
          </a:p>
        </p:txBody>
      </p:sp>
      <p:sp>
        <p:nvSpPr>
          <p:cNvPr id="7" name="Text 5"/>
          <p:cNvSpPr/>
          <p:nvPr/>
        </p:nvSpPr>
        <p:spPr>
          <a:xfrm>
            <a:off x="713232" y="2935224"/>
            <a:ext cx="6126480" cy="347472"/>
          </a:xfrm>
          <a:prstGeom prst="rect">
            <a:avLst/>
          </a:prstGeom>
          <a:noFill/>
          <a:ln/>
        </p:spPr>
        <p:txBody>
          <a:bodyPr wrap="square" lIns="0" tIns="0" rIns="0" bIns="0" rtlCol="0" anchor="ctr"/>
          <a:lstStyle/>
          <a:p>
            <a:pPr indent="0" marL="0">
              <a:buNone/>
            </a:pPr>
            <a:r>
              <a:rPr lang="en-US" sz="1200" dirty="0">
                <a:solidFill>
                  <a:srgbClr val="1B2733"/>
                </a:solidFill>
                <a:latin typeface="Courier New" pitchFamily="34" charset="0"/>
                <a:ea typeface="Courier New" pitchFamily="34" charset="-122"/>
                <a:cs typeface="Courier New" pitchFamily="34" charset="-120"/>
              </a:rPr>
              <a:t>Write in an extremely formal style.  Dear colleagues, I</a:t>
            </a:r>
            <a:endParaRPr lang="en-US" sz="1200" dirty="0"/>
          </a:p>
        </p:txBody>
      </p:sp>
      <p:sp>
        <p:nvSpPr>
          <p:cNvPr id="8" name="Shape 6"/>
          <p:cNvSpPr/>
          <p:nvPr/>
        </p:nvSpPr>
        <p:spPr>
          <a:xfrm>
            <a:off x="548640" y="3520440"/>
            <a:ext cx="6492240" cy="749808"/>
          </a:xfrm>
          <a:prstGeom prst="roundRect">
            <a:avLst>
              <a:gd name="adj" fmla="val 9756"/>
            </a:avLst>
          </a:prstGeom>
          <a:solidFill>
            <a:srgbClr val="F4F1E8"/>
          </a:solidFill>
          <a:ln w="12700">
            <a:solidFill>
              <a:srgbClr val="DCE7EC"/>
            </a:solidFill>
            <a:prstDash val="solid"/>
          </a:ln>
        </p:spPr>
      </p:sp>
      <p:sp>
        <p:nvSpPr>
          <p:cNvPr id="9" name="Text 7"/>
          <p:cNvSpPr/>
          <p:nvPr/>
        </p:nvSpPr>
        <p:spPr>
          <a:xfrm>
            <a:off x="713232" y="3593592"/>
            <a:ext cx="1005840" cy="256032"/>
          </a:xfrm>
          <a:prstGeom prst="rect">
            <a:avLst/>
          </a:prstGeom>
          <a:noFill/>
          <a:ln/>
        </p:spPr>
        <p:txBody>
          <a:bodyPr wrap="square" lIns="0" tIns="0" rIns="0" bIns="0" rtlCol="0" anchor="ctr"/>
          <a:lstStyle/>
          <a:p>
            <a:pPr indent="0" marL="0">
              <a:buNone/>
            </a:pPr>
            <a:r>
              <a:rPr lang="en-US" sz="950" b="1" spc="100" kern="0" dirty="0">
                <a:solidFill>
                  <a:srgbClr val="8A6D3B"/>
                </a:solidFill>
                <a:latin typeface="Calibri" pitchFamily="34" charset="0"/>
                <a:ea typeface="Calibri" pitchFamily="34" charset="-122"/>
                <a:cs typeface="Calibri" pitchFamily="34" charset="-120"/>
              </a:rPr>
              <a:t>NEGATIVE</a:t>
            </a:r>
            <a:endParaRPr lang="en-US" sz="950" dirty="0"/>
          </a:p>
        </p:txBody>
      </p:sp>
      <p:sp>
        <p:nvSpPr>
          <p:cNvPr id="10" name="Text 8"/>
          <p:cNvSpPr/>
          <p:nvPr/>
        </p:nvSpPr>
        <p:spPr>
          <a:xfrm>
            <a:off x="713232" y="3849624"/>
            <a:ext cx="6126480" cy="347472"/>
          </a:xfrm>
          <a:prstGeom prst="rect">
            <a:avLst/>
          </a:prstGeom>
          <a:noFill/>
          <a:ln/>
        </p:spPr>
        <p:txBody>
          <a:bodyPr wrap="square" lIns="0" tIns="0" rIns="0" bIns="0" rtlCol="0" anchor="ctr"/>
          <a:lstStyle/>
          <a:p>
            <a:pPr indent="0" marL="0">
              <a:buNone/>
            </a:pPr>
            <a:r>
              <a:rPr lang="en-US" sz="1200" dirty="0">
                <a:solidFill>
                  <a:srgbClr val="1B2733"/>
                </a:solidFill>
                <a:latin typeface="Courier New" pitchFamily="34" charset="0"/>
                <a:ea typeface="Courier New" pitchFamily="34" charset="-122"/>
                <a:cs typeface="Courier New" pitchFamily="34" charset="-120"/>
              </a:rPr>
              <a:t>Write in an extremely casual style.  Dear colleagues, I</a:t>
            </a:r>
            <a:endParaRPr lang="en-US" sz="1200" dirty="0"/>
          </a:p>
        </p:txBody>
      </p:sp>
      <p:sp>
        <p:nvSpPr>
          <p:cNvPr id="11" name="Text 9"/>
          <p:cNvSpPr/>
          <p:nvPr/>
        </p:nvSpPr>
        <p:spPr>
          <a:xfrm>
            <a:off x="548640" y="4462272"/>
            <a:ext cx="6492240" cy="274320"/>
          </a:xfrm>
          <a:prstGeom prst="rect">
            <a:avLst/>
          </a:prstGeom>
          <a:noFill/>
          <a:ln/>
        </p:spPr>
        <p:txBody>
          <a:bodyPr wrap="square" rtlCol="0" anchor="ctr"/>
          <a:lstStyle/>
          <a:p>
            <a:pPr indent="0" marL="0">
              <a:buNone/>
            </a:pPr>
            <a:r>
              <a:rPr lang="en-US" sz="1050" i="1" dirty="0">
                <a:solidFill>
                  <a:srgbClr val="5C7080"/>
                </a:solidFill>
                <a:latin typeface="Calibri" pitchFamily="34" charset="0"/>
                <a:ea typeface="Calibri" pitchFamily="34" charset="-122"/>
                <a:cs typeface="Calibri" pitchFamily="34" charset="-120"/>
              </a:rPr>
              <a:t>identical shared ending — the only difference is one word</a:t>
            </a:r>
            <a:endParaRPr lang="en-US" sz="1050" dirty="0"/>
          </a:p>
        </p:txBody>
      </p:sp>
      <p:sp>
        <p:nvSpPr>
          <p:cNvPr id="12" name="Shape 10"/>
          <p:cNvSpPr/>
          <p:nvPr/>
        </p:nvSpPr>
        <p:spPr>
          <a:xfrm>
            <a:off x="7406640" y="1572768"/>
            <a:ext cx="457200" cy="457200"/>
          </a:xfrm>
          <a:prstGeom prst="ellipse">
            <a:avLst/>
          </a:prstGeom>
          <a:solidFill>
            <a:srgbClr val="065A82"/>
          </a:solidFill>
          <a:ln/>
        </p:spPr>
      </p:sp>
      <p:pic>
        <p:nvPicPr>
          <p:cNvPr id="13" name="Image 0" descr="/home/claude/work/icons/contrast.png">    </p:cNvPr>
          <p:cNvPicPr>
            <a:picLocks noChangeAspect="1"/>
          </p:cNvPicPr>
          <p:nvPr/>
        </p:nvPicPr>
        <p:blipFill>
          <a:blip r:embed="rId1"/>
          <a:stretch>
            <a:fillRect/>
          </a:stretch>
        </p:blipFill>
        <p:spPr>
          <a:xfrm>
            <a:off x="7525512" y="1691640"/>
            <a:ext cx="219456" cy="219456"/>
          </a:xfrm>
          <a:prstGeom prst="rect">
            <a:avLst/>
          </a:prstGeom>
        </p:spPr>
      </p:pic>
      <p:sp>
        <p:nvSpPr>
          <p:cNvPr id="14" name="Text 11"/>
          <p:cNvSpPr/>
          <p:nvPr/>
        </p:nvSpPr>
        <p:spPr>
          <a:xfrm>
            <a:off x="8001000" y="1545336"/>
            <a:ext cx="3611880" cy="32004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The pair is the experiment</a:t>
            </a:r>
            <a:endParaRPr lang="en-US" sz="1350" dirty="0"/>
          </a:p>
        </p:txBody>
      </p:sp>
      <p:sp>
        <p:nvSpPr>
          <p:cNvPr id="15" name="Text 12"/>
          <p:cNvSpPr/>
          <p:nvPr/>
        </p:nvSpPr>
        <p:spPr>
          <a:xfrm>
            <a:off x="8001000" y="1883664"/>
            <a:ext cx="361188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Run both, record the internal state at the same position in each. Subtracting removes everything they share.</a:t>
            </a:r>
            <a:endParaRPr lang="en-US" sz="1150" dirty="0"/>
          </a:p>
        </p:txBody>
      </p:sp>
      <p:sp>
        <p:nvSpPr>
          <p:cNvPr id="16" name="Shape 13"/>
          <p:cNvSpPr/>
          <p:nvPr/>
        </p:nvSpPr>
        <p:spPr>
          <a:xfrm>
            <a:off x="7406640" y="2944368"/>
            <a:ext cx="457200" cy="457200"/>
          </a:xfrm>
          <a:prstGeom prst="ellipse">
            <a:avLst/>
          </a:prstGeom>
          <a:solidFill>
            <a:srgbClr val="065A82"/>
          </a:solidFill>
          <a:ln/>
        </p:spPr>
      </p:sp>
      <p:pic>
        <p:nvPicPr>
          <p:cNvPr id="17" name="Image 1" descr="/home/claude/work/icons/shuffle.png">    </p:cNvPr>
          <p:cNvPicPr>
            <a:picLocks noChangeAspect="1"/>
          </p:cNvPicPr>
          <p:nvPr/>
        </p:nvPicPr>
        <p:blipFill>
          <a:blip r:embed="rId2"/>
          <a:stretch>
            <a:fillRect/>
          </a:stretch>
        </p:blipFill>
        <p:spPr>
          <a:xfrm>
            <a:off x="7525512" y="3063240"/>
            <a:ext cx="219456" cy="219456"/>
          </a:xfrm>
          <a:prstGeom prst="rect">
            <a:avLst/>
          </a:prstGeom>
        </p:spPr>
      </p:pic>
      <p:sp>
        <p:nvSpPr>
          <p:cNvPr id="18" name="Text 14"/>
          <p:cNvSpPr/>
          <p:nvPr/>
        </p:nvSpPr>
        <p:spPr>
          <a:xfrm>
            <a:off x="8001000" y="2916936"/>
            <a:ext cx="3611880" cy="32004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One pair is noise; thousands are signal</a:t>
            </a:r>
            <a:endParaRPr lang="en-US" sz="1350" dirty="0"/>
          </a:p>
        </p:txBody>
      </p:sp>
      <p:sp>
        <p:nvSpPr>
          <p:cNvPr id="19" name="Text 15"/>
          <p:cNvSpPr/>
          <p:nvPr/>
        </p:nvSpPr>
        <p:spPr>
          <a:xfrm>
            <a:off x="8001000" y="3255264"/>
            <a:ext cx="361188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Reuse the same opposition across many different endings, so the only thing consistently varying is the concept.</a:t>
            </a:r>
            <a:endParaRPr lang="en-US" sz="1150" dirty="0"/>
          </a:p>
        </p:txBody>
      </p:sp>
      <p:sp>
        <p:nvSpPr>
          <p:cNvPr id="20" name="Shape 16"/>
          <p:cNvSpPr/>
          <p:nvPr/>
        </p:nvSpPr>
        <p:spPr>
          <a:xfrm>
            <a:off x="7406640" y="4315968"/>
            <a:ext cx="457200" cy="457200"/>
          </a:xfrm>
          <a:prstGeom prst="ellipse">
            <a:avLst/>
          </a:prstGeom>
          <a:solidFill>
            <a:srgbClr val="065A82"/>
          </a:solidFill>
          <a:ln/>
        </p:spPr>
      </p:sp>
      <p:pic>
        <p:nvPicPr>
          <p:cNvPr id="21" name="Image 2" descr="/home/claude/work/icons/ruler.png">    </p:cNvPr>
          <p:cNvPicPr>
            <a:picLocks noChangeAspect="1"/>
          </p:cNvPicPr>
          <p:nvPr/>
        </p:nvPicPr>
        <p:blipFill>
          <a:blip r:embed="rId3"/>
          <a:stretch>
            <a:fillRect/>
          </a:stretch>
        </p:blipFill>
        <p:spPr>
          <a:xfrm>
            <a:off x="7525512" y="4434840"/>
            <a:ext cx="219456" cy="219456"/>
          </a:xfrm>
          <a:prstGeom prst="rect">
            <a:avLst/>
          </a:prstGeom>
        </p:spPr>
      </p:pic>
      <p:sp>
        <p:nvSpPr>
          <p:cNvPr id="22" name="Text 17"/>
          <p:cNvSpPr/>
          <p:nvPr/>
        </p:nvSpPr>
        <p:spPr>
          <a:xfrm>
            <a:off x="8001000" y="4288536"/>
            <a:ext cx="3611880" cy="32004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Cheap augmentation: cut the ending short</a:t>
            </a:r>
            <a:endParaRPr lang="en-US" sz="1350" dirty="0"/>
          </a:p>
        </p:txBody>
      </p:sp>
      <p:sp>
        <p:nvSpPr>
          <p:cNvPr id="23" name="Text 18"/>
          <p:cNvSpPr/>
          <p:nvPr/>
        </p:nvSpPr>
        <p:spPr>
          <a:xfrm>
            <a:off x="8001000" y="4626864"/>
            <a:ext cx="361188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Every prefix of a shared continuation is another valid pair. One sentence becomes a dozen training rows at no extra writing cost.</a:t>
            </a:r>
            <a:endParaRPr lang="en-US" sz="1150" dirty="0"/>
          </a:p>
        </p:txBody>
      </p:sp>
      <p:sp>
        <p:nvSpPr>
          <p:cNvPr id="24" name="Shape 19"/>
          <p:cNvSpPr/>
          <p:nvPr/>
        </p:nvSpPr>
        <p:spPr>
          <a:xfrm>
            <a:off x="548640" y="5029200"/>
            <a:ext cx="6492240" cy="1097280"/>
          </a:xfrm>
          <a:prstGeom prst="roundRect">
            <a:avLst>
              <a:gd name="adj" fmla="val 6667"/>
            </a:avLst>
          </a:prstGeom>
          <a:solidFill>
            <a:srgbClr val="F4F1E8"/>
          </a:solidFill>
          <a:ln w="12700">
            <a:solidFill>
              <a:srgbClr val="D8D2C0"/>
            </a:solidFill>
            <a:prstDash val="solid"/>
          </a:ln>
        </p:spPr>
      </p:sp>
      <p:sp>
        <p:nvSpPr>
          <p:cNvPr id="25" name="Text 20"/>
          <p:cNvSpPr/>
          <p:nvPr/>
        </p:nvSpPr>
        <p:spPr>
          <a:xfrm>
            <a:off x="777240" y="5138928"/>
            <a:ext cx="6035040" cy="896112"/>
          </a:xfrm>
          <a:prstGeom prst="rect">
            <a:avLst/>
          </a:prstGeom>
          <a:noFill/>
          <a:ln/>
        </p:spPr>
        <p:txBody>
          <a:bodyPr wrap="square" lIns="0" tIns="0" rIns="0" bIns="0" rtlCol="0" anchor="ctr"/>
          <a:lstStyle/>
          <a:p>
            <a:pPr indent="0" marL="0">
              <a:lnSpc>
                <a:spcPct val="118000"/>
              </a:lnSpc>
              <a:buNone/>
            </a:pPr>
            <a:r>
              <a:rPr lang="en-US" sz="1150" b="1" dirty="0">
                <a:solidFill>
                  <a:srgbClr val="8A4B2A"/>
                </a:solidFill>
                <a:latin typeface="Calibri" pitchFamily="34" charset="0"/>
                <a:ea typeface="Calibri" pitchFamily="34" charset="-122"/>
                <a:cs typeface="Calibri" pitchFamily="34" charset="-120"/>
              </a:rPr>
              <a:t>Trap:  </a:t>
            </a:r>
            <a:pPr indent="0" marL="0">
              <a:lnSpc>
                <a:spcPct val="118000"/>
              </a:lnSpc>
              <a:buNone/>
            </a:pPr>
            <a:r>
              <a:rPr lang="en-US" sz="1150" dirty="0">
                <a:solidFill>
                  <a:srgbClr val="1B2733"/>
                </a:solidFill>
                <a:latin typeface="Calibri" pitchFamily="34" charset="0"/>
                <a:ea typeface="Calibri" pitchFamily="34" charset="-122"/>
                <a:cs typeface="Calibri" pitchFamily="34" charset="-120"/>
              </a:rPr>
              <a:t>if one side of every pair is the same sentence every time, the two sides stop varying independently — and what you extract can end up being a property of the side that did vary, rather than of the contrast you intended.</a:t>
            </a:r>
            <a:endParaRPr lang="en-US" sz="1150" dirty="0"/>
          </a:p>
        </p:txBody>
      </p:sp>
      <p:sp>
        <p:nvSpPr>
          <p:cNvPr id="26" name="Text 21"/>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27"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2 OF 5</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One Component: The Direction of Greatest Spread</a:t>
            </a:r>
            <a:endParaRPr lang="en-US" sz="3200" dirty="0"/>
          </a:p>
        </p:txBody>
      </p:sp>
      <p:sp>
        <p:nvSpPr>
          <p:cNvPr id="4" name="Text 2"/>
          <p:cNvSpPr/>
          <p:nvPr/>
        </p:nvSpPr>
        <p:spPr>
          <a:xfrm>
            <a:off x="548640" y="1554480"/>
            <a:ext cx="5760720" cy="1005840"/>
          </a:xfrm>
          <a:prstGeom prst="rect">
            <a:avLst/>
          </a:prstGeom>
          <a:noFill/>
          <a:ln/>
        </p:spPr>
        <p:txBody>
          <a:bodyPr wrap="square"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Given a cloud of high-dimensional points, principal component analysis finds the single direction along which the points are most spread out. Keep only the first component and you've compressed a whole dataset into one vector.</a:t>
            </a:r>
            <a:endParaRPr lang="en-US" sz="1350" dirty="0"/>
          </a:p>
        </p:txBody>
      </p:sp>
      <p:sp>
        <p:nvSpPr>
          <p:cNvPr id="5" name="Shape 3"/>
          <p:cNvSpPr/>
          <p:nvPr/>
        </p:nvSpPr>
        <p:spPr>
          <a:xfrm>
            <a:off x="6629400" y="1554480"/>
            <a:ext cx="4983480" cy="3200400"/>
          </a:xfrm>
          <a:prstGeom prst="roundRect">
            <a:avLst>
              <a:gd name="adj" fmla="val 2286"/>
            </a:avLst>
          </a:prstGeom>
          <a:solidFill>
            <a:srgbClr val="21295C"/>
          </a:solidFill>
          <a:ln/>
        </p:spPr>
      </p:sp>
      <p:sp>
        <p:nvSpPr>
          <p:cNvPr id="6" name="Shape 4"/>
          <p:cNvSpPr/>
          <p:nvPr/>
        </p:nvSpPr>
        <p:spPr>
          <a:xfrm flipV="1">
            <a:off x="7338060" y="2194560"/>
            <a:ext cx="3566160" cy="1920240"/>
          </a:xfrm>
          <a:prstGeom prst="line">
            <a:avLst/>
          </a:prstGeom>
          <a:noFill/>
          <a:ln w="28575">
            <a:solidFill>
              <a:srgbClr val="8FD4E8"/>
            </a:solidFill>
            <a:prstDash val="solid"/>
            <a:tailEnd type="triangle"/>
          </a:ln>
        </p:spPr>
      </p:sp>
      <p:sp>
        <p:nvSpPr>
          <p:cNvPr id="7" name="Shape 5"/>
          <p:cNvSpPr/>
          <p:nvPr/>
        </p:nvSpPr>
        <p:spPr>
          <a:xfrm>
            <a:off x="7379208" y="3973068"/>
            <a:ext cx="100584" cy="100584"/>
          </a:xfrm>
          <a:prstGeom prst="ellipse">
            <a:avLst/>
          </a:prstGeom>
          <a:solidFill>
            <a:srgbClr val="6FA8C9"/>
          </a:solidFill>
          <a:ln/>
        </p:spPr>
      </p:sp>
      <p:sp>
        <p:nvSpPr>
          <p:cNvPr id="8" name="Shape 6"/>
          <p:cNvSpPr/>
          <p:nvPr/>
        </p:nvSpPr>
        <p:spPr>
          <a:xfrm>
            <a:off x="7412134" y="3610988"/>
            <a:ext cx="100584" cy="100584"/>
          </a:xfrm>
          <a:prstGeom prst="ellipse">
            <a:avLst/>
          </a:prstGeom>
          <a:solidFill>
            <a:srgbClr val="6FA8C9"/>
          </a:solidFill>
          <a:ln/>
        </p:spPr>
      </p:sp>
      <p:sp>
        <p:nvSpPr>
          <p:cNvPr id="9" name="Shape 7"/>
          <p:cNvSpPr/>
          <p:nvPr/>
        </p:nvSpPr>
        <p:spPr>
          <a:xfrm>
            <a:off x="7652408" y="3841329"/>
            <a:ext cx="100584" cy="100584"/>
          </a:xfrm>
          <a:prstGeom prst="ellipse">
            <a:avLst/>
          </a:prstGeom>
          <a:solidFill>
            <a:srgbClr val="6FA8C9"/>
          </a:solidFill>
          <a:ln/>
        </p:spPr>
      </p:sp>
      <p:sp>
        <p:nvSpPr>
          <p:cNvPr id="10" name="Shape 8"/>
          <p:cNvSpPr/>
          <p:nvPr/>
        </p:nvSpPr>
        <p:spPr>
          <a:xfrm>
            <a:off x="7887544" y="4056991"/>
            <a:ext cx="100584" cy="100584"/>
          </a:xfrm>
          <a:prstGeom prst="ellipse">
            <a:avLst/>
          </a:prstGeom>
          <a:solidFill>
            <a:srgbClr val="6FA8C9"/>
          </a:solidFill>
          <a:ln/>
        </p:spPr>
      </p:sp>
      <p:sp>
        <p:nvSpPr>
          <p:cNvPr id="11" name="Shape 9"/>
          <p:cNvSpPr/>
          <p:nvPr/>
        </p:nvSpPr>
        <p:spPr>
          <a:xfrm>
            <a:off x="7915460" y="3680596"/>
            <a:ext cx="100584" cy="100584"/>
          </a:xfrm>
          <a:prstGeom prst="ellipse">
            <a:avLst/>
          </a:prstGeom>
          <a:solidFill>
            <a:srgbClr val="6FA8C9"/>
          </a:solidFill>
          <a:ln/>
        </p:spPr>
      </p:sp>
      <p:sp>
        <p:nvSpPr>
          <p:cNvPr id="12" name="Shape 10"/>
          <p:cNvSpPr/>
          <p:nvPr/>
        </p:nvSpPr>
        <p:spPr>
          <a:xfrm>
            <a:off x="7953648" y="3333549"/>
            <a:ext cx="100584" cy="100584"/>
          </a:xfrm>
          <a:prstGeom prst="ellipse">
            <a:avLst/>
          </a:prstGeom>
          <a:solidFill>
            <a:srgbClr val="6FA8C9"/>
          </a:solidFill>
          <a:ln/>
        </p:spPr>
      </p:sp>
      <p:sp>
        <p:nvSpPr>
          <p:cNvPr id="13" name="Shape 11"/>
          <p:cNvSpPr/>
          <p:nvPr/>
        </p:nvSpPr>
        <p:spPr>
          <a:xfrm>
            <a:off x="8198801" y="3577832"/>
            <a:ext cx="100584" cy="100584"/>
          </a:xfrm>
          <a:prstGeom prst="ellipse">
            <a:avLst/>
          </a:prstGeom>
          <a:solidFill>
            <a:srgbClr val="6FA8C9"/>
          </a:solidFill>
          <a:ln/>
        </p:spPr>
      </p:sp>
      <p:sp>
        <p:nvSpPr>
          <p:cNvPr id="14" name="Shape 12"/>
          <p:cNvSpPr/>
          <p:nvPr/>
        </p:nvSpPr>
        <p:spPr>
          <a:xfrm>
            <a:off x="8428554" y="3778116"/>
            <a:ext cx="100584" cy="100584"/>
          </a:xfrm>
          <a:prstGeom prst="ellipse">
            <a:avLst/>
          </a:prstGeom>
          <a:solidFill>
            <a:srgbClr val="6FA8C9"/>
          </a:solidFill>
          <a:ln/>
        </p:spPr>
      </p:sp>
      <p:sp>
        <p:nvSpPr>
          <p:cNvPr id="15" name="Shape 13"/>
          <p:cNvSpPr/>
          <p:nvPr/>
        </p:nvSpPr>
        <p:spPr>
          <a:xfrm>
            <a:off x="8451724" y="3388159"/>
            <a:ext cx="100584" cy="100584"/>
          </a:xfrm>
          <a:prstGeom prst="ellipse">
            <a:avLst/>
          </a:prstGeom>
          <a:solidFill>
            <a:srgbClr val="6FA8C9"/>
          </a:solidFill>
          <a:ln/>
        </p:spPr>
      </p:sp>
      <p:sp>
        <p:nvSpPr>
          <p:cNvPr id="16" name="Shape 14"/>
          <p:cNvSpPr/>
          <p:nvPr/>
        </p:nvSpPr>
        <p:spPr>
          <a:xfrm>
            <a:off x="8495412" y="3056827"/>
            <a:ext cx="100584" cy="100584"/>
          </a:xfrm>
          <a:prstGeom prst="ellipse">
            <a:avLst/>
          </a:prstGeom>
          <a:solidFill>
            <a:srgbClr val="6FA8C9"/>
          </a:solidFill>
          <a:ln/>
        </p:spPr>
      </p:sp>
      <p:sp>
        <p:nvSpPr>
          <p:cNvPr id="17" name="Shape 15"/>
          <p:cNvSpPr/>
          <p:nvPr/>
        </p:nvSpPr>
        <p:spPr>
          <a:xfrm>
            <a:off x="8745175" y="3314282"/>
            <a:ext cx="100584" cy="100584"/>
          </a:xfrm>
          <a:prstGeom prst="ellipse">
            <a:avLst/>
          </a:prstGeom>
          <a:solidFill>
            <a:srgbClr val="6FA8C9"/>
          </a:solidFill>
          <a:ln/>
        </p:spPr>
      </p:sp>
      <p:sp>
        <p:nvSpPr>
          <p:cNvPr id="18" name="Shape 16"/>
          <p:cNvSpPr/>
          <p:nvPr/>
        </p:nvSpPr>
        <p:spPr>
          <a:xfrm>
            <a:off x="8969314" y="3498525"/>
            <a:ext cx="100584" cy="100584"/>
          </a:xfrm>
          <a:prstGeom prst="ellipse">
            <a:avLst/>
          </a:prstGeom>
          <a:solidFill>
            <a:srgbClr val="6FA8C9"/>
          </a:solidFill>
          <a:ln/>
        </p:spPr>
      </p:sp>
      <p:sp>
        <p:nvSpPr>
          <p:cNvPr id="19" name="Shape 17"/>
          <p:cNvSpPr/>
          <p:nvPr/>
        </p:nvSpPr>
        <p:spPr>
          <a:xfrm>
            <a:off x="8988013" y="3095794"/>
            <a:ext cx="100584" cy="100584"/>
          </a:xfrm>
          <a:prstGeom prst="ellipse">
            <a:avLst/>
          </a:prstGeom>
          <a:solidFill>
            <a:srgbClr val="6FA8C9"/>
          </a:solidFill>
          <a:ln/>
        </p:spPr>
      </p:sp>
      <p:sp>
        <p:nvSpPr>
          <p:cNvPr id="20" name="Shape 18"/>
          <p:cNvSpPr/>
          <p:nvPr/>
        </p:nvSpPr>
        <p:spPr>
          <a:xfrm>
            <a:off x="9037426" y="2780820"/>
            <a:ext cx="100584" cy="100584"/>
          </a:xfrm>
          <a:prstGeom prst="ellipse">
            <a:avLst/>
          </a:prstGeom>
          <a:solidFill>
            <a:srgbClr val="6FA8C9"/>
          </a:solidFill>
          <a:ln/>
        </p:spPr>
      </p:sp>
      <p:sp>
        <p:nvSpPr>
          <p:cNvPr id="21" name="Shape 19"/>
          <p:cNvSpPr/>
          <p:nvPr/>
        </p:nvSpPr>
        <p:spPr>
          <a:xfrm>
            <a:off x="9291519" y="3050644"/>
            <a:ext cx="100584" cy="100584"/>
          </a:xfrm>
          <a:prstGeom prst="ellipse">
            <a:avLst/>
          </a:prstGeom>
          <a:solidFill>
            <a:srgbClr val="6FA8C9"/>
          </a:solidFill>
          <a:ln/>
        </p:spPr>
      </p:sp>
      <p:sp>
        <p:nvSpPr>
          <p:cNvPr id="22" name="Shape 20"/>
          <p:cNvSpPr/>
          <p:nvPr/>
        </p:nvSpPr>
        <p:spPr>
          <a:xfrm>
            <a:off x="9509825" y="3218222"/>
            <a:ext cx="100584" cy="100584"/>
          </a:xfrm>
          <a:prstGeom prst="ellipse">
            <a:avLst/>
          </a:prstGeom>
          <a:solidFill>
            <a:srgbClr val="6FA8C9"/>
          </a:solidFill>
          <a:ln/>
        </p:spPr>
      </p:sp>
      <p:sp>
        <p:nvSpPr>
          <p:cNvPr id="23" name="Shape 21"/>
          <p:cNvSpPr/>
          <p:nvPr/>
        </p:nvSpPr>
        <p:spPr>
          <a:xfrm>
            <a:off x="9524339" y="2803535"/>
            <a:ext cx="100584" cy="100584"/>
          </a:xfrm>
          <a:prstGeom prst="ellipse">
            <a:avLst/>
          </a:prstGeom>
          <a:solidFill>
            <a:srgbClr val="6FA8C9"/>
          </a:solidFill>
          <a:ln/>
        </p:spPr>
      </p:sp>
      <p:sp>
        <p:nvSpPr>
          <p:cNvPr id="24" name="Shape 22"/>
          <p:cNvSpPr/>
          <p:nvPr/>
        </p:nvSpPr>
        <p:spPr>
          <a:xfrm>
            <a:off x="9579689" y="2505521"/>
            <a:ext cx="100584" cy="100584"/>
          </a:xfrm>
          <a:prstGeom prst="ellipse">
            <a:avLst/>
          </a:prstGeom>
          <a:solidFill>
            <a:srgbClr val="6FA8C9"/>
          </a:solidFill>
          <a:ln/>
        </p:spPr>
      </p:sp>
      <p:sp>
        <p:nvSpPr>
          <p:cNvPr id="25" name="Shape 23"/>
          <p:cNvSpPr/>
          <p:nvPr/>
        </p:nvSpPr>
        <p:spPr>
          <a:xfrm>
            <a:off x="9837819" y="2786881"/>
            <a:ext cx="100584" cy="100584"/>
          </a:xfrm>
          <a:prstGeom prst="ellipse">
            <a:avLst/>
          </a:prstGeom>
          <a:solidFill>
            <a:srgbClr val="6FA8C9"/>
          </a:solidFill>
          <a:ln/>
        </p:spPr>
      </p:sp>
      <p:sp>
        <p:nvSpPr>
          <p:cNvPr id="26" name="Shape 24"/>
          <p:cNvSpPr/>
          <p:nvPr/>
        </p:nvSpPr>
        <p:spPr>
          <a:xfrm>
            <a:off x="10050089" y="2937213"/>
            <a:ext cx="100584" cy="100584"/>
          </a:xfrm>
          <a:prstGeom prst="ellipse">
            <a:avLst/>
          </a:prstGeom>
          <a:solidFill>
            <a:srgbClr val="6FA8C9"/>
          </a:solidFill>
          <a:ln/>
        </p:spPr>
      </p:sp>
      <p:sp>
        <p:nvSpPr>
          <p:cNvPr id="27" name="Shape 25"/>
          <p:cNvSpPr/>
          <p:nvPr/>
        </p:nvSpPr>
        <p:spPr>
          <a:xfrm>
            <a:off x="10060715" y="2511417"/>
            <a:ext cx="100584" cy="100584"/>
          </a:xfrm>
          <a:prstGeom prst="ellipse">
            <a:avLst/>
          </a:prstGeom>
          <a:solidFill>
            <a:srgbClr val="6FA8C9"/>
          </a:solidFill>
          <a:ln/>
        </p:spPr>
      </p:sp>
      <p:sp>
        <p:nvSpPr>
          <p:cNvPr id="28" name="Shape 26"/>
          <p:cNvSpPr/>
          <p:nvPr/>
        </p:nvSpPr>
        <p:spPr>
          <a:xfrm>
            <a:off x="10122197" y="2230925"/>
            <a:ext cx="100584" cy="100584"/>
          </a:xfrm>
          <a:prstGeom prst="ellipse">
            <a:avLst/>
          </a:prstGeom>
          <a:solidFill>
            <a:srgbClr val="6FA8C9"/>
          </a:solidFill>
          <a:ln/>
        </p:spPr>
      </p:sp>
      <p:sp>
        <p:nvSpPr>
          <p:cNvPr id="29" name="Shape 27"/>
          <p:cNvSpPr/>
          <p:nvPr/>
        </p:nvSpPr>
        <p:spPr>
          <a:xfrm>
            <a:off x="10384063" y="2522960"/>
            <a:ext cx="100584" cy="100584"/>
          </a:xfrm>
          <a:prstGeom prst="ellipse">
            <a:avLst/>
          </a:prstGeom>
          <a:solidFill>
            <a:srgbClr val="6FA8C9"/>
          </a:solidFill>
          <a:ln/>
        </p:spPr>
      </p:sp>
      <p:sp>
        <p:nvSpPr>
          <p:cNvPr id="30" name="Shape 28"/>
          <p:cNvSpPr/>
          <p:nvPr/>
        </p:nvSpPr>
        <p:spPr>
          <a:xfrm>
            <a:off x="10590109" y="2655506"/>
            <a:ext cx="100584" cy="100584"/>
          </a:xfrm>
          <a:prstGeom prst="ellipse">
            <a:avLst/>
          </a:prstGeom>
          <a:solidFill>
            <a:srgbClr val="6FA8C9"/>
          </a:solidFill>
          <a:ln/>
        </p:spPr>
      </p:sp>
      <p:sp>
        <p:nvSpPr>
          <p:cNvPr id="31" name="Shape 29"/>
          <p:cNvSpPr/>
          <p:nvPr/>
        </p:nvSpPr>
        <p:spPr>
          <a:xfrm>
            <a:off x="10597153" y="2219476"/>
            <a:ext cx="100584" cy="100584"/>
          </a:xfrm>
          <a:prstGeom prst="ellipse">
            <a:avLst/>
          </a:prstGeom>
          <a:solidFill>
            <a:srgbClr val="6FA8C9"/>
          </a:solidFill>
          <a:ln/>
        </p:spPr>
      </p:sp>
      <p:sp>
        <p:nvSpPr>
          <p:cNvPr id="32" name="Shape 30"/>
          <p:cNvSpPr/>
          <p:nvPr/>
        </p:nvSpPr>
        <p:spPr>
          <a:xfrm>
            <a:off x="10664948" y="1957023"/>
            <a:ext cx="100584" cy="100584"/>
          </a:xfrm>
          <a:prstGeom prst="ellipse">
            <a:avLst/>
          </a:prstGeom>
          <a:solidFill>
            <a:srgbClr val="6FA8C9"/>
          </a:solidFill>
          <a:ln/>
        </p:spPr>
      </p:sp>
      <p:sp>
        <p:nvSpPr>
          <p:cNvPr id="33" name="Text 31"/>
          <p:cNvSpPr/>
          <p:nvPr/>
        </p:nvSpPr>
        <p:spPr>
          <a:xfrm>
            <a:off x="6949440" y="4480560"/>
            <a:ext cx="4206240" cy="274320"/>
          </a:xfrm>
          <a:prstGeom prst="rect">
            <a:avLst/>
          </a:prstGeom>
          <a:noFill/>
          <a:ln/>
        </p:spPr>
        <p:txBody>
          <a:bodyPr wrap="square" rtlCol="0" anchor="ctr"/>
          <a:lstStyle/>
          <a:p>
            <a:pPr algn="ctr" indent="0" marL="0">
              <a:buNone/>
            </a:pPr>
            <a:r>
              <a:rPr lang="en-US" sz="1050" i="1" dirty="0">
                <a:solidFill>
                  <a:srgbClr val="8FD4E8"/>
                </a:solidFill>
                <a:latin typeface="Calibri" pitchFamily="34" charset="0"/>
                <a:ea typeface="Calibri" pitchFamily="34" charset="-122"/>
                <a:cs typeface="Calibri" pitchFamily="34" charset="-120"/>
              </a:rPr>
              <a:t>first principal component</a:t>
            </a:r>
            <a:endParaRPr lang="en-US" sz="1050" dirty="0"/>
          </a:p>
        </p:txBody>
      </p:sp>
      <p:sp>
        <p:nvSpPr>
          <p:cNvPr id="34" name="Shape 32"/>
          <p:cNvSpPr/>
          <p:nvPr/>
        </p:nvSpPr>
        <p:spPr>
          <a:xfrm>
            <a:off x="566928" y="2743200"/>
            <a:ext cx="420624" cy="420624"/>
          </a:xfrm>
          <a:prstGeom prst="ellipse">
            <a:avLst/>
          </a:prstGeom>
          <a:solidFill>
            <a:srgbClr val="FFFFFF"/>
          </a:solidFill>
          <a:ln w="15875">
            <a:solidFill>
              <a:srgbClr val="AEC7D6"/>
            </a:solidFill>
            <a:prstDash val="solid"/>
          </a:ln>
        </p:spPr>
      </p:sp>
      <p:pic>
        <p:nvPicPr>
          <p:cNvPr id="35" name="Image 0" descr="/home/claude/work/icons/pca_teal.png">    </p:cNvPr>
          <p:cNvPicPr>
            <a:picLocks noChangeAspect="1"/>
          </p:cNvPicPr>
          <p:nvPr/>
        </p:nvPicPr>
        <p:blipFill>
          <a:blip r:embed="rId1"/>
          <a:stretch>
            <a:fillRect/>
          </a:stretch>
        </p:blipFill>
        <p:spPr>
          <a:xfrm>
            <a:off x="672084" y="2848356"/>
            <a:ext cx="210312" cy="210312"/>
          </a:xfrm>
          <a:prstGeom prst="rect">
            <a:avLst/>
          </a:prstGeom>
        </p:spPr>
      </p:pic>
      <p:sp>
        <p:nvSpPr>
          <p:cNvPr id="36" name="Text 33"/>
          <p:cNvSpPr/>
          <p:nvPr/>
        </p:nvSpPr>
        <p:spPr>
          <a:xfrm>
            <a:off x="1115568" y="2706624"/>
            <a:ext cx="5120640" cy="3017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It centres the data first</a:t>
            </a:r>
            <a:endParaRPr lang="en-US" sz="1300" dirty="0"/>
          </a:p>
        </p:txBody>
      </p:sp>
      <p:sp>
        <p:nvSpPr>
          <p:cNvPr id="37" name="Text 34"/>
          <p:cNvSpPr/>
          <p:nvPr/>
        </p:nvSpPr>
        <p:spPr>
          <a:xfrm>
            <a:off x="1115568" y="3017520"/>
            <a:ext cx="5120640" cy="8229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PCA subtracts the mean before it looks for spread. Anything that lives in the mean — including a constant offset between two groups — is removed before the search starts.</a:t>
            </a:r>
            <a:endParaRPr lang="en-US" sz="1100" dirty="0"/>
          </a:p>
        </p:txBody>
      </p:sp>
      <p:sp>
        <p:nvSpPr>
          <p:cNvPr id="38" name="Shape 35"/>
          <p:cNvSpPr/>
          <p:nvPr/>
        </p:nvSpPr>
        <p:spPr>
          <a:xfrm>
            <a:off x="566928" y="3913632"/>
            <a:ext cx="420624" cy="420624"/>
          </a:xfrm>
          <a:prstGeom prst="ellipse">
            <a:avLst/>
          </a:prstGeom>
          <a:solidFill>
            <a:srgbClr val="FFFFFF"/>
          </a:solidFill>
          <a:ln w="15875">
            <a:solidFill>
              <a:srgbClr val="AEC7D6"/>
            </a:solidFill>
            <a:prstDash val="solid"/>
          </a:ln>
        </p:spPr>
      </p:sp>
      <p:pic>
        <p:nvPicPr>
          <p:cNvPr id="39" name="Image 1" descr="/home/claude/work/icons/ruler_teal.png">    </p:cNvPr>
          <p:cNvPicPr>
            <a:picLocks noChangeAspect="1"/>
          </p:cNvPicPr>
          <p:nvPr/>
        </p:nvPicPr>
        <p:blipFill>
          <a:blip r:embed="rId2"/>
          <a:stretch>
            <a:fillRect/>
          </a:stretch>
        </p:blipFill>
        <p:spPr>
          <a:xfrm>
            <a:off x="672084" y="4018788"/>
            <a:ext cx="210312" cy="210312"/>
          </a:xfrm>
          <a:prstGeom prst="rect">
            <a:avLst/>
          </a:prstGeom>
        </p:spPr>
      </p:pic>
      <p:sp>
        <p:nvSpPr>
          <p:cNvPr id="40" name="Text 36"/>
          <p:cNvSpPr/>
          <p:nvPr/>
        </p:nvSpPr>
        <p:spPr>
          <a:xfrm>
            <a:off x="1115568" y="3877056"/>
            <a:ext cx="5120640" cy="3017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It returns a unit direction, not a size</a:t>
            </a:r>
            <a:endParaRPr lang="en-US" sz="1300" dirty="0"/>
          </a:p>
        </p:txBody>
      </p:sp>
      <p:sp>
        <p:nvSpPr>
          <p:cNvPr id="41" name="Text 37"/>
          <p:cNvSpPr/>
          <p:nvPr/>
        </p:nvSpPr>
        <p:spPr>
          <a:xfrm>
            <a:off x="1115568" y="4187952"/>
            <a:ext cx="5120640" cy="8229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The component has length 1. How far to travel along it is a separate decision you make later.</a:t>
            </a:r>
            <a:endParaRPr lang="en-US" sz="1100" dirty="0"/>
          </a:p>
        </p:txBody>
      </p:sp>
      <p:sp>
        <p:nvSpPr>
          <p:cNvPr id="42" name="Shape 38"/>
          <p:cNvSpPr/>
          <p:nvPr/>
        </p:nvSpPr>
        <p:spPr>
          <a:xfrm>
            <a:off x="566928" y="5084064"/>
            <a:ext cx="420624" cy="420624"/>
          </a:xfrm>
          <a:prstGeom prst="ellipse">
            <a:avLst/>
          </a:prstGeom>
          <a:solidFill>
            <a:srgbClr val="FFFFFF"/>
          </a:solidFill>
          <a:ln w="15875">
            <a:solidFill>
              <a:srgbClr val="AEC7D6"/>
            </a:solidFill>
            <a:prstDash val="solid"/>
          </a:ln>
        </p:spPr>
      </p:sp>
      <p:pic>
        <p:nvPicPr>
          <p:cNvPr id="43" name="Image 2" descr="/home/claude/work/icons/shuffle_teal.png">    </p:cNvPr>
          <p:cNvPicPr>
            <a:picLocks noChangeAspect="1"/>
          </p:cNvPicPr>
          <p:nvPr/>
        </p:nvPicPr>
        <p:blipFill>
          <a:blip r:embed="rId3"/>
          <a:stretch>
            <a:fillRect/>
          </a:stretch>
        </p:blipFill>
        <p:spPr>
          <a:xfrm>
            <a:off x="672084" y="5189220"/>
            <a:ext cx="210312" cy="210312"/>
          </a:xfrm>
          <a:prstGeom prst="rect">
            <a:avLst/>
          </a:prstGeom>
        </p:spPr>
      </p:pic>
      <p:sp>
        <p:nvSpPr>
          <p:cNvPr id="44" name="Text 39"/>
          <p:cNvSpPr/>
          <p:nvPr/>
        </p:nvSpPr>
        <p:spPr>
          <a:xfrm>
            <a:off x="1115568" y="5047488"/>
            <a:ext cx="5120640" cy="3017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The sign is arbitrary</a:t>
            </a:r>
            <a:endParaRPr lang="en-US" sz="1300" dirty="0"/>
          </a:p>
        </p:txBody>
      </p:sp>
      <p:sp>
        <p:nvSpPr>
          <p:cNvPr id="45" name="Text 40"/>
          <p:cNvSpPr/>
          <p:nvPr/>
        </p:nvSpPr>
        <p:spPr>
          <a:xfrm>
            <a:off x="1115568" y="5358384"/>
            <a:ext cx="5120640" cy="8229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PCA fixes an axis, not a heading. The unit vectors v and −v describe that same axis and explain identical variance, so whichever of the two comes back has to be checked against the data before its polarity is trusted.</a:t>
            </a:r>
            <a:endParaRPr lang="en-US" sz="1100" dirty="0"/>
          </a:p>
        </p:txBody>
      </p:sp>
      <p:sp>
        <p:nvSpPr>
          <p:cNvPr id="46" name="Text 41"/>
          <p:cNvSpPr/>
          <p:nvPr/>
        </p:nvSpPr>
        <p:spPr>
          <a:xfrm>
            <a:off x="6629400" y="4937760"/>
            <a:ext cx="4983480" cy="1188720"/>
          </a:xfrm>
          <a:prstGeom prst="rect">
            <a:avLst/>
          </a:prstGeom>
          <a:noFill/>
          <a:ln/>
        </p:spPr>
        <p:txBody>
          <a:bodyPr wrap="square" rtlCol="0" anchor="ctr"/>
          <a:lstStyle/>
          <a:p>
            <a:pPr indent="0" marL="0">
              <a:lnSpc>
                <a:spcPct val="125000"/>
              </a:lnSpc>
              <a:buNone/>
            </a:pPr>
            <a:r>
              <a:rPr lang="en-US" sz="1150" dirty="0">
                <a:solidFill>
                  <a:srgbClr val="065A82"/>
                </a:solidFill>
                <a:latin typeface="Calibri" pitchFamily="34" charset="0"/>
                <a:ea typeface="Calibri" pitchFamily="34" charset="-122"/>
                <a:cs typeface="Calibri" pitchFamily="34" charset="-120"/>
              </a:rPr>
              <a:t>Because the sign is arbitrary, any honest pipeline ends with a calibration step: project the original points back onto the extracted vector and negate it if the group you called “positive” landed on the low side.</a:t>
            </a:r>
            <a:endParaRPr lang="en-US" sz="1150" dirty="0"/>
          </a:p>
        </p:txBody>
      </p:sp>
      <p:sp>
        <p:nvSpPr>
          <p:cNvPr id="47" name="Text 42"/>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8" name="Text 4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3 OF 5</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Activation Addition: Steering Without Changing Weights</a:t>
            </a:r>
            <a:endParaRPr lang="en-US" sz="3200" dirty="0"/>
          </a:p>
        </p:txBody>
      </p:sp>
      <p:sp>
        <p:nvSpPr>
          <p:cNvPr id="4" name="Text 2"/>
          <p:cNvSpPr/>
          <p:nvPr/>
        </p:nvSpPr>
        <p:spPr>
          <a:xfrm>
            <a:off x="548640" y="1554480"/>
            <a:ext cx="11064240" cy="731520"/>
          </a:xfrm>
          <a:prstGeom prst="rect">
            <a:avLst/>
          </a:prstGeom>
          <a:noFill/>
          <a:ln/>
        </p:spPr>
        <p:txBody>
          <a:bodyPr wrap="square"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A transformer layer hands its output to the next layer. Intercept that hand-off, add a fixed vector before passing it along, and every downstream computation sees a shifted state — at every token position. Obtaining the vector is its own step with its own cost; what this buys is that applying it changes no weights.</a:t>
            </a:r>
            <a:endParaRPr lang="en-US" sz="1350" dirty="0"/>
          </a:p>
        </p:txBody>
      </p:sp>
      <p:sp>
        <p:nvSpPr>
          <p:cNvPr id="5" name="Shape 3"/>
          <p:cNvSpPr/>
          <p:nvPr/>
        </p:nvSpPr>
        <p:spPr>
          <a:xfrm>
            <a:off x="548640" y="2514600"/>
            <a:ext cx="1874520" cy="777240"/>
          </a:xfrm>
          <a:prstGeom prst="roundRect">
            <a:avLst>
              <a:gd name="adj" fmla="val 9412"/>
            </a:avLst>
          </a:prstGeom>
          <a:solidFill>
            <a:srgbClr val="17395A"/>
          </a:solidFill>
          <a:ln/>
        </p:spPr>
      </p:sp>
      <p:sp>
        <p:nvSpPr>
          <p:cNvPr id="6" name="Text 4"/>
          <p:cNvSpPr/>
          <p:nvPr/>
        </p:nvSpPr>
        <p:spPr>
          <a:xfrm>
            <a:off x="548640" y="251460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layer  n</a:t>
            </a:r>
            <a:endParaRPr lang="en-US" sz="1300" dirty="0"/>
          </a:p>
        </p:txBody>
      </p:sp>
      <p:sp>
        <p:nvSpPr>
          <p:cNvPr id="7" name="Shape 5"/>
          <p:cNvSpPr/>
          <p:nvPr/>
        </p:nvSpPr>
        <p:spPr>
          <a:xfrm>
            <a:off x="2423160" y="2903220"/>
            <a:ext cx="365760" cy="0"/>
          </a:xfrm>
          <a:prstGeom prst="line">
            <a:avLst/>
          </a:prstGeom>
          <a:noFill/>
          <a:ln w="19050">
            <a:solidFill>
              <a:srgbClr val="5C7080"/>
            </a:solidFill>
            <a:prstDash val="solid"/>
            <a:tailEnd type="triangle"/>
          </a:ln>
        </p:spPr>
      </p:sp>
      <p:sp>
        <p:nvSpPr>
          <p:cNvPr id="8" name="Shape 6"/>
          <p:cNvSpPr/>
          <p:nvPr/>
        </p:nvSpPr>
        <p:spPr>
          <a:xfrm>
            <a:off x="2788920" y="2514600"/>
            <a:ext cx="1874520" cy="777240"/>
          </a:xfrm>
          <a:prstGeom prst="roundRect">
            <a:avLst>
              <a:gd name="adj" fmla="val 9412"/>
            </a:avLst>
          </a:prstGeom>
          <a:solidFill>
            <a:srgbClr val="1C7293"/>
          </a:solidFill>
          <a:ln/>
        </p:spPr>
      </p:sp>
      <p:sp>
        <p:nvSpPr>
          <p:cNvPr id="9" name="Text 7"/>
          <p:cNvSpPr/>
          <p:nvPr/>
        </p:nvSpPr>
        <p:spPr>
          <a:xfrm>
            <a:off x="2788920" y="251460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  vector</a:t>
            </a:r>
            <a:endParaRPr lang="en-US" sz="1300" dirty="0"/>
          </a:p>
        </p:txBody>
      </p:sp>
      <p:sp>
        <p:nvSpPr>
          <p:cNvPr id="10" name="Shape 8"/>
          <p:cNvSpPr/>
          <p:nvPr/>
        </p:nvSpPr>
        <p:spPr>
          <a:xfrm>
            <a:off x="4663440" y="2903220"/>
            <a:ext cx="365760" cy="0"/>
          </a:xfrm>
          <a:prstGeom prst="line">
            <a:avLst/>
          </a:prstGeom>
          <a:noFill/>
          <a:ln w="19050">
            <a:solidFill>
              <a:srgbClr val="5C7080"/>
            </a:solidFill>
            <a:prstDash val="solid"/>
            <a:tailEnd type="triangle"/>
          </a:ln>
        </p:spPr>
      </p:sp>
      <p:sp>
        <p:nvSpPr>
          <p:cNvPr id="11" name="Shape 9"/>
          <p:cNvSpPr/>
          <p:nvPr/>
        </p:nvSpPr>
        <p:spPr>
          <a:xfrm>
            <a:off x="5029200" y="2514600"/>
            <a:ext cx="1874520" cy="777240"/>
          </a:xfrm>
          <a:prstGeom prst="roundRect">
            <a:avLst>
              <a:gd name="adj" fmla="val 9412"/>
            </a:avLst>
          </a:prstGeom>
          <a:solidFill>
            <a:srgbClr val="17395A"/>
          </a:solidFill>
          <a:ln/>
        </p:spPr>
      </p:sp>
      <p:sp>
        <p:nvSpPr>
          <p:cNvPr id="12" name="Text 10"/>
          <p:cNvSpPr/>
          <p:nvPr/>
        </p:nvSpPr>
        <p:spPr>
          <a:xfrm>
            <a:off x="5029200" y="251460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layer  n+1</a:t>
            </a:r>
            <a:endParaRPr lang="en-US" sz="1300" dirty="0"/>
          </a:p>
        </p:txBody>
      </p:sp>
      <p:sp>
        <p:nvSpPr>
          <p:cNvPr id="13" name="Text 11"/>
          <p:cNvSpPr/>
          <p:nvPr/>
        </p:nvSpPr>
        <p:spPr>
          <a:xfrm>
            <a:off x="2788920" y="3383280"/>
            <a:ext cx="1874520" cy="274320"/>
          </a:xfrm>
          <a:prstGeom prst="rect">
            <a:avLst/>
          </a:prstGeom>
          <a:noFill/>
          <a:ln/>
        </p:spPr>
        <p:txBody>
          <a:bodyPr wrap="square" rtlCol="0" anchor="ctr"/>
          <a:lstStyle/>
          <a:p>
            <a:pPr algn="ctr" indent="0" marL="0">
              <a:buNone/>
            </a:pPr>
            <a:r>
              <a:rPr lang="en-US" sz="1050" i="1" dirty="0">
                <a:solidFill>
                  <a:srgbClr val="1C7293"/>
                </a:solidFill>
                <a:latin typeface="Calibri" pitchFamily="34" charset="0"/>
                <a:ea typeface="Calibri" pitchFamily="34" charset="-122"/>
                <a:cs typeface="Calibri" pitchFamily="34" charset="-120"/>
              </a:rPr>
              <a:t>the entire intervention</a:t>
            </a:r>
            <a:endParaRPr lang="en-US" sz="1050" dirty="0"/>
          </a:p>
        </p:txBody>
      </p:sp>
      <p:sp>
        <p:nvSpPr>
          <p:cNvPr id="14" name="Shape 12"/>
          <p:cNvSpPr/>
          <p:nvPr/>
        </p:nvSpPr>
        <p:spPr>
          <a:xfrm>
            <a:off x="548640" y="3977640"/>
            <a:ext cx="3474720" cy="1965960"/>
          </a:xfrm>
          <a:prstGeom prst="roundRect">
            <a:avLst>
              <a:gd name="adj" fmla="val 3721"/>
            </a:avLst>
          </a:prstGeom>
          <a:solidFill>
            <a:srgbClr val="F2F8FA"/>
          </a:solidFill>
          <a:ln w="12700">
            <a:solidFill>
              <a:srgbClr val="DCE7EC"/>
            </a:solidFill>
            <a:prstDash val="solid"/>
          </a:ln>
        </p:spPr>
      </p:sp>
      <p:sp>
        <p:nvSpPr>
          <p:cNvPr id="15" name="Shape 13"/>
          <p:cNvSpPr/>
          <p:nvPr/>
        </p:nvSpPr>
        <p:spPr>
          <a:xfrm>
            <a:off x="777240" y="4187952"/>
            <a:ext cx="457200" cy="457200"/>
          </a:xfrm>
          <a:prstGeom prst="ellipse">
            <a:avLst/>
          </a:prstGeom>
          <a:solidFill>
            <a:srgbClr val="065A82"/>
          </a:solidFill>
          <a:ln/>
        </p:spPr>
      </p:sp>
      <p:pic>
        <p:nvPicPr>
          <p:cNvPr id="16" name="Image 0" descr="/home/claude/work/icons/gear.png">    </p:cNvPr>
          <p:cNvPicPr>
            <a:picLocks noChangeAspect="1"/>
          </p:cNvPicPr>
          <p:nvPr/>
        </p:nvPicPr>
        <p:blipFill>
          <a:blip r:embed="rId1"/>
          <a:stretch>
            <a:fillRect/>
          </a:stretch>
        </p:blipFill>
        <p:spPr>
          <a:xfrm>
            <a:off x="896112" y="4306824"/>
            <a:ext cx="219456" cy="219456"/>
          </a:xfrm>
          <a:prstGeom prst="rect">
            <a:avLst/>
          </a:prstGeom>
        </p:spPr>
      </p:pic>
      <p:sp>
        <p:nvSpPr>
          <p:cNvPr id="17" name="Text 14"/>
          <p:cNvSpPr/>
          <p:nvPr/>
        </p:nvSpPr>
        <p:spPr>
          <a:xfrm>
            <a:off x="1353312" y="4224528"/>
            <a:ext cx="251460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Fine-tuning</a:t>
            </a:r>
            <a:endParaRPr lang="en-US" sz="1400" dirty="0"/>
          </a:p>
        </p:txBody>
      </p:sp>
      <p:sp>
        <p:nvSpPr>
          <p:cNvPr id="18" name="Text 15"/>
          <p:cNvSpPr/>
          <p:nvPr/>
        </p:nvSpPr>
        <p:spPr>
          <a:xfrm>
            <a:off x="777240" y="4736592"/>
            <a:ext cx="3017520" cy="1097280"/>
          </a:xfrm>
          <a:prstGeom prst="rect">
            <a:avLst/>
          </a:prstGeom>
          <a:noFill/>
          <a:ln/>
        </p:spPr>
        <p:txBody>
          <a:bodyPr wrap="square" lIns="0" tIns="0" rIns="0" bIns="0" rtlCol="0" anchor="t"/>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Rewrites weights. Needs gradients, data, and a full training run. Permanent until you train again.</a:t>
            </a:r>
            <a:endParaRPr lang="en-US" sz="1100" dirty="0"/>
          </a:p>
        </p:txBody>
      </p:sp>
      <p:sp>
        <p:nvSpPr>
          <p:cNvPr id="19" name="Shape 16"/>
          <p:cNvSpPr/>
          <p:nvPr/>
        </p:nvSpPr>
        <p:spPr>
          <a:xfrm>
            <a:off x="4251960" y="3977640"/>
            <a:ext cx="3474720" cy="1965960"/>
          </a:xfrm>
          <a:prstGeom prst="roundRect">
            <a:avLst>
              <a:gd name="adj" fmla="val 3721"/>
            </a:avLst>
          </a:prstGeom>
          <a:solidFill>
            <a:srgbClr val="F2F8FA"/>
          </a:solidFill>
          <a:ln w="12700">
            <a:solidFill>
              <a:srgbClr val="DCE7EC"/>
            </a:solidFill>
            <a:prstDash val="solid"/>
          </a:ln>
        </p:spPr>
      </p:sp>
      <p:sp>
        <p:nvSpPr>
          <p:cNvPr id="20" name="Shape 17"/>
          <p:cNvSpPr/>
          <p:nvPr/>
        </p:nvSpPr>
        <p:spPr>
          <a:xfrm>
            <a:off x="4480560" y="4187952"/>
            <a:ext cx="457200" cy="457200"/>
          </a:xfrm>
          <a:prstGeom prst="ellipse">
            <a:avLst/>
          </a:prstGeom>
          <a:solidFill>
            <a:srgbClr val="065A82"/>
          </a:solidFill>
          <a:ln/>
        </p:spPr>
      </p:sp>
      <p:pic>
        <p:nvPicPr>
          <p:cNvPr id="21" name="Image 1" descr="/home/claude/work/icons/chat.png">    </p:cNvPr>
          <p:cNvPicPr>
            <a:picLocks noChangeAspect="1"/>
          </p:cNvPicPr>
          <p:nvPr/>
        </p:nvPicPr>
        <p:blipFill>
          <a:blip r:embed="rId2"/>
          <a:stretch>
            <a:fillRect/>
          </a:stretch>
        </p:blipFill>
        <p:spPr>
          <a:xfrm>
            <a:off x="4599432" y="4306824"/>
            <a:ext cx="219456" cy="219456"/>
          </a:xfrm>
          <a:prstGeom prst="rect">
            <a:avLst/>
          </a:prstGeom>
        </p:spPr>
      </p:pic>
      <p:sp>
        <p:nvSpPr>
          <p:cNvPr id="22" name="Text 18"/>
          <p:cNvSpPr/>
          <p:nvPr/>
        </p:nvSpPr>
        <p:spPr>
          <a:xfrm>
            <a:off x="5056632" y="4224528"/>
            <a:ext cx="251460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Prompting</a:t>
            </a:r>
            <a:endParaRPr lang="en-US" sz="1400" dirty="0"/>
          </a:p>
        </p:txBody>
      </p:sp>
      <p:sp>
        <p:nvSpPr>
          <p:cNvPr id="23" name="Text 19"/>
          <p:cNvSpPr/>
          <p:nvPr/>
        </p:nvSpPr>
        <p:spPr>
          <a:xfrm>
            <a:off x="4480560" y="4736592"/>
            <a:ext cx="3017520" cy="1097280"/>
          </a:xfrm>
          <a:prstGeom prst="rect">
            <a:avLst/>
          </a:prstGeom>
          <a:noFill/>
          <a:ln/>
        </p:spPr>
        <p:txBody>
          <a:bodyPr wrap="square" lIns="0" tIns="0" rIns="0" bIns="0" rtlCol="0" anchor="t"/>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Rewrites the input. Costs context, competes with later instructions, and has no dial — only rewording.</a:t>
            </a:r>
            <a:endParaRPr lang="en-US" sz="1100" dirty="0"/>
          </a:p>
        </p:txBody>
      </p:sp>
      <p:sp>
        <p:nvSpPr>
          <p:cNvPr id="24" name="Shape 20"/>
          <p:cNvSpPr/>
          <p:nvPr/>
        </p:nvSpPr>
        <p:spPr>
          <a:xfrm>
            <a:off x="7955280" y="3977640"/>
            <a:ext cx="3474720" cy="1965960"/>
          </a:xfrm>
          <a:prstGeom prst="roundRect">
            <a:avLst>
              <a:gd name="adj" fmla="val 3721"/>
            </a:avLst>
          </a:prstGeom>
          <a:solidFill>
            <a:srgbClr val="F4F1E8"/>
          </a:solidFill>
          <a:ln w="12700">
            <a:solidFill>
              <a:srgbClr val="DCE7EC"/>
            </a:solidFill>
            <a:prstDash val="solid"/>
          </a:ln>
        </p:spPr>
      </p:sp>
      <p:sp>
        <p:nvSpPr>
          <p:cNvPr id="25" name="Shape 21"/>
          <p:cNvSpPr/>
          <p:nvPr/>
        </p:nvSpPr>
        <p:spPr>
          <a:xfrm>
            <a:off x="8183880" y="4187952"/>
            <a:ext cx="457200" cy="457200"/>
          </a:xfrm>
          <a:prstGeom prst="ellipse">
            <a:avLst/>
          </a:prstGeom>
          <a:solidFill>
            <a:srgbClr val="1C7293"/>
          </a:solidFill>
          <a:ln/>
        </p:spPr>
      </p:sp>
      <p:pic>
        <p:nvPicPr>
          <p:cNvPr id="26" name="Image 2" descr="/home/claude/work/icons/bolt.png">    </p:cNvPr>
          <p:cNvPicPr>
            <a:picLocks noChangeAspect="1"/>
          </p:cNvPicPr>
          <p:nvPr/>
        </p:nvPicPr>
        <p:blipFill>
          <a:blip r:embed="rId3"/>
          <a:stretch>
            <a:fillRect/>
          </a:stretch>
        </p:blipFill>
        <p:spPr>
          <a:xfrm>
            <a:off x="8302752" y="4306824"/>
            <a:ext cx="219456" cy="219456"/>
          </a:xfrm>
          <a:prstGeom prst="rect">
            <a:avLst/>
          </a:prstGeom>
        </p:spPr>
      </p:pic>
      <p:sp>
        <p:nvSpPr>
          <p:cNvPr id="27" name="Text 22"/>
          <p:cNvSpPr/>
          <p:nvPr/>
        </p:nvSpPr>
        <p:spPr>
          <a:xfrm>
            <a:off x="8759952" y="4224528"/>
            <a:ext cx="251460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Activation addition</a:t>
            </a:r>
            <a:endParaRPr lang="en-US" sz="1400" dirty="0"/>
          </a:p>
        </p:txBody>
      </p:sp>
      <p:sp>
        <p:nvSpPr>
          <p:cNvPr id="28" name="Text 23"/>
          <p:cNvSpPr/>
          <p:nvPr/>
        </p:nvSpPr>
        <p:spPr>
          <a:xfrm>
            <a:off x="8183880" y="4736592"/>
            <a:ext cx="3017520" cy="1097280"/>
          </a:xfrm>
          <a:prstGeom prst="rect">
            <a:avLst/>
          </a:prstGeom>
          <a:noFill/>
          <a:ln/>
        </p:spPr>
        <p:txBody>
          <a:bodyPr wrap="square" lIns="0" tIns="0" rIns="0" bIns="0" rtlCol="0" anchor="t"/>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Leaves every weight untouched. Costs one extraction pass over the paired prompts — forward passes only, no gradients — after which it applies at every token position, toggles instantly, and scales continuously.</a:t>
            </a:r>
            <a:endParaRPr lang="en-US" sz="1100" dirty="0"/>
          </a:p>
        </p:txBody>
      </p:sp>
      <p:sp>
        <p:nvSpPr>
          <p:cNvPr id="29" name="Text 24"/>
          <p:cNvSpPr/>
          <p:nvPr/>
        </p:nvSpPr>
        <p:spPr>
          <a:xfrm>
            <a:off x="548640" y="5998464"/>
            <a:ext cx="11064240" cy="347472"/>
          </a:xfrm>
          <a:prstGeom prst="rect">
            <a:avLst/>
          </a:prstGeom>
          <a:noFill/>
          <a:ln/>
        </p:spPr>
        <p:txBody>
          <a:bodyPr wrap="square" rtlCol="0" anchor="ctr"/>
          <a:lstStyle/>
          <a:p>
            <a:pPr indent="0" marL="0">
              <a:buNone/>
            </a:pPr>
            <a:r>
              <a:rPr lang="en-US" sz="1200" i="1" dirty="0">
                <a:solidFill>
                  <a:srgbClr val="065A82"/>
                </a:solidFill>
                <a:latin typeface="Calibri" pitchFamily="34" charset="0"/>
                <a:ea typeface="Calibri" pitchFamily="34" charset="-122"/>
                <a:cs typeface="Calibri" pitchFamily="34" charset="-120"/>
              </a:rPr>
              <a:t>Adding a vector also changes the state's magnitude. Whether you rescale back to the original length afterwards is a real design choice, with real consequences.</a:t>
            </a:r>
            <a:endParaRPr lang="en-US" sz="1200" dirty="0"/>
          </a:p>
        </p:txBody>
      </p:sp>
      <p:sp>
        <p:nvSpPr>
          <p:cNvPr id="30" name="Text 25"/>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1" name="Text 2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4 OF 5</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2900" b="1" dirty="0">
                <a:solidFill>
                  <a:srgbClr val="1B2733"/>
                </a:solidFill>
                <a:latin typeface="Cambria" pitchFamily="34" charset="0"/>
                <a:ea typeface="Cambria" pitchFamily="34" charset="-122"/>
                <a:cs typeface="Cambria" pitchFamily="34" charset="-120"/>
              </a:rPr>
              <a:t>Chat Templates Are Model-Specific, and Version-Specific</a:t>
            </a:r>
            <a:endParaRPr lang="en-US" sz="2900" dirty="0"/>
          </a:p>
        </p:txBody>
      </p:sp>
      <p:sp>
        <p:nvSpPr>
          <p:cNvPr id="4" name="Text 2"/>
          <p:cNvSpPr/>
          <p:nvPr/>
        </p:nvSpPr>
        <p:spPr>
          <a:xfrm>
            <a:off x="548640" y="1554480"/>
            <a:ext cx="11064240" cy="777240"/>
          </a:xfrm>
          <a:prstGeom prst="rect">
            <a:avLst/>
          </a:prstGeom>
          <a:noFill/>
          <a:ln/>
        </p:spPr>
        <p:txBody>
          <a:bodyPr wrap="square" rtlCol="0" anchor="ctr"/>
          <a:lstStyle/>
          <a:p>
            <a:pPr indent="0" marL="0">
              <a:lnSpc>
                <a:spcPct val="125000"/>
              </a:lnSpc>
              <a:buNone/>
            </a:pPr>
            <a:r>
              <a:rPr lang="en-US" sz="1350" dirty="0">
                <a:solidFill>
                  <a:srgbClr val="1B2733"/>
                </a:solidFill>
                <a:latin typeface="Calibri" pitchFamily="34" charset="0"/>
                <a:ea typeface="Calibri" pitchFamily="34" charset="-122"/>
                <a:cs typeface="Calibri" pitchFamily="34" charset="-120"/>
              </a:rPr>
              <a:t>An instruction-tuned model was trained on text with structural markers around each turn. Those markers are tokens it learned to read as structure. Borrow another family's markers and it sees ordinary punctuation instead. This is not only a cross-family problem: Mistral-7B-Instruct kept [INST] from v0.1 to v0.3 while growing its vocabulary from 32,000 to 32,768 tokens and adding tool-call markers, so even a version bump can move the target.</a:t>
            </a:r>
            <a:endParaRPr lang="en-US" sz="1350" dirty="0"/>
          </a:p>
        </p:txBody>
      </p:sp>
      <p:sp>
        <p:nvSpPr>
          <p:cNvPr id="5" name="Shape 3"/>
          <p:cNvSpPr/>
          <p:nvPr/>
        </p:nvSpPr>
        <p:spPr>
          <a:xfrm>
            <a:off x="548640" y="2514600"/>
            <a:ext cx="5394960" cy="1371600"/>
          </a:xfrm>
          <a:prstGeom prst="roundRect">
            <a:avLst>
              <a:gd name="adj" fmla="val 5333"/>
            </a:avLst>
          </a:prstGeom>
          <a:solidFill>
            <a:srgbClr val="F2F8FA"/>
          </a:solidFill>
          <a:ln w="12700">
            <a:solidFill>
              <a:srgbClr val="DCE7EC"/>
            </a:solidFill>
            <a:prstDash val="solid"/>
          </a:ln>
        </p:spPr>
      </p:sp>
      <p:sp>
        <p:nvSpPr>
          <p:cNvPr id="6" name="Text 4"/>
          <p:cNvSpPr/>
          <p:nvPr/>
        </p:nvSpPr>
        <p:spPr>
          <a:xfrm>
            <a:off x="777240" y="2624328"/>
            <a:ext cx="4937760" cy="27432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Family A — role-marker style</a:t>
            </a:r>
            <a:endParaRPr lang="en-US" sz="1150" dirty="0"/>
          </a:p>
        </p:txBody>
      </p:sp>
      <p:sp>
        <p:nvSpPr>
          <p:cNvPr id="7" name="Text 5"/>
          <p:cNvSpPr/>
          <p:nvPr/>
        </p:nvSpPr>
        <p:spPr>
          <a:xfrm>
            <a:off x="777240" y="2926080"/>
            <a:ext cx="4937760" cy="868680"/>
          </a:xfrm>
          <a:prstGeom prst="rect">
            <a:avLst/>
          </a:prstGeom>
          <a:noFill/>
          <a:ln/>
        </p:spPr>
        <p:txBody>
          <a:bodyPr wrap="square" lIns="0" tIns="0" rIns="0" bIns="0" rtlCol="0" anchor="t"/>
          <a:lstStyle/>
          <a:p>
            <a:pPr indent="0" marL="0">
              <a:lnSpc>
                <a:spcPct val="120000"/>
              </a:lnSpc>
              <a:buNone/>
            </a:pPr>
            <a:r>
              <a:rPr lang="en-US" sz="1100" dirty="0">
                <a:solidFill>
                  <a:srgbClr val="1B2733"/>
                </a:solidFill>
                <a:latin typeface="Courier New" pitchFamily="34" charset="0"/>
                <a:ea typeface="Courier New" pitchFamily="34" charset="-122"/>
                <a:cs typeface="Courier New" pitchFamily="34" charset="-120"/>
              </a:rPr>
              <a:t>&lt;|start|&gt;user
Summarise this.&lt;|end|&gt;
&lt;|start|&gt;assistant
</a:t>
            </a:r>
            <a:endParaRPr lang="en-US" sz="1100" dirty="0"/>
          </a:p>
        </p:txBody>
      </p:sp>
      <p:sp>
        <p:nvSpPr>
          <p:cNvPr id="8" name="Shape 6"/>
          <p:cNvSpPr/>
          <p:nvPr/>
        </p:nvSpPr>
        <p:spPr>
          <a:xfrm>
            <a:off x="6217920" y="2514600"/>
            <a:ext cx="5394960" cy="1371600"/>
          </a:xfrm>
          <a:prstGeom prst="roundRect">
            <a:avLst>
              <a:gd name="adj" fmla="val 5333"/>
            </a:avLst>
          </a:prstGeom>
          <a:solidFill>
            <a:srgbClr val="F4F1E8"/>
          </a:solidFill>
          <a:ln w="12700">
            <a:solidFill>
              <a:srgbClr val="DCE7EC"/>
            </a:solidFill>
            <a:prstDash val="solid"/>
          </a:ln>
        </p:spPr>
      </p:sp>
      <p:sp>
        <p:nvSpPr>
          <p:cNvPr id="9" name="Text 7"/>
          <p:cNvSpPr/>
          <p:nvPr/>
        </p:nvSpPr>
        <p:spPr>
          <a:xfrm>
            <a:off x="6446520" y="2624328"/>
            <a:ext cx="4937760" cy="27432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Family B — bracket-tag style</a:t>
            </a:r>
            <a:endParaRPr lang="en-US" sz="1150" dirty="0"/>
          </a:p>
        </p:txBody>
      </p:sp>
      <p:sp>
        <p:nvSpPr>
          <p:cNvPr id="10" name="Text 8"/>
          <p:cNvSpPr/>
          <p:nvPr/>
        </p:nvSpPr>
        <p:spPr>
          <a:xfrm>
            <a:off x="6446520" y="2926080"/>
            <a:ext cx="4937760" cy="868680"/>
          </a:xfrm>
          <a:prstGeom prst="rect">
            <a:avLst/>
          </a:prstGeom>
          <a:noFill/>
          <a:ln/>
        </p:spPr>
        <p:txBody>
          <a:bodyPr wrap="square" lIns="0" tIns="0" rIns="0" bIns="0" rtlCol="0" anchor="t"/>
          <a:lstStyle/>
          <a:p>
            <a:pPr indent="0" marL="0">
              <a:lnSpc>
                <a:spcPct val="120000"/>
              </a:lnSpc>
              <a:buNone/>
            </a:pPr>
            <a:r>
              <a:rPr lang="en-US" sz="1100" dirty="0">
                <a:solidFill>
                  <a:srgbClr val="1B2733"/>
                </a:solidFill>
                <a:latin typeface="Courier New" pitchFamily="34" charset="0"/>
                <a:ea typeface="Courier New" pitchFamily="34" charset="-122"/>
                <a:cs typeface="Courier New" pitchFamily="34" charset="-120"/>
              </a:rPr>
              <a:t>[TAG] Summarise this. [/TAG]</a:t>
            </a:r>
            <a:endParaRPr lang="en-US" sz="1100" dirty="0"/>
          </a:p>
        </p:txBody>
      </p:sp>
      <p:sp>
        <p:nvSpPr>
          <p:cNvPr id="11" name="Shape 9"/>
          <p:cNvSpPr/>
          <p:nvPr/>
        </p:nvSpPr>
        <p:spPr>
          <a:xfrm>
            <a:off x="548640" y="4206240"/>
            <a:ext cx="457200" cy="457200"/>
          </a:xfrm>
          <a:prstGeom prst="ellipse">
            <a:avLst/>
          </a:prstGeom>
          <a:solidFill>
            <a:srgbClr val="065A82"/>
          </a:solidFill>
          <a:ln/>
        </p:spPr>
      </p:sp>
      <p:pic>
        <p:nvPicPr>
          <p:cNvPr id="12" name="Image 0" descr="/home/claude/work/icons/braces.png">    </p:cNvPr>
          <p:cNvPicPr>
            <a:picLocks noChangeAspect="1"/>
          </p:cNvPicPr>
          <p:nvPr/>
        </p:nvPicPr>
        <p:blipFill>
          <a:blip r:embed="rId1"/>
          <a:stretch>
            <a:fillRect/>
          </a:stretch>
        </p:blipFill>
        <p:spPr>
          <a:xfrm>
            <a:off x="667512" y="4325112"/>
            <a:ext cx="219456" cy="219456"/>
          </a:xfrm>
          <a:prstGeom prst="rect">
            <a:avLst/>
          </a:prstGeom>
        </p:spPr>
      </p:pic>
      <p:sp>
        <p:nvSpPr>
          <p:cNvPr id="13" name="Text 10"/>
          <p:cNvSpPr/>
          <p:nvPr/>
        </p:nvSpPr>
        <p:spPr>
          <a:xfrm>
            <a:off x="548640" y="4736592"/>
            <a:ext cx="3429000" cy="5303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System prompt injection</a:t>
            </a:r>
            <a:endParaRPr lang="en-US" sz="1300" dirty="0"/>
          </a:p>
        </p:txBody>
      </p:sp>
      <p:sp>
        <p:nvSpPr>
          <p:cNvPr id="14" name="Text 11"/>
          <p:cNvSpPr/>
          <p:nvPr/>
        </p:nvSpPr>
        <p:spPr>
          <a:xfrm>
            <a:off x="548640" y="5248656"/>
            <a:ext cx="342900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Many templates insert a default system turn when you don't supply one. The string you get out is longer than the string you put in — and it is now in every training example.</a:t>
            </a:r>
            <a:endParaRPr lang="en-US" sz="1150" dirty="0"/>
          </a:p>
        </p:txBody>
      </p:sp>
      <p:sp>
        <p:nvSpPr>
          <p:cNvPr id="15" name="Shape 12"/>
          <p:cNvSpPr/>
          <p:nvPr/>
        </p:nvSpPr>
        <p:spPr>
          <a:xfrm>
            <a:off x="4251960" y="4206240"/>
            <a:ext cx="457200" cy="457200"/>
          </a:xfrm>
          <a:prstGeom prst="ellipse">
            <a:avLst/>
          </a:prstGeom>
          <a:solidFill>
            <a:srgbClr val="065A82"/>
          </a:solidFill>
          <a:ln/>
        </p:spPr>
      </p:sp>
      <p:pic>
        <p:nvPicPr>
          <p:cNvPr id="16" name="Image 1" descr="/home/claude/work/icons/code.png">    </p:cNvPr>
          <p:cNvPicPr>
            <a:picLocks noChangeAspect="1"/>
          </p:cNvPicPr>
          <p:nvPr/>
        </p:nvPicPr>
        <p:blipFill>
          <a:blip r:embed="rId2"/>
          <a:stretch>
            <a:fillRect/>
          </a:stretch>
        </p:blipFill>
        <p:spPr>
          <a:xfrm>
            <a:off x="4370832" y="4325112"/>
            <a:ext cx="219456" cy="219456"/>
          </a:xfrm>
          <a:prstGeom prst="rect">
            <a:avLst/>
          </a:prstGeom>
        </p:spPr>
      </p:pic>
      <p:sp>
        <p:nvSpPr>
          <p:cNvPr id="17" name="Text 13"/>
          <p:cNvSpPr/>
          <p:nvPr/>
        </p:nvSpPr>
        <p:spPr>
          <a:xfrm>
            <a:off x="4251960" y="4736592"/>
            <a:ext cx="3429000" cy="5303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Assistant prefill</a:t>
            </a:r>
            <a:endParaRPr lang="en-US" sz="1300" dirty="0"/>
          </a:p>
        </p:txBody>
      </p:sp>
      <p:sp>
        <p:nvSpPr>
          <p:cNvPr id="18" name="Text 14"/>
          <p:cNvSpPr/>
          <p:nvPr/>
        </p:nvSpPr>
        <p:spPr>
          <a:xfrm>
            <a:off x="4251960" y="5248656"/>
            <a:ext cx="342900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Text placed after the assistant marker is treated as the opening of the model's own reply, so it continues rather than responds. Same characters in the user turn would be a request.</a:t>
            </a:r>
            <a:endParaRPr lang="en-US" sz="1150" dirty="0"/>
          </a:p>
        </p:txBody>
      </p:sp>
      <p:sp>
        <p:nvSpPr>
          <p:cNvPr id="19" name="Shape 15"/>
          <p:cNvSpPr/>
          <p:nvPr/>
        </p:nvSpPr>
        <p:spPr>
          <a:xfrm>
            <a:off x="7955280" y="4206240"/>
            <a:ext cx="457200" cy="457200"/>
          </a:xfrm>
          <a:prstGeom prst="ellipse">
            <a:avLst/>
          </a:prstGeom>
          <a:solidFill>
            <a:srgbClr val="8A4B2A"/>
          </a:solidFill>
          <a:ln/>
        </p:spPr>
      </p:sp>
      <p:pic>
        <p:nvPicPr>
          <p:cNvPr id="20" name="Image 2" descr="/home/claude/work/icons/warn.png">    </p:cNvPr>
          <p:cNvPicPr>
            <a:picLocks noChangeAspect="1"/>
          </p:cNvPicPr>
          <p:nvPr/>
        </p:nvPicPr>
        <p:blipFill>
          <a:blip r:embed="rId3"/>
          <a:stretch>
            <a:fillRect/>
          </a:stretch>
        </p:blipFill>
        <p:spPr>
          <a:xfrm>
            <a:off x="8074152" y="4325112"/>
            <a:ext cx="219456" cy="219456"/>
          </a:xfrm>
          <a:prstGeom prst="rect">
            <a:avLst/>
          </a:prstGeom>
        </p:spPr>
      </p:pic>
      <p:sp>
        <p:nvSpPr>
          <p:cNvPr id="21" name="Text 16"/>
          <p:cNvSpPr/>
          <p:nvPr/>
        </p:nvSpPr>
        <p:spPr>
          <a:xfrm>
            <a:off x="7955280" y="4736592"/>
            <a:ext cx="3429000" cy="53035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Wrong tokenization, no error</a:t>
            </a:r>
            <a:endParaRPr lang="en-US" sz="1300" dirty="0"/>
          </a:p>
        </p:txBody>
      </p:sp>
      <p:sp>
        <p:nvSpPr>
          <p:cNvPr id="22" name="Text 17"/>
          <p:cNvSpPr/>
          <p:nvPr/>
        </p:nvSpPr>
        <p:spPr>
          <a:xfrm>
            <a:off x="7955280" y="5248656"/>
            <a:ext cx="3429000" cy="914400"/>
          </a:xfrm>
          <a:prstGeom prst="rect">
            <a:avLst/>
          </a:prstGeom>
          <a:noFill/>
          <a:ln/>
        </p:spPr>
        <p:txBody>
          <a:bodyPr wrap="square" lIns="0" tIns="0" rIns="0" bIns="0"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Nothing crashes. The markers tokenise as ordinary text, so the model cannot parse where one role ends and the next begins, and it no longer treats the trailing text as a prefill of its own reply. The only symptom is worse output.</a:t>
            </a:r>
            <a:endParaRPr lang="en-US" sz="1150" dirty="0"/>
          </a:p>
        </p:txBody>
      </p:sp>
      <p:sp>
        <p:nvSpPr>
          <p:cNvPr id="23" name="Text 1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24"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5 OF 5</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Activation Depth: Which Layers Carry the Property</a:t>
            </a:r>
            <a:endParaRPr lang="en-US" sz="3000" dirty="0"/>
          </a:p>
        </p:txBody>
      </p:sp>
      <p:sp>
        <p:nvSpPr>
          <p:cNvPr id="4" name="Text 2"/>
          <p:cNvSpPr/>
          <p:nvPr/>
        </p:nvSpPr>
        <p:spPr>
          <a:xfrm>
            <a:off x="548640" y="1554480"/>
            <a:ext cx="6035040" cy="1051560"/>
          </a:xfrm>
          <a:prstGeom prst="rect">
            <a:avLst/>
          </a:prstGeom>
          <a:noFill/>
          <a:ln/>
        </p:spPr>
        <p:txBody>
          <a:bodyPr wrap="square" rtlCol="0" anchor="ctr"/>
          <a:lstStyle/>
          <a:p>
            <a:pPr indent="0" marL="0">
              <a:lnSpc>
                <a:spcPct val="125000"/>
              </a:lnSpc>
              <a:buNone/>
            </a:pPr>
            <a:r>
              <a:rPr lang="en-US" sz="1300" dirty="0">
                <a:solidFill>
                  <a:srgbClr val="1B2733"/>
                </a:solidFill>
                <a:latin typeface="Calibri" pitchFamily="34" charset="0"/>
                <a:ea typeface="Calibri" pitchFamily="34" charset="-122"/>
                <a:cs typeface="Calibri" pitchFamily="34" charset="-120"/>
              </a:rPr>
              <a:t>An abstract property is not equally legible at every depth. Near the input the state still looks like tokens; near the output it has been bent toward predicting the next one. The middle is where abstract properties tend to be most cleanly separable — and it is a band, not a spot.</a:t>
            </a:r>
            <a:endParaRPr lang="en-US" sz="1300" dirty="0"/>
          </a:p>
        </p:txBody>
      </p:sp>
      <p:sp>
        <p:nvSpPr>
          <p:cNvPr id="5" name="Shape 3"/>
          <p:cNvSpPr/>
          <p:nvPr/>
        </p:nvSpPr>
        <p:spPr>
          <a:xfrm>
            <a:off x="7178040" y="1627632"/>
            <a:ext cx="1737360" cy="237744"/>
          </a:xfrm>
          <a:prstGeom prst="roundRect">
            <a:avLst>
              <a:gd name="adj" fmla="val 11538"/>
            </a:avLst>
          </a:prstGeom>
          <a:solidFill>
            <a:srgbClr val="17395A"/>
          </a:solidFill>
          <a:ln/>
        </p:spPr>
      </p:sp>
      <p:sp>
        <p:nvSpPr>
          <p:cNvPr id="6" name="Shape 4"/>
          <p:cNvSpPr/>
          <p:nvPr/>
        </p:nvSpPr>
        <p:spPr>
          <a:xfrm>
            <a:off x="7178040" y="1920240"/>
            <a:ext cx="1737360" cy="237744"/>
          </a:xfrm>
          <a:prstGeom prst="roundRect">
            <a:avLst>
              <a:gd name="adj" fmla="val 11538"/>
            </a:avLst>
          </a:prstGeom>
          <a:solidFill>
            <a:srgbClr val="17395A"/>
          </a:solidFill>
          <a:ln/>
        </p:spPr>
      </p:sp>
      <p:sp>
        <p:nvSpPr>
          <p:cNvPr id="7" name="Shape 5"/>
          <p:cNvSpPr/>
          <p:nvPr/>
        </p:nvSpPr>
        <p:spPr>
          <a:xfrm>
            <a:off x="7178040" y="2212848"/>
            <a:ext cx="1737360" cy="237744"/>
          </a:xfrm>
          <a:prstGeom prst="roundRect">
            <a:avLst>
              <a:gd name="adj" fmla="val 11538"/>
            </a:avLst>
          </a:prstGeom>
          <a:solidFill>
            <a:srgbClr val="17395A"/>
          </a:solidFill>
          <a:ln/>
        </p:spPr>
      </p:sp>
      <p:sp>
        <p:nvSpPr>
          <p:cNvPr id="8" name="Shape 6"/>
          <p:cNvSpPr/>
          <p:nvPr/>
        </p:nvSpPr>
        <p:spPr>
          <a:xfrm>
            <a:off x="7178040" y="2505456"/>
            <a:ext cx="1737360" cy="237744"/>
          </a:xfrm>
          <a:prstGeom prst="roundRect">
            <a:avLst>
              <a:gd name="adj" fmla="val 11538"/>
            </a:avLst>
          </a:prstGeom>
          <a:solidFill>
            <a:srgbClr val="17395A"/>
          </a:solidFill>
          <a:ln/>
        </p:spPr>
      </p:sp>
      <p:sp>
        <p:nvSpPr>
          <p:cNvPr id="9" name="Shape 7"/>
          <p:cNvSpPr/>
          <p:nvPr/>
        </p:nvSpPr>
        <p:spPr>
          <a:xfrm>
            <a:off x="7178040" y="2798064"/>
            <a:ext cx="1737360" cy="237744"/>
          </a:xfrm>
          <a:prstGeom prst="roundRect">
            <a:avLst>
              <a:gd name="adj" fmla="val 11538"/>
            </a:avLst>
          </a:prstGeom>
          <a:solidFill>
            <a:srgbClr val="1C7293"/>
          </a:solidFill>
          <a:ln/>
        </p:spPr>
      </p:sp>
      <p:sp>
        <p:nvSpPr>
          <p:cNvPr id="10" name="Shape 8"/>
          <p:cNvSpPr/>
          <p:nvPr/>
        </p:nvSpPr>
        <p:spPr>
          <a:xfrm>
            <a:off x="7178040" y="3090672"/>
            <a:ext cx="1737360" cy="237744"/>
          </a:xfrm>
          <a:prstGeom prst="roundRect">
            <a:avLst>
              <a:gd name="adj" fmla="val 11538"/>
            </a:avLst>
          </a:prstGeom>
          <a:solidFill>
            <a:srgbClr val="1C7293"/>
          </a:solidFill>
          <a:ln/>
        </p:spPr>
      </p:sp>
      <p:sp>
        <p:nvSpPr>
          <p:cNvPr id="11" name="Shape 9"/>
          <p:cNvSpPr/>
          <p:nvPr/>
        </p:nvSpPr>
        <p:spPr>
          <a:xfrm>
            <a:off x="7178040" y="3383280"/>
            <a:ext cx="1737360" cy="237744"/>
          </a:xfrm>
          <a:prstGeom prst="roundRect">
            <a:avLst>
              <a:gd name="adj" fmla="val 11538"/>
            </a:avLst>
          </a:prstGeom>
          <a:solidFill>
            <a:srgbClr val="1C7293"/>
          </a:solidFill>
          <a:ln/>
        </p:spPr>
      </p:sp>
      <p:sp>
        <p:nvSpPr>
          <p:cNvPr id="12" name="Shape 10"/>
          <p:cNvSpPr/>
          <p:nvPr/>
        </p:nvSpPr>
        <p:spPr>
          <a:xfrm>
            <a:off x="7178040" y="3675888"/>
            <a:ext cx="1737360" cy="237744"/>
          </a:xfrm>
          <a:prstGeom prst="roundRect">
            <a:avLst>
              <a:gd name="adj" fmla="val 11538"/>
            </a:avLst>
          </a:prstGeom>
          <a:solidFill>
            <a:srgbClr val="1C7293"/>
          </a:solidFill>
          <a:ln/>
        </p:spPr>
      </p:sp>
      <p:sp>
        <p:nvSpPr>
          <p:cNvPr id="13" name="Shape 11"/>
          <p:cNvSpPr/>
          <p:nvPr/>
        </p:nvSpPr>
        <p:spPr>
          <a:xfrm>
            <a:off x="7178040" y="3968496"/>
            <a:ext cx="1737360" cy="237744"/>
          </a:xfrm>
          <a:prstGeom prst="roundRect">
            <a:avLst>
              <a:gd name="adj" fmla="val 11538"/>
            </a:avLst>
          </a:prstGeom>
          <a:solidFill>
            <a:srgbClr val="1C7293"/>
          </a:solidFill>
          <a:ln/>
        </p:spPr>
      </p:sp>
      <p:sp>
        <p:nvSpPr>
          <p:cNvPr id="14" name="Shape 12"/>
          <p:cNvSpPr/>
          <p:nvPr/>
        </p:nvSpPr>
        <p:spPr>
          <a:xfrm>
            <a:off x="7178040" y="4261104"/>
            <a:ext cx="1737360" cy="237744"/>
          </a:xfrm>
          <a:prstGeom prst="roundRect">
            <a:avLst>
              <a:gd name="adj" fmla="val 11538"/>
            </a:avLst>
          </a:prstGeom>
          <a:solidFill>
            <a:srgbClr val="1C7293"/>
          </a:solidFill>
          <a:ln/>
        </p:spPr>
      </p:sp>
      <p:sp>
        <p:nvSpPr>
          <p:cNvPr id="15" name="Shape 13"/>
          <p:cNvSpPr/>
          <p:nvPr/>
        </p:nvSpPr>
        <p:spPr>
          <a:xfrm>
            <a:off x="7178040" y="4553712"/>
            <a:ext cx="1737360" cy="237744"/>
          </a:xfrm>
          <a:prstGeom prst="roundRect">
            <a:avLst>
              <a:gd name="adj" fmla="val 11538"/>
            </a:avLst>
          </a:prstGeom>
          <a:solidFill>
            <a:srgbClr val="3A5A78"/>
          </a:solidFill>
          <a:ln/>
        </p:spPr>
      </p:sp>
      <p:sp>
        <p:nvSpPr>
          <p:cNvPr id="16" name="Shape 14"/>
          <p:cNvSpPr/>
          <p:nvPr/>
        </p:nvSpPr>
        <p:spPr>
          <a:xfrm>
            <a:off x="7178040" y="4846320"/>
            <a:ext cx="1737360" cy="237744"/>
          </a:xfrm>
          <a:prstGeom prst="roundRect">
            <a:avLst>
              <a:gd name="adj" fmla="val 11538"/>
            </a:avLst>
          </a:prstGeom>
          <a:solidFill>
            <a:srgbClr val="3A5A78"/>
          </a:solidFill>
          <a:ln/>
        </p:spPr>
      </p:sp>
      <p:sp>
        <p:nvSpPr>
          <p:cNvPr id="17" name="Shape 15"/>
          <p:cNvSpPr/>
          <p:nvPr/>
        </p:nvSpPr>
        <p:spPr>
          <a:xfrm>
            <a:off x="7178040" y="5138928"/>
            <a:ext cx="1737360" cy="237744"/>
          </a:xfrm>
          <a:prstGeom prst="roundRect">
            <a:avLst>
              <a:gd name="adj" fmla="val 11538"/>
            </a:avLst>
          </a:prstGeom>
          <a:solidFill>
            <a:srgbClr val="3A5A78"/>
          </a:solidFill>
          <a:ln/>
        </p:spPr>
      </p:sp>
      <p:sp>
        <p:nvSpPr>
          <p:cNvPr id="18" name="Shape 16"/>
          <p:cNvSpPr/>
          <p:nvPr/>
        </p:nvSpPr>
        <p:spPr>
          <a:xfrm>
            <a:off x="7178040" y="5431536"/>
            <a:ext cx="1737360" cy="237744"/>
          </a:xfrm>
          <a:prstGeom prst="roundRect">
            <a:avLst>
              <a:gd name="adj" fmla="val 11538"/>
            </a:avLst>
          </a:prstGeom>
          <a:solidFill>
            <a:srgbClr val="3A5A78"/>
          </a:solidFill>
          <a:ln/>
        </p:spPr>
      </p:sp>
      <p:sp>
        <p:nvSpPr>
          <p:cNvPr id="19" name="Shape 17"/>
          <p:cNvSpPr/>
          <p:nvPr/>
        </p:nvSpPr>
        <p:spPr>
          <a:xfrm>
            <a:off x="9025128" y="1627632"/>
            <a:ext cx="0" cy="1115568"/>
          </a:xfrm>
          <a:prstGeom prst="line">
            <a:avLst/>
          </a:prstGeom>
          <a:noFill/>
          <a:ln w="25400">
            <a:solidFill>
              <a:srgbClr val="17395A"/>
            </a:solidFill>
            <a:prstDash val="solid"/>
          </a:ln>
        </p:spPr>
      </p:sp>
      <p:sp>
        <p:nvSpPr>
          <p:cNvPr id="20" name="Shape 18"/>
          <p:cNvSpPr/>
          <p:nvPr/>
        </p:nvSpPr>
        <p:spPr>
          <a:xfrm>
            <a:off x="9025128" y="1627632"/>
            <a:ext cx="109728" cy="0"/>
          </a:xfrm>
          <a:prstGeom prst="line">
            <a:avLst/>
          </a:prstGeom>
          <a:noFill/>
          <a:ln w="25400">
            <a:solidFill>
              <a:srgbClr val="17395A"/>
            </a:solidFill>
            <a:prstDash val="solid"/>
          </a:ln>
        </p:spPr>
      </p:sp>
      <p:sp>
        <p:nvSpPr>
          <p:cNvPr id="21" name="Shape 19"/>
          <p:cNvSpPr/>
          <p:nvPr/>
        </p:nvSpPr>
        <p:spPr>
          <a:xfrm>
            <a:off x="9025128" y="2743200"/>
            <a:ext cx="109728" cy="0"/>
          </a:xfrm>
          <a:prstGeom prst="line">
            <a:avLst/>
          </a:prstGeom>
          <a:noFill/>
          <a:ln w="25400">
            <a:solidFill>
              <a:srgbClr val="17395A"/>
            </a:solidFill>
            <a:prstDash val="solid"/>
          </a:ln>
        </p:spPr>
      </p:sp>
      <p:sp>
        <p:nvSpPr>
          <p:cNvPr id="22" name="Text 20"/>
          <p:cNvSpPr/>
          <p:nvPr/>
        </p:nvSpPr>
        <p:spPr>
          <a:xfrm>
            <a:off x="9226296" y="1929384"/>
            <a:ext cx="2331720" cy="512064"/>
          </a:xfrm>
          <a:prstGeom prst="rect">
            <a:avLst/>
          </a:prstGeom>
          <a:noFill/>
          <a:ln/>
        </p:spPr>
        <p:txBody>
          <a:bodyPr wrap="square" lIns="0" tIns="0" rIns="0" bIns="0" rtlCol="0" anchor="ctr"/>
          <a:lstStyle/>
          <a:p>
            <a:pPr indent="0" marL="0">
              <a:lnSpc>
                <a:spcPct val="110000"/>
              </a:lnSpc>
              <a:buNone/>
            </a:pPr>
            <a:r>
              <a:rPr lang="en-US" sz="1100" b="1" dirty="0">
                <a:solidFill>
                  <a:srgbClr val="17395A"/>
                </a:solidFill>
                <a:latin typeface="Calibri" pitchFamily="34" charset="0"/>
                <a:ea typeface="Calibri" pitchFamily="34" charset="-122"/>
                <a:cs typeface="Calibri" pitchFamily="34" charset="-120"/>
              </a:rPr>
              <a:t>surface / token-ish</a:t>
            </a:r>
            <a:endParaRPr lang="en-US" sz="1100" dirty="0"/>
          </a:p>
        </p:txBody>
      </p:sp>
      <p:sp>
        <p:nvSpPr>
          <p:cNvPr id="23" name="Shape 21"/>
          <p:cNvSpPr/>
          <p:nvPr/>
        </p:nvSpPr>
        <p:spPr>
          <a:xfrm>
            <a:off x="9025128" y="2798064"/>
            <a:ext cx="0" cy="1700784"/>
          </a:xfrm>
          <a:prstGeom prst="line">
            <a:avLst/>
          </a:prstGeom>
          <a:noFill/>
          <a:ln w="25400">
            <a:solidFill>
              <a:srgbClr val="1C7293"/>
            </a:solidFill>
            <a:prstDash val="solid"/>
          </a:ln>
        </p:spPr>
      </p:sp>
      <p:sp>
        <p:nvSpPr>
          <p:cNvPr id="24" name="Shape 22"/>
          <p:cNvSpPr/>
          <p:nvPr/>
        </p:nvSpPr>
        <p:spPr>
          <a:xfrm>
            <a:off x="9025128" y="2798064"/>
            <a:ext cx="109728" cy="0"/>
          </a:xfrm>
          <a:prstGeom prst="line">
            <a:avLst/>
          </a:prstGeom>
          <a:noFill/>
          <a:ln w="25400">
            <a:solidFill>
              <a:srgbClr val="1C7293"/>
            </a:solidFill>
            <a:prstDash val="solid"/>
          </a:ln>
        </p:spPr>
      </p:sp>
      <p:sp>
        <p:nvSpPr>
          <p:cNvPr id="25" name="Shape 23"/>
          <p:cNvSpPr/>
          <p:nvPr/>
        </p:nvSpPr>
        <p:spPr>
          <a:xfrm>
            <a:off x="9025128" y="4498848"/>
            <a:ext cx="109728" cy="0"/>
          </a:xfrm>
          <a:prstGeom prst="line">
            <a:avLst/>
          </a:prstGeom>
          <a:noFill/>
          <a:ln w="25400">
            <a:solidFill>
              <a:srgbClr val="1C7293"/>
            </a:solidFill>
            <a:prstDash val="solid"/>
          </a:ln>
        </p:spPr>
      </p:sp>
      <p:sp>
        <p:nvSpPr>
          <p:cNvPr id="26" name="Text 24"/>
          <p:cNvSpPr/>
          <p:nvPr/>
        </p:nvSpPr>
        <p:spPr>
          <a:xfrm>
            <a:off x="9226296" y="3392424"/>
            <a:ext cx="2331720" cy="512064"/>
          </a:xfrm>
          <a:prstGeom prst="rect">
            <a:avLst/>
          </a:prstGeom>
          <a:noFill/>
          <a:ln/>
        </p:spPr>
        <p:txBody>
          <a:bodyPr wrap="square" lIns="0" tIns="0" rIns="0" bIns="0" rtlCol="0" anchor="ctr"/>
          <a:lstStyle/>
          <a:p>
            <a:pPr indent="0" marL="0">
              <a:lnSpc>
                <a:spcPct val="110000"/>
              </a:lnSpc>
              <a:buNone/>
            </a:pPr>
            <a:r>
              <a:rPr lang="en-US" sz="1100" b="1" dirty="0">
                <a:solidFill>
                  <a:srgbClr val="1C7293"/>
                </a:solidFill>
                <a:latin typeface="Calibri" pitchFamily="34" charset="0"/>
                <a:ea typeface="Calibri" pitchFamily="34" charset="-122"/>
                <a:cs typeface="Calibri" pitchFamily="34" charset="-120"/>
              </a:rPr>
              <a:t>abstract — most</a:t>
            </a:r>
            <a:endParaRPr lang="en-US" sz="1100" dirty="0"/>
          </a:p>
          <a:p>
            <a:pPr indent="0" marL="0">
              <a:lnSpc>
                <a:spcPct val="110000"/>
              </a:lnSpc>
              <a:buNone/>
            </a:pPr>
            <a:r>
              <a:rPr lang="en-US" sz="1100" b="1" dirty="0">
                <a:solidFill>
                  <a:srgbClr val="1C7293"/>
                </a:solidFill>
                <a:latin typeface="Calibri" pitchFamily="34" charset="0"/>
                <a:ea typeface="Calibri" pitchFamily="34" charset="-122"/>
                <a:cs typeface="Calibri" pitchFamily="34" charset="-120"/>
              </a:rPr>
              <a:t>cleanly separable</a:t>
            </a:r>
            <a:endParaRPr lang="en-US" sz="1100" dirty="0"/>
          </a:p>
        </p:txBody>
      </p:sp>
      <p:sp>
        <p:nvSpPr>
          <p:cNvPr id="27" name="Shape 25"/>
          <p:cNvSpPr/>
          <p:nvPr/>
        </p:nvSpPr>
        <p:spPr>
          <a:xfrm>
            <a:off x="9025128" y="4553712"/>
            <a:ext cx="0" cy="1115568"/>
          </a:xfrm>
          <a:prstGeom prst="line">
            <a:avLst/>
          </a:prstGeom>
          <a:noFill/>
          <a:ln w="25400">
            <a:solidFill>
              <a:srgbClr val="3A5A78"/>
            </a:solidFill>
            <a:prstDash val="solid"/>
          </a:ln>
        </p:spPr>
      </p:sp>
      <p:sp>
        <p:nvSpPr>
          <p:cNvPr id="28" name="Shape 26"/>
          <p:cNvSpPr/>
          <p:nvPr/>
        </p:nvSpPr>
        <p:spPr>
          <a:xfrm>
            <a:off x="9025128" y="4553712"/>
            <a:ext cx="109728" cy="0"/>
          </a:xfrm>
          <a:prstGeom prst="line">
            <a:avLst/>
          </a:prstGeom>
          <a:noFill/>
          <a:ln w="25400">
            <a:solidFill>
              <a:srgbClr val="3A5A78"/>
            </a:solidFill>
            <a:prstDash val="solid"/>
          </a:ln>
        </p:spPr>
      </p:sp>
      <p:sp>
        <p:nvSpPr>
          <p:cNvPr id="29" name="Shape 27"/>
          <p:cNvSpPr/>
          <p:nvPr/>
        </p:nvSpPr>
        <p:spPr>
          <a:xfrm>
            <a:off x="9025128" y="5669280"/>
            <a:ext cx="109728" cy="0"/>
          </a:xfrm>
          <a:prstGeom prst="line">
            <a:avLst/>
          </a:prstGeom>
          <a:noFill/>
          <a:ln w="25400">
            <a:solidFill>
              <a:srgbClr val="3A5A78"/>
            </a:solidFill>
            <a:prstDash val="solid"/>
          </a:ln>
        </p:spPr>
      </p:sp>
      <p:sp>
        <p:nvSpPr>
          <p:cNvPr id="30" name="Text 28"/>
          <p:cNvSpPr/>
          <p:nvPr/>
        </p:nvSpPr>
        <p:spPr>
          <a:xfrm>
            <a:off x="9226296" y="4855464"/>
            <a:ext cx="2331720" cy="512064"/>
          </a:xfrm>
          <a:prstGeom prst="rect">
            <a:avLst/>
          </a:prstGeom>
          <a:noFill/>
          <a:ln/>
        </p:spPr>
        <p:txBody>
          <a:bodyPr wrap="square" lIns="0" tIns="0" rIns="0" bIns="0" rtlCol="0" anchor="ctr"/>
          <a:lstStyle/>
          <a:p>
            <a:pPr indent="0" marL="0">
              <a:lnSpc>
                <a:spcPct val="110000"/>
              </a:lnSpc>
              <a:buNone/>
            </a:pPr>
            <a:r>
              <a:rPr lang="en-US" sz="1100" b="1" dirty="0">
                <a:solidFill>
                  <a:srgbClr val="3A5A78"/>
                </a:solidFill>
                <a:latin typeface="Calibri" pitchFamily="34" charset="0"/>
                <a:ea typeface="Calibri" pitchFamily="34" charset="-122"/>
                <a:cs typeface="Calibri" pitchFamily="34" charset="-120"/>
              </a:rPr>
              <a:t>shaped toward output</a:t>
            </a:r>
            <a:endParaRPr lang="en-US" sz="1100" dirty="0"/>
          </a:p>
        </p:txBody>
      </p:sp>
      <p:sp>
        <p:nvSpPr>
          <p:cNvPr id="31" name="Text 29"/>
          <p:cNvSpPr/>
          <p:nvPr/>
        </p:nvSpPr>
        <p:spPr>
          <a:xfrm>
            <a:off x="6336792" y="1591056"/>
            <a:ext cx="749808" cy="237744"/>
          </a:xfrm>
          <a:prstGeom prst="rect">
            <a:avLst/>
          </a:prstGeom>
          <a:noFill/>
          <a:ln/>
        </p:spPr>
        <p:txBody>
          <a:bodyPr wrap="square" lIns="0" tIns="0" rIns="0" bIns="0"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input</a:t>
            </a:r>
            <a:endParaRPr lang="en-US" sz="1000" dirty="0"/>
          </a:p>
        </p:txBody>
      </p:sp>
      <p:sp>
        <p:nvSpPr>
          <p:cNvPr id="32" name="Text 30"/>
          <p:cNvSpPr/>
          <p:nvPr/>
        </p:nvSpPr>
        <p:spPr>
          <a:xfrm>
            <a:off x="6336792" y="5431536"/>
            <a:ext cx="749808" cy="237744"/>
          </a:xfrm>
          <a:prstGeom prst="rect">
            <a:avLst/>
          </a:prstGeom>
          <a:noFill/>
          <a:ln/>
        </p:spPr>
        <p:txBody>
          <a:bodyPr wrap="square" lIns="0" tIns="0" rIns="0" bIns="0"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output</a:t>
            </a:r>
            <a:endParaRPr lang="en-US" sz="1000" dirty="0"/>
          </a:p>
        </p:txBody>
      </p:sp>
      <p:sp>
        <p:nvSpPr>
          <p:cNvPr id="33" name="Shape 31"/>
          <p:cNvSpPr/>
          <p:nvPr/>
        </p:nvSpPr>
        <p:spPr>
          <a:xfrm>
            <a:off x="566928" y="2880360"/>
            <a:ext cx="420624" cy="420624"/>
          </a:xfrm>
          <a:prstGeom prst="ellipse">
            <a:avLst/>
          </a:prstGeom>
          <a:solidFill>
            <a:srgbClr val="065A82"/>
          </a:solidFill>
          <a:ln/>
        </p:spPr>
      </p:sp>
      <p:pic>
        <p:nvPicPr>
          <p:cNvPr id="34" name="Image 0" descr="/home/claude/work/icons/layers.png">    </p:cNvPr>
          <p:cNvPicPr>
            <a:picLocks noChangeAspect="1"/>
          </p:cNvPicPr>
          <p:nvPr/>
        </p:nvPicPr>
        <p:blipFill>
          <a:blip r:embed="rId1"/>
          <a:stretch>
            <a:fillRect/>
          </a:stretch>
        </p:blipFill>
        <p:spPr>
          <a:xfrm>
            <a:off x="676290" y="2989722"/>
            <a:ext cx="201900" cy="201900"/>
          </a:xfrm>
          <a:prstGeom prst="rect">
            <a:avLst/>
          </a:prstGeom>
        </p:spPr>
      </p:pic>
      <p:sp>
        <p:nvSpPr>
          <p:cNvPr id="35" name="Text 32"/>
          <p:cNvSpPr/>
          <p:nvPr/>
        </p:nvSpPr>
        <p:spPr>
          <a:xfrm>
            <a:off x="1115568" y="2843784"/>
            <a:ext cx="539496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Read a band, not a layer</a:t>
            </a:r>
            <a:endParaRPr lang="en-US" sz="1250" dirty="0"/>
          </a:p>
        </p:txBody>
      </p:sp>
      <p:sp>
        <p:nvSpPr>
          <p:cNvPr id="36" name="Text 33"/>
          <p:cNvSpPr/>
          <p:nvPr/>
        </p:nvSpPr>
        <p:spPr>
          <a:xfrm>
            <a:off x="1115568" y="3154680"/>
            <a:ext cx="539496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Neighbouring layers carry overlapping versions of the same property, so a range is both more robust and more effective than any single index.</a:t>
            </a:r>
            <a:endParaRPr lang="en-US" sz="1050" dirty="0"/>
          </a:p>
        </p:txBody>
      </p:sp>
      <p:sp>
        <p:nvSpPr>
          <p:cNvPr id="37" name="Shape 34"/>
          <p:cNvSpPr/>
          <p:nvPr/>
        </p:nvSpPr>
        <p:spPr>
          <a:xfrm>
            <a:off x="566928" y="3995928"/>
            <a:ext cx="420624" cy="420624"/>
          </a:xfrm>
          <a:prstGeom prst="ellipse">
            <a:avLst/>
          </a:prstGeom>
          <a:solidFill>
            <a:srgbClr val="065A82"/>
          </a:solidFill>
          <a:ln/>
        </p:spPr>
      </p:sp>
      <p:pic>
        <p:nvPicPr>
          <p:cNvPr id="38" name="Image 1" descr="/home/claude/work/icons/scale.png">    </p:cNvPr>
          <p:cNvPicPr>
            <a:picLocks noChangeAspect="1"/>
          </p:cNvPicPr>
          <p:nvPr/>
        </p:nvPicPr>
        <p:blipFill>
          <a:blip r:embed="rId2"/>
          <a:stretch>
            <a:fillRect/>
          </a:stretch>
        </p:blipFill>
        <p:spPr>
          <a:xfrm>
            <a:off x="676290" y="4105290"/>
            <a:ext cx="201900" cy="201900"/>
          </a:xfrm>
          <a:prstGeom prst="rect">
            <a:avLst/>
          </a:prstGeom>
        </p:spPr>
      </p:pic>
      <p:sp>
        <p:nvSpPr>
          <p:cNvPr id="39" name="Text 35"/>
          <p:cNvSpPr/>
          <p:nvPr/>
        </p:nvSpPr>
        <p:spPr>
          <a:xfrm>
            <a:off x="1115568" y="3959352"/>
            <a:ext cx="539496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It is a hyperparameter, not a constant</a:t>
            </a:r>
            <a:endParaRPr lang="en-US" sz="1250" dirty="0"/>
          </a:p>
        </p:txBody>
      </p:sp>
      <p:sp>
        <p:nvSpPr>
          <p:cNvPr id="40" name="Text 36"/>
          <p:cNvSpPr/>
          <p:nvPr/>
        </p:nvSpPr>
        <p:spPr>
          <a:xfrm>
            <a:off x="1115568" y="4270248"/>
            <a:ext cx="539496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“Layer 15” is two-thirds of the way through a 24-layer network and under half-way through a 32-layer one, so absolute indices don't transfer. Neither does the depth fraction: the band that works is model-specific and has to be tuned by experiment, not inherited.</a:t>
            </a:r>
            <a:endParaRPr lang="en-US" sz="1050" dirty="0"/>
          </a:p>
        </p:txBody>
      </p:sp>
      <p:sp>
        <p:nvSpPr>
          <p:cNvPr id="41" name="Shape 37"/>
          <p:cNvSpPr/>
          <p:nvPr/>
        </p:nvSpPr>
        <p:spPr>
          <a:xfrm>
            <a:off x="566928" y="5111496"/>
            <a:ext cx="420624" cy="420624"/>
          </a:xfrm>
          <a:prstGeom prst="ellipse">
            <a:avLst/>
          </a:prstGeom>
          <a:solidFill>
            <a:srgbClr val="065A82"/>
          </a:solidFill>
          <a:ln/>
        </p:spPr>
      </p:sp>
      <p:pic>
        <p:nvPicPr>
          <p:cNvPr id="42" name="Image 2" descr="/home/claude/work/icons/target.png">    </p:cNvPr>
          <p:cNvPicPr>
            <a:picLocks noChangeAspect="1"/>
          </p:cNvPicPr>
          <p:nvPr/>
        </p:nvPicPr>
        <p:blipFill>
          <a:blip r:embed="rId3"/>
          <a:stretch>
            <a:fillRect/>
          </a:stretch>
        </p:blipFill>
        <p:spPr>
          <a:xfrm>
            <a:off x="676290" y="5220858"/>
            <a:ext cx="201900" cy="201900"/>
          </a:xfrm>
          <a:prstGeom prst="rect">
            <a:avLst/>
          </a:prstGeom>
        </p:spPr>
      </p:pic>
      <p:sp>
        <p:nvSpPr>
          <p:cNvPr id="43" name="Text 38"/>
          <p:cNvSpPr/>
          <p:nvPr/>
        </p:nvSpPr>
        <p:spPr>
          <a:xfrm>
            <a:off x="1115568" y="5074920"/>
            <a:ext cx="539496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Breadth is itself a strength dial</a:t>
            </a:r>
            <a:endParaRPr lang="en-US" sz="1250" dirty="0"/>
          </a:p>
        </p:txBody>
      </p:sp>
      <p:sp>
        <p:nvSpPr>
          <p:cNvPr id="44" name="Text 39"/>
          <p:cNvSpPr/>
          <p:nvPr/>
        </p:nvSpPr>
        <p:spPr>
          <a:xfrm>
            <a:off x="1115568" y="5385816"/>
            <a:ext cx="539496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Touching more layers at the same per-layer strength moves the model further. Push it far enough and coherence goes before the behaviour does.</a:t>
            </a:r>
            <a:endParaRPr lang="en-US" sz="1050" dirty="0"/>
          </a:p>
        </p:txBody>
      </p:sp>
      <p:sp>
        <p:nvSpPr>
          <p:cNvPr id="45" name="Text 40"/>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6" name="Text 41"/>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BRIDGE</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Five Concepts, Five Pieces of the Library</a:t>
            </a:r>
            <a:endParaRPr lang="en-US" sz="3200" dirty="0"/>
          </a:p>
        </p:txBody>
      </p:sp>
      <p:sp>
        <p:nvSpPr>
          <p:cNvPr id="4" name="Text 2"/>
          <p:cNvSpPr/>
          <p:nvPr/>
        </p:nvSpPr>
        <p:spPr>
          <a:xfrm>
            <a:off x="548640" y="1572768"/>
            <a:ext cx="11064240" cy="365760"/>
          </a:xfrm>
          <a:prstGeom prst="rect">
            <a:avLst/>
          </a:prstGeom>
          <a:noFill/>
          <a:ln/>
        </p:spPr>
        <p:txBody>
          <a:bodyPr wrap="square" rtlCol="0" anchor="ctr"/>
          <a:lstStyle/>
          <a:p>
            <a:pPr indent="0" marL="0">
              <a:buNone/>
            </a:pPr>
            <a:r>
              <a:rPr lang="en-US" sz="1300" dirty="0">
                <a:solidFill>
                  <a:srgbClr val="9FC3D9"/>
                </a:solidFill>
                <a:latin typeface="Calibri" pitchFamily="34" charset="0"/>
                <a:ea typeface="Calibri" pitchFamily="34" charset="-122"/>
                <a:cs typeface="Calibri" pitchFamily="34" charset="-120"/>
              </a:rPr>
              <a:t>Where each of the last five concepts reappears once we open the repository.</a:t>
            </a:r>
            <a:endParaRPr lang="en-US" sz="1300" dirty="0"/>
          </a:p>
        </p:txBody>
      </p:sp>
      <p:sp>
        <p:nvSpPr>
          <p:cNvPr id="5" name="Shape 3"/>
          <p:cNvSpPr/>
          <p:nvPr/>
        </p:nvSpPr>
        <p:spPr>
          <a:xfrm>
            <a:off x="548640" y="2148840"/>
            <a:ext cx="11064240" cy="658368"/>
          </a:xfrm>
          <a:prstGeom prst="roundRect">
            <a:avLst>
              <a:gd name="adj" fmla="val 8333"/>
            </a:avLst>
          </a:prstGeom>
          <a:solidFill>
            <a:srgbClr val="16385A"/>
          </a:solidFill>
          <a:ln/>
        </p:spPr>
      </p:sp>
      <p:sp>
        <p:nvSpPr>
          <p:cNvPr id="6" name="Shape 4"/>
          <p:cNvSpPr/>
          <p:nvPr/>
        </p:nvSpPr>
        <p:spPr>
          <a:xfrm>
            <a:off x="713232" y="2295144"/>
            <a:ext cx="365760" cy="365760"/>
          </a:xfrm>
          <a:prstGeom prst="ellipse">
            <a:avLst/>
          </a:prstGeom>
          <a:solidFill>
            <a:srgbClr val="1C7293"/>
          </a:solidFill>
          <a:ln/>
        </p:spPr>
      </p:sp>
      <p:sp>
        <p:nvSpPr>
          <p:cNvPr id="7" name="Text 5"/>
          <p:cNvSpPr/>
          <p:nvPr/>
        </p:nvSpPr>
        <p:spPr>
          <a:xfrm>
            <a:off x="713232" y="22951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8" name="Text 6"/>
          <p:cNvSpPr/>
          <p:nvPr/>
        </p:nvSpPr>
        <p:spPr>
          <a:xfrm>
            <a:off x="1234440" y="214884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Contrast pairs</a:t>
            </a:r>
            <a:endParaRPr lang="en-US" sz="1300" dirty="0"/>
          </a:p>
        </p:txBody>
      </p:sp>
      <p:sp>
        <p:nvSpPr>
          <p:cNvPr id="9" name="Text 7"/>
          <p:cNvSpPr/>
          <p:nvPr/>
        </p:nvSpPr>
        <p:spPr>
          <a:xfrm>
            <a:off x="3611880" y="2148840"/>
            <a:ext cx="3657600" cy="658368"/>
          </a:xfrm>
          <a:prstGeom prst="rect">
            <a:avLst/>
          </a:prstGeom>
          <a:noFill/>
          <a:ln/>
        </p:spPr>
        <p:txBody>
          <a:bodyPr wrap="square" lIns="0" tIns="0" rIns="0" bIns="0" rtlCol="0" anchor="ctr"/>
          <a:lstStyle/>
          <a:p>
            <a:pPr indent="0" marL="0">
              <a:buNone/>
            </a:pPr>
            <a:r>
              <a:rPr lang="en-US" sz="1150" dirty="0">
                <a:solidFill>
                  <a:srgbClr val="8FD4E8"/>
                </a:solidFill>
                <a:latin typeface="Courier New" pitchFamily="34" charset="0"/>
                <a:ea typeface="Courier New" pitchFamily="34" charset="-122"/>
                <a:cs typeface="Courier New" pitchFamily="34" charset="-120"/>
              </a:rPr>
              <a:t>DatasetEntry(positive, negative)</a:t>
            </a:r>
            <a:endParaRPr lang="en-US" sz="1150" dirty="0"/>
          </a:p>
        </p:txBody>
      </p:sp>
      <p:sp>
        <p:nvSpPr>
          <p:cNvPr id="10" name="Text 8"/>
          <p:cNvSpPr/>
          <p:nvPr/>
        </p:nvSpPr>
        <p:spPr>
          <a:xfrm>
            <a:off x="7406640" y="2148840"/>
            <a:ext cx="4069080" cy="658368"/>
          </a:xfrm>
          <a:prstGeom prst="rect">
            <a:avLst/>
          </a:prstGeom>
          <a:noFill/>
          <a:ln/>
        </p:spPr>
        <p:txBody>
          <a:bodyPr wrap="square" lIns="0" tIns="0" rIns="0" bIns="0" rtlCol="0" anchor="ctr"/>
          <a:lstStyle/>
          <a:p>
            <a:pPr indent="0" marL="0">
              <a:buNone/>
            </a:pPr>
            <a:r>
              <a:rPr lang="en-US" sz="1150" dirty="0">
                <a:solidFill>
                  <a:srgbClr val="9FC3D9"/>
                </a:solidFill>
                <a:latin typeface="Calibri" pitchFamily="34" charset="0"/>
                <a:ea typeface="Calibri" pitchFamily="34" charset="-122"/>
                <a:cs typeface="Calibri" pitchFamily="34" charset="-120"/>
              </a:rPr>
              <a:t>the unit of training data</a:t>
            </a:r>
            <a:endParaRPr lang="en-US" sz="1150" dirty="0"/>
          </a:p>
        </p:txBody>
      </p:sp>
      <p:sp>
        <p:nvSpPr>
          <p:cNvPr id="11" name="Shape 9"/>
          <p:cNvSpPr/>
          <p:nvPr/>
        </p:nvSpPr>
        <p:spPr>
          <a:xfrm>
            <a:off x="548640" y="2926080"/>
            <a:ext cx="11064240" cy="658368"/>
          </a:xfrm>
          <a:prstGeom prst="roundRect">
            <a:avLst>
              <a:gd name="adj" fmla="val 8333"/>
            </a:avLst>
          </a:prstGeom>
          <a:solidFill>
            <a:srgbClr val="12314F"/>
          </a:solidFill>
          <a:ln/>
        </p:spPr>
      </p:sp>
      <p:sp>
        <p:nvSpPr>
          <p:cNvPr id="12" name="Shape 10"/>
          <p:cNvSpPr/>
          <p:nvPr/>
        </p:nvSpPr>
        <p:spPr>
          <a:xfrm>
            <a:off x="713232" y="3072384"/>
            <a:ext cx="365760" cy="365760"/>
          </a:xfrm>
          <a:prstGeom prst="ellipse">
            <a:avLst/>
          </a:prstGeom>
          <a:solidFill>
            <a:srgbClr val="1C7293"/>
          </a:solidFill>
          <a:ln/>
        </p:spPr>
      </p:sp>
      <p:sp>
        <p:nvSpPr>
          <p:cNvPr id="13" name="Text 11"/>
          <p:cNvSpPr/>
          <p:nvPr/>
        </p:nvSpPr>
        <p:spPr>
          <a:xfrm>
            <a:off x="713232" y="30723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Text 12"/>
          <p:cNvSpPr/>
          <p:nvPr/>
        </p:nvSpPr>
        <p:spPr>
          <a:xfrm>
            <a:off x="1234440" y="292608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One-component PCA</a:t>
            </a:r>
            <a:endParaRPr lang="en-US" sz="1300" dirty="0"/>
          </a:p>
        </p:txBody>
      </p:sp>
      <p:sp>
        <p:nvSpPr>
          <p:cNvPr id="15" name="Text 13"/>
          <p:cNvSpPr/>
          <p:nvPr/>
        </p:nvSpPr>
        <p:spPr>
          <a:xfrm>
            <a:off x="3611880" y="2926080"/>
            <a:ext cx="3657600" cy="658368"/>
          </a:xfrm>
          <a:prstGeom prst="rect">
            <a:avLst/>
          </a:prstGeom>
          <a:noFill/>
          <a:ln/>
        </p:spPr>
        <p:txBody>
          <a:bodyPr wrap="square" lIns="0" tIns="0" rIns="0" bIns="0" rtlCol="0" anchor="ctr"/>
          <a:lstStyle/>
          <a:p>
            <a:pPr indent="0" marL="0">
              <a:buNone/>
            </a:pPr>
            <a:r>
              <a:rPr lang="en-US" sz="1150" dirty="0">
                <a:solidFill>
                  <a:srgbClr val="8FD4E8"/>
                </a:solidFill>
                <a:latin typeface="Courier New" pitchFamily="34" charset="0"/>
                <a:ea typeface="Courier New" pitchFamily="34" charset="-122"/>
                <a:cs typeface="Courier New" pitchFamily="34" charset="-120"/>
              </a:rPr>
              <a:t>read_representations()</a:t>
            </a:r>
            <a:endParaRPr lang="en-US" sz="1150" dirty="0"/>
          </a:p>
        </p:txBody>
      </p:sp>
      <p:sp>
        <p:nvSpPr>
          <p:cNvPr id="16" name="Text 14"/>
          <p:cNvSpPr/>
          <p:nvPr/>
        </p:nvSpPr>
        <p:spPr>
          <a:xfrm>
            <a:off x="7406640" y="2926080"/>
            <a:ext cx="4069080" cy="658368"/>
          </a:xfrm>
          <a:prstGeom prst="rect">
            <a:avLst/>
          </a:prstGeom>
          <a:noFill/>
          <a:ln/>
        </p:spPr>
        <p:txBody>
          <a:bodyPr wrap="square" lIns="0" tIns="0" rIns="0" bIns="0" rtlCol="0" anchor="ctr"/>
          <a:lstStyle/>
          <a:p>
            <a:pPr indent="0" marL="0">
              <a:buNone/>
            </a:pPr>
            <a:r>
              <a:rPr lang="en-US" sz="1150" dirty="0">
                <a:solidFill>
                  <a:srgbClr val="9FC3D9"/>
                </a:solidFill>
                <a:latin typeface="Calibri" pitchFamily="34" charset="0"/>
                <a:ea typeface="Calibri" pitchFamily="34" charset="-122"/>
                <a:cs typeface="Calibri" pitchFamily="34" charset="-120"/>
              </a:rPr>
              <a:t>fits PCA(n_components=1), then fixes the sign</a:t>
            </a:r>
            <a:endParaRPr lang="en-US" sz="1150" dirty="0"/>
          </a:p>
        </p:txBody>
      </p:sp>
      <p:sp>
        <p:nvSpPr>
          <p:cNvPr id="17" name="Shape 15"/>
          <p:cNvSpPr/>
          <p:nvPr/>
        </p:nvSpPr>
        <p:spPr>
          <a:xfrm>
            <a:off x="548640" y="3703320"/>
            <a:ext cx="11064240" cy="658368"/>
          </a:xfrm>
          <a:prstGeom prst="roundRect">
            <a:avLst>
              <a:gd name="adj" fmla="val 8333"/>
            </a:avLst>
          </a:prstGeom>
          <a:solidFill>
            <a:srgbClr val="16385A"/>
          </a:solidFill>
          <a:ln/>
        </p:spPr>
      </p:sp>
      <p:sp>
        <p:nvSpPr>
          <p:cNvPr id="18" name="Shape 16"/>
          <p:cNvSpPr/>
          <p:nvPr/>
        </p:nvSpPr>
        <p:spPr>
          <a:xfrm>
            <a:off x="713232" y="3849624"/>
            <a:ext cx="365760" cy="365760"/>
          </a:xfrm>
          <a:prstGeom prst="ellipse">
            <a:avLst/>
          </a:prstGeom>
          <a:solidFill>
            <a:srgbClr val="1C7293"/>
          </a:solidFill>
          <a:ln/>
        </p:spPr>
      </p:sp>
      <p:sp>
        <p:nvSpPr>
          <p:cNvPr id="19" name="Text 17"/>
          <p:cNvSpPr/>
          <p:nvPr/>
        </p:nvSpPr>
        <p:spPr>
          <a:xfrm>
            <a:off x="713232" y="38496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1234440" y="370332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Activation addition</a:t>
            </a:r>
            <a:endParaRPr lang="en-US" sz="1300" dirty="0"/>
          </a:p>
        </p:txBody>
      </p:sp>
      <p:sp>
        <p:nvSpPr>
          <p:cNvPr id="21" name="Text 19"/>
          <p:cNvSpPr/>
          <p:nvPr/>
        </p:nvSpPr>
        <p:spPr>
          <a:xfrm>
            <a:off x="3611880" y="3703320"/>
            <a:ext cx="3657600" cy="658368"/>
          </a:xfrm>
          <a:prstGeom prst="rect">
            <a:avLst/>
          </a:prstGeom>
          <a:noFill/>
          <a:ln/>
        </p:spPr>
        <p:txBody>
          <a:bodyPr wrap="square" lIns="0" tIns="0" rIns="0" bIns="0" rtlCol="0" anchor="ctr"/>
          <a:lstStyle/>
          <a:p>
            <a:pPr indent="0" marL="0">
              <a:buNone/>
            </a:pPr>
            <a:r>
              <a:rPr lang="en-US" sz="1150" dirty="0">
                <a:solidFill>
                  <a:srgbClr val="8FD4E8"/>
                </a:solidFill>
                <a:latin typeface="Courier New" pitchFamily="34" charset="0"/>
                <a:ea typeface="Courier New" pitchFamily="34" charset="-122"/>
                <a:cs typeface="Courier New" pitchFamily="34" charset="-120"/>
              </a:rPr>
              <a:t>ControlModule.forward()</a:t>
            </a:r>
            <a:endParaRPr lang="en-US" sz="1150" dirty="0"/>
          </a:p>
        </p:txBody>
      </p:sp>
      <p:sp>
        <p:nvSpPr>
          <p:cNvPr id="22" name="Text 20"/>
          <p:cNvSpPr/>
          <p:nvPr/>
        </p:nvSpPr>
        <p:spPr>
          <a:xfrm>
            <a:off x="7406640" y="3703320"/>
            <a:ext cx="4069080" cy="658368"/>
          </a:xfrm>
          <a:prstGeom prst="rect">
            <a:avLst/>
          </a:prstGeom>
          <a:noFill/>
          <a:ln/>
        </p:spPr>
        <p:txBody>
          <a:bodyPr wrap="square" lIns="0" tIns="0" rIns="0" bIns="0" rtlCol="0" anchor="ctr"/>
          <a:lstStyle/>
          <a:p>
            <a:pPr indent="0" marL="0">
              <a:buNone/>
            </a:pPr>
            <a:r>
              <a:rPr lang="en-US" sz="1150" dirty="0">
                <a:solidFill>
                  <a:srgbClr val="9FC3D9"/>
                </a:solidFill>
                <a:latin typeface="Calibri" pitchFamily="34" charset="0"/>
                <a:ea typeface="Calibri" pitchFamily="34" charset="-122"/>
                <a:cs typeface="Calibri" pitchFamily="34" charset="-120"/>
              </a:rPr>
              <a:t>adds the vector to a layer's output mid-forward</a:t>
            </a:r>
            <a:endParaRPr lang="en-US" sz="1150" dirty="0"/>
          </a:p>
        </p:txBody>
      </p:sp>
      <p:sp>
        <p:nvSpPr>
          <p:cNvPr id="23" name="Shape 21"/>
          <p:cNvSpPr/>
          <p:nvPr/>
        </p:nvSpPr>
        <p:spPr>
          <a:xfrm>
            <a:off x="548640" y="4480560"/>
            <a:ext cx="11064240" cy="658368"/>
          </a:xfrm>
          <a:prstGeom prst="roundRect">
            <a:avLst>
              <a:gd name="adj" fmla="val 8333"/>
            </a:avLst>
          </a:prstGeom>
          <a:solidFill>
            <a:srgbClr val="12314F"/>
          </a:solidFill>
          <a:ln/>
        </p:spPr>
      </p:sp>
      <p:sp>
        <p:nvSpPr>
          <p:cNvPr id="24" name="Shape 22"/>
          <p:cNvSpPr/>
          <p:nvPr/>
        </p:nvSpPr>
        <p:spPr>
          <a:xfrm>
            <a:off x="713232" y="4626864"/>
            <a:ext cx="365760" cy="365760"/>
          </a:xfrm>
          <a:prstGeom prst="ellipse">
            <a:avLst/>
          </a:prstGeom>
          <a:solidFill>
            <a:srgbClr val="1C7293"/>
          </a:solidFill>
          <a:ln/>
        </p:spPr>
      </p:sp>
      <p:sp>
        <p:nvSpPr>
          <p:cNvPr id="25" name="Text 23"/>
          <p:cNvSpPr/>
          <p:nvPr/>
        </p:nvSpPr>
        <p:spPr>
          <a:xfrm>
            <a:off x="713232" y="46268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p:nvPr/>
        </p:nvSpPr>
        <p:spPr>
          <a:xfrm>
            <a:off x="1234440" y="448056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 templates</a:t>
            </a:r>
            <a:endParaRPr lang="en-US" sz="1300" dirty="0"/>
          </a:p>
        </p:txBody>
      </p:sp>
      <p:sp>
        <p:nvSpPr>
          <p:cNvPr id="27" name="Text 25"/>
          <p:cNvSpPr/>
          <p:nvPr/>
        </p:nvSpPr>
        <p:spPr>
          <a:xfrm>
            <a:off x="3611880" y="4480560"/>
            <a:ext cx="3657600" cy="658368"/>
          </a:xfrm>
          <a:prstGeom prst="rect">
            <a:avLst/>
          </a:prstGeom>
          <a:noFill/>
          <a:ln/>
        </p:spPr>
        <p:txBody>
          <a:bodyPr wrap="square" lIns="0" tIns="0" rIns="0" bIns="0" rtlCol="0" anchor="ctr"/>
          <a:lstStyle/>
          <a:p>
            <a:pPr indent="0" marL="0">
              <a:buNone/>
            </a:pPr>
            <a:r>
              <a:rPr lang="en-US" sz="1150" dirty="0">
                <a:solidFill>
                  <a:srgbClr val="8FD4E8"/>
                </a:solidFill>
                <a:latin typeface="Courier New" pitchFamily="34" charset="0"/>
                <a:ea typeface="Courier New" pitchFamily="34" charset="-122"/>
                <a:cs typeface="Courier New" pitchFamily="34" charset="-120"/>
              </a:rPr>
              <a:t>make_dataset() in the notebooks</a:t>
            </a:r>
            <a:endParaRPr lang="en-US" sz="1150" dirty="0"/>
          </a:p>
        </p:txBody>
      </p:sp>
      <p:sp>
        <p:nvSpPr>
          <p:cNvPr id="28" name="Text 26"/>
          <p:cNvSpPr/>
          <p:nvPr/>
        </p:nvSpPr>
        <p:spPr>
          <a:xfrm>
            <a:off x="7406640" y="4480560"/>
            <a:ext cx="4069080" cy="658368"/>
          </a:xfrm>
          <a:prstGeom prst="rect">
            <a:avLst/>
          </a:prstGeom>
          <a:noFill/>
          <a:ln/>
        </p:spPr>
        <p:txBody>
          <a:bodyPr wrap="square" lIns="0" tIns="0" rIns="0" bIns="0" rtlCol="0" anchor="ctr"/>
          <a:lstStyle/>
          <a:p>
            <a:pPr indent="0" marL="0">
              <a:buNone/>
            </a:pPr>
            <a:r>
              <a:rPr lang="en-US" sz="1150" dirty="0">
                <a:solidFill>
                  <a:srgbClr val="9FC3D9"/>
                </a:solidFill>
                <a:latin typeface="Calibri" pitchFamily="34" charset="0"/>
                <a:ea typeface="Calibri" pitchFamily="34" charset="-122"/>
                <a:cs typeface="Calibri" pitchFamily="34" charset="-120"/>
              </a:rPr>
              <a:t>wraps each pair in the model's own turn markers</a:t>
            </a:r>
            <a:endParaRPr lang="en-US" sz="1150" dirty="0"/>
          </a:p>
        </p:txBody>
      </p:sp>
      <p:sp>
        <p:nvSpPr>
          <p:cNvPr id="29" name="Shape 27"/>
          <p:cNvSpPr/>
          <p:nvPr/>
        </p:nvSpPr>
        <p:spPr>
          <a:xfrm>
            <a:off x="548640" y="5257800"/>
            <a:ext cx="11064240" cy="658368"/>
          </a:xfrm>
          <a:prstGeom prst="roundRect">
            <a:avLst>
              <a:gd name="adj" fmla="val 8333"/>
            </a:avLst>
          </a:prstGeom>
          <a:solidFill>
            <a:srgbClr val="16385A"/>
          </a:solidFill>
          <a:ln/>
        </p:spPr>
      </p:sp>
      <p:sp>
        <p:nvSpPr>
          <p:cNvPr id="30" name="Shape 28"/>
          <p:cNvSpPr/>
          <p:nvPr/>
        </p:nvSpPr>
        <p:spPr>
          <a:xfrm>
            <a:off x="713232" y="5404104"/>
            <a:ext cx="365760" cy="365760"/>
          </a:xfrm>
          <a:prstGeom prst="ellipse">
            <a:avLst/>
          </a:prstGeom>
          <a:solidFill>
            <a:srgbClr val="1C7293"/>
          </a:solidFill>
          <a:ln/>
        </p:spPr>
      </p:sp>
      <p:sp>
        <p:nvSpPr>
          <p:cNvPr id="31" name="Text 29"/>
          <p:cNvSpPr/>
          <p:nvPr/>
        </p:nvSpPr>
        <p:spPr>
          <a:xfrm>
            <a:off x="713232" y="54041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2" name="Text 30"/>
          <p:cNvSpPr/>
          <p:nvPr/>
        </p:nvSpPr>
        <p:spPr>
          <a:xfrm>
            <a:off x="1234440" y="5257800"/>
            <a:ext cx="228600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Depth as a band</a:t>
            </a:r>
            <a:endParaRPr lang="en-US" sz="1300" dirty="0"/>
          </a:p>
        </p:txBody>
      </p:sp>
      <p:sp>
        <p:nvSpPr>
          <p:cNvPr id="33" name="Text 31"/>
          <p:cNvSpPr/>
          <p:nvPr/>
        </p:nvSpPr>
        <p:spPr>
          <a:xfrm>
            <a:off x="3611880" y="5257800"/>
            <a:ext cx="3657600" cy="658368"/>
          </a:xfrm>
          <a:prstGeom prst="rect">
            <a:avLst/>
          </a:prstGeom>
          <a:noFill/>
          <a:ln/>
        </p:spPr>
        <p:txBody>
          <a:bodyPr wrap="square" lIns="0" tIns="0" rIns="0" bIns="0" rtlCol="0" anchor="ctr"/>
          <a:lstStyle/>
          <a:p>
            <a:pPr indent="0" marL="0">
              <a:buNone/>
            </a:pPr>
            <a:r>
              <a:rPr lang="en-US" sz="1150" dirty="0">
                <a:solidFill>
                  <a:srgbClr val="8FD4E8"/>
                </a:solidFill>
                <a:latin typeface="Courier New" pitchFamily="34" charset="0"/>
                <a:ea typeface="Courier New" pitchFamily="34" charset="-122"/>
                <a:cs typeface="Courier New" pitchFamily="34" charset="-120"/>
              </a:rPr>
              <a:t>ControlModel(model, layer_ids)</a:t>
            </a:r>
            <a:endParaRPr lang="en-US" sz="1150" dirty="0"/>
          </a:p>
        </p:txBody>
      </p:sp>
      <p:sp>
        <p:nvSpPr>
          <p:cNvPr id="34" name="Text 32"/>
          <p:cNvSpPr/>
          <p:nvPr/>
        </p:nvSpPr>
        <p:spPr>
          <a:xfrm>
            <a:off x="7406640" y="5257800"/>
            <a:ext cx="4069080" cy="658368"/>
          </a:xfrm>
          <a:prstGeom prst="rect">
            <a:avLst/>
          </a:prstGeom>
          <a:noFill/>
          <a:ln/>
        </p:spPr>
        <p:txBody>
          <a:bodyPr wrap="square" lIns="0" tIns="0" rIns="0" bIns="0" rtlCol="0" anchor="ctr"/>
          <a:lstStyle/>
          <a:p>
            <a:pPr indent="0" marL="0">
              <a:buNone/>
            </a:pPr>
            <a:r>
              <a:rPr lang="en-US" sz="1150" dirty="0">
                <a:solidFill>
                  <a:srgbClr val="9FC3D9"/>
                </a:solidFill>
                <a:latin typeface="Calibri" pitchFamily="34" charset="0"/>
                <a:ea typeface="Calibri" pitchFamily="34" charset="-122"/>
                <a:cs typeface="Calibri" pitchFamily="34" charset="-120"/>
              </a:rPr>
              <a:t>chooses which layers get touched at all</a:t>
            </a:r>
            <a:endParaRPr lang="en-US" sz="1150" dirty="0"/>
          </a:p>
        </p:txBody>
      </p:sp>
      <p:sp>
        <p:nvSpPr>
          <p:cNvPr id="35" name="Text 33"/>
          <p:cNvSpPr/>
          <p:nvPr/>
        </p:nvSpPr>
        <p:spPr>
          <a:xfrm>
            <a:off x="548640" y="6080760"/>
            <a:ext cx="7498080" cy="320040"/>
          </a:xfrm>
          <a:prstGeom prst="rect">
            <a:avLst/>
          </a:prstGeom>
          <a:noFill/>
          <a:ln/>
        </p:spPr>
        <p:txBody>
          <a:bodyPr wrap="square" rtlCol="0" anchor="ctr"/>
          <a:lstStyle/>
          <a:p>
            <a:pPr indent="0" marL="0">
              <a:buNone/>
            </a:pPr>
            <a:r>
              <a:rPr lang="en-US" sz="1150" i="1" dirty="0">
                <a:solidFill>
                  <a:srgbClr val="9FC3D9"/>
                </a:solidFill>
                <a:latin typeface="Calibri" pitchFamily="34" charset="0"/>
                <a:ea typeface="Calibri" pitchFamily="34" charset="-122"/>
                <a:cs typeface="Calibri" pitchFamily="34" charset="-120"/>
              </a:rPr>
              <a:t>Slides that lean on one of these carry a pill like the one at right, naming the background slide it came from.</a:t>
            </a:r>
            <a:endParaRPr lang="en-US" sz="1150" dirty="0"/>
          </a:p>
        </p:txBody>
      </p:sp>
      <p:sp>
        <p:nvSpPr>
          <p:cNvPr id="36" name="Shape 34"/>
          <p:cNvSpPr/>
          <p:nvPr/>
        </p:nvSpPr>
        <p:spPr>
          <a:xfrm>
            <a:off x="8138160" y="6035040"/>
            <a:ext cx="3474720" cy="310896"/>
          </a:xfrm>
          <a:prstGeom prst="roundRect">
            <a:avLst>
              <a:gd name="adj" fmla="val 50000"/>
            </a:avLst>
          </a:prstGeom>
          <a:solidFill>
            <a:srgbClr val="2A3F63"/>
          </a:solidFill>
          <a:ln w="9525">
            <a:solidFill>
              <a:srgbClr val="5A8FB0"/>
            </a:solidFill>
            <a:prstDash val="solid"/>
          </a:ln>
        </p:spPr>
      </p:sp>
      <p:sp>
        <p:nvSpPr>
          <p:cNvPr id="37" name="Text 35"/>
          <p:cNvSpPr/>
          <p:nvPr/>
        </p:nvSpPr>
        <p:spPr>
          <a:xfrm>
            <a:off x="8266176" y="6035040"/>
            <a:ext cx="3218688" cy="310896"/>
          </a:xfrm>
          <a:prstGeom prst="rect">
            <a:avLst/>
          </a:prstGeom>
          <a:noFill/>
          <a:ln/>
        </p:spPr>
        <p:txBody>
          <a:bodyPr wrap="square" lIns="0" tIns="0" rIns="0" bIns="0" rtlCol="0" anchor="ctr"/>
          <a:lstStyle/>
          <a:p>
            <a:pPr indent="0" marL="0">
              <a:buNone/>
            </a:pPr>
            <a:r>
              <a:rPr lang="en-US" sz="1000" i="1" dirty="0">
                <a:solidFill>
                  <a:srgbClr val="BFDCE8"/>
                </a:solidFill>
                <a:latin typeface="Calibri" pitchFamily="34" charset="0"/>
                <a:ea typeface="Calibri" pitchFamily="34" charset="-122"/>
                <a:cs typeface="Calibri" pitchFamily="34" charset="-120"/>
              </a:rPr>
              <a:t>←  Background · Slide 5, Activation Addition</a:t>
            </a:r>
            <a:endParaRPr lang="en-US" sz="1000" dirty="0"/>
          </a:p>
        </p:txBody>
      </p:sp>
      <p:sp>
        <p:nvSpPr>
          <p:cNvPr id="38" name="Text 36"/>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REPENG  ·  AI SEMINAR, LECTURE 3</a:t>
            </a:r>
            <a:endParaRPr lang="en-US" sz="900" dirty="0"/>
          </a:p>
        </p:txBody>
      </p:sp>
      <p:sp>
        <p:nvSpPr>
          <p:cNvPr id="39" name="Text 3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TOOL</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repeng: Author, Scope, and Maturity</a:t>
            </a:r>
            <a:endParaRPr lang="en-US" sz="3200" dirty="0"/>
          </a:p>
        </p:txBody>
      </p:sp>
      <p:sp>
        <p:nvSpPr>
          <p:cNvPr id="4" name="Shape 2"/>
          <p:cNvSpPr/>
          <p:nvPr/>
        </p:nvSpPr>
        <p:spPr>
          <a:xfrm>
            <a:off x="548640" y="1572768"/>
            <a:ext cx="6766560" cy="2240280"/>
          </a:xfrm>
          <a:prstGeom prst="roundRect">
            <a:avLst>
              <a:gd name="adj" fmla="val 3265"/>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22960" y="1783080"/>
            <a:ext cx="6263640" cy="1828800"/>
          </a:xfrm>
          <a:prstGeom prst="rect">
            <a:avLst/>
          </a:prstGeom>
          <a:noFill/>
          <a:ln/>
        </p:spPr>
        <p:txBody>
          <a:bodyPr wrap="square" rtlCol="0" anchor="ctr"/>
          <a:lstStyle/>
          <a:p>
            <a:pPr indent="0" marL="0">
              <a:lnSpc>
                <a:spcPct val="130000"/>
              </a:lnSpc>
              <a:buNone/>
            </a:pPr>
            <a:r>
              <a:rPr lang="en-US" sz="1300" b="1" dirty="0">
                <a:solidFill>
                  <a:srgbClr val="065A82"/>
                </a:solidFill>
                <a:latin typeface="Courier New" pitchFamily="34" charset="0"/>
                <a:ea typeface="Courier New" pitchFamily="34" charset="-122"/>
                <a:cs typeface="Courier New" pitchFamily="34" charset="-120"/>
              </a:rPr>
              <a:t>repeng</a:t>
            </a:r>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 is a single-purpose Python package by </a:t>
            </a:r>
            <a:pPr indent="0" marL="0">
              <a:lnSpc>
                <a:spcPct val="130000"/>
              </a:lnSpc>
              <a:buNone/>
            </a:pPr>
            <a:r>
              <a:rPr lang="en-US" sz="1300" b="1" dirty="0">
                <a:solidFill>
                  <a:srgbClr val="1B2733"/>
                </a:solidFill>
                <a:latin typeface="Calibri" pitchFamily="34" charset="0"/>
                <a:ea typeface="Calibri" pitchFamily="34" charset="-122"/>
                <a:cs typeface="Calibri" pitchFamily="34" charset="-120"/>
              </a:rPr>
              <a:t>Theia Vogel</a:t>
            </a:r>
            <a:pPr indent="0" marL="0">
              <a:lnSpc>
                <a:spcPct val="130000"/>
              </a:lnSpc>
              <a:buNone/>
            </a:pPr>
            <a:r>
              <a:rPr lang="en-US" sz="1300" dirty="0">
                <a:solidFill>
                  <a:srgbClr val="1B2733"/>
                </a:solidFill>
                <a:latin typeface="Calibri" pitchFamily="34" charset="0"/>
                <a:ea typeface="Calibri" pitchFamily="34" charset="-122"/>
                <a:cs typeface="Calibri" pitchFamily="34" charset="-120"/>
              </a:rPr>
              <a:t> (github.com/vgel), first released January 2024. It wraps a HuggingFace causal LM, trains one direction per layer from contrast pairs, and applies them at generation time. Roughly a thousand lines of Python across four modules — small enough to read end to end in an afternoon, which is exactly why it makes a good specimen.</a:t>
            </a:r>
            <a:endParaRPr lang="en-US" sz="1300" dirty="0"/>
          </a:p>
        </p:txBody>
      </p:sp>
      <p:sp>
        <p:nvSpPr>
          <p:cNvPr id="6" name="Shape 4"/>
          <p:cNvSpPr/>
          <p:nvPr/>
        </p:nvSpPr>
        <p:spPr>
          <a:xfrm>
            <a:off x="548640" y="3977640"/>
            <a:ext cx="1572768" cy="1371600"/>
          </a:xfrm>
          <a:prstGeom prst="roundRect">
            <a:avLst>
              <a:gd name="adj" fmla="val 5333"/>
            </a:avLst>
          </a:prstGeom>
          <a:solidFill>
            <a:srgbClr val="F2F8FA"/>
          </a:solidFill>
          <a:ln w="12700">
            <a:solidFill>
              <a:srgbClr val="DCE7EC"/>
            </a:solidFill>
            <a:prstDash val="solid"/>
          </a:ln>
        </p:spPr>
      </p:sp>
      <p:sp>
        <p:nvSpPr>
          <p:cNvPr id="7" name="Text 5"/>
          <p:cNvSpPr/>
          <p:nvPr/>
        </p:nvSpPr>
        <p:spPr>
          <a:xfrm>
            <a:off x="548640" y="4114800"/>
            <a:ext cx="1572768" cy="54864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0.5.0</a:t>
            </a:r>
            <a:endParaRPr lang="en-US" sz="3000" dirty="0"/>
          </a:p>
        </p:txBody>
      </p:sp>
      <p:sp>
        <p:nvSpPr>
          <p:cNvPr id="8" name="Text 6"/>
          <p:cNvSpPr/>
          <p:nvPr/>
        </p:nvSpPr>
        <p:spPr>
          <a:xfrm>
            <a:off x="548640" y="4663440"/>
            <a:ext cx="1572768" cy="594360"/>
          </a:xfrm>
          <a:prstGeom prst="rect">
            <a:avLst/>
          </a:prstGeom>
          <a:noFill/>
          <a:ln/>
        </p:spPr>
        <p:txBody>
          <a:bodyPr wrap="square" lIns="0" tIns="0" rIns="0" bIns="0" rtlCol="0" anchor="ctr"/>
          <a:lstStyle/>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current release</a:t>
            </a:r>
            <a:endParaRPr lang="en-US" sz="950" dirty="0"/>
          </a:p>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(Sep 2025)</a:t>
            </a:r>
            <a:endParaRPr lang="en-US" sz="950" dirty="0"/>
          </a:p>
        </p:txBody>
      </p:sp>
      <p:sp>
        <p:nvSpPr>
          <p:cNvPr id="9" name="Shape 7"/>
          <p:cNvSpPr/>
          <p:nvPr/>
        </p:nvSpPr>
        <p:spPr>
          <a:xfrm>
            <a:off x="2286000" y="3977640"/>
            <a:ext cx="1572768" cy="1371600"/>
          </a:xfrm>
          <a:prstGeom prst="roundRect">
            <a:avLst>
              <a:gd name="adj" fmla="val 5333"/>
            </a:avLst>
          </a:prstGeom>
          <a:solidFill>
            <a:srgbClr val="F2F8FA"/>
          </a:solidFill>
          <a:ln w="12700">
            <a:solidFill>
              <a:srgbClr val="DCE7EC"/>
            </a:solidFill>
            <a:prstDash val="solid"/>
          </a:ln>
        </p:spPr>
      </p:sp>
      <p:sp>
        <p:nvSpPr>
          <p:cNvPr id="10" name="Text 8"/>
          <p:cNvSpPr/>
          <p:nvPr/>
        </p:nvSpPr>
        <p:spPr>
          <a:xfrm>
            <a:off x="2286000" y="4114800"/>
            <a:ext cx="1572768" cy="54864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4</a:t>
            </a:r>
            <a:endParaRPr lang="en-US" sz="3000" dirty="0"/>
          </a:p>
        </p:txBody>
      </p:sp>
      <p:sp>
        <p:nvSpPr>
          <p:cNvPr id="11" name="Text 9"/>
          <p:cNvSpPr/>
          <p:nvPr/>
        </p:nvSpPr>
        <p:spPr>
          <a:xfrm>
            <a:off x="2286000" y="4663440"/>
            <a:ext cx="1572768" cy="594360"/>
          </a:xfrm>
          <a:prstGeom prst="rect">
            <a:avLst/>
          </a:prstGeom>
          <a:noFill/>
          <a:ln/>
        </p:spPr>
        <p:txBody>
          <a:bodyPr wrap="square" lIns="0" tIns="0" rIns="0" bIns="0" rtlCol="0" anchor="ctr"/>
          <a:lstStyle/>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source modules</a:t>
            </a:r>
            <a:endParaRPr lang="en-US" sz="950" dirty="0"/>
          </a:p>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in repeng/</a:t>
            </a:r>
            <a:endParaRPr lang="en-US" sz="950" dirty="0"/>
          </a:p>
        </p:txBody>
      </p:sp>
      <p:sp>
        <p:nvSpPr>
          <p:cNvPr id="12" name="Shape 10"/>
          <p:cNvSpPr/>
          <p:nvPr/>
        </p:nvSpPr>
        <p:spPr>
          <a:xfrm>
            <a:off x="4023360" y="3977640"/>
            <a:ext cx="1572768" cy="1371600"/>
          </a:xfrm>
          <a:prstGeom prst="roundRect">
            <a:avLst>
              <a:gd name="adj" fmla="val 5333"/>
            </a:avLst>
          </a:prstGeom>
          <a:solidFill>
            <a:srgbClr val="F2F8FA"/>
          </a:solidFill>
          <a:ln w="12700">
            <a:solidFill>
              <a:srgbClr val="DCE7EC"/>
            </a:solidFill>
            <a:prstDash val="solid"/>
          </a:ln>
        </p:spPr>
      </p:sp>
      <p:sp>
        <p:nvSpPr>
          <p:cNvPr id="13" name="Text 11"/>
          <p:cNvSpPr/>
          <p:nvPr/>
        </p:nvSpPr>
        <p:spPr>
          <a:xfrm>
            <a:off x="4023360" y="4114800"/>
            <a:ext cx="1572768" cy="54864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1</a:t>
            </a:r>
            <a:endParaRPr lang="en-US" sz="3000" dirty="0"/>
          </a:p>
        </p:txBody>
      </p:sp>
      <p:sp>
        <p:nvSpPr>
          <p:cNvPr id="14" name="Text 12"/>
          <p:cNvSpPr/>
          <p:nvPr/>
        </p:nvSpPr>
        <p:spPr>
          <a:xfrm>
            <a:off x="4023360" y="4663440"/>
            <a:ext cx="1572768" cy="594360"/>
          </a:xfrm>
          <a:prstGeom prst="rect">
            <a:avLst/>
          </a:prstGeom>
          <a:noFill/>
          <a:ln/>
        </p:spPr>
        <p:txBody>
          <a:bodyPr wrap="square" lIns="0" tIns="0" rIns="0" bIns="0" rtlCol="0" anchor="ctr"/>
          <a:lstStyle/>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PCA component</a:t>
            </a:r>
            <a:endParaRPr lang="en-US" sz="950" dirty="0"/>
          </a:p>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per layer</a:t>
            </a:r>
            <a:endParaRPr lang="en-US" sz="950" dirty="0"/>
          </a:p>
        </p:txBody>
      </p:sp>
      <p:sp>
        <p:nvSpPr>
          <p:cNvPr id="15" name="Shape 13"/>
          <p:cNvSpPr/>
          <p:nvPr/>
        </p:nvSpPr>
        <p:spPr>
          <a:xfrm>
            <a:off x="5760720" y="3977640"/>
            <a:ext cx="1572768" cy="1371600"/>
          </a:xfrm>
          <a:prstGeom prst="roundRect">
            <a:avLst>
              <a:gd name="adj" fmla="val 5333"/>
            </a:avLst>
          </a:prstGeom>
          <a:solidFill>
            <a:srgbClr val="F2F8FA"/>
          </a:solidFill>
          <a:ln w="12700">
            <a:solidFill>
              <a:srgbClr val="DCE7EC"/>
            </a:solidFill>
            <a:prstDash val="solid"/>
          </a:ln>
        </p:spPr>
      </p:sp>
      <p:sp>
        <p:nvSpPr>
          <p:cNvPr id="16" name="Text 14"/>
          <p:cNvSpPr/>
          <p:nvPr/>
        </p:nvSpPr>
        <p:spPr>
          <a:xfrm>
            <a:off x="5760720" y="4114800"/>
            <a:ext cx="1572768" cy="548640"/>
          </a:xfrm>
          <a:prstGeom prst="rect">
            <a:avLst/>
          </a:prstGeom>
          <a:noFill/>
          <a:ln/>
        </p:spPr>
        <p:txBody>
          <a:bodyPr wrap="square" lIns="0" tIns="0" rIns="0" bIns="0" rtlCol="0" anchor="ctr"/>
          <a:lstStyle/>
          <a:p>
            <a:pPr algn="ctr" indent="0" marL="0">
              <a:buNone/>
            </a:pPr>
            <a:r>
              <a:rPr lang="en-US" sz="3000" b="1" dirty="0">
                <a:solidFill>
                  <a:srgbClr val="065A82"/>
                </a:solidFill>
                <a:latin typeface="Cambria" pitchFamily="34" charset="0"/>
                <a:ea typeface="Cambria" pitchFamily="34" charset="-122"/>
                <a:cs typeface="Cambria" pitchFamily="34" charset="-120"/>
              </a:rPr>
              <a:t>0</a:t>
            </a:r>
            <a:endParaRPr lang="en-US" sz="3000" dirty="0"/>
          </a:p>
        </p:txBody>
      </p:sp>
      <p:sp>
        <p:nvSpPr>
          <p:cNvPr id="17" name="Text 15"/>
          <p:cNvSpPr/>
          <p:nvPr/>
        </p:nvSpPr>
        <p:spPr>
          <a:xfrm>
            <a:off x="5760720" y="4663440"/>
            <a:ext cx="1572768" cy="594360"/>
          </a:xfrm>
          <a:prstGeom prst="rect">
            <a:avLst/>
          </a:prstGeom>
          <a:noFill/>
          <a:ln/>
        </p:spPr>
        <p:txBody>
          <a:bodyPr wrap="square" lIns="0" tIns="0" rIns="0" bIns="0" rtlCol="0" anchor="ctr"/>
          <a:lstStyle/>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weights</a:t>
            </a:r>
            <a:endParaRPr lang="en-US" sz="950" dirty="0"/>
          </a:p>
          <a:p>
            <a:pPr algn="ctr" indent="0" marL="0">
              <a:lnSpc>
                <a:spcPct val="110000"/>
              </a:lnSpc>
              <a:buNone/>
            </a:pPr>
            <a:r>
              <a:rPr lang="en-US" sz="950" dirty="0">
                <a:solidFill>
                  <a:srgbClr val="5C7080"/>
                </a:solidFill>
                <a:latin typeface="Calibri" pitchFamily="34" charset="0"/>
                <a:ea typeface="Calibri" pitchFamily="34" charset="-122"/>
                <a:cs typeface="Calibri" pitchFamily="34" charset="-120"/>
              </a:rPr>
              <a:t>updated</a:t>
            </a:r>
            <a:endParaRPr lang="en-US" sz="950" dirty="0"/>
          </a:p>
        </p:txBody>
      </p:sp>
      <p:sp>
        <p:nvSpPr>
          <p:cNvPr id="18" name="Shape 16"/>
          <p:cNvSpPr/>
          <p:nvPr/>
        </p:nvSpPr>
        <p:spPr>
          <a:xfrm>
            <a:off x="7635240" y="1645920"/>
            <a:ext cx="457200" cy="457200"/>
          </a:xfrm>
          <a:prstGeom prst="ellipse">
            <a:avLst/>
          </a:prstGeom>
          <a:solidFill>
            <a:srgbClr val="1C7293"/>
          </a:solidFill>
          <a:ln/>
        </p:spPr>
      </p:sp>
      <p:pic>
        <p:nvPicPr>
          <p:cNvPr id="19" name="Image 0" descr="/home/claude/work/icons/book.png">    </p:cNvPr>
          <p:cNvPicPr>
            <a:picLocks noChangeAspect="1"/>
          </p:cNvPicPr>
          <p:nvPr/>
        </p:nvPicPr>
        <p:blipFill>
          <a:blip r:embed="rId1"/>
          <a:stretch>
            <a:fillRect/>
          </a:stretch>
        </p:blipFill>
        <p:spPr>
          <a:xfrm>
            <a:off x="7754112" y="1764792"/>
            <a:ext cx="219456" cy="219456"/>
          </a:xfrm>
          <a:prstGeom prst="rect">
            <a:avLst/>
          </a:prstGeom>
        </p:spPr>
      </p:pic>
      <p:sp>
        <p:nvSpPr>
          <p:cNvPr id="20" name="Text 17"/>
          <p:cNvSpPr/>
          <p:nvPr/>
        </p:nvSpPr>
        <p:spPr>
          <a:xfrm>
            <a:off x="8229600" y="1618488"/>
            <a:ext cx="338328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Derived from prior work</a:t>
            </a:r>
            <a:endParaRPr lang="en-US" sz="1250" dirty="0"/>
          </a:p>
        </p:txBody>
      </p:sp>
      <p:sp>
        <p:nvSpPr>
          <p:cNvPr id="21" name="Text 18"/>
          <p:cNvSpPr/>
          <p:nvPr/>
        </p:nvSpPr>
        <p:spPr>
          <a:xfrm>
            <a:off x="8229600" y="1938528"/>
            <a:ext cx="3383280" cy="10515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The technique comes from the representation-engineering literature; the repository states that some of its code derives from andyzoujm/representation-engineering (MIT).</a:t>
            </a:r>
            <a:endParaRPr lang="en-US" sz="1100" dirty="0"/>
          </a:p>
        </p:txBody>
      </p:sp>
      <p:sp>
        <p:nvSpPr>
          <p:cNvPr id="22" name="Shape 19"/>
          <p:cNvSpPr/>
          <p:nvPr/>
        </p:nvSpPr>
        <p:spPr>
          <a:xfrm>
            <a:off x="7635240" y="3108960"/>
            <a:ext cx="457200" cy="457200"/>
          </a:xfrm>
          <a:prstGeom prst="ellipse">
            <a:avLst/>
          </a:prstGeom>
          <a:solidFill>
            <a:srgbClr val="1C7293"/>
          </a:solidFill>
          <a:ln/>
        </p:spPr>
      </p:sp>
      <p:pic>
        <p:nvPicPr>
          <p:cNvPr id="23" name="Image 1" descr="/home/claude/work/icons/package.png">    </p:cNvPr>
          <p:cNvPicPr>
            <a:picLocks noChangeAspect="1"/>
          </p:cNvPicPr>
          <p:nvPr/>
        </p:nvPicPr>
        <p:blipFill>
          <a:blip r:embed="rId2"/>
          <a:stretch>
            <a:fillRect/>
          </a:stretch>
        </p:blipFill>
        <p:spPr>
          <a:xfrm>
            <a:off x="7754112" y="3227832"/>
            <a:ext cx="219456" cy="219456"/>
          </a:xfrm>
          <a:prstGeom prst="rect">
            <a:avLst/>
          </a:prstGeom>
        </p:spPr>
      </p:pic>
      <p:sp>
        <p:nvSpPr>
          <p:cNvPr id="24" name="Text 20"/>
          <p:cNvSpPr/>
          <p:nvPr/>
        </p:nvSpPr>
        <p:spPr>
          <a:xfrm>
            <a:off x="8229600" y="3081528"/>
            <a:ext cx="338328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Two distribution channels</a:t>
            </a:r>
            <a:endParaRPr lang="en-US" sz="1250" dirty="0"/>
          </a:p>
        </p:txBody>
      </p:sp>
      <p:sp>
        <p:nvSpPr>
          <p:cNvPr id="25" name="Text 21"/>
          <p:cNvSpPr/>
          <p:nvPr/>
        </p:nvSpPr>
        <p:spPr>
          <a:xfrm>
            <a:off x="8229600" y="3401568"/>
            <a:ext cx="3383280" cy="10515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On PyPI, and as a git repository — currently a full minor version apart. Only the repository copy imports successfully on NumPy 2, so the obvious install command is the wrong one.</a:t>
            </a:r>
            <a:endParaRPr lang="en-US" sz="1100" dirty="0"/>
          </a:p>
        </p:txBody>
      </p:sp>
      <p:sp>
        <p:nvSpPr>
          <p:cNvPr id="26" name="Shape 22"/>
          <p:cNvSpPr/>
          <p:nvPr/>
        </p:nvSpPr>
        <p:spPr>
          <a:xfrm>
            <a:off x="7635240" y="4572000"/>
            <a:ext cx="457200" cy="457200"/>
          </a:xfrm>
          <a:prstGeom prst="ellipse">
            <a:avLst/>
          </a:prstGeom>
          <a:solidFill>
            <a:srgbClr val="1C7293"/>
          </a:solidFill>
          <a:ln/>
        </p:spPr>
      </p:sp>
      <p:pic>
        <p:nvPicPr>
          <p:cNvPr id="27" name="Image 2" descr="/home/claude/work/icons/flask.png">    </p:cNvPr>
          <p:cNvPicPr>
            <a:picLocks noChangeAspect="1"/>
          </p:cNvPicPr>
          <p:nvPr/>
        </p:nvPicPr>
        <p:blipFill>
          <a:blip r:embed="rId3"/>
          <a:stretch>
            <a:fillRect/>
          </a:stretch>
        </p:blipFill>
        <p:spPr>
          <a:xfrm>
            <a:off x="7754112" y="4690872"/>
            <a:ext cx="219456" cy="219456"/>
          </a:xfrm>
          <a:prstGeom prst="rect">
            <a:avLst/>
          </a:prstGeom>
        </p:spPr>
      </p:pic>
      <p:sp>
        <p:nvSpPr>
          <p:cNvPr id="28" name="Text 23"/>
          <p:cNvSpPr/>
          <p:nvPr/>
        </p:nvSpPr>
        <p:spPr>
          <a:xfrm>
            <a:off x="8229600" y="4544568"/>
            <a:ext cx="3383280" cy="3017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No UI, no CLI</a:t>
            </a:r>
            <a:endParaRPr lang="en-US" sz="1250" dirty="0"/>
          </a:p>
        </p:txBody>
      </p:sp>
      <p:sp>
        <p:nvSpPr>
          <p:cNvPr id="29" name="Text 24"/>
          <p:cNvSpPr/>
          <p:nvPr/>
        </p:nvSpPr>
        <p:spPr>
          <a:xfrm>
            <a:off x="8229600" y="4864608"/>
            <a:ext cx="3383280" cy="1051560"/>
          </a:xfrm>
          <a:prstGeom prst="rect">
            <a:avLst/>
          </a:prstGeom>
          <a:noFill/>
          <a:ln/>
        </p:spPr>
        <p:txBody>
          <a:bodyPr wrap="square" lIns="0" tIns="0" rIns="0" bIns="0" rtlCol="0" anchor="ctr"/>
          <a:lstStyle/>
          <a:p>
            <a:pPr indent="0" marL="0">
              <a:lnSpc>
                <a:spcPct val="118000"/>
              </a:lnSpc>
              <a:buNone/>
            </a:pPr>
            <a:r>
              <a:rPr lang="en-US" sz="1100" dirty="0">
                <a:solidFill>
                  <a:srgbClr val="5C7080"/>
                </a:solidFill>
                <a:latin typeface="Calibri" pitchFamily="34" charset="0"/>
                <a:ea typeface="Calibri" pitchFamily="34" charset="-122"/>
                <a:cs typeface="Calibri" pitchFamily="34" charset="-120"/>
              </a:rPr>
              <a:t>There is no UI and no CLI. You import three names and write Python; the eight notebooks are the documentation.</a:t>
            </a:r>
            <a:endParaRPr lang="en-US" sz="1100" dirty="0"/>
          </a:p>
        </p:txBody>
      </p:sp>
      <p:sp>
        <p:nvSpPr>
          <p:cNvPr id="30" name="Shape 25"/>
          <p:cNvSpPr/>
          <p:nvPr/>
        </p:nvSpPr>
        <p:spPr>
          <a:xfrm>
            <a:off x="548640" y="5669280"/>
            <a:ext cx="3657600" cy="310896"/>
          </a:xfrm>
          <a:prstGeom prst="roundRect">
            <a:avLst>
              <a:gd name="adj" fmla="val 50000"/>
            </a:avLst>
          </a:prstGeom>
          <a:solidFill>
            <a:srgbClr val="E9F1E6"/>
          </a:solidFill>
          <a:ln w="9525">
            <a:solidFill>
              <a:srgbClr val="8FB88F"/>
            </a:solidFill>
            <a:prstDash val="solid"/>
          </a:ln>
        </p:spPr>
      </p:sp>
      <p:sp>
        <p:nvSpPr>
          <p:cNvPr id="31" name="Text 26"/>
          <p:cNvSpPr/>
          <p:nvPr/>
        </p:nvSpPr>
        <p:spPr>
          <a:xfrm>
            <a:off x="676656" y="5669280"/>
            <a:ext cx="340156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5, Activation Addition</a:t>
            </a:r>
            <a:endParaRPr lang="en-US" sz="1000" dirty="0"/>
          </a:p>
        </p:txBody>
      </p:sp>
      <p:sp>
        <p:nvSpPr>
          <p:cNvPr id="32" name="Text 27"/>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3"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APPLICATIONS</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Use Cases</a:t>
            </a:r>
            <a:endParaRPr lang="en-US" sz="3200" dirty="0"/>
          </a:p>
        </p:txBody>
      </p:sp>
      <p:sp>
        <p:nvSpPr>
          <p:cNvPr id="4" name="Shape 2"/>
          <p:cNvSpPr/>
          <p:nvPr/>
        </p:nvSpPr>
        <p:spPr>
          <a:xfrm>
            <a:off x="548640" y="1600200"/>
            <a:ext cx="3474720" cy="2011680"/>
          </a:xfrm>
          <a:prstGeom prst="roundRect">
            <a:avLst>
              <a:gd name="adj" fmla="val 3636"/>
            </a:avLst>
          </a:prstGeom>
          <a:solidFill>
            <a:srgbClr val="F2F8FA"/>
          </a:solidFill>
          <a:ln w="12700">
            <a:solidFill>
              <a:srgbClr val="DCE7EC"/>
            </a:solidFill>
            <a:prstDash val="solid"/>
          </a:ln>
        </p:spPr>
      </p:sp>
      <p:sp>
        <p:nvSpPr>
          <p:cNvPr id="5" name="Shape 3"/>
          <p:cNvSpPr/>
          <p:nvPr/>
        </p:nvSpPr>
        <p:spPr>
          <a:xfrm>
            <a:off x="777240" y="1801368"/>
            <a:ext cx="438912" cy="438912"/>
          </a:xfrm>
          <a:prstGeom prst="ellipse">
            <a:avLst/>
          </a:prstGeom>
          <a:solidFill>
            <a:srgbClr val="065A82"/>
          </a:solidFill>
          <a:ln/>
        </p:spPr>
      </p:sp>
      <p:pic>
        <p:nvPicPr>
          <p:cNvPr id="6" name="Image 0" descr="/home/claude/work/icons/wand.png">    </p:cNvPr>
          <p:cNvPicPr>
            <a:picLocks noChangeAspect="1"/>
          </p:cNvPicPr>
          <p:nvPr/>
        </p:nvPicPr>
        <p:blipFill>
          <a:blip r:embed="rId1"/>
          <a:stretch>
            <a:fillRect/>
          </a:stretch>
        </p:blipFill>
        <p:spPr>
          <a:xfrm>
            <a:off x="891357" y="1915485"/>
            <a:ext cx="210678" cy="210678"/>
          </a:xfrm>
          <a:prstGeom prst="rect">
            <a:avLst/>
          </a:prstGeom>
        </p:spPr>
      </p:pic>
      <p:sp>
        <p:nvSpPr>
          <p:cNvPr id="7" name="Text 4"/>
          <p:cNvSpPr/>
          <p:nvPr/>
        </p:nvSpPr>
        <p:spPr>
          <a:xfrm>
            <a:off x="777240" y="2331720"/>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A dial where prompting only gives a switch</a:t>
            </a:r>
            <a:endParaRPr lang="en-US" sz="1250" dirty="0"/>
          </a:p>
        </p:txBody>
      </p:sp>
      <p:sp>
        <p:nvSpPr>
          <p:cNvPr id="8" name="Text 5"/>
          <p:cNvSpPr/>
          <p:nvPr/>
        </p:nvSpPr>
        <p:spPr>
          <a:xfrm>
            <a:off x="777240" y="2862072"/>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Asking for “a bit more formal” is a rewrite. A coefficient of 0.4 is a measurement you can reproduce, log, and sweep.</a:t>
            </a:r>
            <a:endParaRPr lang="en-US" sz="1050" dirty="0"/>
          </a:p>
        </p:txBody>
      </p:sp>
      <p:sp>
        <p:nvSpPr>
          <p:cNvPr id="9" name="Shape 6"/>
          <p:cNvSpPr/>
          <p:nvPr/>
        </p:nvSpPr>
        <p:spPr>
          <a:xfrm>
            <a:off x="4251960" y="1600200"/>
            <a:ext cx="3474720" cy="2011680"/>
          </a:xfrm>
          <a:prstGeom prst="roundRect">
            <a:avLst>
              <a:gd name="adj" fmla="val 3636"/>
            </a:avLst>
          </a:prstGeom>
          <a:solidFill>
            <a:srgbClr val="F2F8FA"/>
          </a:solidFill>
          <a:ln w="12700">
            <a:solidFill>
              <a:srgbClr val="DCE7EC"/>
            </a:solidFill>
            <a:prstDash val="solid"/>
          </a:ln>
        </p:spPr>
      </p:sp>
      <p:sp>
        <p:nvSpPr>
          <p:cNvPr id="10" name="Shape 7"/>
          <p:cNvSpPr/>
          <p:nvPr/>
        </p:nvSpPr>
        <p:spPr>
          <a:xfrm>
            <a:off x="4480560" y="1801368"/>
            <a:ext cx="438912" cy="438912"/>
          </a:xfrm>
          <a:prstGeom prst="ellipse">
            <a:avLst/>
          </a:prstGeom>
          <a:solidFill>
            <a:srgbClr val="1C7293"/>
          </a:solidFill>
          <a:ln/>
        </p:spPr>
      </p:sp>
      <p:pic>
        <p:nvPicPr>
          <p:cNvPr id="11" name="Image 1" descr="/home/claude/work/icons/eye.png">    </p:cNvPr>
          <p:cNvPicPr>
            <a:picLocks noChangeAspect="1"/>
          </p:cNvPicPr>
          <p:nvPr/>
        </p:nvPicPr>
        <p:blipFill>
          <a:blip r:embed="rId2"/>
          <a:stretch>
            <a:fillRect/>
          </a:stretch>
        </p:blipFill>
        <p:spPr>
          <a:xfrm>
            <a:off x="4594677" y="1915485"/>
            <a:ext cx="210678" cy="210678"/>
          </a:xfrm>
          <a:prstGeom prst="rect">
            <a:avLst/>
          </a:prstGeom>
        </p:spPr>
      </p:pic>
      <p:sp>
        <p:nvSpPr>
          <p:cNvPr id="12" name="Text 8"/>
          <p:cNvSpPr/>
          <p:nvPr/>
        </p:nvSpPr>
        <p:spPr>
          <a:xfrm>
            <a:off x="4480560" y="2331720"/>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Probing what a model has internally</a:t>
            </a:r>
            <a:endParaRPr lang="en-US" sz="1250" dirty="0"/>
          </a:p>
        </p:txBody>
      </p:sp>
      <p:sp>
        <p:nvSpPr>
          <p:cNvPr id="13" name="Text 9"/>
          <p:cNvSpPr/>
          <p:nvPr/>
        </p:nvSpPr>
        <p:spPr>
          <a:xfrm>
            <a:off x="4480560" y="2862072"/>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If a clean direction exists for a property, the model represents that property linearly somewhere. Failing to find one is informative too.</a:t>
            </a:r>
            <a:endParaRPr lang="en-US" sz="1050" dirty="0"/>
          </a:p>
        </p:txBody>
      </p:sp>
      <p:sp>
        <p:nvSpPr>
          <p:cNvPr id="14" name="Shape 10"/>
          <p:cNvSpPr/>
          <p:nvPr/>
        </p:nvSpPr>
        <p:spPr>
          <a:xfrm>
            <a:off x="7955280" y="1600200"/>
            <a:ext cx="3474720" cy="2011680"/>
          </a:xfrm>
          <a:prstGeom prst="roundRect">
            <a:avLst>
              <a:gd name="adj" fmla="val 3636"/>
            </a:avLst>
          </a:prstGeom>
          <a:solidFill>
            <a:srgbClr val="F2F8FA"/>
          </a:solidFill>
          <a:ln w="12700">
            <a:solidFill>
              <a:srgbClr val="DCE7EC"/>
            </a:solidFill>
            <a:prstDash val="solid"/>
          </a:ln>
        </p:spPr>
      </p:sp>
      <p:sp>
        <p:nvSpPr>
          <p:cNvPr id="15" name="Shape 11"/>
          <p:cNvSpPr/>
          <p:nvPr/>
        </p:nvSpPr>
        <p:spPr>
          <a:xfrm>
            <a:off x="8183880" y="1801368"/>
            <a:ext cx="438912" cy="438912"/>
          </a:xfrm>
          <a:prstGeom prst="ellipse">
            <a:avLst/>
          </a:prstGeom>
          <a:solidFill>
            <a:srgbClr val="065A82"/>
          </a:solidFill>
          <a:ln/>
        </p:spPr>
      </p:sp>
      <p:pic>
        <p:nvPicPr>
          <p:cNvPr id="16" name="Image 2" descr="/home/claude/work/icons/scale.png">    </p:cNvPr>
          <p:cNvPicPr>
            <a:picLocks noChangeAspect="1"/>
          </p:cNvPicPr>
          <p:nvPr/>
        </p:nvPicPr>
        <p:blipFill>
          <a:blip r:embed="rId3"/>
          <a:stretch>
            <a:fillRect/>
          </a:stretch>
        </p:blipFill>
        <p:spPr>
          <a:xfrm>
            <a:off x="8297997" y="1915485"/>
            <a:ext cx="210678" cy="210678"/>
          </a:xfrm>
          <a:prstGeom prst="rect">
            <a:avLst/>
          </a:prstGeom>
        </p:spPr>
      </p:pic>
      <p:sp>
        <p:nvSpPr>
          <p:cNvPr id="17" name="Text 12"/>
          <p:cNvSpPr/>
          <p:nvPr/>
        </p:nvSpPr>
        <p:spPr>
          <a:xfrm>
            <a:off x="8183880" y="2331720"/>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Ablation studies without retraining</a:t>
            </a:r>
            <a:endParaRPr lang="en-US" sz="1250" dirty="0"/>
          </a:p>
        </p:txBody>
      </p:sp>
      <p:sp>
        <p:nvSpPr>
          <p:cNvPr id="18" name="Text 13"/>
          <p:cNvSpPr/>
          <p:nvPr/>
        </p:nvSpPr>
        <p:spPr>
          <a:xfrm>
            <a:off x="8183880" y="2862072"/>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Turn a behaviour up and down on a fixed checkpoint and watch a downstream metric move — controlled experiments on a frozen model.</a:t>
            </a:r>
            <a:endParaRPr lang="en-US" sz="1050" dirty="0"/>
          </a:p>
        </p:txBody>
      </p:sp>
      <p:sp>
        <p:nvSpPr>
          <p:cNvPr id="19" name="Shape 14"/>
          <p:cNvSpPr/>
          <p:nvPr/>
        </p:nvSpPr>
        <p:spPr>
          <a:xfrm>
            <a:off x="548640" y="3813048"/>
            <a:ext cx="3474720" cy="2011680"/>
          </a:xfrm>
          <a:prstGeom prst="roundRect">
            <a:avLst>
              <a:gd name="adj" fmla="val 3636"/>
            </a:avLst>
          </a:prstGeom>
          <a:solidFill>
            <a:srgbClr val="F2F8FA"/>
          </a:solidFill>
          <a:ln w="12700">
            <a:solidFill>
              <a:srgbClr val="DCE7EC"/>
            </a:solidFill>
            <a:prstDash val="solid"/>
          </a:ln>
        </p:spPr>
      </p:sp>
      <p:sp>
        <p:nvSpPr>
          <p:cNvPr id="20" name="Shape 15"/>
          <p:cNvSpPr/>
          <p:nvPr/>
        </p:nvSpPr>
        <p:spPr>
          <a:xfrm>
            <a:off x="777240" y="4014216"/>
            <a:ext cx="438912" cy="438912"/>
          </a:xfrm>
          <a:prstGeom prst="ellipse">
            <a:avLst/>
          </a:prstGeom>
          <a:solidFill>
            <a:srgbClr val="1C7293"/>
          </a:solidFill>
          <a:ln/>
        </p:spPr>
      </p:sp>
      <p:pic>
        <p:nvPicPr>
          <p:cNvPr id="21" name="Image 3" descr="/home/claude/work/icons/compass.png">    </p:cNvPr>
          <p:cNvPicPr>
            <a:picLocks noChangeAspect="1"/>
          </p:cNvPicPr>
          <p:nvPr/>
        </p:nvPicPr>
        <p:blipFill>
          <a:blip r:embed="rId4"/>
          <a:stretch>
            <a:fillRect/>
          </a:stretch>
        </p:blipFill>
        <p:spPr>
          <a:xfrm>
            <a:off x="891357" y="4128333"/>
            <a:ext cx="210678" cy="210678"/>
          </a:xfrm>
          <a:prstGeom prst="rect">
            <a:avLst/>
          </a:prstGeom>
        </p:spPr>
      </p:pic>
      <p:sp>
        <p:nvSpPr>
          <p:cNvPr id="22" name="Text 16"/>
          <p:cNvSpPr/>
          <p:nvPr/>
        </p:nvSpPr>
        <p:spPr>
          <a:xfrm>
            <a:off x="777240" y="4544568"/>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Cheap iteration before committing to a fine-tune</a:t>
            </a:r>
            <a:endParaRPr lang="en-US" sz="1250" dirty="0"/>
          </a:p>
        </p:txBody>
      </p:sp>
      <p:sp>
        <p:nvSpPr>
          <p:cNvPr id="23" name="Text 17"/>
          <p:cNvSpPr/>
          <p:nvPr/>
        </p:nvSpPr>
        <p:spPr>
          <a:xfrm>
            <a:off x="777240" y="5074920"/>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Minutes per behaviour instead of hours. If steering can't produce the behaviour at all, a fine-tune probably shouldn't be the next thing you try.</a:t>
            </a:r>
            <a:endParaRPr lang="en-US" sz="1050" dirty="0"/>
          </a:p>
        </p:txBody>
      </p:sp>
      <p:sp>
        <p:nvSpPr>
          <p:cNvPr id="24" name="Shape 18"/>
          <p:cNvSpPr/>
          <p:nvPr/>
        </p:nvSpPr>
        <p:spPr>
          <a:xfrm>
            <a:off x="4251960" y="3813048"/>
            <a:ext cx="3474720" cy="2011680"/>
          </a:xfrm>
          <a:prstGeom prst="roundRect">
            <a:avLst>
              <a:gd name="adj" fmla="val 3636"/>
            </a:avLst>
          </a:prstGeom>
          <a:solidFill>
            <a:srgbClr val="F2F8FA"/>
          </a:solidFill>
          <a:ln w="12700">
            <a:solidFill>
              <a:srgbClr val="DCE7EC"/>
            </a:solidFill>
            <a:prstDash val="solid"/>
          </a:ln>
        </p:spPr>
      </p:sp>
      <p:sp>
        <p:nvSpPr>
          <p:cNvPr id="25" name="Shape 19"/>
          <p:cNvSpPr/>
          <p:nvPr/>
        </p:nvSpPr>
        <p:spPr>
          <a:xfrm>
            <a:off x="4480560" y="4014216"/>
            <a:ext cx="438912" cy="438912"/>
          </a:xfrm>
          <a:prstGeom prst="ellipse">
            <a:avLst/>
          </a:prstGeom>
          <a:solidFill>
            <a:srgbClr val="065A82"/>
          </a:solidFill>
          <a:ln/>
        </p:spPr>
      </p:sp>
      <p:pic>
        <p:nvPicPr>
          <p:cNvPr id="26" name="Image 4" descr="/home/claude/work/icons/export.png">    </p:cNvPr>
          <p:cNvPicPr>
            <a:picLocks noChangeAspect="1"/>
          </p:cNvPicPr>
          <p:nvPr/>
        </p:nvPicPr>
        <p:blipFill>
          <a:blip r:embed="rId5"/>
          <a:stretch>
            <a:fillRect/>
          </a:stretch>
        </p:blipFill>
        <p:spPr>
          <a:xfrm>
            <a:off x="4594677" y="4128333"/>
            <a:ext cx="210678" cy="210678"/>
          </a:xfrm>
          <a:prstGeom prst="rect">
            <a:avLst/>
          </a:prstGeom>
        </p:spPr>
      </p:pic>
      <p:sp>
        <p:nvSpPr>
          <p:cNvPr id="27" name="Text 20"/>
          <p:cNvSpPr/>
          <p:nvPr/>
        </p:nvSpPr>
        <p:spPr>
          <a:xfrm>
            <a:off x="4480560" y="4544568"/>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Deploying a behaviour into a quantised runtime</a:t>
            </a:r>
            <a:endParaRPr lang="en-US" sz="1250" dirty="0"/>
          </a:p>
        </p:txBody>
      </p:sp>
      <p:sp>
        <p:nvSpPr>
          <p:cNvPr id="28" name="Text 21"/>
          <p:cNvSpPr/>
          <p:nvPr/>
        </p:nvSpPr>
        <p:spPr>
          <a:xfrm>
            <a:off x="4480560" y="5074920"/>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Train in Python, export to GGUF, apply inside llama.cpp — the training environment and the serving environment don't have to match.</a:t>
            </a:r>
            <a:endParaRPr lang="en-US" sz="1050" dirty="0"/>
          </a:p>
        </p:txBody>
      </p:sp>
      <p:sp>
        <p:nvSpPr>
          <p:cNvPr id="29" name="Shape 22"/>
          <p:cNvSpPr/>
          <p:nvPr/>
        </p:nvSpPr>
        <p:spPr>
          <a:xfrm>
            <a:off x="7955280" y="3813048"/>
            <a:ext cx="3474720" cy="2011680"/>
          </a:xfrm>
          <a:prstGeom prst="roundRect">
            <a:avLst>
              <a:gd name="adj" fmla="val 3636"/>
            </a:avLst>
          </a:prstGeom>
          <a:solidFill>
            <a:srgbClr val="F2F8FA"/>
          </a:solidFill>
          <a:ln w="12700">
            <a:solidFill>
              <a:srgbClr val="DCE7EC"/>
            </a:solidFill>
            <a:prstDash val="solid"/>
          </a:ln>
        </p:spPr>
      </p:sp>
      <p:sp>
        <p:nvSpPr>
          <p:cNvPr id="30" name="Shape 23"/>
          <p:cNvSpPr/>
          <p:nvPr/>
        </p:nvSpPr>
        <p:spPr>
          <a:xfrm>
            <a:off x="8183880" y="4014216"/>
            <a:ext cx="438912" cy="438912"/>
          </a:xfrm>
          <a:prstGeom prst="ellipse">
            <a:avLst/>
          </a:prstGeom>
          <a:solidFill>
            <a:srgbClr val="1C7293"/>
          </a:solidFill>
          <a:ln/>
        </p:spPr>
      </p:sp>
      <p:pic>
        <p:nvPicPr>
          <p:cNvPr id="31" name="Image 5" descr="/home/claude/work/icons/bolt.png">    </p:cNvPr>
          <p:cNvPicPr>
            <a:picLocks noChangeAspect="1"/>
          </p:cNvPicPr>
          <p:nvPr/>
        </p:nvPicPr>
        <p:blipFill>
          <a:blip r:embed="rId6"/>
          <a:stretch>
            <a:fillRect/>
          </a:stretch>
        </p:blipFill>
        <p:spPr>
          <a:xfrm>
            <a:off x="8297997" y="4128333"/>
            <a:ext cx="210678" cy="210678"/>
          </a:xfrm>
          <a:prstGeom prst="rect">
            <a:avLst/>
          </a:prstGeom>
        </p:spPr>
      </p:pic>
      <p:sp>
        <p:nvSpPr>
          <p:cNvPr id="32" name="Text 24"/>
          <p:cNvSpPr/>
          <p:nvPr/>
        </p:nvSpPr>
        <p:spPr>
          <a:xfrm>
            <a:off x="8183880" y="4544568"/>
            <a:ext cx="3017520" cy="54864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Robustness testing</a:t>
            </a:r>
            <a:endParaRPr lang="en-US" sz="1250" dirty="0"/>
          </a:p>
        </p:txBody>
      </p:sp>
      <p:sp>
        <p:nvSpPr>
          <p:cNvPr id="33" name="Text 25"/>
          <p:cNvSpPr/>
          <p:nvPr/>
        </p:nvSpPr>
        <p:spPr>
          <a:xfrm>
            <a:off x="8183880" y="5074920"/>
            <a:ext cx="301752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Because the control applies at every token, it isn't argued away by later instructions the way a system prompt can be.</a:t>
            </a:r>
            <a:endParaRPr lang="en-US" sz="1050" dirty="0"/>
          </a:p>
        </p:txBody>
      </p:sp>
      <p:sp>
        <p:nvSpPr>
          <p:cNvPr id="34" name="Text 26"/>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5" name="Text 2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ORIENTATION</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Repository Structure</a:t>
            </a:r>
            <a:endParaRPr lang="en-US" sz="3200" dirty="0"/>
          </a:p>
        </p:txBody>
      </p:sp>
      <p:sp>
        <p:nvSpPr>
          <p:cNvPr id="4" name="Shape 2"/>
          <p:cNvSpPr/>
          <p:nvPr/>
        </p:nvSpPr>
        <p:spPr>
          <a:xfrm>
            <a:off x="7635240" y="777240"/>
            <a:ext cx="39776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7726680" y="777240"/>
            <a:ext cx="37947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github.com/vgel/repeng @ main</a:t>
            </a:r>
            <a:endParaRPr lang="en-US" sz="1050" dirty="0"/>
          </a:p>
        </p:txBody>
      </p:sp>
      <p:sp>
        <p:nvSpPr>
          <p:cNvPr id="6" name="Shape 4"/>
          <p:cNvSpPr/>
          <p:nvPr/>
        </p:nvSpPr>
        <p:spPr>
          <a:xfrm>
            <a:off x="548640" y="1572768"/>
            <a:ext cx="6858000" cy="4526280"/>
          </a:xfrm>
          <a:prstGeom prst="roundRect">
            <a:avLst>
              <a:gd name="adj" fmla="val 1616"/>
            </a:avLst>
          </a:prstGeom>
          <a:solidFill>
            <a:srgbClr val="0B2942"/>
          </a:solidFill>
          <a:ln/>
        </p:spPr>
      </p:sp>
      <p:sp>
        <p:nvSpPr>
          <p:cNvPr id="7" name="Text 5"/>
          <p:cNvSpPr/>
          <p:nvPr/>
        </p:nvSpPr>
        <p:spPr>
          <a:xfrm>
            <a:off x="731520" y="1719072"/>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repeng/</a:t>
            </a:r>
            <a:endParaRPr lang="en-US" sz="950" dirty="0"/>
          </a:p>
        </p:txBody>
      </p:sp>
      <p:sp>
        <p:nvSpPr>
          <p:cNvPr id="8" name="Text 6"/>
          <p:cNvSpPr/>
          <p:nvPr/>
        </p:nvSpPr>
        <p:spPr>
          <a:xfrm>
            <a:off x="731520" y="1869034"/>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.github/workflows/ci.yml</a:t>
            </a:r>
            <a:endParaRPr lang="en-US" sz="950" dirty="0"/>
          </a:p>
        </p:txBody>
      </p:sp>
      <p:sp>
        <p:nvSpPr>
          <p:cNvPr id="9" name="Text 7"/>
          <p:cNvSpPr/>
          <p:nvPr/>
        </p:nvSpPr>
        <p:spPr>
          <a:xfrm>
            <a:off x="731520" y="2018995"/>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CHANGELOG</a:t>
            </a:r>
            <a:endParaRPr lang="en-US" sz="950" dirty="0"/>
          </a:p>
        </p:txBody>
      </p:sp>
      <p:sp>
        <p:nvSpPr>
          <p:cNvPr id="10" name="Text 8"/>
          <p:cNvSpPr/>
          <p:nvPr/>
        </p:nvSpPr>
        <p:spPr>
          <a:xfrm>
            <a:off x="731520" y="2168957"/>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LICENSE</a:t>
            </a:r>
            <a:endParaRPr lang="en-US" sz="950" dirty="0"/>
          </a:p>
        </p:txBody>
      </p:sp>
      <p:sp>
        <p:nvSpPr>
          <p:cNvPr id="11" name="Text 9"/>
          <p:cNvSpPr/>
          <p:nvPr/>
        </p:nvSpPr>
        <p:spPr>
          <a:xfrm>
            <a:off x="731520" y="2318918"/>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README.md</a:t>
            </a:r>
            <a:endParaRPr lang="en-US" sz="950" dirty="0"/>
          </a:p>
        </p:txBody>
      </p:sp>
      <p:sp>
        <p:nvSpPr>
          <p:cNvPr id="12" name="Text 10"/>
          <p:cNvSpPr/>
          <p:nvPr/>
        </p:nvSpPr>
        <p:spPr>
          <a:xfrm>
            <a:off x="731520" y="2468880"/>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notebooks/</a:t>
            </a:r>
            <a:endParaRPr lang="en-US" sz="950" dirty="0"/>
          </a:p>
        </p:txBody>
      </p:sp>
      <p:sp>
        <p:nvSpPr>
          <p:cNvPr id="13" name="Text 11"/>
          <p:cNvSpPr/>
          <p:nvPr/>
        </p:nvSpPr>
        <p:spPr>
          <a:xfrm>
            <a:off x="731520" y="2618842"/>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data/</a:t>
            </a:r>
            <a:endParaRPr lang="en-US" sz="950" dirty="0"/>
          </a:p>
        </p:txBody>
      </p:sp>
      <p:sp>
        <p:nvSpPr>
          <p:cNvPr id="14" name="Shape 12"/>
          <p:cNvSpPr/>
          <p:nvPr/>
        </p:nvSpPr>
        <p:spPr>
          <a:xfrm>
            <a:off x="685800" y="2776118"/>
            <a:ext cx="6583680" cy="149962"/>
          </a:xfrm>
          <a:prstGeom prst="rect">
            <a:avLst/>
          </a:prstGeom>
          <a:solidFill>
            <a:srgbClr val="1D4A6E"/>
          </a:solidFill>
          <a:ln/>
        </p:spPr>
      </p:sp>
      <p:sp>
        <p:nvSpPr>
          <p:cNvPr id="15" name="Text 13"/>
          <p:cNvSpPr/>
          <p:nvPr/>
        </p:nvSpPr>
        <p:spPr>
          <a:xfrm>
            <a:off x="731520" y="2768803"/>
            <a:ext cx="3977640" cy="186538"/>
          </a:xfrm>
          <a:prstGeom prst="rect">
            <a:avLst/>
          </a:prstGeom>
          <a:noFill/>
          <a:ln/>
        </p:spPr>
        <p:txBody>
          <a:bodyPr wrap="square" lIns="0" tIns="0" rIns="0" bIns="0" rtlCol="0" anchor="ctr"/>
          <a:lstStyle/>
          <a:p>
            <a:pPr indent="0" marL="0">
              <a:buNone/>
            </a:pPr>
            <a:r>
              <a:rPr lang="en-US" sz="950" b="1" dirty="0">
                <a:solidFill>
                  <a:srgbClr val="8FD4E8"/>
                </a:solidFill>
                <a:latin typeface="Courier New" pitchFamily="34" charset="0"/>
                <a:ea typeface="Courier New" pitchFamily="34" charset="-122"/>
                <a:cs typeface="Courier New" pitchFamily="34" charset="-120"/>
              </a:rPr>
              <a:t>│   │   ├── all_truncated_outputs.json</a:t>
            </a:r>
            <a:endParaRPr lang="en-US" sz="950" dirty="0"/>
          </a:p>
        </p:txBody>
      </p:sp>
      <p:sp>
        <p:nvSpPr>
          <p:cNvPr id="16" name="Text 14"/>
          <p:cNvSpPr/>
          <p:nvPr/>
        </p:nvSpPr>
        <p:spPr>
          <a:xfrm>
            <a:off x="4709160" y="2768803"/>
            <a:ext cx="2606040" cy="186538"/>
          </a:xfrm>
          <a:prstGeom prst="rect">
            <a:avLst/>
          </a:prstGeom>
          <a:noFill/>
          <a:ln/>
        </p:spPr>
        <p:txBody>
          <a:bodyPr wrap="square" lIns="0" tIns="0" rIns="0" bIns="0" rtlCol="0" anchor="ctr"/>
          <a:lstStyle/>
          <a:p>
            <a:pPr indent="0" marL="0">
              <a:buNone/>
            </a:pPr>
            <a:r>
              <a:rPr lang="en-US" sz="850" i="1" dirty="0">
                <a:solidFill>
                  <a:srgbClr val="7FA8C0"/>
                </a:solidFill>
                <a:latin typeface="Calibri" pitchFamily="34" charset="0"/>
                <a:ea typeface="Calibri" pitchFamily="34" charset="-122"/>
                <a:cs typeface="Calibri" pitchFamily="34" charset="-120"/>
              </a:rPr>
              <a:t>582 generic sentence endings</a:t>
            </a:r>
            <a:endParaRPr lang="en-US" sz="850" dirty="0"/>
          </a:p>
        </p:txBody>
      </p:sp>
      <p:sp>
        <p:nvSpPr>
          <p:cNvPr id="17" name="Text 15"/>
          <p:cNvSpPr/>
          <p:nvPr/>
        </p:nvSpPr>
        <p:spPr>
          <a:xfrm>
            <a:off x="731520" y="2918765"/>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 code_questions.json</a:t>
            </a:r>
            <a:endParaRPr lang="en-US" sz="950" dirty="0"/>
          </a:p>
        </p:txBody>
      </p:sp>
      <p:sp>
        <p:nvSpPr>
          <p:cNvPr id="18" name="Text 16"/>
          <p:cNvSpPr/>
          <p:nvPr/>
        </p:nvSpPr>
        <p:spPr>
          <a:xfrm>
            <a:off x="731520" y="3068726"/>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 reasoning.json</a:t>
            </a:r>
            <a:endParaRPr lang="en-US" sz="950" dirty="0"/>
          </a:p>
        </p:txBody>
      </p:sp>
      <p:sp>
        <p:nvSpPr>
          <p:cNvPr id="19" name="Text 17"/>
          <p:cNvSpPr/>
          <p:nvPr/>
        </p:nvSpPr>
        <p:spPr>
          <a:xfrm>
            <a:off x="731520" y="3218688"/>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 true_facts.json</a:t>
            </a:r>
            <a:endParaRPr lang="en-US" sz="950" dirty="0"/>
          </a:p>
        </p:txBody>
      </p:sp>
      <p:sp>
        <p:nvSpPr>
          <p:cNvPr id="20" name="Text 18"/>
          <p:cNvSpPr/>
          <p:nvPr/>
        </p:nvSpPr>
        <p:spPr>
          <a:xfrm>
            <a:off x="731520" y="3368650"/>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emotion.ipynb</a:t>
            </a:r>
            <a:endParaRPr lang="en-US" sz="950" dirty="0"/>
          </a:p>
        </p:txBody>
      </p:sp>
      <p:sp>
        <p:nvSpPr>
          <p:cNvPr id="21" name="Shape 19"/>
          <p:cNvSpPr/>
          <p:nvPr/>
        </p:nvSpPr>
        <p:spPr>
          <a:xfrm>
            <a:off x="685800" y="3525926"/>
            <a:ext cx="6583680" cy="149962"/>
          </a:xfrm>
          <a:prstGeom prst="rect">
            <a:avLst/>
          </a:prstGeom>
          <a:solidFill>
            <a:srgbClr val="1D4A6E"/>
          </a:solidFill>
          <a:ln/>
        </p:spPr>
      </p:sp>
      <p:sp>
        <p:nvSpPr>
          <p:cNvPr id="22" name="Text 20"/>
          <p:cNvSpPr/>
          <p:nvPr/>
        </p:nvSpPr>
        <p:spPr>
          <a:xfrm>
            <a:off x="731520" y="3518611"/>
            <a:ext cx="3977640" cy="186538"/>
          </a:xfrm>
          <a:prstGeom prst="rect">
            <a:avLst/>
          </a:prstGeom>
          <a:noFill/>
          <a:ln/>
        </p:spPr>
        <p:txBody>
          <a:bodyPr wrap="square" lIns="0" tIns="0" rIns="0" bIns="0" rtlCol="0" anchor="ctr"/>
          <a:lstStyle/>
          <a:p>
            <a:pPr indent="0" marL="0">
              <a:buNone/>
            </a:pPr>
            <a:r>
              <a:rPr lang="en-US" sz="950" b="1" dirty="0">
                <a:solidFill>
                  <a:srgbClr val="8FD4E8"/>
                </a:solidFill>
                <a:latin typeface="Courier New" pitchFamily="34" charset="0"/>
                <a:ea typeface="Courier New" pitchFamily="34" charset="-122"/>
                <a:cs typeface="Courier New" pitchFamily="34" charset="-120"/>
              </a:rPr>
              <a:t>│   ├── experiments.ipynb</a:t>
            </a:r>
            <a:endParaRPr lang="en-US" sz="950" dirty="0"/>
          </a:p>
        </p:txBody>
      </p:sp>
      <p:sp>
        <p:nvSpPr>
          <p:cNvPr id="23" name="Text 21"/>
          <p:cNvSpPr/>
          <p:nvPr/>
        </p:nvSpPr>
        <p:spPr>
          <a:xfrm>
            <a:off x="4709160" y="3518611"/>
            <a:ext cx="2606040" cy="186538"/>
          </a:xfrm>
          <a:prstGeom prst="rect">
            <a:avLst/>
          </a:prstGeom>
          <a:noFill/>
          <a:ln/>
        </p:spPr>
        <p:txBody>
          <a:bodyPr wrap="square" lIns="0" tIns="0" rIns="0" bIns="0" rtlCol="0" anchor="ctr"/>
          <a:lstStyle/>
          <a:p>
            <a:pPr indent="0" marL="0">
              <a:buNone/>
            </a:pPr>
            <a:r>
              <a:rPr lang="en-US" sz="850" i="1" dirty="0">
                <a:solidFill>
                  <a:srgbClr val="7FA8C0"/>
                </a:solidFill>
                <a:latin typeface="Calibri" pitchFamily="34" charset="0"/>
                <a:ea typeface="Calibri" pitchFamily="34" charset="-122"/>
                <a:cs typeface="Calibri" pitchFamily="34" charset="-120"/>
              </a:rPr>
              <a:t>the real make_dataset() lives here</a:t>
            </a:r>
            <a:endParaRPr lang="en-US" sz="850" dirty="0"/>
          </a:p>
        </p:txBody>
      </p:sp>
      <p:sp>
        <p:nvSpPr>
          <p:cNvPr id="24" name="Text 22"/>
          <p:cNvSpPr/>
          <p:nvPr/>
        </p:nvSpPr>
        <p:spPr>
          <a:xfrm>
            <a:off x="731520" y="3668573"/>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honesty.ipynb</a:t>
            </a:r>
            <a:endParaRPr lang="en-US" sz="950" dirty="0"/>
          </a:p>
        </p:txBody>
      </p:sp>
      <p:sp>
        <p:nvSpPr>
          <p:cNvPr id="25" name="Text 23"/>
          <p:cNvSpPr/>
          <p:nvPr/>
        </p:nvSpPr>
        <p:spPr>
          <a:xfrm>
            <a:off x="731520" y="3818534"/>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llama-3-70b.ipynb</a:t>
            </a:r>
            <a:endParaRPr lang="en-US" sz="950" dirty="0"/>
          </a:p>
        </p:txBody>
      </p:sp>
      <p:sp>
        <p:nvSpPr>
          <p:cNvPr id="26" name="Text 24"/>
          <p:cNvSpPr/>
          <p:nvPr/>
        </p:nvSpPr>
        <p:spPr>
          <a:xfrm>
            <a:off x="731520" y="3968496"/>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llama-3.3-70b.ipynb</a:t>
            </a:r>
            <a:endParaRPr lang="en-US" sz="950" dirty="0"/>
          </a:p>
        </p:txBody>
      </p:sp>
      <p:sp>
        <p:nvSpPr>
          <p:cNvPr id="27" name="Text 25"/>
          <p:cNvSpPr/>
          <p:nvPr/>
        </p:nvSpPr>
        <p:spPr>
          <a:xfrm>
            <a:off x="731520" y="4118458"/>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model_delta.ipynb</a:t>
            </a:r>
            <a:endParaRPr lang="en-US" sz="950" dirty="0"/>
          </a:p>
        </p:txBody>
      </p:sp>
      <p:sp>
        <p:nvSpPr>
          <p:cNvPr id="28" name="Text 26"/>
          <p:cNvSpPr/>
          <p:nvPr/>
        </p:nvSpPr>
        <p:spPr>
          <a:xfrm>
            <a:off x="731520" y="4268419"/>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sae.ipynb</a:t>
            </a:r>
            <a:endParaRPr lang="en-US" sz="950" dirty="0"/>
          </a:p>
        </p:txBody>
      </p:sp>
      <p:sp>
        <p:nvSpPr>
          <p:cNvPr id="29" name="Text 27"/>
          <p:cNvSpPr/>
          <p:nvPr/>
        </p:nvSpPr>
        <p:spPr>
          <a:xfrm>
            <a:off x="731520" y="4418381"/>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vector_ops.ipynb</a:t>
            </a:r>
            <a:endParaRPr lang="en-US" sz="950" dirty="0"/>
          </a:p>
        </p:txBody>
      </p:sp>
      <p:sp>
        <p:nvSpPr>
          <p:cNvPr id="30" name="Text 28"/>
          <p:cNvSpPr/>
          <p:nvPr/>
        </p:nvSpPr>
        <p:spPr>
          <a:xfrm>
            <a:off x="731520" y="4568342"/>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pyproject.toml</a:t>
            </a:r>
            <a:endParaRPr lang="en-US" sz="950" dirty="0"/>
          </a:p>
        </p:txBody>
      </p:sp>
      <p:sp>
        <p:nvSpPr>
          <p:cNvPr id="31" name="Text 29"/>
          <p:cNvSpPr/>
          <p:nvPr/>
        </p:nvSpPr>
        <p:spPr>
          <a:xfrm>
            <a:off x="731520" y="4718304"/>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repeng/</a:t>
            </a:r>
            <a:endParaRPr lang="en-US" sz="950" dirty="0"/>
          </a:p>
        </p:txBody>
      </p:sp>
      <p:sp>
        <p:nvSpPr>
          <p:cNvPr id="32" name="Text 30"/>
          <p:cNvSpPr/>
          <p:nvPr/>
        </p:nvSpPr>
        <p:spPr>
          <a:xfrm>
            <a:off x="731520" y="4868266"/>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__init__.py</a:t>
            </a:r>
            <a:endParaRPr lang="en-US" sz="950" dirty="0"/>
          </a:p>
        </p:txBody>
      </p:sp>
      <p:sp>
        <p:nvSpPr>
          <p:cNvPr id="33" name="Shape 31"/>
          <p:cNvSpPr/>
          <p:nvPr/>
        </p:nvSpPr>
        <p:spPr>
          <a:xfrm>
            <a:off x="685800" y="5025542"/>
            <a:ext cx="6583680" cy="149962"/>
          </a:xfrm>
          <a:prstGeom prst="rect">
            <a:avLst/>
          </a:prstGeom>
          <a:solidFill>
            <a:srgbClr val="1D4A6E"/>
          </a:solidFill>
          <a:ln/>
        </p:spPr>
      </p:sp>
      <p:sp>
        <p:nvSpPr>
          <p:cNvPr id="34" name="Text 32"/>
          <p:cNvSpPr/>
          <p:nvPr/>
        </p:nvSpPr>
        <p:spPr>
          <a:xfrm>
            <a:off x="731520" y="5018227"/>
            <a:ext cx="3977640" cy="186538"/>
          </a:xfrm>
          <a:prstGeom prst="rect">
            <a:avLst/>
          </a:prstGeom>
          <a:noFill/>
          <a:ln/>
        </p:spPr>
        <p:txBody>
          <a:bodyPr wrap="square" lIns="0" tIns="0" rIns="0" bIns="0" rtlCol="0" anchor="ctr"/>
          <a:lstStyle/>
          <a:p>
            <a:pPr indent="0" marL="0">
              <a:buNone/>
            </a:pPr>
            <a:r>
              <a:rPr lang="en-US" sz="950" b="1" dirty="0">
                <a:solidFill>
                  <a:srgbClr val="8FD4E8"/>
                </a:solidFill>
                <a:latin typeface="Courier New" pitchFamily="34" charset="0"/>
                <a:ea typeface="Courier New" pitchFamily="34" charset="-122"/>
                <a:cs typeface="Courier New" pitchFamily="34" charset="-120"/>
              </a:rPr>
              <a:t>│   ├── control.py</a:t>
            </a:r>
            <a:endParaRPr lang="en-US" sz="950" dirty="0"/>
          </a:p>
        </p:txBody>
      </p:sp>
      <p:sp>
        <p:nvSpPr>
          <p:cNvPr id="35" name="Text 33"/>
          <p:cNvSpPr/>
          <p:nvPr/>
        </p:nvSpPr>
        <p:spPr>
          <a:xfrm>
            <a:off x="4709160" y="5018227"/>
            <a:ext cx="2606040" cy="186538"/>
          </a:xfrm>
          <a:prstGeom prst="rect">
            <a:avLst/>
          </a:prstGeom>
          <a:noFill/>
          <a:ln/>
        </p:spPr>
        <p:txBody>
          <a:bodyPr wrap="square" lIns="0" tIns="0" rIns="0" bIns="0" rtlCol="0" anchor="ctr"/>
          <a:lstStyle/>
          <a:p>
            <a:pPr indent="0" marL="0">
              <a:buNone/>
            </a:pPr>
            <a:r>
              <a:rPr lang="en-US" sz="850" i="1" dirty="0">
                <a:solidFill>
                  <a:srgbClr val="7FA8C0"/>
                </a:solidFill>
                <a:latin typeface="Calibri" pitchFamily="34" charset="0"/>
                <a:ea typeface="Calibri" pitchFamily="34" charset="-122"/>
                <a:cs typeface="Calibri" pitchFamily="34" charset="-120"/>
              </a:rPr>
              <a:t>the wrapper + the forward hook</a:t>
            </a:r>
            <a:endParaRPr lang="en-US" sz="850" dirty="0"/>
          </a:p>
        </p:txBody>
      </p:sp>
      <p:sp>
        <p:nvSpPr>
          <p:cNvPr id="36" name="Shape 34"/>
          <p:cNvSpPr/>
          <p:nvPr/>
        </p:nvSpPr>
        <p:spPr>
          <a:xfrm>
            <a:off x="685800" y="5175504"/>
            <a:ext cx="6583680" cy="149962"/>
          </a:xfrm>
          <a:prstGeom prst="rect">
            <a:avLst/>
          </a:prstGeom>
          <a:solidFill>
            <a:srgbClr val="1D4A6E"/>
          </a:solidFill>
          <a:ln/>
        </p:spPr>
      </p:sp>
      <p:sp>
        <p:nvSpPr>
          <p:cNvPr id="37" name="Text 35"/>
          <p:cNvSpPr/>
          <p:nvPr/>
        </p:nvSpPr>
        <p:spPr>
          <a:xfrm>
            <a:off x="731520" y="5168189"/>
            <a:ext cx="3977640" cy="186538"/>
          </a:xfrm>
          <a:prstGeom prst="rect">
            <a:avLst/>
          </a:prstGeom>
          <a:noFill/>
          <a:ln/>
        </p:spPr>
        <p:txBody>
          <a:bodyPr wrap="square" lIns="0" tIns="0" rIns="0" bIns="0" rtlCol="0" anchor="ctr"/>
          <a:lstStyle/>
          <a:p>
            <a:pPr indent="0" marL="0">
              <a:buNone/>
            </a:pPr>
            <a:r>
              <a:rPr lang="en-US" sz="950" b="1" dirty="0">
                <a:solidFill>
                  <a:srgbClr val="8FD4E8"/>
                </a:solidFill>
                <a:latin typeface="Courier New" pitchFamily="34" charset="0"/>
                <a:ea typeface="Courier New" pitchFamily="34" charset="-122"/>
                <a:cs typeface="Courier New" pitchFamily="34" charset="-120"/>
              </a:rPr>
              <a:t>│   ├── extract.py</a:t>
            </a:r>
            <a:endParaRPr lang="en-US" sz="950" dirty="0"/>
          </a:p>
        </p:txBody>
      </p:sp>
      <p:sp>
        <p:nvSpPr>
          <p:cNvPr id="38" name="Text 36"/>
          <p:cNvSpPr/>
          <p:nvPr/>
        </p:nvSpPr>
        <p:spPr>
          <a:xfrm>
            <a:off x="4709160" y="5168189"/>
            <a:ext cx="2606040" cy="186538"/>
          </a:xfrm>
          <a:prstGeom prst="rect">
            <a:avLst/>
          </a:prstGeom>
          <a:noFill/>
          <a:ln/>
        </p:spPr>
        <p:txBody>
          <a:bodyPr wrap="square" lIns="0" tIns="0" rIns="0" bIns="0" rtlCol="0" anchor="ctr"/>
          <a:lstStyle/>
          <a:p>
            <a:pPr indent="0" marL="0">
              <a:buNone/>
            </a:pPr>
            <a:r>
              <a:rPr lang="en-US" sz="850" i="1" dirty="0">
                <a:solidFill>
                  <a:srgbClr val="7FA8C0"/>
                </a:solidFill>
                <a:latin typeface="Calibri" pitchFamily="34" charset="0"/>
                <a:ea typeface="Calibri" pitchFamily="34" charset="-122"/>
                <a:cs typeface="Calibri" pitchFamily="34" charset="-120"/>
              </a:rPr>
              <a:t>training: hiddens → PCA → direction</a:t>
            </a:r>
            <a:endParaRPr lang="en-US" sz="850" dirty="0"/>
          </a:p>
        </p:txBody>
      </p:sp>
      <p:sp>
        <p:nvSpPr>
          <p:cNvPr id="39" name="Shape 37"/>
          <p:cNvSpPr/>
          <p:nvPr/>
        </p:nvSpPr>
        <p:spPr>
          <a:xfrm>
            <a:off x="685800" y="5325466"/>
            <a:ext cx="6583680" cy="149962"/>
          </a:xfrm>
          <a:prstGeom prst="rect">
            <a:avLst/>
          </a:prstGeom>
          <a:solidFill>
            <a:srgbClr val="1D4A6E"/>
          </a:solidFill>
          <a:ln/>
        </p:spPr>
      </p:sp>
      <p:sp>
        <p:nvSpPr>
          <p:cNvPr id="40" name="Text 38"/>
          <p:cNvSpPr/>
          <p:nvPr/>
        </p:nvSpPr>
        <p:spPr>
          <a:xfrm>
            <a:off x="731520" y="5318150"/>
            <a:ext cx="3977640" cy="186538"/>
          </a:xfrm>
          <a:prstGeom prst="rect">
            <a:avLst/>
          </a:prstGeom>
          <a:noFill/>
          <a:ln/>
        </p:spPr>
        <p:txBody>
          <a:bodyPr wrap="square" lIns="0" tIns="0" rIns="0" bIns="0" rtlCol="0" anchor="ctr"/>
          <a:lstStyle/>
          <a:p>
            <a:pPr indent="0" marL="0">
              <a:buNone/>
            </a:pPr>
            <a:r>
              <a:rPr lang="en-US" sz="950" b="1" dirty="0">
                <a:solidFill>
                  <a:srgbClr val="8FD4E8"/>
                </a:solidFill>
                <a:latin typeface="Courier New" pitchFamily="34" charset="0"/>
                <a:ea typeface="Courier New" pitchFamily="34" charset="-122"/>
                <a:cs typeface="Courier New" pitchFamily="34" charset="-120"/>
              </a:rPr>
              <a:t>│   ├── saes.py</a:t>
            </a:r>
            <a:endParaRPr lang="en-US" sz="950" dirty="0"/>
          </a:p>
        </p:txBody>
      </p:sp>
      <p:sp>
        <p:nvSpPr>
          <p:cNvPr id="41" name="Text 39"/>
          <p:cNvSpPr/>
          <p:nvPr/>
        </p:nvSpPr>
        <p:spPr>
          <a:xfrm>
            <a:off x="4709160" y="5318150"/>
            <a:ext cx="2606040" cy="186538"/>
          </a:xfrm>
          <a:prstGeom prst="rect">
            <a:avLst/>
          </a:prstGeom>
          <a:noFill/>
          <a:ln/>
        </p:spPr>
        <p:txBody>
          <a:bodyPr wrap="square" lIns="0" tIns="0" rIns="0" bIns="0" rtlCol="0" anchor="ctr"/>
          <a:lstStyle/>
          <a:p>
            <a:pPr indent="0" marL="0">
              <a:buNone/>
            </a:pPr>
            <a:r>
              <a:rPr lang="en-US" sz="850" i="1" dirty="0">
                <a:solidFill>
                  <a:srgbClr val="7FA8C0"/>
                </a:solidFill>
                <a:latin typeface="Calibri" pitchFamily="34" charset="0"/>
                <a:ea typeface="Calibri" pitchFamily="34" charset="-122"/>
                <a:cs typeface="Calibri" pitchFamily="34" charset="-120"/>
              </a:rPr>
              <a:t>optional sparse-autoencoder path</a:t>
            </a:r>
            <a:endParaRPr lang="en-US" sz="850" dirty="0"/>
          </a:p>
        </p:txBody>
      </p:sp>
      <p:sp>
        <p:nvSpPr>
          <p:cNvPr id="42" name="Text 40"/>
          <p:cNvSpPr/>
          <p:nvPr/>
        </p:nvSpPr>
        <p:spPr>
          <a:xfrm>
            <a:off x="731520" y="5468112"/>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 tests.py</a:t>
            </a:r>
            <a:endParaRPr lang="en-US" sz="950" dirty="0"/>
          </a:p>
        </p:txBody>
      </p:sp>
      <p:sp>
        <p:nvSpPr>
          <p:cNvPr id="43" name="Text 41"/>
          <p:cNvSpPr/>
          <p:nvPr/>
        </p:nvSpPr>
        <p:spPr>
          <a:xfrm>
            <a:off x="731520" y="5618074"/>
            <a:ext cx="3977640" cy="186538"/>
          </a:xfrm>
          <a:prstGeom prst="rect">
            <a:avLst/>
          </a:prstGeom>
          <a:noFill/>
          <a:ln/>
        </p:spPr>
        <p:txBody>
          <a:bodyPr wrap="square" lIns="0" tIns="0" rIns="0" bIns="0" rtlCol="0" anchor="ctr"/>
          <a:lstStyle/>
          <a:p>
            <a:pPr indent="0" marL="0">
              <a:buNone/>
            </a:pPr>
            <a:r>
              <a:rPr lang="en-US" sz="950" dirty="0">
                <a:solidFill>
                  <a:srgbClr val="AFC6D6"/>
                </a:solidFill>
                <a:latin typeface="Courier New" pitchFamily="34" charset="0"/>
                <a:ea typeface="Courier New" pitchFamily="34" charset="-122"/>
                <a:cs typeface="Courier New" pitchFamily="34" charset="-120"/>
              </a:rPr>
              <a:t>└── uv.lock</a:t>
            </a:r>
            <a:endParaRPr lang="en-US" sz="950" dirty="0"/>
          </a:p>
        </p:txBody>
      </p:sp>
      <p:sp>
        <p:nvSpPr>
          <p:cNvPr id="44" name="Text 42"/>
          <p:cNvSpPr/>
          <p:nvPr/>
        </p:nvSpPr>
        <p:spPr>
          <a:xfrm>
            <a:off x="7635240" y="1691640"/>
            <a:ext cx="3977640" cy="5029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repeng/ is the whole library</a:t>
            </a:r>
            <a:endParaRPr lang="en-US" sz="1250" dirty="0"/>
          </a:p>
        </p:txBody>
      </p:sp>
      <p:sp>
        <p:nvSpPr>
          <p:cNvPr id="45" name="Text 43"/>
          <p:cNvSpPr/>
          <p:nvPr/>
        </p:nvSpPr>
        <p:spPr>
          <a:xfrm>
            <a:off x="7635240" y="2148840"/>
            <a:ext cx="3977640" cy="10058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repeng/ is the entire library. Everything else is documentation, data, or packaging.</a:t>
            </a:r>
            <a:endParaRPr lang="en-US" sz="1100" dirty="0"/>
          </a:p>
        </p:txBody>
      </p:sp>
      <p:sp>
        <p:nvSpPr>
          <p:cNvPr id="46" name="Text 44"/>
          <p:cNvSpPr/>
          <p:nvPr/>
        </p:nvSpPr>
        <p:spPr>
          <a:xfrm>
            <a:off x="7635240" y="3200400"/>
            <a:ext cx="3977640" cy="5029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The notebooks are the documentation</a:t>
            </a:r>
            <a:endParaRPr lang="en-US" sz="1250" dirty="0"/>
          </a:p>
        </p:txBody>
      </p:sp>
      <p:sp>
        <p:nvSpPr>
          <p:cNvPr id="47" name="Text 45"/>
          <p:cNvSpPr/>
          <p:nvPr/>
        </p:nvSpPr>
        <p:spPr>
          <a:xfrm>
            <a:off x="7635240" y="3657600"/>
            <a:ext cx="3977640" cy="10058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README's example elides make_dataset() with an ellipsis and points at the notebooks. The real definition — including how prompts get wrapped — is only in experiments.ipynb.</a:t>
            </a:r>
            <a:endParaRPr lang="en-US" sz="1100" dirty="0"/>
          </a:p>
        </p:txBody>
      </p:sp>
      <p:sp>
        <p:nvSpPr>
          <p:cNvPr id="48" name="Text 46"/>
          <p:cNvSpPr/>
          <p:nvPr/>
        </p:nvSpPr>
        <p:spPr>
          <a:xfrm>
            <a:off x="7635240" y="4709160"/>
            <a:ext cx="3977640" cy="50292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The JSON files are shared suffixes</a:t>
            </a:r>
            <a:endParaRPr lang="en-US" sz="1250" dirty="0"/>
          </a:p>
        </p:txBody>
      </p:sp>
      <p:sp>
        <p:nvSpPr>
          <p:cNvPr id="49" name="Text 47"/>
          <p:cNvSpPr/>
          <p:nvPr/>
        </p:nvSpPr>
        <p:spPr>
          <a:xfrm>
            <a:off x="7635240" y="5166360"/>
            <a:ext cx="3977640" cy="10058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Not labelled examples. They are neutral continuations reused across both sides of every pair, so that the persona is the only thing that differs.</a:t>
            </a:r>
            <a:endParaRPr lang="en-US" sz="1100" dirty="0"/>
          </a:p>
        </p:txBody>
      </p:sp>
      <p:sp>
        <p:nvSpPr>
          <p:cNvPr id="50" name="Text 4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51" name="Text 4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ORIENTATION</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Repository Map: What Each Module Owns</a:t>
            </a:r>
            <a:endParaRPr lang="en-US" sz="3200" dirty="0"/>
          </a:p>
        </p:txBody>
      </p:sp>
      <p:sp>
        <p:nvSpPr>
          <p:cNvPr id="4" name="Shape 2"/>
          <p:cNvSpPr/>
          <p:nvPr/>
        </p:nvSpPr>
        <p:spPr>
          <a:xfrm>
            <a:off x="548640" y="1572768"/>
            <a:ext cx="457200" cy="457200"/>
          </a:xfrm>
          <a:prstGeom prst="ellipse">
            <a:avLst/>
          </a:prstGeom>
          <a:solidFill>
            <a:srgbClr val="065A82"/>
          </a:solidFill>
          <a:ln/>
        </p:spPr>
      </p:sp>
      <p:pic>
        <p:nvPicPr>
          <p:cNvPr id="5" name="Image 0" descr="/home/claude/work/icons/brain.png">    </p:cNvPr>
          <p:cNvPicPr>
            <a:picLocks noChangeAspect="1"/>
          </p:cNvPicPr>
          <p:nvPr/>
        </p:nvPicPr>
        <p:blipFill>
          <a:blip r:embed="rId1"/>
          <a:stretch>
            <a:fillRect/>
          </a:stretch>
        </p:blipFill>
        <p:spPr>
          <a:xfrm>
            <a:off x="667512" y="1691640"/>
            <a:ext cx="219456" cy="219456"/>
          </a:xfrm>
          <a:prstGeom prst="rect">
            <a:avLst/>
          </a:prstGeom>
        </p:spPr>
      </p:pic>
      <p:sp>
        <p:nvSpPr>
          <p:cNvPr id="6" name="Text 3"/>
          <p:cNvSpPr/>
          <p:nvPr/>
        </p:nvSpPr>
        <p:spPr>
          <a:xfrm>
            <a:off x="1143000" y="1600200"/>
            <a:ext cx="4206240" cy="365760"/>
          </a:xfrm>
          <a:prstGeom prst="rect">
            <a:avLst/>
          </a:prstGeom>
          <a:noFill/>
          <a:ln/>
        </p:spPr>
        <p:txBody>
          <a:bodyPr wrap="square" lIns="0" tIns="0" rIns="0" bIns="0" rtlCol="0" anchor="ctr"/>
          <a:lstStyle/>
          <a:p>
            <a:pPr indent="0" marL="0">
              <a:buNone/>
            </a:pPr>
            <a:r>
              <a:rPr lang="en-US" sz="1500" b="1" dirty="0">
                <a:solidFill>
                  <a:srgbClr val="1B2733"/>
                </a:solidFill>
                <a:latin typeface="Cambria" pitchFamily="34" charset="0"/>
                <a:ea typeface="Cambria" pitchFamily="34" charset="-122"/>
                <a:cs typeface="Cambria" pitchFamily="34" charset="-120"/>
              </a:rPr>
              <a:t>Core algorithm</a:t>
            </a:r>
            <a:endParaRPr lang="en-US" sz="1500" dirty="0"/>
          </a:p>
        </p:txBody>
      </p:sp>
      <p:sp>
        <p:nvSpPr>
          <p:cNvPr id="7" name="Shape 4"/>
          <p:cNvSpPr/>
          <p:nvPr/>
        </p:nvSpPr>
        <p:spPr>
          <a:xfrm>
            <a:off x="548640" y="2212848"/>
            <a:ext cx="5394960" cy="1325880"/>
          </a:xfrm>
          <a:prstGeom prst="roundRect">
            <a:avLst>
              <a:gd name="adj" fmla="val 5517"/>
            </a:avLst>
          </a:prstGeom>
          <a:solidFill>
            <a:srgbClr val="F2F8FA"/>
          </a:solidFill>
          <a:ln w="12700">
            <a:solidFill>
              <a:srgbClr val="DCE7EC"/>
            </a:solidFill>
            <a:prstDash val="solid"/>
          </a:ln>
        </p:spPr>
      </p:sp>
      <p:sp>
        <p:nvSpPr>
          <p:cNvPr id="8" name="Text 5"/>
          <p:cNvSpPr/>
          <p:nvPr/>
        </p:nvSpPr>
        <p:spPr>
          <a:xfrm>
            <a:off x="749808" y="2322576"/>
            <a:ext cx="5029200" cy="274320"/>
          </a:xfrm>
          <a:prstGeom prst="rect">
            <a:avLst/>
          </a:prstGeom>
          <a:noFill/>
          <a:ln/>
        </p:spPr>
        <p:txBody>
          <a:bodyPr wrap="square" lIns="0" tIns="0" rIns="0" bIns="0"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repeng/extract.py</a:t>
            </a:r>
            <a:endParaRPr lang="en-US" sz="1150" dirty="0"/>
          </a:p>
        </p:txBody>
      </p:sp>
      <p:sp>
        <p:nvSpPr>
          <p:cNvPr id="9" name="Text 6"/>
          <p:cNvSpPr/>
          <p:nvPr/>
        </p:nvSpPr>
        <p:spPr>
          <a:xfrm>
            <a:off x="749808" y="2615184"/>
            <a:ext cx="5029200" cy="813816"/>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ControlVector, DatasetEntry, ControlVector.train(), read_representations(), batched_get_hiddens(), project_onto_direction(). Everything from “run the pairs” to “one signed unit vector per layer.”</a:t>
            </a:r>
            <a:endParaRPr lang="en-US" sz="1050" dirty="0"/>
          </a:p>
        </p:txBody>
      </p:sp>
      <p:sp>
        <p:nvSpPr>
          <p:cNvPr id="10" name="Shape 7"/>
          <p:cNvSpPr/>
          <p:nvPr/>
        </p:nvSpPr>
        <p:spPr>
          <a:xfrm>
            <a:off x="548640" y="3666744"/>
            <a:ext cx="5394960" cy="1325880"/>
          </a:xfrm>
          <a:prstGeom prst="roundRect">
            <a:avLst>
              <a:gd name="adj" fmla="val 5517"/>
            </a:avLst>
          </a:prstGeom>
          <a:solidFill>
            <a:srgbClr val="F2F8FA"/>
          </a:solidFill>
          <a:ln w="12700">
            <a:solidFill>
              <a:srgbClr val="DCE7EC"/>
            </a:solidFill>
            <a:prstDash val="solid"/>
          </a:ln>
        </p:spPr>
      </p:sp>
      <p:sp>
        <p:nvSpPr>
          <p:cNvPr id="11" name="Text 8"/>
          <p:cNvSpPr/>
          <p:nvPr/>
        </p:nvSpPr>
        <p:spPr>
          <a:xfrm>
            <a:off x="749808" y="3776472"/>
            <a:ext cx="5029200" cy="274320"/>
          </a:xfrm>
          <a:prstGeom prst="rect">
            <a:avLst/>
          </a:prstGeom>
          <a:noFill/>
          <a:ln/>
        </p:spPr>
        <p:txBody>
          <a:bodyPr wrap="square" lIns="0" tIns="0" rIns="0" bIns="0"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repeng/control.py</a:t>
            </a:r>
            <a:endParaRPr lang="en-US" sz="1150" dirty="0"/>
          </a:p>
        </p:txBody>
      </p:sp>
      <p:sp>
        <p:nvSpPr>
          <p:cNvPr id="12" name="Text 9"/>
          <p:cNvSpPr/>
          <p:nvPr/>
        </p:nvSpPr>
        <p:spPr>
          <a:xfrm>
            <a:off x="749808" y="4069080"/>
            <a:ext cx="5029200" cy="813816"/>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ControlModel, ControlModule, BlockControlParams, model_layer_list(). Wraps chosen decoder blocks so their outputs can be modified in flight, and finds those blocks across model families.</a:t>
            </a:r>
            <a:endParaRPr lang="en-US" sz="1050" dirty="0"/>
          </a:p>
        </p:txBody>
      </p:sp>
      <p:sp>
        <p:nvSpPr>
          <p:cNvPr id="13" name="Shape 10"/>
          <p:cNvSpPr/>
          <p:nvPr/>
        </p:nvSpPr>
        <p:spPr>
          <a:xfrm>
            <a:off x="6172200" y="1572768"/>
            <a:ext cx="457200" cy="457200"/>
          </a:xfrm>
          <a:prstGeom prst="ellipse">
            <a:avLst/>
          </a:prstGeom>
          <a:solidFill>
            <a:srgbClr val="1C7293"/>
          </a:solidFill>
          <a:ln/>
        </p:spPr>
      </p:sp>
      <p:pic>
        <p:nvPicPr>
          <p:cNvPr id="14" name="Image 1" descr="/home/claude/work/icons/package.png">    </p:cNvPr>
          <p:cNvPicPr>
            <a:picLocks noChangeAspect="1"/>
          </p:cNvPicPr>
          <p:nvPr/>
        </p:nvPicPr>
        <p:blipFill>
          <a:blip r:embed="rId2"/>
          <a:stretch>
            <a:fillRect/>
          </a:stretch>
        </p:blipFill>
        <p:spPr>
          <a:xfrm>
            <a:off x="6291072" y="1691640"/>
            <a:ext cx="219456" cy="219456"/>
          </a:xfrm>
          <a:prstGeom prst="rect">
            <a:avLst/>
          </a:prstGeom>
        </p:spPr>
      </p:pic>
      <p:sp>
        <p:nvSpPr>
          <p:cNvPr id="15" name="Text 11"/>
          <p:cNvSpPr/>
          <p:nvPr/>
        </p:nvSpPr>
        <p:spPr>
          <a:xfrm>
            <a:off x="6766560" y="1600200"/>
            <a:ext cx="4206240" cy="365760"/>
          </a:xfrm>
          <a:prstGeom prst="rect">
            <a:avLst/>
          </a:prstGeom>
          <a:noFill/>
          <a:ln/>
        </p:spPr>
        <p:txBody>
          <a:bodyPr wrap="square" lIns="0" tIns="0" rIns="0" bIns="0" rtlCol="0" anchor="ctr"/>
          <a:lstStyle/>
          <a:p>
            <a:pPr indent="0" marL="0">
              <a:buNone/>
            </a:pPr>
            <a:r>
              <a:rPr lang="en-US" sz="1500" b="1" dirty="0">
                <a:solidFill>
                  <a:srgbClr val="1B2733"/>
                </a:solidFill>
                <a:latin typeface="Cambria" pitchFamily="34" charset="0"/>
                <a:ea typeface="Cambria" pitchFamily="34" charset="-122"/>
                <a:cs typeface="Cambria" pitchFamily="34" charset="-120"/>
              </a:rPr>
              <a:t>Optional &amp; supporting</a:t>
            </a:r>
            <a:endParaRPr lang="en-US" sz="1500" dirty="0"/>
          </a:p>
        </p:txBody>
      </p:sp>
      <p:sp>
        <p:nvSpPr>
          <p:cNvPr id="16" name="Shape 12"/>
          <p:cNvSpPr/>
          <p:nvPr/>
        </p:nvSpPr>
        <p:spPr>
          <a:xfrm>
            <a:off x="6172200" y="2212848"/>
            <a:ext cx="5394960" cy="1170432"/>
          </a:xfrm>
          <a:prstGeom prst="roundRect">
            <a:avLst>
              <a:gd name="adj" fmla="val 6250"/>
            </a:avLst>
          </a:prstGeom>
          <a:solidFill>
            <a:srgbClr val="F2F8FA"/>
          </a:solidFill>
          <a:ln w="12700">
            <a:solidFill>
              <a:srgbClr val="DCE7EC"/>
            </a:solidFill>
            <a:prstDash val="solid"/>
          </a:ln>
        </p:spPr>
      </p:sp>
      <p:sp>
        <p:nvSpPr>
          <p:cNvPr id="17" name="Text 13"/>
          <p:cNvSpPr/>
          <p:nvPr/>
        </p:nvSpPr>
        <p:spPr>
          <a:xfrm>
            <a:off x="6373368" y="2322576"/>
            <a:ext cx="5029200" cy="274320"/>
          </a:xfrm>
          <a:prstGeom prst="rect">
            <a:avLst/>
          </a:prstGeom>
          <a:noFill/>
          <a:ln/>
        </p:spPr>
        <p:txBody>
          <a:bodyPr wrap="square" lIns="0" tIns="0" rIns="0" bIns="0"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repeng/saes.py</a:t>
            </a:r>
            <a:endParaRPr lang="en-US" sz="1150" dirty="0"/>
          </a:p>
        </p:txBody>
      </p:sp>
      <p:sp>
        <p:nvSpPr>
          <p:cNvPr id="18" name="Text 14"/>
          <p:cNvSpPr/>
          <p:nvPr/>
        </p:nvSpPr>
        <p:spPr>
          <a:xfrm>
            <a:off x="6373368" y="2615184"/>
            <a:ext cx="502920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Sae, SaeLayer, from_eleuther(). Lets training run in a sparse-autoencoder feature basis instead of the raw activation basis, then decode back.</a:t>
            </a:r>
            <a:endParaRPr lang="en-US" sz="1050" dirty="0"/>
          </a:p>
        </p:txBody>
      </p:sp>
      <p:sp>
        <p:nvSpPr>
          <p:cNvPr id="19" name="Shape 15"/>
          <p:cNvSpPr/>
          <p:nvPr/>
        </p:nvSpPr>
        <p:spPr>
          <a:xfrm>
            <a:off x="6172200" y="3511296"/>
            <a:ext cx="5394960" cy="1170432"/>
          </a:xfrm>
          <a:prstGeom prst="roundRect">
            <a:avLst>
              <a:gd name="adj" fmla="val 6250"/>
            </a:avLst>
          </a:prstGeom>
          <a:solidFill>
            <a:srgbClr val="F2F8FA"/>
          </a:solidFill>
          <a:ln w="12700">
            <a:solidFill>
              <a:srgbClr val="DCE7EC"/>
            </a:solidFill>
            <a:prstDash val="solid"/>
          </a:ln>
        </p:spPr>
      </p:sp>
      <p:sp>
        <p:nvSpPr>
          <p:cNvPr id="20" name="Text 16"/>
          <p:cNvSpPr/>
          <p:nvPr/>
        </p:nvSpPr>
        <p:spPr>
          <a:xfrm>
            <a:off x="6373368" y="3621024"/>
            <a:ext cx="5029200" cy="274320"/>
          </a:xfrm>
          <a:prstGeom prst="rect">
            <a:avLst/>
          </a:prstGeom>
          <a:noFill/>
          <a:ln/>
        </p:spPr>
        <p:txBody>
          <a:bodyPr wrap="square" lIns="0" tIns="0" rIns="0" bIns="0"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repeng/tests.py</a:t>
            </a:r>
            <a:endParaRPr lang="en-US" sz="1150" dirty="0"/>
          </a:p>
        </p:txBody>
      </p:sp>
      <p:sp>
        <p:nvSpPr>
          <p:cNvPr id="21" name="Text 17"/>
          <p:cNvSpPr/>
          <p:nvPr/>
        </p:nvSpPr>
        <p:spPr>
          <a:xfrm>
            <a:off x="6373368" y="3913632"/>
            <a:ext cx="502920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Pinned end-to-end expectations on two tiny models, plus per-architecture layer-discovery tests. The fastest way to see intended behaviour.</a:t>
            </a:r>
            <a:endParaRPr lang="en-US" sz="1050" dirty="0"/>
          </a:p>
        </p:txBody>
      </p:sp>
      <p:sp>
        <p:nvSpPr>
          <p:cNvPr id="22" name="Shape 18"/>
          <p:cNvSpPr/>
          <p:nvPr/>
        </p:nvSpPr>
        <p:spPr>
          <a:xfrm>
            <a:off x="6172200" y="4809744"/>
            <a:ext cx="5394960" cy="1170432"/>
          </a:xfrm>
          <a:prstGeom prst="roundRect">
            <a:avLst>
              <a:gd name="adj" fmla="val 6250"/>
            </a:avLst>
          </a:prstGeom>
          <a:solidFill>
            <a:srgbClr val="F2F8FA"/>
          </a:solidFill>
          <a:ln w="12700">
            <a:solidFill>
              <a:srgbClr val="DCE7EC"/>
            </a:solidFill>
            <a:prstDash val="solid"/>
          </a:ln>
        </p:spPr>
      </p:sp>
      <p:sp>
        <p:nvSpPr>
          <p:cNvPr id="23" name="Text 19"/>
          <p:cNvSpPr/>
          <p:nvPr/>
        </p:nvSpPr>
        <p:spPr>
          <a:xfrm>
            <a:off x="6373368" y="4919472"/>
            <a:ext cx="5029200" cy="274320"/>
          </a:xfrm>
          <a:prstGeom prst="rect">
            <a:avLst/>
          </a:prstGeom>
          <a:noFill/>
          <a:ln/>
        </p:spPr>
        <p:txBody>
          <a:bodyPr wrap="square" lIns="0" tIns="0" rIns="0" bIns="0" rtlCol="0" anchor="ctr"/>
          <a:lstStyle/>
          <a:p>
            <a:pPr indent="0" marL="0">
              <a:buNone/>
            </a:pPr>
            <a:r>
              <a:rPr lang="en-US" sz="1150" b="1" dirty="0">
                <a:solidFill>
                  <a:srgbClr val="065A82"/>
                </a:solidFill>
                <a:latin typeface="Courier New" pitchFamily="34" charset="0"/>
                <a:ea typeface="Courier New" pitchFamily="34" charset="-122"/>
                <a:cs typeface="Courier New" pitchFamily="34" charset="-120"/>
              </a:rPr>
              <a:t>notebooks/</a:t>
            </a:r>
            <a:endParaRPr lang="en-US" sz="1150" dirty="0"/>
          </a:p>
        </p:txBody>
      </p:sp>
      <p:sp>
        <p:nvSpPr>
          <p:cNvPr id="24" name="Text 20"/>
          <p:cNvSpPr/>
          <p:nvPr/>
        </p:nvSpPr>
        <p:spPr>
          <a:xfrm>
            <a:off x="6373368" y="5212080"/>
            <a:ext cx="5029200" cy="658368"/>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Eight worked examples — emotion, honesty, vector arithmetic, SAEs, 70B models. The de-facto documentation.</a:t>
            </a:r>
            <a:endParaRPr lang="en-US" sz="1050" dirty="0"/>
          </a:p>
        </p:txBody>
      </p:sp>
      <p:sp>
        <p:nvSpPr>
          <p:cNvPr id="25" name="Text 21"/>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26"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CORE OBJECTS</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2800" b="1" dirty="0">
                <a:solidFill>
                  <a:srgbClr val="1B2733"/>
                </a:solidFill>
                <a:latin typeface="Cambria" pitchFamily="34" charset="0"/>
                <a:ea typeface="Cambria" pitchFamily="34" charset="-122"/>
                <a:cs typeface="Cambria" pitchFamily="34" charset="-120"/>
              </a:rPr>
              <a:t>Core Types: DatasetEntry, ControlVector, ControlModel</a:t>
            </a:r>
            <a:endParaRPr lang="en-US" sz="2800" dirty="0"/>
          </a:p>
        </p:txBody>
      </p:sp>
      <p:sp>
        <p:nvSpPr>
          <p:cNvPr id="4" name="Shape 2"/>
          <p:cNvSpPr/>
          <p:nvPr/>
        </p:nvSpPr>
        <p:spPr>
          <a:xfrm>
            <a:off x="7315200" y="402336"/>
            <a:ext cx="429768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7406640" y="402336"/>
            <a:ext cx="411480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repeng/extract.py  ·  repeng/control.py</a:t>
            </a:r>
            <a:endParaRPr lang="en-US" sz="1050" dirty="0"/>
          </a:p>
        </p:txBody>
      </p:sp>
      <p:sp>
        <p:nvSpPr>
          <p:cNvPr id="6" name="Shape 4"/>
          <p:cNvSpPr/>
          <p:nvPr/>
        </p:nvSpPr>
        <p:spPr>
          <a:xfrm>
            <a:off x="548640" y="1600200"/>
            <a:ext cx="3474720" cy="2788920"/>
          </a:xfrm>
          <a:prstGeom prst="roundRect">
            <a:avLst>
              <a:gd name="adj" fmla="val 2623"/>
            </a:avLst>
          </a:prstGeom>
          <a:solidFill>
            <a:srgbClr val="F2F8FA"/>
          </a:solidFill>
          <a:ln w="12700">
            <a:solidFill>
              <a:srgbClr val="DCE7EC"/>
            </a:solidFill>
            <a:prstDash val="solid"/>
          </a:ln>
        </p:spPr>
      </p:sp>
      <p:sp>
        <p:nvSpPr>
          <p:cNvPr id="7" name="Text 5"/>
          <p:cNvSpPr/>
          <p:nvPr/>
        </p:nvSpPr>
        <p:spPr>
          <a:xfrm>
            <a:off x="749808" y="1737360"/>
            <a:ext cx="3108960" cy="320040"/>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DatasetEntry</a:t>
            </a:r>
            <a:endParaRPr lang="en-US" sz="1500" dirty="0"/>
          </a:p>
        </p:txBody>
      </p:sp>
      <p:sp>
        <p:nvSpPr>
          <p:cNvPr id="8" name="Text 6"/>
          <p:cNvSpPr/>
          <p:nvPr/>
        </p:nvSpPr>
        <p:spPr>
          <a:xfrm>
            <a:off x="749808" y="2048256"/>
            <a:ext cx="3108960" cy="228600"/>
          </a:xfrm>
          <a:prstGeom prst="rect">
            <a:avLst/>
          </a:prstGeom>
          <a:noFill/>
          <a:ln/>
        </p:spPr>
        <p:txBody>
          <a:bodyPr wrap="square" lIns="0" tIns="0" rIns="0" bIns="0" rtlCol="0" anchor="ctr"/>
          <a:lstStyle/>
          <a:p>
            <a:pPr indent="0" marL="0">
              <a:buNone/>
            </a:pPr>
            <a:r>
              <a:rPr lang="en-US" sz="950" i="1" dirty="0">
                <a:solidFill>
                  <a:srgbClr val="5C7080"/>
                </a:solidFill>
                <a:latin typeface="Courier New" pitchFamily="34" charset="0"/>
                <a:ea typeface="Courier New" pitchFamily="34" charset="-122"/>
                <a:cs typeface="Courier New" pitchFamily="34" charset="-120"/>
              </a:rPr>
              <a:t>extract.py</a:t>
            </a:r>
            <a:endParaRPr lang="en-US" sz="950" dirty="0"/>
          </a:p>
        </p:txBody>
      </p:sp>
      <p:sp>
        <p:nvSpPr>
          <p:cNvPr id="9" name="Text 7"/>
          <p:cNvSpPr/>
          <p:nvPr/>
        </p:nvSpPr>
        <p:spPr>
          <a:xfrm>
            <a:off x="749808" y="2359152"/>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positive: str</a:t>
            </a:r>
            <a:endParaRPr lang="en-US" sz="1050" dirty="0"/>
          </a:p>
        </p:txBody>
      </p:sp>
      <p:sp>
        <p:nvSpPr>
          <p:cNvPr id="10" name="Text 8"/>
          <p:cNvSpPr/>
          <p:nvPr/>
        </p:nvSpPr>
        <p:spPr>
          <a:xfrm>
            <a:off x="749808" y="2651760"/>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negative: str</a:t>
            </a:r>
            <a:endParaRPr lang="en-US" sz="1050" dirty="0"/>
          </a:p>
        </p:txBody>
      </p:sp>
      <p:sp>
        <p:nvSpPr>
          <p:cNvPr id="11" name="Text 9"/>
          <p:cNvSpPr/>
          <p:nvPr/>
        </p:nvSpPr>
        <p:spPr>
          <a:xfrm>
            <a:off x="749808" y="3081528"/>
            <a:ext cx="3108960" cy="12344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A dataclass with two strings. That is the entire training format — no labels, no scores, no weights.</a:t>
            </a:r>
            <a:endParaRPr lang="en-US" sz="1100" dirty="0"/>
          </a:p>
        </p:txBody>
      </p:sp>
      <p:sp>
        <p:nvSpPr>
          <p:cNvPr id="12" name="Shape 10"/>
          <p:cNvSpPr/>
          <p:nvPr/>
        </p:nvSpPr>
        <p:spPr>
          <a:xfrm>
            <a:off x="4251960" y="1600200"/>
            <a:ext cx="3474720" cy="2788920"/>
          </a:xfrm>
          <a:prstGeom prst="roundRect">
            <a:avLst>
              <a:gd name="adj" fmla="val 2623"/>
            </a:avLst>
          </a:prstGeom>
          <a:solidFill>
            <a:srgbClr val="F2F8FA"/>
          </a:solidFill>
          <a:ln w="12700">
            <a:solidFill>
              <a:srgbClr val="DCE7EC"/>
            </a:solidFill>
            <a:prstDash val="solid"/>
          </a:ln>
        </p:spPr>
      </p:sp>
      <p:sp>
        <p:nvSpPr>
          <p:cNvPr id="13" name="Text 11"/>
          <p:cNvSpPr/>
          <p:nvPr/>
        </p:nvSpPr>
        <p:spPr>
          <a:xfrm>
            <a:off x="4453128" y="1737360"/>
            <a:ext cx="3108960" cy="320040"/>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ControlVector</a:t>
            </a:r>
            <a:endParaRPr lang="en-US" sz="1500" dirty="0"/>
          </a:p>
        </p:txBody>
      </p:sp>
      <p:sp>
        <p:nvSpPr>
          <p:cNvPr id="14" name="Text 12"/>
          <p:cNvSpPr/>
          <p:nvPr/>
        </p:nvSpPr>
        <p:spPr>
          <a:xfrm>
            <a:off x="4453128" y="2048256"/>
            <a:ext cx="3108960" cy="228600"/>
          </a:xfrm>
          <a:prstGeom prst="rect">
            <a:avLst/>
          </a:prstGeom>
          <a:noFill/>
          <a:ln/>
        </p:spPr>
        <p:txBody>
          <a:bodyPr wrap="square" lIns="0" tIns="0" rIns="0" bIns="0" rtlCol="0" anchor="ctr"/>
          <a:lstStyle/>
          <a:p>
            <a:pPr indent="0" marL="0">
              <a:buNone/>
            </a:pPr>
            <a:r>
              <a:rPr lang="en-US" sz="950" i="1" dirty="0">
                <a:solidFill>
                  <a:srgbClr val="5C7080"/>
                </a:solidFill>
                <a:latin typeface="Courier New" pitchFamily="34" charset="0"/>
                <a:ea typeface="Courier New" pitchFamily="34" charset="-122"/>
                <a:cs typeface="Courier New" pitchFamily="34" charset="-120"/>
              </a:rPr>
              <a:t>extract.py</a:t>
            </a:r>
            <a:endParaRPr lang="en-US" sz="950" dirty="0"/>
          </a:p>
        </p:txBody>
      </p:sp>
      <p:sp>
        <p:nvSpPr>
          <p:cNvPr id="15" name="Text 13"/>
          <p:cNvSpPr/>
          <p:nvPr/>
        </p:nvSpPr>
        <p:spPr>
          <a:xfrm>
            <a:off x="4453128" y="2359152"/>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model_type: str</a:t>
            </a:r>
            <a:endParaRPr lang="en-US" sz="1050" dirty="0"/>
          </a:p>
        </p:txBody>
      </p:sp>
      <p:sp>
        <p:nvSpPr>
          <p:cNvPr id="16" name="Text 14"/>
          <p:cNvSpPr/>
          <p:nvPr/>
        </p:nvSpPr>
        <p:spPr>
          <a:xfrm>
            <a:off x="4453128" y="2651760"/>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directions: dict[int, np.ndarray]</a:t>
            </a:r>
            <a:endParaRPr lang="en-US" sz="1050" dirty="0"/>
          </a:p>
        </p:txBody>
      </p:sp>
      <p:sp>
        <p:nvSpPr>
          <p:cNvPr id="17" name="Text 15"/>
          <p:cNvSpPr/>
          <p:nvPr/>
        </p:nvSpPr>
        <p:spPr>
          <a:xfrm>
            <a:off x="4453128" y="3081528"/>
            <a:ext cx="3108960" cy="12344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One numpy array per layer index, plus the model type it was trained on. Supports +, −, unary −, * and / so vectors can be combined arithmetically.</a:t>
            </a:r>
            <a:endParaRPr lang="en-US" sz="1100" dirty="0"/>
          </a:p>
        </p:txBody>
      </p:sp>
      <p:sp>
        <p:nvSpPr>
          <p:cNvPr id="18" name="Shape 16"/>
          <p:cNvSpPr/>
          <p:nvPr/>
        </p:nvSpPr>
        <p:spPr>
          <a:xfrm>
            <a:off x="7955280" y="1600200"/>
            <a:ext cx="3474720" cy="2788920"/>
          </a:xfrm>
          <a:prstGeom prst="roundRect">
            <a:avLst>
              <a:gd name="adj" fmla="val 2623"/>
            </a:avLst>
          </a:prstGeom>
          <a:solidFill>
            <a:srgbClr val="F4F1E8"/>
          </a:solidFill>
          <a:ln w="12700">
            <a:solidFill>
              <a:srgbClr val="DCE7EC"/>
            </a:solidFill>
            <a:prstDash val="solid"/>
          </a:ln>
        </p:spPr>
      </p:sp>
      <p:sp>
        <p:nvSpPr>
          <p:cNvPr id="19" name="Text 17"/>
          <p:cNvSpPr/>
          <p:nvPr/>
        </p:nvSpPr>
        <p:spPr>
          <a:xfrm>
            <a:off x="8156448" y="1737360"/>
            <a:ext cx="3108960" cy="320040"/>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ControlModel</a:t>
            </a:r>
            <a:endParaRPr lang="en-US" sz="1500" dirty="0"/>
          </a:p>
        </p:txBody>
      </p:sp>
      <p:sp>
        <p:nvSpPr>
          <p:cNvPr id="20" name="Text 18"/>
          <p:cNvSpPr/>
          <p:nvPr/>
        </p:nvSpPr>
        <p:spPr>
          <a:xfrm>
            <a:off x="8156448" y="2048256"/>
            <a:ext cx="3108960" cy="228600"/>
          </a:xfrm>
          <a:prstGeom prst="rect">
            <a:avLst/>
          </a:prstGeom>
          <a:noFill/>
          <a:ln/>
        </p:spPr>
        <p:txBody>
          <a:bodyPr wrap="square" lIns="0" tIns="0" rIns="0" bIns="0" rtlCol="0" anchor="ctr"/>
          <a:lstStyle/>
          <a:p>
            <a:pPr indent="0" marL="0">
              <a:buNone/>
            </a:pPr>
            <a:r>
              <a:rPr lang="en-US" sz="950" i="1" dirty="0">
                <a:solidFill>
                  <a:srgbClr val="5C7080"/>
                </a:solidFill>
                <a:latin typeface="Courier New" pitchFamily="34" charset="0"/>
                <a:ea typeface="Courier New" pitchFamily="34" charset="-122"/>
                <a:cs typeface="Courier New" pitchFamily="34" charset="-120"/>
              </a:rPr>
              <a:t>control.py</a:t>
            </a:r>
            <a:endParaRPr lang="en-US" sz="950" dirty="0"/>
          </a:p>
        </p:txBody>
      </p:sp>
      <p:sp>
        <p:nvSpPr>
          <p:cNvPr id="21" name="Text 19"/>
          <p:cNvSpPr/>
          <p:nvPr/>
        </p:nvSpPr>
        <p:spPr>
          <a:xfrm>
            <a:off x="8156448" y="2359152"/>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model: PreTrainedModel</a:t>
            </a:r>
            <a:endParaRPr lang="en-US" sz="1050" dirty="0"/>
          </a:p>
        </p:txBody>
      </p:sp>
      <p:sp>
        <p:nvSpPr>
          <p:cNvPr id="22" name="Text 20"/>
          <p:cNvSpPr/>
          <p:nvPr/>
        </p:nvSpPr>
        <p:spPr>
          <a:xfrm>
            <a:off x="8156448" y="2651760"/>
            <a:ext cx="3154680" cy="274320"/>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  layer_ids: list[int]</a:t>
            </a:r>
            <a:endParaRPr lang="en-US" sz="1050" dirty="0"/>
          </a:p>
        </p:txBody>
      </p:sp>
      <p:sp>
        <p:nvSpPr>
          <p:cNvPr id="23" name="Text 21"/>
          <p:cNvSpPr/>
          <p:nvPr/>
        </p:nvSpPr>
        <p:spPr>
          <a:xfrm>
            <a:off x="8156448" y="3081528"/>
            <a:ext cx="3108960" cy="1234440"/>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Replaces the chosen decoder blocks in place with ControlModule wrappers. Note the docstring's warning: it mutates the model you hand it.</a:t>
            </a:r>
            <a:endParaRPr lang="en-US" sz="1100" dirty="0"/>
          </a:p>
        </p:txBody>
      </p:sp>
      <p:sp>
        <p:nvSpPr>
          <p:cNvPr id="24" name="Shape 22"/>
          <p:cNvSpPr/>
          <p:nvPr/>
        </p:nvSpPr>
        <p:spPr>
          <a:xfrm>
            <a:off x="777240" y="4892040"/>
            <a:ext cx="2286000" cy="640080"/>
          </a:xfrm>
          <a:prstGeom prst="roundRect">
            <a:avLst>
              <a:gd name="adj" fmla="val 11429"/>
            </a:avLst>
          </a:prstGeom>
          <a:solidFill>
            <a:srgbClr val="21295C"/>
          </a:solidFill>
          <a:ln/>
        </p:spPr>
      </p:sp>
      <p:sp>
        <p:nvSpPr>
          <p:cNvPr id="25" name="Text 23"/>
          <p:cNvSpPr/>
          <p:nvPr/>
        </p:nvSpPr>
        <p:spPr>
          <a:xfrm>
            <a:off x="777240" y="4892040"/>
            <a:ext cx="22860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DatasetEntry[]</a:t>
            </a:r>
            <a:endParaRPr lang="en-US" sz="1200" dirty="0"/>
          </a:p>
        </p:txBody>
      </p:sp>
      <p:sp>
        <p:nvSpPr>
          <p:cNvPr id="26" name="Shape 24"/>
          <p:cNvSpPr/>
          <p:nvPr/>
        </p:nvSpPr>
        <p:spPr>
          <a:xfrm>
            <a:off x="3063240" y="5212080"/>
            <a:ext cx="548640" cy="0"/>
          </a:xfrm>
          <a:prstGeom prst="line">
            <a:avLst/>
          </a:prstGeom>
          <a:noFill/>
          <a:ln w="19050">
            <a:solidFill>
              <a:srgbClr val="5C7080"/>
            </a:solidFill>
            <a:prstDash val="solid"/>
            <a:tailEnd type="triangle"/>
          </a:ln>
        </p:spPr>
      </p:sp>
      <p:sp>
        <p:nvSpPr>
          <p:cNvPr id="27" name="Shape 25"/>
          <p:cNvSpPr/>
          <p:nvPr/>
        </p:nvSpPr>
        <p:spPr>
          <a:xfrm>
            <a:off x="3611880" y="4892040"/>
            <a:ext cx="2286000" cy="640080"/>
          </a:xfrm>
          <a:prstGeom prst="roundRect">
            <a:avLst>
              <a:gd name="adj" fmla="val 11429"/>
            </a:avLst>
          </a:prstGeom>
          <a:solidFill>
            <a:srgbClr val="21295C"/>
          </a:solidFill>
          <a:ln/>
        </p:spPr>
      </p:sp>
      <p:sp>
        <p:nvSpPr>
          <p:cNvPr id="28" name="Text 26"/>
          <p:cNvSpPr/>
          <p:nvPr/>
        </p:nvSpPr>
        <p:spPr>
          <a:xfrm>
            <a:off x="3611880" y="4892040"/>
            <a:ext cx="22860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ControlVector</a:t>
            </a:r>
            <a:endParaRPr lang="en-US" sz="1200" dirty="0"/>
          </a:p>
        </p:txBody>
      </p:sp>
      <p:sp>
        <p:nvSpPr>
          <p:cNvPr id="29" name="Shape 27"/>
          <p:cNvSpPr/>
          <p:nvPr/>
        </p:nvSpPr>
        <p:spPr>
          <a:xfrm>
            <a:off x="5897880" y="5212080"/>
            <a:ext cx="548640" cy="0"/>
          </a:xfrm>
          <a:prstGeom prst="line">
            <a:avLst/>
          </a:prstGeom>
          <a:noFill/>
          <a:ln w="19050">
            <a:solidFill>
              <a:srgbClr val="5C7080"/>
            </a:solidFill>
            <a:prstDash val="solid"/>
            <a:tailEnd type="triangle"/>
          </a:ln>
        </p:spPr>
      </p:sp>
      <p:sp>
        <p:nvSpPr>
          <p:cNvPr id="30" name="Shape 28"/>
          <p:cNvSpPr/>
          <p:nvPr/>
        </p:nvSpPr>
        <p:spPr>
          <a:xfrm>
            <a:off x="6446520" y="4892040"/>
            <a:ext cx="2286000" cy="640080"/>
          </a:xfrm>
          <a:prstGeom prst="roundRect">
            <a:avLst>
              <a:gd name="adj" fmla="val 11429"/>
            </a:avLst>
          </a:prstGeom>
          <a:solidFill>
            <a:srgbClr val="21295C"/>
          </a:solidFill>
          <a:ln/>
        </p:spPr>
      </p:sp>
      <p:sp>
        <p:nvSpPr>
          <p:cNvPr id="31" name="Text 29"/>
          <p:cNvSpPr/>
          <p:nvPr/>
        </p:nvSpPr>
        <p:spPr>
          <a:xfrm>
            <a:off x="6446520" y="4892040"/>
            <a:ext cx="22860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ControlModel</a:t>
            </a:r>
            <a:endParaRPr lang="en-US" sz="1200" dirty="0"/>
          </a:p>
        </p:txBody>
      </p:sp>
      <p:sp>
        <p:nvSpPr>
          <p:cNvPr id="32" name="Shape 30"/>
          <p:cNvSpPr/>
          <p:nvPr/>
        </p:nvSpPr>
        <p:spPr>
          <a:xfrm>
            <a:off x="8732520" y="5212080"/>
            <a:ext cx="548640" cy="0"/>
          </a:xfrm>
          <a:prstGeom prst="line">
            <a:avLst/>
          </a:prstGeom>
          <a:noFill/>
          <a:ln w="19050">
            <a:solidFill>
              <a:srgbClr val="5C7080"/>
            </a:solidFill>
            <a:prstDash val="solid"/>
            <a:tailEnd type="triangle"/>
          </a:ln>
        </p:spPr>
      </p:sp>
      <p:sp>
        <p:nvSpPr>
          <p:cNvPr id="33" name="Shape 31"/>
          <p:cNvSpPr/>
          <p:nvPr/>
        </p:nvSpPr>
        <p:spPr>
          <a:xfrm>
            <a:off x="9281160" y="4892040"/>
            <a:ext cx="2286000" cy="640080"/>
          </a:xfrm>
          <a:prstGeom prst="roundRect">
            <a:avLst>
              <a:gd name="adj" fmla="val 11429"/>
            </a:avLst>
          </a:prstGeom>
          <a:solidFill>
            <a:srgbClr val="1C7293"/>
          </a:solidFill>
          <a:ln/>
        </p:spPr>
      </p:sp>
      <p:sp>
        <p:nvSpPr>
          <p:cNvPr id="34" name="Text 32"/>
          <p:cNvSpPr/>
          <p:nvPr/>
        </p:nvSpPr>
        <p:spPr>
          <a:xfrm>
            <a:off x="9281160" y="4892040"/>
            <a:ext cx="22860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generate()</a:t>
            </a:r>
            <a:endParaRPr lang="en-US" sz="1200" dirty="0"/>
          </a:p>
        </p:txBody>
      </p:sp>
      <p:sp>
        <p:nvSpPr>
          <p:cNvPr id="35" name="Text 33"/>
          <p:cNvSpPr/>
          <p:nvPr/>
        </p:nvSpPr>
        <p:spPr>
          <a:xfrm>
            <a:off x="3063240" y="5550408"/>
            <a:ext cx="822960" cy="256032"/>
          </a:xfrm>
          <a:prstGeom prst="rect">
            <a:avLst/>
          </a:prstGeom>
          <a:noFill/>
          <a:ln/>
        </p:spPr>
        <p:txBody>
          <a:bodyPr wrap="square" rtlCol="0" anchor="ctr"/>
          <a:lstStyle/>
          <a:p>
            <a:pPr algn="ctr" indent="0" marL="0">
              <a:buNone/>
            </a:pPr>
            <a:r>
              <a:rPr lang="en-US" sz="1000" i="1" dirty="0">
                <a:solidFill>
                  <a:srgbClr val="1C7293"/>
                </a:solidFill>
                <a:latin typeface="Courier New" pitchFamily="34" charset="0"/>
                <a:ea typeface="Courier New" pitchFamily="34" charset="-122"/>
                <a:cs typeface="Courier New" pitchFamily="34" charset="-120"/>
              </a:rPr>
              <a:t>train()</a:t>
            </a:r>
            <a:endParaRPr lang="en-US" sz="1000" dirty="0"/>
          </a:p>
        </p:txBody>
      </p:sp>
      <p:sp>
        <p:nvSpPr>
          <p:cNvPr id="36" name="Text 34"/>
          <p:cNvSpPr/>
          <p:nvPr/>
        </p:nvSpPr>
        <p:spPr>
          <a:xfrm>
            <a:off x="5623560" y="5550408"/>
            <a:ext cx="1463040" cy="256032"/>
          </a:xfrm>
          <a:prstGeom prst="rect">
            <a:avLst/>
          </a:prstGeom>
          <a:noFill/>
          <a:ln/>
        </p:spPr>
        <p:txBody>
          <a:bodyPr wrap="square" rtlCol="0" anchor="ctr"/>
          <a:lstStyle/>
          <a:p>
            <a:pPr algn="ctr" indent="0" marL="0">
              <a:buNone/>
            </a:pPr>
            <a:r>
              <a:rPr lang="en-US" sz="1000" i="1" dirty="0">
                <a:solidFill>
                  <a:srgbClr val="1C7293"/>
                </a:solidFill>
                <a:latin typeface="Courier New" pitchFamily="34" charset="0"/>
                <a:ea typeface="Courier New" pitchFamily="34" charset="-122"/>
                <a:cs typeface="Courier New" pitchFamily="34" charset="-120"/>
              </a:rPr>
              <a:t>set_control()</a:t>
            </a:r>
            <a:endParaRPr lang="en-US" sz="1000" dirty="0"/>
          </a:p>
        </p:txBody>
      </p:sp>
      <p:sp>
        <p:nvSpPr>
          <p:cNvPr id="37" name="Shape 35"/>
          <p:cNvSpPr/>
          <p:nvPr/>
        </p:nvSpPr>
        <p:spPr>
          <a:xfrm>
            <a:off x="548640" y="5897880"/>
            <a:ext cx="3383280" cy="310896"/>
          </a:xfrm>
          <a:prstGeom prst="roundRect">
            <a:avLst>
              <a:gd name="adj" fmla="val 50000"/>
            </a:avLst>
          </a:prstGeom>
          <a:solidFill>
            <a:srgbClr val="E9F1E6"/>
          </a:solidFill>
          <a:ln w="9525">
            <a:solidFill>
              <a:srgbClr val="8FB88F"/>
            </a:solidFill>
            <a:prstDash val="solid"/>
          </a:ln>
        </p:spPr>
      </p:sp>
      <p:sp>
        <p:nvSpPr>
          <p:cNvPr id="38" name="Text 36"/>
          <p:cNvSpPr/>
          <p:nvPr/>
        </p:nvSpPr>
        <p:spPr>
          <a:xfrm>
            <a:off x="676656" y="5897880"/>
            <a:ext cx="312724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3, Contrast Pairs</a:t>
            </a:r>
            <a:endParaRPr lang="en-US" sz="1000" dirty="0"/>
          </a:p>
        </p:txBody>
      </p:sp>
      <p:sp>
        <p:nvSpPr>
          <p:cNvPr id="39" name="Text 37"/>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0" name="Text 3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ALGORITHM</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Training a Control Vector, Step by Step</a:t>
            </a:r>
            <a:endParaRPr lang="en-US" sz="3200" dirty="0"/>
          </a:p>
        </p:txBody>
      </p:sp>
      <p:sp>
        <p:nvSpPr>
          <p:cNvPr id="4" name="Shape 2"/>
          <p:cNvSpPr/>
          <p:nvPr/>
        </p:nvSpPr>
        <p:spPr>
          <a:xfrm>
            <a:off x="9464040" y="777240"/>
            <a:ext cx="2148840" cy="310896"/>
          </a:xfrm>
          <a:prstGeom prst="roundRect">
            <a:avLst>
              <a:gd name="adj" fmla="val 14706"/>
            </a:avLst>
          </a:prstGeom>
          <a:solidFill>
            <a:srgbClr val="CFE8F0"/>
          </a:solidFill>
          <a:ln w="9525">
            <a:solidFill>
              <a:srgbClr val="AEC7D6"/>
            </a:solidFill>
            <a:prstDash val="solid"/>
          </a:ln>
        </p:spPr>
      </p:sp>
      <p:sp>
        <p:nvSpPr>
          <p:cNvPr id="5" name="Text 3"/>
          <p:cNvSpPr/>
          <p:nvPr/>
        </p:nvSpPr>
        <p:spPr>
          <a:xfrm>
            <a:off x="9555480" y="777240"/>
            <a:ext cx="1965960" cy="31089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repeng/extract.py</a:t>
            </a:r>
            <a:endParaRPr lang="en-US" sz="1050" dirty="0"/>
          </a:p>
        </p:txBody>
      </p:sp>
      <p:sp>
        <p:nvSpPr>
          <p:cNvPr id="6" name="Shape 4"/>
          <p:cNvSpPr/>
          <p:nvPr/>
        </p:nvSpPr>
        <p:spPr>
          <a:xfrm>
            <a:off x="566928" y="1609344"/>
            <a:ext cx="402336" cy="402336"/>
          </a:xfrm>
          <a:prstGeom prst="ellipse">
            <a:avLst/>
          </a:prstGeom>
          <a:solidFill>
            <a:srgbClr val="065A82"/>
          </a:solidFill>
          <a:ln/>
        </p:spPr>
      </p:sp>
      <p:sp>
        <p:nvSpPr>
          <p:cNvPr id="7" name="Text 5"/>
          <p:cNvSpPr/>
          <p:nvPr/>
        </p:nvSpPr>
        <p:spPr>
          <a:xfrm>
            <a:off x="566928" y="1609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15568" y="1554480"/>
            <a:ext cx="3108960" cy="5303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Flatten the pairs, in order</a:t>
            </a:r>
            <a:endParaRPr lang="en-US" sz="1250" dirty="0"/>
          </a:p>
        </p:txBody>
      </p:sp>
      <p:sp>
        <p:nvSpPr>
          <p:cNvPr id="9" name="Text 7"/>
          <p:cNvSpPr/>
          <p:nvPr/>
        </p:nvSpPr>
        <p:spPr>
          <a:xfrm>
            <a:off x="4297680" y="1554480"/>
            <a:ext cx="731520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read_representations() builds train_strs as [pos, neg, pos, neg, …]. That strict interleaving is an assumption the later maths depends on.</a:t>
            </a:r>
            <a:endParaRPr lang="en-US" sz="1050" dirty="0"/>
          </a:p>
        </p:txBody>
      </p:sp>
      <p:sp>
        <p:nvSpPr>
          <p:cNvPr id="10" name="Shape 8"/>
          <p:cNvSpPr/>
          <p:nvPr/>
        </p:nvSpPr>
        <p:spPr>
          <a:xfrm>
            <a:off x="566928" y="2432304"/>
            <a:ext cx="402336" cy="402336"/>
          </a:xfrm>
          <a:prstGeom prst="ellipse">
            <a:avLst/>
          </a:prstGeom>
          <a:solidFill>
            <a:srgbClr val="065A82"/>
          </a:solidFill>
          <a:ln/>
        </p:spPr>
      </p:sp>
      <p:sp>
        <p:nvSpPr>
          <p:cNvPr id="11" name="Text 9"/>
          <p:cNvSpPr/>
          <p:nvPr/>
        </p:nvSpPr>
        <p:spPr>
          <a:xfrm>
            <a:off x="566928" y="24323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15568" y="2377440"/>
            <a:ext cx="3108960" cy="5303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Take one activation vector per string</a:t>
            </a:r>
            <a:endParaRPr lang="en-US" sz="1250" dirty="0"/>
          </a:p>
        </p:txBody>
      </p:sp>
      <p:sp>
        <p:nvSpPr>
          <p:cNvPr id="13" name="Text 11"/>
          <p:cNvSpPr/>
          <p:nvPr/>
        </p:nvSpPr>
        <p:spPr>
          <a:xfrm>
            <a:off x="4297680" y="2377440"/>
            <a:ext cx="731520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batched_get_hiddens() does a forward pass with output_hidden_states=True and keeps only the last non-padding position, found via the attention mask.</a:t>
            </a:r>
            <a:endParaRPr lang="en-US" sz="1050" dirty="0"/>
          </a:p>
        </p:txBody>
      </p:sp>
      <p:sp>
        <p:nvSpPr>
          <p:cNvPr id="14" name="Shape 12"/>
          <p:cNvSpPr/>
          <p:nvPr/>
        </p:nvSpPr>
        <p:spPr>
          <a:xfrm>
            <a:off x="566928" y="3255264"/>
            <a:ext cx="402336" cy="402336"/>
          </a:xfrm>
          <a:prstGeom prst="ellipse">
            <a:avLst/>
          </a:prstGeom>
          <a:solidFill>
            <a:srgbClr val="065A82"/>
          </a:solidFill>
          <a:ln/>
        </p:spPr>
      </p:sp>
      <p:sp>
        <p:nvSpPr>
          <p:cNvPr id="15" name="Text 13"/>
          <p:cNvSpPr/>
          <p:nvPr/>
        </p:nvSpPr>
        <p:spPr>
          <a:xfrm>
            <a:off x="566928" y="32552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15568" y="3200400"/>
            <a:ext cx="3108960" cy="5303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Reduce each pair to what differs</a:t>
            </a:r>
            <a:endParaRPr lang="en-US" sz="1250" dirty="0"/>
          </a:p>
        </p:txBody>
      </p:sp>
      <p:sp>
        <p:nvSpPr>
          <p:cNvPr id="17" name="Text 15"/>
          <p:cNvSpPr/>
          <p:nvPr/>
        </p:nvSpPr>
        <p:spPr>
          <a:xfrm>
            <a:off x="4297680" y="3200400"/>
            <a:ext cx="731520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method="pca_diff" (the default) subtracts negative from positive. method="pca_center" instead subtracts each pair's midpoint from both sides, keeping twice as many rows.</a:t>
            </a:r>
            <a:endParaRPr lang="en-US" sz="1050" dirty="0"/>
          </a:p>
        </p:txBody>
      </p:sp>
      <p:sp>
        <p:nvSpPr>
          <p:cNvPr id="18" name="Shape 16"/>
          <p:cNvSpPr/>
          <p:nvPr/>
        </p:nvSpPr>
        <p:spPr>
          <a:xfrm>
            <a:off x="566928" y="4078224"/>
            <a:ext cx="402336" cy="402336"/>
          </a:xfrm>
          <a:prstGeom prst="ellipse">
            <a:avLst/>
          </a:prstGeom>
          <a:solidFill>
            <a:srgbClr val="065A82"/>
          </a:solidFill>
          <a:ln/>
        </p:spPr>
      </p:sp>
      <p:sp>
        <p:nvSpPr>
          <p:cNvPr id="19" name="Text 17"/>
          <p:cNvSpPr/>
          <p:nvPr/>
        </p:nvSpPr>
        <p:spPr>
          <a:xfrm>
            <a:off x="566928" y="40782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1115568" y="4023360"/>
            <a:ext cx="3108960" cy="5303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Fit one component per layer</a:t>
            </a:r>
            <a:endParaRPr lang="en-US" sz="1250" dirty="0"/>
          </a:p>
        </p:txBody>
      </p:sp>
      <p:sp>
        <p:nvSpPr>
          <p:cNvPr id="21" name="Text 19"/>
          <p:cNvSpPr/>
          <p:nvPr/>
        </p:nvSpPr>
        <p:spPr>
          <a:xfrm>
            <a:off x="4297680" y="4023360"/>
            <a:ext cx="731520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PCA(n_components=1, whiten=False).fit(train), then .components_ squeezed to a single (hidden_dim,) float32 array.</a:t>
            </a:r>
            <a:endParaRPr lang="en-US" sz="1050" dirty="0"/>
          </a:p>
        </p:txBody>
      </p:sp>
      <p:sp>
        <p:nvSpPr>
          <p:cNvPr id="22" name="Shape 20"/>
          <p:cNvSpPr/>
          <p:nvPr/>
        </p:nvSpPr>
        <p:spPr>
          <a:xfrm>
            <a:off x="566928" y="4901184"/>
            <a:ext cx="402336" cy="402336"/>
          </a:xfrm>
          <a:prstGeom prst="ellipse">
            <a:avLst/>
          </a:prstGeom>
          <a:solidFill>
            <a:srgbClr val="065A82"/>
          </a:solidFill>
          <a:ln/>
        </p:spPr>
      </p:sp>
      <p:sp>
        <p:nvSpPr>
          <p:cNvPr id="23" name="Text 21"/>
          <p:cNvSpPr/>
          <p:nvPr/>
        </p:nvSpPr>
        <p:spPr>
          <a:xfrm>
            <a:off x="566928" y="4901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p:nvPr/>
        </p:nvSpPr>
        <p:spPr>
          <a:xfrm>
            <a:off x="1115568" y="4846320"/>
            <a:ext cx="3108960" cy="530352"/>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Fix the sign</a:t>
            </a:r>
            <a:endParaRPr lang="en-US" sz="1250" dirty="0"/>
          </a:p>
        </p:txBody>
      </p:sp>
      <p:sp>
        <p:nvSpPr>
          <p:cNvPr id="25" name="Text 23"/>
          <p:cNvSpPr/>
          <p:nvPr/>
        </p:nvSpPr>
        <p:spPr>
          <a:xfrm>
            <a:off x="4297680" y="4846320"/>
            <a:ext cx="7315200" cy="786384"/>
          </a:xfrm>
          <a:prstGeom prst="rect">
            <a:avLst/>
          </a:prstGeom>
          <a:noFill/>
          <a:ln/>
        </p:spPr>
        <p:txBody>
          <a:bodyPr wrap="square" lIns="0" tIns="0" rIns="0" bIns="0" rtlCol="0" anchor="ctr"/>
          <a:lstStyle/>
          <a:p>
            <a:pPr indent="0" marL="0">
              <a:lnSpc>
                <a:spcPct val="116000"/>
              </a:lnSpc>
              <a:buNone/>
            </a:pPr>
            <a:r>
              <a:rPr lang="en-US" sz="1050" dirty="0">
                <a:solidFill>
                  <a:srgbClr val="5C7080"/>
                </a:solidFill>
                <a:latin typeface="Calibri" pitchFamily="34" charset="0"/>
                <a:ea typeface="Calibri" pitchFamily="34" charset="-122"/>
                <a:cs typeface="Calibri" pitchFamily="34" charset="-120"/>
              </a:rPr>
              <a:t>project_onto_direction() projects the original hidden states onto the new direction; if positives landed lower than negatives on average, the direction is multiplied by −1.</a:t>
            </a:r>
            <a:endParaRPr lang="en-US" sz="1050" dirty="0"/>
          </a:p>
        </p:txBody>
      </p:sp>
      <p:sp>
        <p:nvSpPr>
          <p:cNvPr id="26" name="Shape 24"/>
          <p:cNvSpPr/>
          <p:nvPr/>
        </p:nvSpPr>
        <p:spPr>
          <a:xfrm>
            <a:off x="548640" y="5742432"/>
            <a:ext cx="7315200" cy="621792"/>
          </a:xfrm>
          <a:prstGeom prst="roundRect">
            <a:avLst>
              <a:gd name="adj" fmla="val 11765"/>
            </a:avLst>
          </a:prstGeom>
          <a:solidFill>
            <a:srgbClr val="F4F1E8"/>
          </a:solidFill>
          <a:ln w="12700">
            <a:solidFill>
              <a:srgbClr val="D8D2C0"/>
            </a:solidFill>
            <a:prstDash val="solid"/>
          </a:ln>
        </p:spPr>
      </p:sp>
      <p:sp>
        <p:nvSpPr>
          <p:cNvPr id="27" name="Text 25"/>
          <p:cNvSpPr/>
          <p:nvPr/>
        </p:nvSpPr>
        <p:spPr>
          <a:xfrm>
            <a:off x="749808" y="5797296"/>
            <a:ext cx="6949440" cy="512064"/>
          </a:xfrm>
          <a:prstGeom prst="rect">
            <a:avLst/>
          </a:prstGeom>
          <a:noFill/>
          <a:ln/>
        </p:spPr>
        <p:txBody>
          <a:bodyPr wrap="square" rtlCol="0" anchor="ctr"/>
          <a:lstStyle/>
          <a:p>
            <a:pPr indent="0" marL="0">
              <a:lnSpc>
                <a:spcPct val="112000"/>
              </a:lnSpc>
              <a:buNone/>
            </a:pPr>
            <a:r>
              <a:rPr lang="en-US" sz="1050" b="1" dirty="0">
                <a:solidFill>
                  <a:srgbClr val="8A4B2A"/>
                </a:solidFill>
                <a:latin typeface="Calibri" pitchFamily="34" charset="0"/>
                <a:ea typeface="Calibri" pitchFamily="34" charset="-122"/>
                <a:cs typeface="Calibri" pitchFamily="34" charset="-120"/>
              </a:rPr>
              <a:t>Worth noticing:  </a:t>
            </a:r>
            <a:pPr indent="0" marL="0">
              <a:lnSpc>
                <a:spcPct val="112000"/>
              </a:lnSpc>
              <a:buNone/>
            </a:pPr>
            <a:r>
              <a:rPr lang="en-US" sz="1050" dirty="0">
                <a:solidFill>
                  <a:srgbClr val="1B2733"/>
                </a:solidFill>
                <a:latin typeface="Calibri" pitchFamily="34" charset="0"/>
                <a:ea typeface="Calibri" pitchFamily="34" charset="-122"/>
                <a:cs typeface="Calibri" pitchFamily="34" charset="-120"/>
              </a:rPr>
              <a:t>train() gives you a direction for </a:t>
            </a:r>
            <a:pPr indent="0" marL="0">
              <a:lnSpc>
                <a:spcPct val="112000"/>
              </a:lnSpc>
              <a:buNone/>
            </a:pPr>
            <a:r>
              <a:rPr lang="en-US" sz="1050" b="1" dirty="0">
                <a:solidFill>
                  <a:srgbClr val="1B2733"/>
                </a:solidFill>
                <a:latin typeface="Calibri" pitchFamily="34" charset="0"/>
                <a:ea typeface="Calibri" pitchFamily="34" charset="-122"/>
                <a:cs typeface="Calibri" pitchFamily="34" charset="-120"/>
              </a:rPr>
              <a:t>every</a:t>
            </a:r>
            <a:pPr indent="0" marL="0">
              <a:lnSpc>
                <a:spcPct val="112000"/>
              </a:lnSpc>
              <a:buNone/>
            </a:pPr>
            <a:r>
              <a:rPr lang="en-US" sz="1050" dirty="0">
                <a:solidFill>
                  <a:srgbClr val="1B2733"/>
                </a:solidFill>
                <a:latin typeface="Calibri" pitchFamily="34" charset="0"/>
                <a:ea typeface="Calibri" pitchFamily="34" charset="-122"/>
                <a:cs typeface="Calibri" pitchFamily="34" charset="-120"/>
              </a:rPr>
              <a:t> layer — not only the wrapped ones. One vector can be re-aimed at any depth with no retraining.</a:t>
            </a:r>
            <a:endParaRPr lang="en-US" sz="1050" dirty="0"/>
          </a:p>
        </p:txBody>
      </p:sp>
      <p:sp>
        <p:nvSpPr>
          <p:cNvPr id="28" name="Shape 26"/>
          <p:cNvSpPr/>
          <p:nvPr/>
        </p:nvSpPr>
        <p:spPr>
          <a:xfrm>
            <a:off x="8001000" y="5897880"/>
            <a:ext cx="3611880" cy="310896"/>
          </a:xfrm>
          <a:prstGeom prst="roundRect">
            <a:avLst>
              <a:gd name="adj" fmla="val 50000"/>
            </a:avLst>
          </a:prstGeom>
          <a:solidFill>
            <a:srgbClr val="E9F1E6"/>
          </a:solidFill>
          <a:ln w="9525">
            <a:solidFill>
              <a:srgbClr val="8FB88F"/>
            </a:solidFill>
            <a:prstDash val="solid"/>
          </a:ln>
        </p:spPr>
      </p:sp>
      <p:sp>
        <p:nvSpPr>
          <p:cNvPr id="29" name="Text 27"/>
          <p:cNvSpPr/>
          <p:nvPr/>
        </p:nvSpPr>
        <p:spPr>
          <a:xfrm>
            <a:off x="8129016" y="5897880"/>
            <a:ext cx="335584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4, One-Component PCA</a:t>
            </a:r>
            <a:endParaRPr lang="en-US" sz="1000" dirty="0"/>
          </a:p>
        </p:txBody>
      </p:sp>
      <p:sp>
        <p:nvSpPr>
          <p:cNvPr id="30" name="Text 2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1" name="Text 2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ALGORITHM</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ControlModule.forward(): What Runs at Each Wrapped Layer</a:t>
            </a:r>
            <a:endParaRPr lang="en-US" sz="2800" dirty="0"/>
          </a:p>
        </p:txBody>
      </p:sp>
      <p:sp>
        <p:nvSpPr>
          <p:cNvPr id="4" name="Shape 2"/>
          <p:cNvSpPr/>
          <p:nvPr/>
        </p:nvSpPr>
        <p:spPr>
          <a:xfrm>
            <a:off x="7360920" y="402336"/>
            <a:ext cx="4251960" cy="310896"/>
          </a:xfrm>
          <a:prstGeom prst="roundRect">
            <a:avLst>
              <a:gd name="adj" fmla="val 14706"/>
            </a:avLst>
          </a:prstGeom>
          <a:solidFill>
            <a:srgbClr val="16385A"/>
          </a:solidFill>
          <a:ln w="9525">
            <a:solidFill>
              <a:srgbClr val="3F6E8C"/>
            </a:solidFill>
            <a:prstDash val="solid"/>
          </a:ln>
        </p:spPr>
      </p:sp>
      <p:sp>
        <p:nvSpPr>
          <p:cNvPr id="5" name="Text 3"/>
          <p:cNvSpPr/>
          <p:nvPr/>
        </p:nvSpPr>
        <p:spPr>
          <a:xfrm>
            <a:off x="7452360" y="402336"/>
            <a:ext cx="4069080" cy="310896"/>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repeng/control.py · ControlModule.forward()</a:t>
            </a:r>
            <a:endParaRPr lang="en-US" sz="1050" dirty="0"/>
          </a:p>
        </p:txBody>
      </p:sp>
      <p:sp>
        <p:nvSpPr>
          <p:cNvPr id="6" name="Shape 4"/>
          <p:cNvSpPr/>
          <p:nvPr/>
        </p:nvSpPr>
        <p:spPr>
          <a:xfrm>
            <a:off x="548640" y="1627632"/>
            <a:ext cx="5394960" cy="1298448"/>
          </a:xfrm>
          <a:prstGeom prst="roundRect">
            <a:avLst>
              <a:gd name="adj" fmla="val 5634"/>
            </a:avLst>
          </a:prstGeom>
          <a:solidFill>
            <a:srgbClr val="12314F"/>
          </a:solidFill>
          <a:ln/>
        </p:spPr>
      </p:sp>
      <p:sp>
        <p:nvSpPr>
          <p:cNvPr id="7" name="Shape 5"/>
          <p:cNvSpPr/>
          <p:nvPr/>
        </p:nvSpPr>
        <p:spPr>
          <a:xfrm>
            <a:off x="749808" y="1810512"/>
            <a:ext cx="329184" cy="329184"/>
          </a:xfrm>
          <a:prstGeom prst="ellipse">
            <a:avLst/>
          </a:prstGeom>
          <a:solidFill>
            <a:srgbClr val="1C7293"/>
          </a:solidFill>
          <a:ln/>
        </p:spPr>
      </p:sp>
      <p:sp>
        <p:nvSpPr>
          <p:cNvPr id="8" name="Text 6"/>
          <p:cNvSpPr/>
          <p:nvPr/>
        </p:nvSpPr>
        <p:spPr>
          <a:xfrm>
            <a:off x="749808"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188720" y="1783080"/>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Run the wrapped block</a:t>
            </a:r>
            <a:endParaRPr lang="en-US" sz="1250" dirty="0"/>
          </a:p>
        </p:txBody>
      </p:sp>
      <p:sp>
        <p:nvSpPr>
          <p:cNvPr id="10" name="Text 8"/>
          <p:cNvSpPr/>
          <p:nvPr/>
        </p:nvSpPr>
        <p:spPr>
          <a:xfrm>
            <a:off x="1188720" y="2103120"/>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output = self.block(*args, **kwargs) — the original decoder layer runs untouched first.</a:t>
            </a:r>
            <a:endParaRPr lang="en-US" sz="1050" dirty="0"/>
          </a:p>
        </p:txBody>
      </p:sp>
      <p:sp>
        <p:nvSpPr>
          <p:cNvPr id="11" name="Shape 9"/>
          <p:cNvSpPr/>
          <p:nvPr/>
        </p:nvSpPr>
        <p:spPr>
          <a:xfrm>
            <a:off x="6217920" y="1627632"/>
            <a:ext cx="5394960" cy="1298448"/>
          </a:xfrm>
          <a:prstGeom prst="roundRect">
            <a:avLst>
              <a:gd name="adj" fmla="val 5634"/>
            </a:avLst>
          </a:prstGeom>
          <a:solidFill>
            <a:srgbClr val="12314F"/>
          </a:solidFill>
          <a:ln/>
        </p:spPr>
      </p:sp>
      <p:sp>
        <p:nvSpPr>
          <p:cNvPr id="12" name="Shape 10"/>
          <p:cNvSpPr/>
          <p:nvPr/>
        </p:nvSpPr>
        <p:spPr>
          <a:xfrm>
            <a:off x="6419088" y="1810512"/>
            <a:ext cx="329184" cy="329184"/>
          </a:xfrm>
          <a:prstGeom prst="ellipse">
            <a:avLst/>
          </a:prstGeom>
          <a:solidFill>
            <a:srgbClr val="1C7293"/>
          </a:solidFill>
          <a:ln/>
        </p:spPr>
      </p:sp>
      <p:sp>
        <p:nvSpPr>
          <p:cNvPr id="13" name="Text 11"/>
          <p:cNvSpPr/>
          <p:nvPr/>
        </p:nvSpPr>
        <p:spPr>
          <a:xfrm>
            <a:off x="6419088" y="18105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858000" y="1783080"/>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Return unchanged if no control is set</a:t>
            </a:r>
            <a:endParaRPr lang="en-US" sz="1250" dirty="0"/>
          </a:p>
        </p:txBody>
      </p:sp>
      <p:sp>
        <p:nvSpPr>
          <p:cNvPr id="15" name="Text 13"/>
          <p:cNvSpPr/>
          <p:nvPr/>
        </p:nvSpPr>
        <p:spPr>
          <a:xfrm>
            <a:off x="6858000" y="2103120"/>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If no control tensor is set, the output is returned unchanged. A wrapped model with no vector behaves exactly like the original.</a:t>
            </a:r>
            <a:endParaRPr lang="en-US" sz="1050" dirty="0"/>
          </a:p>
        </p:txBody>
      </p:sp>
      <p:sp>
        <p:nvSpPr>
          <p:cNvPr id="16" name="Shape 14"/>
          <p:cNvSpPr/>
          <p:nvPr/>
        </p:nvSpPr>
        <p:spPr>
          <a:xfrm>
            <a:off x="548640" y="3108960"/>
            <a:ext cx="5394960" cy="1298448"/>
          </a:xfrm>
          <a:prstGeom prst="roundRect">
            <a:avLst>
              <a:gd name="adj" fmla="val 5634"/>
            </a:avLst>
          </a:prstGeom>
          <a:solidFill>
            <a:srgbClr val="12314F"/>
          </a:solidFill>
          <a:ln/>
        </p:spPr>
      </p:sp>
      <p:sp>
        <p:nvSpPr>
          <p:cNvPr id="17" name="Shape 15"/>
          <p:cNvSpPr/>
          <p:nvPr/>
        </p:nvSpPr>
        <p:spPr>
          <a:xfrm>
            <a:off x="749808" y="3291840"/>
            <a:ext cx="329184" cy="329184"/>
          </a:xfrm>
          <a:prstGeom prst="ellipse">
            <a:avLst/>
          </a:prstGeom>
          <a:solidFill>
            <a:srgbClr val="1C7293"/>
          </a:solidFill>
          <a:ln/>
        </p:spPr>
      </p:sp>
      <p:sp>
        <p:nvSpPr>
          <p:cNvPr id="18" name="Text 16"/>
          <p:cNvSpPr/>
          <p:nvPr/>
        </p:nvSpPr>
        <p:spPr>
          <a:xfrm>
            <a:off x="749808" y="3291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188720" y="3264408"/>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Reshape to broadcast</a:t>
            </a:r>
            <a:endParaRPr lang="en-US" sz="1250" dirty="0"/>
          </a:p>
        </p:txBody>
      </p:sp>
      <p:sp>
        <p:nvSpPr>
          <p:cNvPr id="20" name="Text 18"/>
          <p:cNvSpPr/>
          <p:nvPr/>
        </p:nvSpPr>
        <p:spPr>
          <a:xfrm>
            <a:off x="1188720" y="3584448"/>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A 1-D direction is reshaped to (1, 1, hidden) so it lands on every token position at once.</a:t>
            </a:r>
            <a:endParaRPr lang="en-US" sz="1050" dirty="0"/>
          </a:p>
        </p:txBody>
      </p:sp>
      <p:sp>
        <p:nvSpPr>
          <p:cNvPr id="21" name="Shape 19"/>
          <p:cNvSpPr/>
          <p:nvPr/>
        </p:nvSpPr>
        <p:spPr>
          <a:xfrm>
            <a:off x="6217920" y="3108960"/>
            <a:ext cx="5394960" cy="1298448"/>
          </a:xfrm>
          <a:prstGeom prst="roundRect">
            <a:avLst>
              <a:gd name="adj" fmla="val 5634"/>
            </a:avLst>
          </a:prstGeom>
          <a:solidFill>
            <a:srgbClr val="12314F"/>
          </a:solidFill>
          <a:ln/>
        </p:spPr>
      </p:sp>
      <p:sp>
        <p:nvSpPr>
          <p:cNvPr id="22" name="Shape 20"/>
          <p:cNvSpPr/>
          <p:nvPr/>
        </p:nvSpPr>
        <p:spPr>
          <a:xfrm>
            <a:off x="6419088" y="3291840"/>
            <a:ext cx="329184" cy="329184"/>
          </a:xfrm>
          <a:prstGeom prst="ellipse">
            <a:avLst/>
          </a:prstGeom>
          <a:solidFill>
            <a:srgbClr val="1C7293"/>
          </a:solidFill>
          <a:ln/>
        </p:spPr>
      </p:sp>
      <p:sp>
        <p:nvSpPr>
          <p:cNvPr id="23" name="Text 21"/>
          <p:cNvSpPr/>
          <p:nvPr/>
        </p:nvSpPr>
        <p:spPr>
          <a:xfrm>
            <a:off x="6419088" y="32918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858000" y="3264408"/>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Mask the padding</a:t>
            </a:r>
            <a:endParaRPr lang="en-US" sz="1250" dirty="0"/>
          </a:p>
        </p:txBody>
      </p:sp>
      <p:sp>
        <p:nvSpPr>
          <p:cNvPr id="25" name="Text 23"/>
          <p:cNvSpPr/>
          <p:nvPr/>
        </p:nvSpPr>
        <p:spPr>
          <a:xfrm>
            <a:off x="6858000" y="3584448"/>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When position_ids are available, a mask zeroes the control over left-padding, so padded slots aren't steered. The source notes this path is only tested for left padding.</a:t>
            </a:r>
            <a:endParaRPr lang="en-US" sz="1050" dirty="0"/>
          </a:p>
        </p:txBody>
      </p:sp>
      <p:sp>
        <p:nvSpPr>
          <p:cNvPr id="26" name="Shape 24"/>
          <p:cNvSpPr/>
          <p:nvPr/>
        </p:nvSpPr>
        <p:spPr>
          <a:xfrm>
            <a:off x="548640" y="4590288"/>
            <a:ext cx="5394960" cy="1298448"/>
          </a:xfrm>
          <a:prstGeom prst="roundRect">
            <a:avLst>
              <a:gd name="adj" fmla="val 5634"/>
            </a:avLst>
          </a:prstGeom>
          <a:solidFill>
            <a:srgbClr val="12314F"/>
          </a:solidFill>
          <a:ln/>
        </p:spPr>
      </p:sp>
      <p:sp>
        <p:nvSpPr>
          <p:cNvPr id="27" name="Shape 25"/>
          <p:cNvSpPr/>
          <p:nvPr/>
        </p:nvSpPr>
        <p:spPr>
          <a:xfrm>
            <a:off x="749808" y="4773168"/>
            <a:ext cx="329184" cy="329184"/>
          </a:xfrm>
          <a:prstGeom prst="ellipse">
            <a:avLst/>
          </a:prstGeom>
          <a:solidFill>
            <a:srgbClr val="1C7293"/>
          </a:solidFill>
          <a:ln/>
        </p:spPr>
      </p:sp>
      <p:sp>
        <p:nvSpPr>
          <p:cNvPr id="28" name="Text 26"/>
          <p:cNvSpPr/>
          <p:nvPr/>
        </p:nvSpPr>
        <p:spPr>
          <a:xfrm>
            <a:off x="749808" y="4773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p:nvPr/>
        </p:nvSpPr>
        <p:spPr>
          <a:xfrm>
            <a:off x="1188720" y="4745736"/>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Apply the operator</a:t>
            </a:r>
            <a:endParaRPr lang="en-US" sz="1250" dirty="0"/>
          </a:p>
        </p:txBody>
      </p:sp>
      <p:sp>
        <p:nvSpPr>
          <p:cNvPr id="30" name="Text 28"/>
          <p:cNvSpPr/>
          <p:nvPr/>
        </p:nvSpPr>
        <p:spPr>
          <a:xfrm>
            <a:off x="1188720" y="5065776"/>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modified = operator(modified, control * mask) — addition by default, but any callable of two tensors is accepted.</a:t>
            </a:r>
            <a:endParaRPr lang="en-US" sz="1050" dirty="0"/>
          </a:p>
        </p:txBody>
      </p:sp>
      <p:sp>
        <p:nvSpPr>
          <p:cNvPr id="31" name="Shape 29"/>
          <p:cNvSpPr/>
          <p:nvPr/>
        </p:nvSpPr>
        <p:spPr>
          <a:xfrm>
            <a:off x="6217920" y="4590288"/>
            <a:ext cx="5394960" cy="1298448"/>
          </a:xfrm>
          <a:prstGeom prst="roundRect">
            <a:avLst>
              <a:gd name="adj" fmla="val 5634"/>
            </a:avLst>
          </a:prstGeom>
          <a:solidFill>
            <a:srgbClr val="12314F"/>
          </a:solidFill>
          <a:ln/>
        </p:spPr>
      </p:sp>
      <p:sp>
        <p:nvSpPr>
          <p:cNvPr id="32" name="Shape 30"/>
          <p:cNvSpPr/>
          <p:nvPr/>
        </p:nvSpPr>
        <p:spPr>
          <a:xfrm>
            <a:off x="6419088" y="4773168"/>
            <a:ext cx="329184" cy="329184"/>
          </a:xfrm>
          <a:prstGeom prst="ellipse">
            <a:avLst/>
          </a:prstGeom>
          <a:solidFill>
            <a:srgbClr val="1C7293"/>
          </a:solidFill>
          <a:ln/>
        </p:spPr>
      </p:sp>
      <p:sp>
        <p:nvSpPr>
          <p:cNvPr id="33" name="Text 31"/>
          <p:cNvSpPr/>
          <p:nvPr/>
        </p:nvSpPr>
        <p:spPr>
          <a:xfrm>
            <a:off x="6419088" y="4773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2"/>
          <p:cNvSpPr/>
          <p:nvPr/>
        </p:nvSpPr>
        <p:spPr>
          <a:xfrm>
            <a:off x="6858000" y="4745736"/>
            <a:ext cx="45720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Optionally restore the norm</a:t>
            </a:r>
            <a:endParaRPr lang="en-US" sz="1250" dirty="0"/>
          </a:p>
        </p:txBody>
      </p:sp>
      <p:sp>
        <p:nvSpPr>
          <p:cNvPr id="35" name="Text 33"/>
          <p:cNvSpPr/>
          <p:nvPr/>
        </p:nvSpPr>
        <p:spPr>
          <a:xfrm>
            <a:off x="6858000" y="5065776"/>
            <a:ext cx="4572000" cy="749808"/>
          </a:xfrm>
          <a:prstGeom prst="rect">
            <a:avLst/>
          </a:prstGeom>
          <a:noFill/>
          <a:ln/>
        </p:spPr>
        <p:txBody>
          <a:bodyPr wrap="square" lIns="0" tIns="0" rIns="0" bIns="0" rtlCol="0" anchor="ctr"/>
          <a:lstStyle/>
          <a:p>
            <a:pPr indent="0" marL="0">
              <a:lnSpc>
                <a:spcPct val="115000"/>
              </a:lnSpc>
              <a:buNone/>
            </a:pPr>
            <a:r>
              <a:rPr lang="en-US" sz="1050" dirty="0">
                <a:solidFill>
                  <a:srgbClr val="9FC3D9"/>
                </a:solidFill>
                <a:latin typeface="Calibri" pitchFamily="34" charset="0"/>
                <a:ea typeface="Calibri" pitchFamily="34" charset="-122"/>
                <a:cs typeface="Calibri" pitchFamily="34" charset="-120"/>
              </a:rPr>
              <a:t>With normalize=True the result is rescaled to the magnitude it had before the addition.</a:t>
            </a:r>
            <a:endParaRPr lang="en-US" sz="1050" dirty="0"/>
          </a:p>
        </p:txBody>
      </p:sp>
      <p:sp>
        <p:nvSpPr>
          <p:cNvPr id="36" name="Shape 34"/>
          <p:cNvSpPr/>
          <p:nvPr/>
        </p:nvSpPr>
        <p:spPr>
          <a:xfrm>
            <a:off x="548640" y="5989320"/>
            <a:ext cx="3749040" cy="310896"/>
          </a:xfrm>
          <a:prstGeom prst="roundRect">
            <a:avLst>
              <a:gd name="adj" fmla="val 50000"/>
            </a:avLst>
          </a:prstGeom>
          <a:solidFill>
            <a:srgbClr val="2A3F63"/>
          </a:solidFill>
          <a:ln w="9525">
            <a:solidFill>
              <a:srgbClr val="5A8FB0"/>
            </a:solidFill>
            <a:prstDash val="solid"/>
          </a:ln>
        </p:spPr>
      </p:sp>
      <p:sp>
        <p:nvSpPr>
          <p:cNvPr id="37" name="Text 35"/>
          <p:cNvSpPr/>
          <p:nvPr/>
        </p:nvSpPr>
        <p:spPr>
          <a:xfrm>
            <a:off x="676656" y="5989320"/>
            <a:ext cx="3493008" cy="310896"/>
          </a:xfrm>
          <a:prstGeom prst="rect">
            <a:avLst/>
          </a:prstGeom>
          <a:noFill/>
          <a:ln/>
        </p:spPr>
        <p:txBody>
          <a:bodyPr wrap="square" lIns="0" tIns="0" rIns="0" bIns="0" rtlCol="0" anchor="ctr"/>
          <a:lstStyle/>
          <a:p>
            <a:pPr indent="0" marL="0">
              <a:buNone/>
            </a:pPr>
            <a:r>
              <a:rPr lang="en-US" sz="1000" i="1" dirty="0">
                <a:solidFill>
                  <a:srgbClr val="BFDCE8"/>
                </a:solidFill>
                <a:latin typeface="Calibri" pitchFamily="34" charset="0"/>
                <a:ea typeface="Calibri" pitchFamily="34" charset="-122"/>
                <a:cs typeface="Calibri" pitchFamily="34" charset="-120"/>
              </a:rPr>
              <a:t>←  Background · Slide 5, Steering by Addition</a:t>
            </a:r>
            <a:endParaRPr lang="en-US" sz="1000" dirty="0"/>
          </a:p>
        </p:txBody>
      </p:sp>
      <p:sp>
        <p:nvSpPr>
          <p:cNvPr id="38" name="Text 36"/>
          <p:cNvSpPr/>
          <p:nvPr/>
        </p:nvSpPr>
        <p:spPr>
          <a:xfrm>
            <a:off x="4572000" y="5989320"/>
            <a:ext cx="7040880" cy="310896"/>
          </a:xfrm>
          <a:prstGeom prst="rect">
            <a:avLst/>
          </a:prstGeom>
          <a:noFill/>
          <a:ln/>
        </p:spPr>
        <p:txBody>
          <a:bodyPr wrap="square" rtlCol="0" anchor="ctr"/>
          <a:lstStyle/>
          <a:p>
            <a:pPr indent="0" marL="0">
              <a:buNone/>
            </a:pPr>
            <a:r>
              <a:rPr lang="en-US" sz="1100" i="1" dirty="0">
                <a:solidFill>
                  <a:srgbClr val="9FC3D9"/>
                </a:solidFill>
                <a:latin typeface="Calibri" pitchFamily="34" charset="0"/>
                <a:ea typeface="Calibri" pitchFamily="34" charset="-122"/>
                <a:cs typeface="Calibri" pitchFamily="34" charset="-120"/>
              </a:rPr>
              <a:t>unwrap() puts the original blocks back, and reset() clears the control without unwrapping.</a:t>
            </a:r>
            <a:endParaRPr lang="en-US" sz="1100" dirty="0"/>
          </a:p>
        </p:txBody>
      </p:sp>
      <p:sp>
        <p:nvSpPr>
          <p:cNvPr id="39" name="Text 37"/>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REPENG  ·  AI SEMINAR, LECTURE 3</a:t>
            </a:r>
            <a:endParaRPr lang="en-US" sz="900" dirty="0"/>
          </a:p>
        </p:txBody>
      </p:sp>
      <p:sp>
        <p:nvSpPr>
          <p:cNvPr id="40" name="Text 3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CONTROLS</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Configuration Parameters and What Each Changes</a:t>
            </a:r>
            <a:endParaRPr lang="en-US" sz="3000" dirty="0"/>
          </a:p>
        </p:txBody>
      </p:sp>
      <p:sp>
        <p:nvSpPr>
          <p:cNvPr id="4" name="Shape 2"/>
          <p:cNvSpPr/>
          <p:nvPr/>
        </p:nvSpPr>
        <p:spPr>
          <a:xfrm>
            <a:off x="548640" y="1572768"/>
            <a:ext cx="5394960" cy="1417320"/>
          </a:xfrm>
          <a:prstGeom prst="roundRect">
            <a:avLst>
              <a:gd name="adj" fmla="val 5161"/>
            </a:avLst>
          </a:prstGeom>
          <a:solidFill>
            <a:srgbClr val="F2F8FA"/>
          </a:solidFill>
          <a:ln w="12700">
            <a:solidFill>
              <a:srgbClr val="DCE7EC"/>
            </a:solidFill>
            <a:prstDash val="solid"/>
          </a:ln>
        </p:spPr>
      </p:sp>
      <p:sp>
        <p:nvSpPr>
          <p:cNvPr id="5" name="Shape 3"/>
          <p:cNvSpPr/>
          <p:nvPr/>
        </p:nvSpPr>
        <p:spPr>
          <a:xfrm>
            <a:off x="749808" y="1773936"/>
            <a:ext cx="402336" cy="402336"/>
          </a:xfrm>
          <a:prstGeom prst="ellipse">
            <a:avLst/>
          </a:prstGeom>
          <a:solidFill>
            <a:srgbClr val="065A82"/>
          </a:solidFill>
          <a:ln/>
        </p:spPr>
      </p:sp>
      <p:pic>
        <p:nvPicPr>
          <p:cNvPr id="6" name="Image 0" descr="/home/claude/work/icons/gear.png">    </p:cNvPr>
          <p:cNvPicPr>
            <a:picLocks noChangeAspect="1"/>
          </p:cNvPicPr>
          <p:nvPr/>
        </p:nvPicPr>
        <p:blipFill>
          <a:blip r:embed="rId1"/>
          <a:stretch>
            <a:fillRect/>
          </a:stretch>
        </p:blipFill>
        <p:spPr>
          <a:xfrm>
            <a:off x="854415" y="1878543"/>
            <a:ext cx="193121" cy="193121"/>
          </a:xfrm>
          <a:prstGeom prst="rect">
            <a:avLst/>
          </a:prstGeom>
        </p:spPr>
      </p:pic>
      <p:sp>
        <p:nvSpPr>
          <p:cNvPr id="7" name="Text 4"/>
          <p:cNvSpPr/>
          <p:nvPr/>
        </p:nvSpPr>
        <p:spPr>
          <a:xfrm>
            <a:off x="1261872" y="1719072"/>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method</a:t>
            </a:r>
            <a:endParaRPr lang="en-US" sz="1350" dirty="0"/>
          </a:p>
        </p:txBody>
      </p:sp>
      <p:sp>
        <p:nvSpPr>
          <p:cNvPr id="8" name="Text 5"/>
          <p:cNvSpPr/>
          <p:nvPr/>
        </p:nvSpPr>
        <p:spPr>
          <a:xfrm>
            <a:off x="2880360" y="1746504"/>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"pca_diff" | "pca_center"</a:t>
            </a:r>
            <a:endParaRPr lang="en-US" sz="950" dirty="0"/>
          </a:p>
        </p:txBody>
      </p:sp>
      <p:sp>
        <p:nvSpPr>
          <p:cNvPr id="9" name="Text 6"/>
          <p:cNvSpPr/>
          <p:nvPr/>
        </p:nvSpPr>
        <p:spPr>
          <a:xfrm>
            <a:off x="749808" y="2084832"/>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Which matrix PCA sees. pca_diff fits on pair differences; pca_center fits on both sides after removing each pair's midpoint. They are not small variations of each other — on the same data they can point in substantially different directions.</a:t>
            </a:r>
            <a:endParaRPr lang="en-US" sz="1050" dirty="0"/>
          </a:p>
        </p:txBody>
      </p:sp>
      <p:sp>
        <p:nvSpPr>
          <p:cNvPr id="10" name="Shape 7"/>
          <p:cNvSpPr/>
          <p:nvPr/>
        </p:nvSpPr>
        <p:spPr>
          <a:xfrm>
            <a:off x="6217920" y="1572768"/>
            <a:ext cx="5394960" cy="1417320"/>
          </a:xfrm>
          <a:prstGeom prst="roundRect">
            <a:avLst>
              <a:gd name="adj" fmla="val 5161"/>
            </a:avLst>
          </a:prstGeom>
          <a:solidFill>
            <a:srgbClr val="F2F8FA"/>
          </a:solidFill>
          <a:ln w="12700">
            <a:solidFill>
              <a:srgbClr val="DCE7EC"/>
            </a:solidFill>
            <a:prstDash val="solid"/>
          </a:ln>
        </p:spPr>
      </p:sp>
      <p:sp>
        <p:nvSpPr>
          <p:cNvPr id="11" name="Shape 8"/>
          <p:cNvSpPr/>
          <p:nvPr/>
        </p:nvSpPr>
        <p:spPr>
          <a:xfrm>
            <a:off x="6419088" y="1773936"/>
            <a:ext cx="402336" cy="402336"/>
          </a:xfrm>
          <a:prstGeom prst="ellipse">
            <a:avLst/>
          </a:prstGeom>
          <a:solidFill>
            <a:srgbClr val="065A82"/>
          </a:solidFill>
          <a:ln/>
        </p:spPr>
      </p:sp>
      <p:pic>
        <p:nvPicPr>
          <p:cNvPr id="12" name="Image 1" descr="/home/claude/work/icons/target.png">    </p:cNvPr>
          <p:cNvPicPr>
            <a:picLocks noChangeAspect="1"/>
          </p:cNvPicPr>
          <p:nvPr/>
        </p:nvPicPr>
        <p:blipFill>
          <a:blip r:embed="rId2"/>
          <a:stretch>
            <a:fillRect/>
          </a:stretch>
        </p:blipFill>
        <p:spPr>
          <a:xfrm>
            <a:off x="6523695" y="1878543"/>
            <a:ext cx="193121" cy="193121"/>
          </a:xfrm>
          <a:prstGeom prst="rect">
            <a:avLst/>
          </a:prstGeom>
        </p:spPr>
      </p:pic>
      <p:sp>
        <p:nvSpPr>
          <p:cNvPr id="13" name="Text 9"/>
          <p:cNvSpPr/>
          <p:nvPr/>
        </p:nvSpPr>
        <p:spPr>
          <a:xfrm>
            <a:off x="6931152" y="1719072"/>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coeff</a:t>
            </a:r>
            <a:endParaRPr lang="en-US" sz="1350" dirty="0"/>
          </a:p>
        </p:txBody>
      </p:sp>
      <p:sp>
        <p:nvSpPr>
          <p:cNvPr id="14" name="Text 10"/>
          <p:cNvSpPr/>
          <p:nvPr/>
        </p:nvSpPr>
        <p:spPr>
          <a:xfrm>
            <a:off x="8549640" y="1746504"/>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float, sign matters</a:t>
            </a:r>
            <a:endParaRPr lang="en-US" sz="950" dirty="0"/>
          </a:p>
        </p:txBody>
      </p:sp>
      <p:sp>
        <p:nvSpPr>
          <p:cNvPr id="15" name="Text 11"/>
          <p:cNvSpPr/>
          <p:nvPr/>
        </p:nvSpPr>
        <p:spPr>
          <a:xfrm>
            <a:off x="6419088" y="2084832"/>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Multiplied into the direction before it is added. Negative flips the concept; magnitude sets intensity. Push it too far and fluency collapses before the behaviour does.</a:t>
            </a:r>
            <a:endParaRPr lang="en-US" sz="1050" dirty="0"/>
          </a:p>
        </p:txBody>
      </p:sp>
      <p:sp>
        <p:nvSpPr>
          <p:cNvPr id="16" name="Shape 12"/>
          <p:cNvSpPr/>
          <p:nvPr/>
        </p:nvSpPr>
        <p:spPr>
          <a:xfrm>
            <a:off x="548640" y="3145536"/>
            <a:ext cx="5394960" cy="1417320"/>
          </a:xfrm>
          <a:prstGeom prst="roundRect">
            <a:avLst>
              <a:gd name="adj" fmla="val 5161"/>
            </a:avLst>
          </a:prstGeom>
          <a:solidFill>
            <a:srgbClr val="F4F1E8"/>
          </a:solidFill>
          <a:ln w="12700">
            <a:solidFill>
              <a:srgbClr val="DCE7EC"/>
            </a:solidFill>
            <a:prstDash val="solid"/>
          </a:ln>
        </p:spPr>
      </p:sp>
      <p:sp>
        <p:nvSpPr>
          <p:cNvPr id="17" name="Shape 13"/>
          <p:cNvSpPr/>
          <p:nvPr/>
        </p:nvSpPr>
        <p:spPr>
          <a:xfrm>
            <a:off x="749808" y="3346704"/>
            <a:ext cx="402336" cy="402336"/>
          </a:xfrm>
          <a:prstGeom prst="ellipse">
            <a:avLst/>
          </a:prstGeom>
          <a:solidFill>
            <a:srgbClr val="1C7293"/>
          </a:solidFill>
          <a:ln/>
        </p:spPr>
      </p:sp>
      <p:pic>
        <p:nvPicPr>
          <p:cNvPr id="18" name="Image 2" descr="/home/claude/work/icons/layers.png">    </p:cNvPr>
          <p:cNvPicPr>
            <a:picLocks noChangeAspect="1"/>
          </p:cNvPicPr>
          <p:nvPr/>
        </p:nvPicPr>
        <p:blipFill>
          <a:blip r:embed="rId3"/>
          <a:stretch>
            <a:fillRect/>
          </a:stretch>
        </p:blipFill>
        <p:spPr>
          <a:xfrm>
            <a:off x="854415" y="3451311"/>
            <a:ext cx="193121" cy="193121"/>
          </a:xfrm>
          <a:prstGeom prst="rect">
            <a:avLst/>
          </a:prstGeom>
        </p:spPr>
      </p:pic>
      <p:sp>
        <p:nvSpPr>
          <p:cNvPr id="19" name="Text 14"/>
          <p:cNvSpPr/>
          <p:nvPr/>
        </p:nvSpPr>
        <p:spPr>
          <a:xfrm>
            <a:off x="1261872" y="3291840"/>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layer_ids</a:t>
            </a:r>
            <a:endParaRPr lang="en-US" sz="1350" dirty="0"/>
          </a:p>
        </p:txBody>
      </p:sp>
      <p:sp>
        <p:nvSpPr>
          <p:cNvPr id="20" name="Text 15"/>
          <p:cNvSpPr/>
          <p:nvPr/>
        </p:nvSpPr>
        <p:spPr>
          <a:xfrm>
            <a:off x="2880360" y="3319272"/>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list[int] on ControlModel</a:t>
            </a:r>
            <a:endParaRPr lang="en-US" sz="950" dirty="0"/>
          </a:p>
        </p:txBody>
      </p:sp>
      <p:sp>
        <p:nvSpPr>
          <p:cNvPr id="21" name="Text 16"/>
          <p:cNvSpPr/>
          <p:nvPr/>
        </p:nvSpPr>
        <p:spPr>
          <a:xfrm>
            <a:off x="749808" y="3657600"/>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Which decoder blocks are wrapped at all. Negative indices count from the end. This is a second strength dial hiding as a structural choice.</a:t>
            </a:r>
            <a:endParaRPr lang="en-US" sz="1050" dirty="0"/>
          </a:p>
        </p:txBody>
      </p:sp>
      <p:sp>
        <p:nvSpPr>
          <p:cNvPr id="22" name="Shape 17"/>
          <p:cNvSpPr/>
          <p:nvPr/>
        </p:nvSpPr>
        <p:spPr>
          <a:xfrm>
            <a:off x="6217920" y="3145536"/>
            <a:ext cx="5394960" cy="1417320"/>
          </a:xfrm>
          <a:prstGeom prst="roundRect">
            <a:avLst>
              <a:gd name="adj" fmla="val 5161"/>
            </a:avLst>
          </a:prstGeom>
          <a:solidFill>
            <a:srgbClr val="F2F8FA"/>
          </a:solidFill>
          <a:ln w="12700">
            <a:solidFill>
              <a:srgbClr val="DCE7EC"/>
            </a:solidFill>
            <a:prstDash val="solid"/>
          </a:ln>
        </p:spPr>
      </p:sp>
      <p:sp>
        <p:nvSpPr>
          <p:cNvPr id="23" name="Shape 18"/>
          <p:cNvSpPr/>
          <p:nvPr/>
        </p:nvSpPr>
        <p:spPr>
          <a:xfrm>
            <a:off x="6419088" y="3346704"/>
            <a:ext cx="402336" cy="402336"/>
          </a:xfrm>
          <a:prstGeom prst="ellipse">
            <a:avLst/>
          </a:prstGeom>
          <a:solidFill>
            <a:srgbClr val="065A82"/>
          </a:solidFill>
          <a:ln/>
        </p:spPr>
      </p:sp>
      <p:pic>
        <p:nvPicPr>
          <p:cNvPr id="24" name="Image 3" descr="/home/claude/work/icons/scale.png">    </p:cNvPr>
          <p:cNvPicPr>
            <a:picLocks noChangeAspect="1"/>
          </p:cNvPicPr>
          <p:nvPr/>
        </p:nvPicPr>
        <p:blipFill>
          <a:blip r:embed="rId4"/>
          <a:stretch>
            <a:fillRect/>
          </a:stretch>
        </p:blipFill>
        <p:spPr>
          <a:xfrm>
            <a:off x="6523695" y="3451311"/>
            <a:ext cx="193121" cy="193121"/>
          </a:xfrm>
          <a:prstGeom prst="rect">
            <a:avLst/>
          </a:prstGeom>
        </p:spPr>
      </p:pic>
      <p:sp>
        <p:nvSpPr>
          <p:cNvPr id="25" name="Text 19"/>
          <p:cNvSpPr/>
          <p:nvPr/>
        </p:nvSpPr>
        <p:spPr>
          <a:xfrm>
            <a:off x="6931152" y="3291840"/>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normalize</a:t>
            </a:r>
            <a:endParaRPr lang="en-US" sz="1350" dirty="0"/>
          </a:p>
        </p:txBody>
      </p:sp>
      <p:sp>
        <p:nvSpPr>
          <p:cNvPr id="26" name="Text 20"/>
          <p:cNvSpPr/>
          <p:nvPr/>
        </p:nvSpPr>
        <p:spPr>
          <a:xfrm>
            <a:off x="8549640" y="3319272"/>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bool, default False</a:t>
            </a:r>
            <a:endParaRPr lang="en-US" sz="950" dirty="0"/>
          </a:p>
        </p:txBody>
      </p:sp>
      <p:sp>
        <p:nvSpPr>
          <p:cNvPr id="27" name="Text 21"/>
          <p:cNvSpPr/>
          <p:nvPr/>
        </p:nvSpPr>
        <p:spPr>
          <a:xfrm>
            <a:off x="6419088" y="3657600"/>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Rescales the steered activation back to its pre-control magnitude, so the direction changes but the length does not.</a:t>
            </a:r>
            <a:endParaRPr lang="en-US" sz="1050" dirty="0"/>
          </a:p>
        </p:txBody>
      </p:sp>
      <p:sp>
        <p:nvSpPr>
          <p:cNvPr id="28" name="Shape 22"/>
          <p:cNvSpPr/>
          <p:nvPr/>
        </p:nvSpPr>
        <p:spPr>
          <a:xfrm>
            <a:off x="548640" y="4718304"/>
            <a:ext cx="5394960" cy="1417320"/>
          </a:xfrm>
          <a:prstGeom prst="roundRect">
            <a:avLst>
              <a:gd name="adj" fmla="val 5161"/>
            </a:avLst>
          </a:prstGeom>
          <a:solidFill>
            <a:srgbClr val="F2F8FA"/>
          </a:solidFill>
          <a:ln w="12700">
            <a:solidFill>
              <a:srgbClr val="DCE7EC"/>
            </a:solidFill>
            <a:prstDash val="solid"/>
          </a:ln>
        </p:spPr>
      </p:sp>
      <p:sp>
        <p:nvSpPr>
          <p:cNvPr id="29" name="Shape 23"/>
          <p:cNvSpPr/>
          <p:nvPr/>
        </p:nvSpPr>
        <p:spPr>
          <a:xfrm>
            <a:off x="749808" y="4919472"/>
            <a:ext cx="402336" cy="402336"/>
          </a:xfrm>
          <a:prstGeom prst="ellipse">
            <a:avLst/>
          </a:prstGeom>
          <a:solidFill>
            <a:srgbClr val="065A82"/>
          </a:solidFill>
          <a:ln/>
        </p:spPr>
      </p:sp>
      <p:pic>
        <p:nvPicPr>
          <p:cNvPr id="30" name="Image 4" descr="/home/claude/work/icons/math.png">    </p:cNvPr>
          <p:cNvPicPr>
            <a:picLocks noChangeAspect="1"/>
          </p:cNvPicPr>
          <p:nvPr/>
        </p:nvPicPr>
        <p:blipFill>
          <a:blip r:embed="rId5"/>
          <a:stretch>
            <a:fillRect/>
          </a:stretch>
        </p:blipFill>
        <p:spPr>
          <a:xfrm>
            <a:off x="854415" y="5024079"/>
            <a:ext cx="193121" cy="193121"/>
          </a:xfrm>
          <a:prstGeom prst="rect">
            <a:avLst/>
          </a:prstGeom>
        </p:spPr>
      </p:pic>
      <p:sp>
        <p:nvSpPr>
          <p:cNvPr id="31" name="Text 24"/>
          <p:cNvSpPr/>
          <p:nvPr/>
        </p:nvSpPr>
        <p:spPr>
          <a:xfrm>
            <a:off x="1261872" y="4864608"/>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operator</a:t>
            </a:r>
            <a:endParaRPr lang="en-US" sz="1350" dirty="0"/>
          </a:p>
        </p:txBody>
      </p:sp>
      <p:sp>
        <p:nvSpPr>
          <p:cNvPr id="32" name="Text 25"/>
          <p:cNvSpPr/>
          <p:nvPr/>
        </p:nvSpPr>
        <p:spPr>
          <a:xfrm>
            <a:off x="2880360" y="4892040"/>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Callable[[Tensor, Tensor], Tensor]</a:t>
            </a:r>
            <a:endParaRPr lang="en-US" sz="950" dirty="0"/>
          </a:p>
        </p:txBody>
      </p:sp>
      <p:sp>
        <p:nvSpPr>
          <p:cNvPr id="33" name="Text 26"/>
          <p:cNvSpPr/>
          <p:nvPr/>
        </p:nvSpPr>
        <p:spPr>
          <a:xfrm>
            <a:off x="749808" y="5230368"/>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How the control is combined with the block output. Defaults to addition; swap it for projection, clamping, or anything else two-tensor.</a:t>
            </a:r>
            <a:endParaRPr lang="en-US" sz="1050" dirty="0"/>
          </a:p>
        </p:txBody>
      </p:sp>
      <p:sp>
        <p:nvSpPr>
          <p:cNvPr id="34" name="Shape 27"/>
          <p:cNvSpPr/>
          <p:nvPr/>
        </p:nvSpPr>
        <p:spPr>
          <a:xfrm>
            <a:off x="6217920" y="4718304"/>
            <a:ext cx="5394960" cy="1417320"/>
          </a:xfrm>
          <a:prstGeom prst="roundRect">
            <a:avLst>
              <a:gd name="adj" fmla="val 5161"/>
            </a:avLst>
          </a:prstGeom>
          <a:solidFill>
            <a:srgbClr val="F2F8FA"/>
          </a:solidFill>
          <a:ln w="12700">
            <a:solidFill>
              <a:srgbClr val="DCE7EC"/>
            </a:solidFill>
            <a:prstDash val="solid"/>
          </a:ln>
        </p:spPr>
      </p:sp>
      <p:sp>
        <p:nvSpPr>
          <p:cNvPr id="35" name="Shape 28"/>
          <p:cNvSpPr/>
          <p:nvPr/>
        </p:nvSpPr>
        <p:spPr>
          <a:xfrm>
            <a:off x="6419088" y="4919472"/>
            <a:ext cx="402336" cy="402336"/>
          </a:xfrm>
          <a:prstGeom prst="ellipse">
            <a:avLst/>
          </a:prstGeom>
          <a:solidFill>
            <a:srgbClr val="065A82"/>
          </a:solidFill>
          <a:ln/>
        </p:spPr>
      </p:sp>
      <p:pic>
        <p:nvPicPr>
          <p:cNvPr id="36" name="Image 5" descr="/home/claude/work/icons/cpu.png">    </p:cNvPr>
          <p:cNvPicPr>
            <a:picLocks noChangeAspect="1"/>
          </p:cNvPicPr>
          <p:nvPr/>
        </p:nvPicPr>
        <p:blipFill>
          <a:blip r:embed="rId6"/>
          <a:stretch>
            <a:fillRect/>
          </a:stretch>
        </p:blipFill>
        <p:spPr>
          <a:xfrm>
            <a:off x="6523695" y="5024079"/>
            <a:ext cx="193121" cy="193121"/>
          </a:xfrm>
          <a:prstGeom prst="rect">
            <a:avLst/>
          </a:prstGeom>
        </p:spPr>
      </p:pic>
      <p:sp>
        <p:nvSpPr>
          <p:cNvPr id="37" name="Text 29"/>
          <p:cNvSpPr/>
          <p:nvPr/>
        </p:nvSpPr>
        <p:spPr>
          <a:xfrm>
            <a:off x="6931152" y="4864608"/>
            <a:ext cx="1828800" cy="292608"/>
          </a:xfrm>
          <a:prstGeom prst="rect">
            <a:avLst/>
          </a:prstGeom>
          <a:noFill/>
          <a:ln/>
        </p:spPr>
        <p:txBody>
          <a:bodyPr wrap="square" lIns="0" tIns="0" rIns="0" bIns="0" rtlCol="0" anchor="ctr"/>
          <a:lstStyle/>
          <a:p>
            <a:pPr indent="0" marL="0">
              <a:buNone/>
            </a:pPr>
            <a:r>
              <a:rPr lang="en-US" sz="1350" b="1" dirty="0">
                <a:solidFill>
                  <a:srgbClr val="065A82"/>
                </a:solidFill>
                <a:latin typeface="Courier New" pitchFamily="34" charset="0"/>
                <a:ea typeface="Courier New" pitchFamily="34" charset="-122"/>
                <a:cs typeface="Courier New" pitchFamily="34" charset="-120"/>
              </a:rPr>
              <a:t>batch_size</a:t>
            </a:r>
            <a:endParaRPr lang="en-US" sz="1350" dirty="0"/>
          </a:p>
        </p:txBody>
      </p:sp>
      <p:sp>
        <p:nvSpPr>
          <p:cNvPr id="38" name="Text 30"/>
          <p:cNvSpPr/>
          <p:nvPr/>
        </p:nvSpPr>
        <p:spPr>
          <a:xfrm>
            <a:off x="8549640" y="4892040"/>
            <a:ext cx="2926080" cy="256032"/>
          </a:xfrm>
          <a:prstGeom prst="rect">
            <a:avLst/>
          </a:prstGeom>
          <a:noFill/>
          <a:ln/>
        </p:spPr>
        <p:txBody>
          <a:bodyPr wrap="square" lIns="0" tIns="0" rIns="0" bIns="0" rtlCol="0" anchor="ctr"/>
          <a:lstStyle/>
          <a:p>
            <a:pPr algn="r" indent="0" marL="0">
              <a:buNone/>
            </a:pPr>
            <a:r>
              <a:rPr lang="en-US" sz="950" dirty="0">
                <a:solidFill>
                  <a:srgbClr val="5C7080"/>
                </a:solidFill>
                <a:latin typeface="Courier New" pitchFamily="34" charset="0"/>
                <a:ea typeface="Courier New" pitchFamily="34" charset="-122"/>
                <a:cs typeface="Courier New" pitchFamily="34" charset="-120"/>
              </a:rPr>
              <a:t>int, default 32</a:t>
            </a:r>
            <a:endParaRPr lang="en-US" sz="950" dirty="0"/>
          </a:p>
        </p:txBody>
      </p:sp>
      <p:sp>
        <p:nvSpPr>
          <p:cNvPr id="39" name="Text 31"/>
          <p:cNvSpPr/>
          <p:nvPr/>
        </p:nvSpPr>
        <p:spPr>
          <a:xfrm>
            <a:off x="6419088" y="5230368"/>
            <a:ext cx="5029200" cy="841248"/>
          </a:xfrm>
          <a:prstGeom prst="rect">
            <a:avLst/>
          </a:prstGeom>
          <a:noFill/>
          <a:ln/>
        </p:spPr>
        <p:txBody>
          <a:bodyPr wrap="square" lIns="0" tIns="0" rIns="0" bIns="0" rtlCol="0" anchor="ctr"/>
          <a:lstStyle/>
          <a:p>
            <a:pPr indent="0" marL="0">
              <a:lnSpc>
                <a:spcPct val="115000"/>
              </a:lnSpc>
              <a:buNone/>
            </a:pPr>
            <a:r>
              <a:rPr lang="en-US" sz="1050" dirty="0">
                <a:solidFill>
                  <a:srgbClr val="1B2733"/>
                </a:solidFill>
                <a:latin typeface="Calibri" pitchFamily="34" charset="0"/>
                <a:ea typeface="Calibri" pitchFamily="34" charset="-122"/>
                <a:cs typeface="Calibri" pitchFamily="34" charset="-120"/>
              </a:rPr>
              <a:t>Forward-pass batch during training only. Lower it when memory is tight; it does not affect the resulting vector.</a:t>
            </a:r>
            <a:endParaRPr lang="en-US" sz="1050" dirty="0"/>
          </a:p>
        </p:txBody>
      </p:sp>
      <p:sp>
        <p:nvSpPr>
          <p:cNvPr id="40" name="Text 32"/>
          <p:cNvSpPr/>
          <p:nvPr/>
        </p:nvSpPr>
        <p:spPr>
          <a:xfrm>
            <a:off x="548640" y="6163056"/>
            <a:ext cx="11064240" cy="274320"/>
          </a:xfrm>
          <a:prstGeom prst="rect">
            <a:avLst/>
          </a:prstGeom>
          <a:noFill/>
          <a:ln/>
        </p:spPr>
        <p:txBody>
          <a:bodyPr wrap="square" lIns="0" tIns="0" rIns="0" bIns="0" rtlCol="0" anchor="ctr"/>
          <a:lstStyle/>
          <a:p>
            <a:pPr indent="0" marL="0">
              <a:buNone/>
            </a:pPr>
            <a:r>
              <a:rPr lang="en-US" sz="1050" i="1" dirty="0">
                <a:solidFill>
                  <a:srgbClr val="5C7080"/>
                </a:solidFill>
                <a:latin typeface="Calibri" pitchFamily="34" charset="0"/>
                <a:ea typeface="Calibri" pitchFamily="34" charset="-122"/>
                <a:cs typeface="Calibri" pitchFamily="34" charset="-120"/>
              </a:rPr>
              <a:t>compute_hiddens and transform_hiddens (added in 0.5.0) let you replace or post-process the activation matrix entirely — the extension point the SAE path is built on.</a:t>
            </a:r>
            <a:endParaRPr lang="en-US" sz="1050" dirty="0"/>
          </a:p>
        </p:txBody>
      </p:sp>
      <p:sp>
        <p:nvSpPr>
          <p:cNvPr id="41" name="Text 33"/>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2"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CONTROLS · DEEP DIVE</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Layer Targeting: Absolute Indices Don't Transfer</a:t>
            </a:r>
            <a:endParaRPr lang="en-US" sz="3000" dirty="0"/>
          </a:p>
        </p:txBody>
      </p:sp>
      <p:sp>
        <p:nvSpPr>
          <p:cNvPr id="4" name="Shape 2"/>
          <p:cNvSpPr/>
          <p:nvPr/>
        </p:nvSpPr>
        <p:spPr>
          <a:xfrm>
            <a:off x="548640" y="1572768"/>
            <a:ext cx="5394960" cy="1371600"/>
          </a:xfrm>
          <a:prstGeom prst="roundRect">
            <a:avLst>
              <a:gd name="adj" fmla="val 5333"/>
            </a:avLst>
          </a:prstGeom>
          <a:solidFill>
            <a:srgbClr val="F4F1E8"/>
          </a:solidFill>
          <a:ln w="12700">
            <a:solidFill>
              <a:srgbClr val="D8D2C0"/>
            </a:solidFill>
            <a:prstDash val="solid"/>
          </a:ln>
        </p:spPr>
      </p:sp>
      <p:sp>
        <p:nvSpPr>
          <p:cNvPr id="5" name="Text 3"/>
          <p:cNvSpPr/>
          <p:nvPr/>
        </p:nvSpPr>
        <p:spPr>
          <a:xfrm>
            <a:off x="777240" y="1682496"/>
            <a:ext cx="4937760" cy="292608"/>
          </a:xfrm>
          <a:prstGeom prst="rect">
            <a:avLst/>
          </a:prstGeom>
          <a:noFill/>
          <a:ln/>
        </p:spPr>
        <p:txBody>
          <a:bodyPr wrap="square" lIns="0" tIns="0" rIns="0" bIns="0" rtlCol="0" anchor="ctr"/>
          <a:lstStyle/>
          <a:p>
            <a:pPr indent="0" marL="0">
              <a:buNone/>
            </a:pPr>
            <a:r>
              <a:rPr lang="en-US" sz="1400" b="1" dirty="0">
                <a:solidFill>
                  <a:srgbClr val="8A4B2A"/>
                </a:solidFill>
                <a:latin typeface="Courier New" pitchFamily="34" charset="0"/>
                <a:ea typeface="Courier New" pitchFamily="34" charset="-122"/>
                <a:cs typeface="Courier New" pitchFamily="34" charset="-120"/>
              </a:rPr>
              <a:t>list(range(-5, -18, -1))</a:t>
            </a:r>
            <a:endParaRPr lang="en-US" sz="1400" dirty="0"/>
          </a:p>
        </p:txBody>
      </p:sp>
      <p:sp>
        <p:nvSpPr>
          <p:cNvPr id="6" name="Text 4"/>
          <p:cNvSpPr/>
          <p:nvPr/>
        </p:nvSpPr>
        <p:spPr>
          <a:xfrm>
            <a:off x="777240" y="2011680"/>
            <a:ext cx="4937760" cy="822960"/>
          </a:xfrm>
          <a:prstGeom prst="rect">
            <a:avLst/>
          </a:prstGeom>
          <a:noFill/>
          <a:ln/>
        </p:spPr>
        <p:txBody>
          <a:bodyPr wrap="square" lIns="0" tIns="0" rIns="0" bIns="0" rtlCol="0" anchor="ctr"/>
          <a:lstStyle/>
          <a:p>
            <a:pPr indent="0" marL="0">
              <a:lnSpc>
                <a:spcPct val="120000"/>
              </a:lnSpc>
              <a:buNone/>
            </a:pPr>
            <a:r>
              <a:rPr lang="en-US" sz="1050" b="1" dirty="0">
                <a:solidFill>
                  <a:srgbClr val="1B2733"/>
                </a:solidFill>
                <a:latin typeface="Calibri" pitchFamily="34" charset="0"/>
                <a:ea typeface="Calibri" pitchFamily="34" charset="-122"/>
                <a:cs typeface="Calibri" pitchFamily="34" charset="-120"/>
              </a:rPr>
              <a:t>on Mistral-7B (32 layers)</a:t>
            </a:r>
            <a:pPr indent="0" marL="0">
              <a:lnSpc>
                <a:spcPct val="120000"/>
              </a:lnSpc>
              <a:buNone/>
            </a:pPr>
            <a:r>
              <a:rPr lang="en-US" sz="1050" dirty="0">
                <a:solidFill>
                  <a:srgbClr val="1B2733"/>
                </a:solidFill>
                <a:latin typeface="Calibri" pitchFamily="34" charset="0"/>
                <a:ea typeface="Calibri" pitchFamily="34" charset="-122"/>
                <a:cs typeface="Calibri" pitchFamily="34" charset="-120"/>
              </a:rPr>
              <a:t>  →  layers 15–27, i.e. 47%–84% of depth.
</a:t>
            </a:r>
            <a:pPr indent="0" marL="0">
              <a:lnSpc>
                <a:spcPct val="120000"/>
              </a:lnSpc>
              <a:buNone/>
            </a:pPr>
            <a:r>
              <a:rPr lang="en-US" sz="1050" b="1" dirty="0">
                <a:solidFill>
                  <a:srgbClr val="1B2733"/>
                </a:solidFill>
                <a:latin typeface="Calibri" pitchFamily="34" charset="0"/>
                <a:ea typeface="Calibri" pitchFamily="34" charset="-122"/>
                <a:cs typeface="Calibri" pitchFamily="34" charset="-120"/>
              </a:rPr>
              <a:t>on Qwen2.5-0.5B (24 layers)</a:t>
            </a:r>
            <a:pPr indent="0" marL="0">
              <a:lnSpc>
                <a:spcPct val="120000"/>
              </a:lnSpc>
              <a:buNone/>
            </a:pPr>
            <a:r>
              <a:rPr lang="en-US" sz="1050" dirty="0">
                <a:solidFill>
                  <a:srgbClr val="1B2733"/>
                </a:solidFill>
                <a:latin typeface="Calibri" pitchFamily="34" charset="0"/>
                <a:ea typeface="Calibri" pitchFamily="34" charset="-122"/>
                <a:cs typeface="Calibri" pitchFamily="34" charset="-120"/>
              </a:rPr>
              <a:t>  →  layers 7–19, i.e. 29%–79%.  The same literal expression aims somewhere else.</a:t>
            </a:r>
            <a:endParaRPr lang="en-US" sz="1050" dirty="0"/>
          </a:p>
        </p:txBody>
      </p:sp>
      <p:sp>
        <p:nvSpPr>
          <p:cNvPr id="7" name="Text 5"/>
          <p:cNvSpPr/>
          <p:nvPr/>
        </p:nvSpPr>
        <p:spPr>
          <a:xfrm>
            <a:off x="6172200" y="1600200"/>
            <a:ext cx="5440680" cy="1325880"/>
          </a:xfrm>
          <a:prstGeom prst="rect">
            <a:avLst/>
          </a:prstGeom>
          <a:noFill/>
          <a:ln/>
        </p:spPr>
        <p:txBody>
          <a:bodyPr wrap="square" rtlCol="0" anchor="ctr"/>
          <a:lstStyle/>
          <a:p>
            <a:pPr indent="0" marL="0">
              <a:lnSpc>
                <a:spcPct val="122000"/>
              </a:lnSpc>
              <a:buNone/>
            </a:pPr>
            <a:r>
              <a:rPr lang="en-US" sz="1150" dirty="0">
                <a:solidFill>
                  <a:srgbClr val="1B2733"/>
                </a:solidFill>
                <a:latin typeface="Calibri" pitchFamily="34" charset="0"/>
                <a:ea typeface="Calibri" pitchFamily="34" charset="-122"/>
                <a:cs typeface="Calibri" pitchFamily="34" charset="-120"/>
              </a:rPr>
              <a:t>Negative indices resolve against the model's own layer count, so an absolute range silently retargets when the model changes size. Matching the depth fraction instead gives range(-4, -14, -1) here — but treat that as a starting point, not an answer. The band is a hyperparameter: sweep it per model, the way the table does.</a:t>
            </a:r>
            <a:endParaRPr lang="en-US" sz="1150" dirty="0"/>
          </a:p>
        </p:txBody>
      </p:sp>
      <p:sp>
        <p:nvSpPr>
          <p:cNvPr id="8" name="Text 6"/>
          <p:cNvSpPr/>
          <p:nvPr/>
        </p:nvSpPr>
        <p:spPr>
          <a:xfrm>
            <a:off x="548640" y="3063240"/>
            <a:ext cx="11064240" cy="292608"/>
          </a:xfrm>
          <a:prstGeom prst="rect">
            <a:avLst/>
          </a:prstGeom>
          <a:noFill/>
          <a:ln/>
        </p:spPr>
        <p:txBody>
          <a:bodyPr wrap="square"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Measured on Qwen2.5-0.5B-Instruct — one formal/casual vector, held constant, applied to different bands at ±1.5:</a:t>
            </a:r>
            <a:endParaRPr lang="en-US" sz="1150" dirty="0"/>
          </a:p>
        </p:txBody>
      </p:sp>
      <p:sp>
        <p:nvSpPr>
          <p:cNvPr id="9" name="Shape 7"/>
          <p:cNvSpPr/>
          <p:nvPr/>
        </p:nvSpPr>
        <p:spPr>
          <a:xfrm>
            <a:off x="548640" y="3456432"/>
            <a:ext cx="11064240" cy="310896"/>
          </a:xfrm>
          <a:prstGeom prst="rect">
            <a:avLst/>
          </a:prstGeom>
          <a:solidFill>
            <a:srgbClr val="21295C"/>
          </a:solidFill>
          <a:ln/>
        </p:spPr>
      </p:sp>
      <p:sp>
        <p:nvSpPr>
          <p:cNvPr id="10" name="Text 8"/>
          <p:cNvSpPr/>
          <p:nvPr/>
        </p:nvSpPr>
        <p:spPr>
          <a:xfrm>
            <a:off x="685800" y="3456432"/>
            <a:ext cx="2743200" cy="310896"/>
          </a:xfrm>
          <a:prstGeom prst="rect">
            <a:avLst/>
          </a:prstGeom>
          <a:noFill/>
          <a:ln/>
        </p:spPr>
        <p:txBody>
          <a:bodyPr wrap="square" lIns="0" tIns="0" rIns="0" bIns="0" rtlCol="0" anchor="ctr"/>
          <a:lstStyle/>
          <a:p>
            <a:pPr indent="0" marL="0">
              <a:buNone/>
            </a:pPr>
            <a:r>
              <a:rPr lang="en-US" sz="900" b="1" spc="100" kern="0" dirty="0">
                <a:solidFill>
                  <a:srgbClr val="BFE0EE"/>
                </a:solidFill>
                <a:latin typeface="Calibri" pitchFamily="34" charset="0"/>
                <a:ea typeface="Calibri" pitchFamily="34" charset="-122"/>
                <a:cs typeface="Calibri" pitchFamily="34" charset="-120"/>
              </a:rPr>
              <a:t>BAND</a:t>
            </a:r>
            <a:endParaRPr lang="en-US" sz="900" dirty="0"/>
          </a:p>
        </p:txBody>
      </p:sp>
      <p:sp>
        <p:nvSpPr>
          <p:cNvPr id="11" name="Text 9"/>
          <p:cNvSpPr/>
          <p:nvPr/>
        </p:nvSpPr>
        <p:spPr>
          <a:xfrm>
            <a:off x="3474720" y="3456432"/>
            <a:ext cx="1097280" cy="310896"/>
          </a:xfrm>
          <a:prstGeom prst="rect">
            <a:avLst/>
          </a:prstGeom>
          <a:noFill/>
          <a:ln/>
        </p:spPr>
        <p:txBody>
          <a:bodyPr wrap="square" lIns="0" tIns="0" rIns="0" bIns="0" rtlCol="0" anchor="ctr"/>
          <a:lstStyle/>
          <a:p>
            <a:pPr indent="0" marL="0">
              <a:buNone/>
            </a:pPr>
            <a:r>
              <a:rPr lang="en-US" sz="900" b="1" spc="100" kern="0" dirty="0">
                <a:solidFill>
                  <a:srgbClr val="BFE0EE"/>
                </a:solidFill>
                <a:latin typeface="Calibri" pitchFamily="34" charset="0"/>
                <a:ea typeface="Calibri" pitchFamily="34" charset="-122"/>
                <a:cs typeface="Calibri" pitchFamily="34" charset="-120"/>
              </a:rPr>
              <a:t>LAYERS</a:t>
            </a:r>
            <a:endParaRPr lang="en-US" sz="900" dirty="0"/>
          </a:p>
        </p:txBody>
      </p:sp>
      <p:sp>
        <p:nvSpPr>
          <p:cNvPr id="12" name="Text 10"/>
          <p:cNvSpPr/>
          <p:nvPr/>
        </p:nvSpPr>
        <p:spPr>
          <a:xfrm>
            <a:off x="4663440" y="3456432"/>
            <a:ext cx="6766560" cy="310896"/>
          </a:xfrm>
          <a:prstGeom prst="rect">
            <a:avLst/>
          </a:prstGeom>
          <a:noFill/>
          <a:ln/>
        </p:spPr>
        <p:txBody>
          <a:bodyPr wrap="square" lIns="0" tIns="0" rIns="0" bIns="0" rtlCol="0" anchor="ctr"/>
          <a:lstStyle/>
          <a:p>
            <a:pPr indent="0" marL="0">
              <a:buNone/>
            </a:pPr>
            <a:r>
              <a:rPr lang="en-US" sz="900" b="1" spc="100" kern="0" dirty="0">
                <a:solidFill>
                  <a:srgbClr val="BFE0EE"/>
                </a:solidFill>
                <a:latin typeface="Calibri" pitchFamily="34" charset="0"/>
                <a:ea typeface="Calibri" pitchFamily="34" charset="-122"/>
                <a:cs typeface="Calibri" pitchFamily="34" charset="-120"/>
              </a:rPr>
              <a:t>WHAT ACTUALLY HAPPENS</a:t>
            </a:r>
            <a:endParaRPr lang="en-US" sz="900" dirty="0"/>
          </a:p>
        </p:txBody>
      </p:sp>
      <p:sp>
        <p:nvSpPr>
          <p:cNvPr id="13" name="Shape 11"/>
          <p:cNvSpPr/>
          <p:nvPr/>
        </p:nvSpPr>
        <p:spPr>
          <a:xfrm>
            <a:off x="548640" y="3767328"/>
            <a:ext cx="11064240" cy="310896"/>
          </a:xfrm>
          <a:prstGeom prst="rect">
            <a:avLst/>
          </a:prstGeom>
          <a:solidFill>
            <a:srgbClr val="F2F8FA"/>
          </a:solidFill>
          <a:ln/>
        </p:spPr>
      </p:sp>
      <p:sp>
        <p:nvSpPr>
          <p:cNvPr id="14" name="Text 12"/>
          <p:cNvSpPr/>
          <p:nvPr/>
        </p:nvSpPr>
        <p:spPr>
          <a:xfrm>
            <a:off x="685800" y="3767328"/>
            <a:ext cx="2743200" cy="310896"/>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depth-matched</a:t>
            </a:r>
            <a:endParaRPr lang="en-US" sz="1050" dirty="0"/>
          </a:p>
        </p:txBody>
      </p:sp>
      <p:sp>
        <p:nvSpPr>
          <p:cNvPr id="15" name="Text 13"/>
          <p:cNvSpPr/>
          <p:nvPr/>
        </p:nvSpPr>
        <p:spPr>
          <a:xfrm>
            <a:off x="3474720" y="3767328"/>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11–20</a:t>
            </a:r>
            <a:endParaRPr lang="en-US" sz="1050" dirty="0"/>
          </a:p>
        </p:txBody>
      </p:sp>
      <p:sp>
        <p:nvSpPr>
          <p:cNvPr id="16" name="Text 14"/>
          <p:cNvSpPr/>
          <p:nvPr/>
        </p:nvSpPr>
        <p:spPr>
          <a:xfrm>
            <a:off x="4663440" y="3767328"/>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cleanest: both directions fluent and still answering the question</a:t>
            </a:r>
            <a:endParaRPr lang="en-US" sz="1050" dirty="0"/>
          </a:p>
        </p:txBody>
      </p:sp>
      <p:sp>
        <p:nvSpPr>
          <p:cNvPr id="17" name="Shape 15"/>
          <p:cNvSpPr/>
          <p:nvPr/>
        </p:nvSpPr>
        <p:spPr>
          <a:xfrm>
            <a:off x="548640" y="4078224"/>
            <a:ext cx="11064240" cy="310896"/>
          </a:xfrm>
          <a:prstGeom prst="rect">
            <a:avLst/>
          </a:prstGeom>
          <a:solidFill>
            <a:srgbClr val="FFFFFF"/>
          </a:solidFill>
          <a:ln/>
        </p:spPr>
      </p:sp>
      <p:sp>
        <p:nvSpPr>
          <p:cNvPr id="18" name="Text 16"/>
          <p:cNvSpPr/>
          <p:nvPr/>
        </p:nvSpPr>
        <p:spPr>
          <a:xfrm>
            <a:off x="685800" y="4078224"/>
            <a:ext cx="2743200" cy="310896"/>
          </a:xfrm>
          <a:prstGeom prst="rect">
            <a:avLst/>
          </a:prstGeom>
          <a:noFill/>
          <a:ln/>
        </p:spPr>
        <p:txBody>
          <a:bodyPr wrap="square" lIns="0" tIns="0" rIns="0" bIns="0" rtlCol="0" anchor="ctr"/>
          <a:lstStyle/>
          <a:p>
            <a:pPr indent="0" marL="0">
              <a:buNone/>
            </a:pPr>
            <a:r>
              <a:rPr lang="en-US" sz="1050" b="1" dirty="0">
                <a:solidFill>
                  <a:srgbClr val="3A7D5A"/>
                </a:solidFill>
                <a:latin typeface="Calibri" pitchFamily="34" charset="0"/>
                <a:ea typeface="Calibri" pitchFamily="34" charset="-122"/>
                <a:cs typeface="Calibri" pitchFamily="34" charset="-120"/>
              </a:rPr>
              <a:t>late only</a:t>
            </a:r>
            <a:endParaRPr lang="en-US" sz="1050" dirty="0"/>
          </a:p>
        </p:txBody>
      </p:sp>
      <p:sp>
        <p:nvSpPr>
          <p:cNvPr id="19" name="Text 17"/>
          <p:cNvSpPr/>
          <p:nvPr/>
        </p:nvSpPr>
        <p:spPr>
          <a:xfrm>
            <a:off x="3474720" y="4078224"/>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16–23</a:t>
            </a:r>
            <a:endParaRPr lang="en-US" sz="1050" dirty="0"/>
          </a:p>
        </p:txBody>
      </p:sp>
      <p:sp>
        <p:nvSpPr>
          <p:cNvPr id="20" name="Text 18"/>
          <p:cNvSpPr/>
          <p:nvPr/>
        </p:nvSpPr>
        <p:spPr>
          <a:xfrm>
            <a:off x="4663440" y="4078224"/>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works; the shift reads as genre rather than register</a:t>
            </a:r>
            <a:endParaRPr lang="en-US" sz="1050" dirty="0"/>
          </a:p>
        </p:txBody>
      </p:sp>
      <p:sp>
        <p:nvSpPr>
          <p:cNvPr id="21" name="Shape 19"/>
          <p:cNvSpPr/>
          <p:nvPr/>
        </p:nvSpPr>
        <p:spPr>
          <a:xfrm>
            <a:off x="548640" y="4389120"/>
            <a:ext cx="11064240" cy="310896"/>
          </a:xfrm>
          <a:prstGeom prst="rect">
            <a:avLst/>
          </a:prstGeom>
          <a:solidFill>
            <a:srgbClr val="F2F8FA"/>
          </a:solidFill>
          <a:ln/>
        </p:spPr>
      </p:sp>
      <p:sp>
        <p:nvSpPr>
          <p:cNvPr id="22" name="Text 20"/>
          <p:cNvSpPr/>
          <p:nvPr/>
        </p:nvSpPr>
        <p:spPr>
          <a:xfrm>
            <a:off x="685800" y="4389120"/>
            <a:ext cx="2743200" cy="310896"/>
          </a:xfrm>
          <a:prstGeom prst="rect">
            <a:avLst/>
          </a:prstGeom>
          <a:noFill/>
          <a:ln/>
        </p:spPr>
        <p:txBody>
          <a:bodyPr wrap="square" lIns="0" tIns="0" rIns="0" bIns="0" rtlCol="0" anchor="ctr"/>
          <a:lstStyle/>
          <a:p>
            <a:pPr indent="0" marL="0">
              <a:buNone/>
            </a:pPr>
            <a:r>
              <a:rPr lang="en-US" sz="1050" b="1" dirty="0">
                <a:solidFill>
                  <a:srgbClr val="8A6D3B"/>
                </a:solidFill>
                <a:latin typeface="Calibri" pitchFamily="34" charset="0"/>
                <a:ea typeface="Calibri" pitchFamily="34" charset="-122"/>
                <a:cs typeface="Calibri" pitchFamily="34" charset="-120"/>
              </a:rPr>
              <a:t>README range, copied</a:t>
            </a:r>
            <a:endParaRPr lang="en-US" sz="1050" dirty="0"/>
          </a:p>
        </p:txBody>
      </p:sp>
      <p:sp>
        <p:nvSpPr>
          <p:cNvPr id="23" name="Text 21"/>
          <p:cNvSpPr/>
          <p:nvPr/>
        </p:nvSpPr>
        <p:spPr>
          <a:xfrm>
            <a:off x="3474720" y="4389120"/>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7–19</a:t>
            </a:r>
            <a:endParaRPr lang="en-US" sz="1050" dirty="0"/>
          </a:p>
        </p:txBody>
      </p:sp>
      <p:sp>
        <p:nvSpPr>
          <p:cNvPr id="24" name="Text 22"/>
          <p:cNvSpPr/>
          <p:nvPr/>
        </p:nvSpPr>
        <p:spPr>
          <a:xfrm>
            <a:off x="4663440" y="4389120"/>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steers, but the formal side derails into meta-commentary</a:t>
            </a:r>
            <a:endParaRPr lang="en-US" sz="1050" dirty="0"/>
          </a:p>
        </p:txBody>
      </p:sp>
      <p:sp>
        <p:nvSpPr>
          <p:cNvPr id="25" name="Shape 23"/>
          <p:cNvSpPr/>
          <p:nvPr/>
        </p:nvSpPr>
        <p:spPr>
          <a:xfrm>
            <a:off x="548640" y="4700016"/>
            <a:ext cx="11064240" cy="310896"/>
          </a:xfrm>
          <a:prstGeom prst="rect">
            <a:avLst/>
          </a:prstGeom>
          <a:solidFill>
            <a:srgbClr val="FFFFFF"/>
          </a:solidFill>
          <a:ln/>
        </p:spPr>
      </p:sp>
      <p:sp>
        <p:nvSpPr>
          <p:cNvPr id="26" name="Text 24"/>
          <p:cNvSpPr/>
          <p:nvPr/>
        </p:nvSpPr>
        <p:spPr>
          <a:xfrm>
            <a:off x="685800" y="4700016"/>
            <a:ext cx="2743200" cy="310896"/>
          </a:xfrm>
          <a:prstGeom prst="rect">
            <a:avLst/>
          </a:prstGeom>
          <a:noFill/>
          <a:ln/>
        </p:spPr>
        <p:txBody>
          <a:bodyPr wrap="square" lIns="0" tIns="0" rIns="0" bIns="0" rtlCol="0" anchor="ctr"/>
          <a:lstStyle/>
          <a:p>
            <a:pPr indent="0" marL="0">
              <a:buNone/>
            </a:pPr>
            <a:r>
              <a:rPr lang="en-US" sz="1050" b="1" dirty="0">
                <a:solidFill>
                  <a:srgbClr val="8A6D3B"/>
                </a:solidFill>
                <a:latin typeface="Calibri" pitchFamily="34" charset="0"/>
                <a:ea typeface="Calibri" pitchFamily="34" charset="-122"/>
                <a:cs typeface="Calibri" pitchFamily="34" charset="-120"/>
              </a:rPr>
              <a:t>early only</a:t>
            </a:r>
            <a:endParaRPr lang="en-US" sz="1050" dirty="0"/>
          </a:p>
        </p:txBody>
      </p:sp>
      <p:sp>
        <p:nvSpPr>
          <p:cNvPr id="27" name="Text 25"/>
          <p:cNvSpPr/>
          <p:nvPr/>
        </p:nvSpPr>
        <p:spPr>
          <a:xfrm>
            <a:off x="3474720" y="4700016"/>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1–7</a:t>
            </a:r>
            <a:endParaRPr lang="en-US" sz="1050" dirty="0"/>
          </a:p>
        </p:txBody>
      </p:sp>
      <p:sp>
        <p:nvSpPr>
          <p:cNvPr id="28" name="Text 26"/>
          <p:cNvSpPr/>
          <p:nvPr/>
        </p:nvSpPr>
        <p:spPr>
          <a:xfrm>
            <a:off x="4663440" y="4700016"/>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erratic — barely moves one way, refuses outright the other</a:t>
            </a:r>
            <a:endParaRPr lang="en-US" sz="1050" dirty="0"/>
          </a:p>
        </p:txBody>
      </p:sp>
      <p:sp>
        <p:nvSpPr>
          <p:cNvPr id="29" name="Shape 27"/>
          <p:cNvSpPr/>
          <p:nvPr/>
        </p:nvSpPr>
        <p:spPr>
          <a:xfrm>
            <a:off x="548640" y="5010912"/>
            <a:ext cx="11064240" cy="310896"/>
          </a:xfrm>
          <a:prstGeom prst="rect">
            <a:avLst/>
          </a:prstGeom>
          <a:solidFill>
            <a:srgbClr val="F2F8FA"/>
          </a:solidFill>
          <a:ln/>
        </p:spPr>
      </p:sp>
      <p:sp>
        <p:nvSpPr>
          <p:cNvPr id="30" name="Text 28"/>
          <p:cNvSpPr/>
          <p:nvPr/>
        </p:nvSpPr>
        <p:spPr>
          <a:xfrm>
            <a:off x="685800" y="5010912"/>
            <a:ext cx="2743200" cy="310896"/>
          </a:xfrm>
          <a:prstGeom prst="rect">
            <a:avLst/>
          </a:prstGeom>
          <a:noFill/>
          <a:ln/>
        </p:spPr>
        <p:txBody>
          <a:bodyPr wrap="square" lIns="0" tIns="0" rIns="0" bIns="0" rtlCol="0" anchor="ctr"/>
          <a:lstStyle/>
          <a:p>
            <a:pPr indent="0" marL="0">
              <a:buNone/>
            </a:pPr>
            <a:r>
              <a:rPr lang="en-US" sz="1050" b="1" dirty="0">
                <a:solidFill>
                  <a:srgbClr val="8A4B2A"/>
                </a:solidFill>
                <a:latin typeface="Calibri" pitchFamily="34" charset="0"/>
                <a:ea typeface="Calibri" pitchFamily="34" charset="-122"/>
                <a:cs typeface="Calibri" pitchFamily="34" charset="-120"/>
              </a:rPr>
              <a:t>all layers</a:t>
            </a:r>
            <a:endParaRPr lang="en-US" sz="1050" dirty="0"/>
          </a:p>
        </p:txBody>
      </p:sp>
      <p:sp>
        <p:nvSpPr>
          <p:cNvPr id="31" name="Text 29"/>
          <p:cNvSpPr/>
          <p:nvPr/>
        </p:nvSpPr>
        <p:spPr>
          <a:xfrm>
            <a:off x="3474720" y="5010912"/>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1–23</a:t>
            </a:r>
            <a:endParaRPr lang="en-US" sz="1050" dirty="0"/>
          </a:p>
        </p:txBody>
      </p:sp>
      <p:sp>
        <p:nvSpPr>
          <p:cNvPr id="32" name="Text 30"/>
          <p:cNvSpPr/>
          <p:nvPr/>
        </p:nvSpPr>
        <p:spPr>
          <a:xfrm>
            <a:off x="4663440" y="5010912"/>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over-steered: both ends abandon the task before saturating</a:t>
            </a:r>
            <a:endParaRPr lang="en-US" sz="1050" dirty="0"/>
          </a:p>
        </p:txBody>
      </p:sp>
      <p:sp>
        <p:nvSpPr>
          <p:cNvPr id="33" name="Shape 31"/>
          <p:cNvSpPr/>
          <p:nvPr/>
        </p:nvSpPr>
        <p:spPr>
          <a:xfrm>
            <a:off x="548640" y="5321808"/>
            <a:ext cx="11064240" cy="310896"/>
          </a:xfrm>
          <a:prstGeom prst="rect">
            <a:avLst/>
          </a:prstGeom>
          <a:solidFill>
            <a:srgbClr val="FFFFFF"/>
          </a:solidFill>
          <a:ln/>
        </p:spPr>
      </p:sp>
      <p:sp>
        <p:nvSpPr>
          <p:cNvPr id="34" name="Text 32"/>
          <p:cNvSpPr/>
          <p:nvPr/>
        </p:nvSpPr>
        <p:spPr>
          <a:xfrm>
            <a:off x="685800" y="5321808"/>
            <a:ext cx="2743200" cy="310896"/>
          </a:xfrm>
          <a:prstGeom prst="rect">
            <a:avLst/>
          </a:prstGeom>
          <a:noFill/>
          <a:ln/>
        </p:spPr>
        <p:txBody>
          <a:bodyPr wrap="square" lIns="0" tIns="0" rIns="0" bIns="0" rtlCol="0" anchor="ctr"/>
          <a:lstStyle/>
          <a:p>
            <a:pPr indent="0" marL="0">
              <a:buNone/>
            </a:pPr>
            <a:r>
              <a:rPr lang="en-US" sz="1050" b="1" dirty="0">
                <a:solidFill>
                  <a:srgbClr val="5C7080"/>
                </a:solidFill>
                <a:latin typeface="Calibri" pitchFamily="34" charset="0"/>
                <a:ea typeface="Calibri" pitchFamily="34" charset="-122"/>
                <a:cs typeface="Calibri" pitchFamily="34" charset="-120"/>
              </a:rPr>
              <a:t>single layer</a:t>
            </a:r>
            <a:endParaRPr lang="en-US" sz="1050" dirty="0"/>
          </a:p>
        </p:txBody>
      </p:sp>
      <p:sp>
        <p:nvSpPr>
          <p:cNvPr id="35" name="Text 33"/>
          <p:cNvSpPr/>
          <p:nvPr/>
        </p:nvSpPr>
        <p:spPr>
          <a:xfrm>
            <a:off x="3474720" y="5321808"/>
            <a:ext cx="1097280" cy="310896"/>
          </a:xfrm>
          <a:prstGeom prst="rect">
            <a:avLst/>
          </a:prstGeom>
          <a:noFill/>
          <a:ln/>
        </p:spPr>
        <p:txBody>
          <a:bodyPr wrap="square" lIns="0" tIns="0" rIns="0" bIns="0" rtlCol="0" anchor="ctr"/>
          <a:lstStyle/>
          <a:p>
            <a:pPr indent="0" marL="0">
              <a:buNone/>
            </a:pPr>
            <a:r>
              <a:rPr lang="en-US" sz="1050" dirty="0">
                <a:solidFill>
                  <a:srgbClr val="1B2733"/>
                </a:solidFill>
                <a:latin typeface="Courier New" pitchFamily="34" charset="0"/>
                <a:ea typeface="Courier New" pitchFamily="34" charset="-122"/>
                <a:cs typeface="Courier New" pitchFamily="34" charset="-120"/>
              </a:rPr>
              <a:t>12</a:t>
            </a:r>
            <a:endParaRPr lang="en-US" sz="1050" dirty="0"/>
          </a:p>
        </p:txBody>
      </p:sp>
      <p:sp>
        <p:nvSpPr>
          <p:cNvPr id="36" name="Text 34"/>
          <p:cNvSpPr/>
          <p:nvPr/>
        </p:nvSpPr>
        <p:spPr>
          <a:xfrm>
            <a:off x="4663440" y="5321808"/>
            <a:ext cx="6766560" cy="310896"/>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weakest of all — barely separable from baseline</a:t>
            </a:r>
            <a:endParaRPr lang="en-US" sz="1050" dirty="0"/>
          </a:p>
        </p:txBody>
      </p:sp>
      <p:sp>
        <p:nvSpPr>
          <p:cNvPr id="37" name="Shape 35"/>
          <p:cNvSpPr/>
          <p:nvPr/>
        </p:nvSpPr>
        <p:spPr>
          <a:xfrm>
            <a:off x="548640" y="6035040"/>
            <a:ext cx="3520440" cy="310896"/>
          </a:xfrm>
          <a:prstGeom prst="roundRect">
            <a:avLst>
              <a:gd name="adj" fmla="val 50000"/>
            </a:avLst>
          </a:prstGeom>
          <a:solidFill>
            <a:srgbClr val="E9F1E6"/>
          </a:solidFill>
          <a:ln w="9525">
            <a:solidFill>
              <a:srgbClr val="8FB88F"/>
            </a:solidFill>
            <a:prstDash val="solid"/>
          </a:ln>
        </p:spPr>
      </p:sp>
      <p:sp>
        <p:nvSpPr>
          <p:cNvPr id="38" name="Text 36"/>
          <p:cNvSpPr/>
          <p:nvPr/>
        </p:nvSpPr>
        <p:spPr>
          <a:xfrm>
            <a:off x="676656" y="6035040"/>
            <a:ext cx="326440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7, Depth as a Band</a:t>
            </a:r>
            <a:endParaRPr lang="en-US" sz="1000" dirty="0"/>
          </a:p>
        </p:txBody>
      </p:sp>
      <p:sp>
        <p:nvSpPr>
          <p:cNvPr id="39" name="Text 37"/>
          <p:cNvSpPr/>
          <p:nvPr/>
        </p:nvSpPr>
        <p:spPr>
          <a:xfrm>
            <a:off x="4206240" y="6035040"/>
            <a:ext cx="7406640" cy="310896"/>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More layers is not more control — past a point it is just more damage. Same ordering held on a second, unrelated concept.</a:t>
            </a:r>
            <a:endParaRPr lang="en-US" sz="1050" dirty="0"/>
          </a:p>
        </p:txBody>
      </p:sp>
      <p:sp>
        <p:nvSpPr>
          <p:cNvPr id="40" name="Text 3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41" name="Text 3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PRACTICE · THE SHARPEST EDGE</a:t>
            </a:r>
            <a:endParaRPr lang="en-US" sz="1300" dirty="0"/>
          </a:p>
        </p:txBody>
      </p:sp>
      <p:sp>
        <p:nvSpPr>
          <p:cNvPr id="3" name="Text 1"/>
          <p:cNvSpPr/>
          <p:nvPr/>
        </p:nvSpPr>
        <p:spPr>
          <a:xfrm>
            <a:off x="548640" y="713232"/>
            <a:ext cx="7863840" cy="822960"/>
          </a:xfrm>
          <a:prstGeom prst="rect">
            <a:avLst/>
          </a:prstGeom>
          <a:noFill/>
          <a:ln/>
        </p:spPr>
        <p:txBody>
          <a:bodyPr wrap="square" lIns="0" tIns="0" rIns="0" bIns="0" rtlCol="0" anchor="ctr"/>
          <a:lstStyle/>
          <a:p>
            <a:pPr indent="0" marL="0">
              <a:buNone/>
            </a:pPr>
            <a:r>
              <a:rPr lang="en-US" sz="2900" b="1" dirty="0">
                <a:solidFill>
                  <a:srgbClr val="1B2733"/>
                </a:solidFill>
                <a:latin typeface="Cambria" pitchFamily="34" charset="0"/>
                <a:ea typeface="Cambria" pitchFamily="34" charset="-122"/>
                <a:cs typeface="Cambria" pitchFamily="34" charset="-120"/>
              </a:rPr>
              <a:t>Wrapping Pairs in the Model's Own Template</a:t>
            </a:r>
            <a:endParaRPr lang="en-US" sz="2900" dirty="0"/>
          </a:p>
        </p:txBody>
      </p:sp>
      <p:sp>
        <p:nvSpPr>
          <p:cNvPr id="4" name="Text 2"/>
          <p:cNvSpPr/>
          <p:nvPr/>
        </p:nvSpPr>
        <p:spPr>
          <a:xfrm>
            <a:off x="548640" y="1554480"/>
            <a:ext cx="11064240" cy="777240"/>
          </a:xfrm>
          <a:prstGeom prst="rect">
            <a:avLst/>
          </a:prstGeom>
          <a:noFill/>
          <a:ln/>
        </p:spPr>
        <p:txBody>
          <a:bodyPr wrap="square" rtlCol="0" anchor="ctr"/>
          <a:lstStyle/>
          <a:p>
            <a:pPr indent="0" marL="0">
              <a:lnSpc>
                <a:spcPct val="122000"/>
              </a:lnSpc>
              <a:buNone/>
            </a:pPr>
            <a:r>
              <a:rPr lang="en-US" sz="1300" dirty="0">
                <a:solidFill>
                  <a:srgbClr val="1B2733"/>
                </a:solidFill>
                <a:latin typeface="Calibri" pitchFamily="34" charset="0"/>
                <a:ea typeface="Calibri" pitchFamily="34" charset="-122"/>
                <a:cs typeface="Calibri" pitchFamily="34" charset="-120"/>
              </a:rPr>
              <a:t>The notebooks' make_dataset() wraps every pair in the model's turn markers and puts the shared ending in the assistant position — so each training string is a partial reply, not a bare sentence. Those markers are Mistral's. Reuse them on a model from another family and nothing errors.</a:t>
            </a:r>
            <a:endParaRPr lang="en-US" sz="1300" dirty="0"/>
          </a:p>
        </p:txBody>
      </p:sp>
      <p:sp>
        <p:nvSpPr>
          <p:cNvPr id="5" name="Shape 3"/>
          <p:cNvSpPr/>
          <p:nvPr/>
        </p:nvSpPr>
        <p:spPr>
          <a:xfrm>
            <a:off x="548640" y="2423160"/>
            <a:ext cx="11064240" cy="987552"/>
          </a:xfrm>
          <a:prstGeom prst="roundRect">
            <a:avLst>
              <a:gd name="adj" fmla="val 7407"/>
            </a:avLst>
          </a:prstGeom>
          <a:solidFill>
            <a:srgbClr val="F2F8FA"/>
          </a:solidFill>
          <a:ln w="12700">
            <a:solidFill>
              <a:srgbClr val="DCE7EC"/>
            </a:solidFill>
            <a:prstDash val="solid"/>
          </a:ln>
        </p:spPr>
      </p:sp>
      <p:sp>
        <p:nvSpPr>
          <p:cNvPr id="6" name="Text 4"/>
          <p:cNvSpPr/>
          <p:nvPr/>
        </p:nvSpPr>
        <p:spPr>
          <a:xfrm>
            <a:off x="777240" y="2496312"/>
            <a:ext cx="3931920" cy="274320"/>
          </a:xfrm>
          <a:prstGeom prst="rect">
            <a:avLst/>
          </a:prstGeom>
          <a:noFill/>
          <a:ln/>
        </p:spPr>
        <p:txBody>
          <a:bodyPr wrap="square" lIns="0" tIns="0" rIns="0" bIns="0" rtlCol="0" anchor="ctr"/>
          <a:lstStyle/>
          <a:p>
            <a:pPr indent="0" marL="0">
              <a:buNone/>
            </a:pPr>
            <a:r>
              <a:rPr lang="en-US" sz="1200" b="1" dirty="0">
                <a:solidFill>
                  <a:srgbClr val="8A4B2A"/>
                </a:solidFill>
                <a:latin typeface="Calibri" pitchFamily="34" charset="0"/>
                <a:ea typeface="Calibri" pitchFamily="34" charset="-122"/>
                <a:cs typeface="Calibri" pitchFamily="34" charset="-120"/>
              </a:rPr>
              <a:t>Mistral markers on a Qwen model</a:t>
            </a:r>
            <a:endParaRPr lang="en-US" sz="1200" dirty="0"/>
          </a:p>
        </p:txBody>
      </p:sp>
      <p:sp>
        <p:nvSpPr>
          <p:cNvPr id="7" name="Text 5"/>
          <p:cNvSpPr/>
          <p:nvPr/>
        </p:nvSpPr>
        <p:spPr>
          <a:xfrm>
            <a:off x="777240" y="2807208"/>
            <a:ext cx="4206240" cy="502920"/>
          </a:xfrm>
          <a:prstGeom prst="rect">
            <a:avLst/>
          </a:prstGeom>
          <a:noFill/>
          <a:ln/>
        </p:spPr>
        <p:txBody>
          <a:bodyPr wrap="square" lIns="0" tIns="0" rIns="0" bIns="0" rtlCol="0" anchor="ctr"/>
          <a:lstStyle/>
          <a:p>
            <a:pPr indent="0" marL="0">
              <a:lnSpc>
                <a:spcPct val="115000"/>
              </a:lnSpc>
              <a:buNone/>
            </a:pPr>
            <a:r>
              <a:rPr lang="en-US" sz="950" dirty="0">
                <a:solidFill>
                  <a:srgbClr val="1B2733"/>
                </a:solidFill>
                <a:latin typeface="Courier New" pitchFamily="34" charset="0"/>
                <a:ea typeface="Courier New" pitchFamily="34" charset="-122"/>
                <a:cs typeface="Courier New" pitchFamily="34" charset="-120"/>
              </a:rPr>
              <a:t>[INST] Write in an extremely formal style. [/INST] Hmm</a:t>
            </a:r>
            <a:endParaRPr lang="en-US" sz="950" dirty="0"/>
          </a:p>
        </p:txBody>
      </p:sp>
      <p:sp>
        <p:nvSpPr>
          <p:cNvPr id="8" name="Text 6"/>
          <p:cNvSpPr/>
          <p:nvPr/>
        </p:nvSpPr>
        <p:spPr>
          <a:xfrm>
            <a:off x="5257800" y="2532888"/>
            <a:ext cx="6126480" cy="804672"/>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Even with no vector applied, the reply comes back studded with [INSTRUCTION] and [/INST] — the model is reading the markers as content, because to it they are.</a:t>
            </a:r>
            <a:endParaRPr lang="en-US" sz="1100" dirty="0"/>
          </a:p>
        </p:txBody>
      </p:sp>
      <p:sp>
        <p:nvSpPr>
          <p:cNvPr id="9" name="Shape 7"/>
          <p:cNvSpPr/>
          <p:nvPr/>
        </p:nvSpPr>
        <p:spPr>
          <a:xfrm>
            <a:off x="548640" y="3520440"/>
            <a:ext cx="11064240" cy="987552"/>
          </a:xfrm>
          <a:prstGeom prst="roundRect">
            <a:avLst>
              <a:gd name="adj" fmla="val 7407"/>
            </a:avLst>
          </a:prstGeom>
          <a:solidFill>
            <a:srgbClr val="F4F1E8"/>
          </a:solidFill>
          <a:ln w="12700">
            <a:solidFill>
              <a:srgbClr val="DCE7EC"/>
            </a:solidFill>
            <a:prstDash val="solid"/>
          </a:ln>
        </p:spPr>
      </p:sp>
      <p:sp>
        <p:nvSpPr>
          <p:cNvPr id="10" name="Text 8"/>
          <p:cNvSpPr/>
          <p:nvPr/>
        </p:nvSpPr>
        <p:spPr>
          <a:xfrm>
            <a:off x="777240" y="3593592"/>
            <a:ext cx="3931920" cy="274320"/>
          </a:xfrm>
          <a:prstGeom prst="rect">
            <a:avLst/>
          </a:prstGeom>
          <a:noFill/>
          <a:ln/>
        </p:spPr>
        <p:txBody>
          <a:bodyPr wrap="square" lIns="0" tIns="0" rIns="0" bIns="0" rtlCol="0" anchor="ctr"/>
          <a:lstStyle/>
          <a:p>
            <a:pPr indent="0" marL="0">
              <a:buNone/>
            </a:pPr>
            <a:r>
              <a:rPr lang="en-US" sz="1200" b="1" dirty="0">
                <a:solidFill>
                  <a:srgbClr val="3A7D5A"/>
                </a:solidFill>
                <a:latin typeface="Calibri" pitchFamily="34" charset="0"/>
                <a:ea typeface="Calibri" pitchFamily="34" charset="-122"/>
                <a:cs typeface="Calibri" pitchFamily="34" charset="-120"/>
              </a:rPr>
              <a:t>Correct turn markers, hand-built</a:t>
            </a:r>
            <a:endParaRPr lang="en-US" sz="1200" dirty="0"/>
          </a:p>
        </p:txBody>
      </p:sp>
      <p:sp>
        <p:nvSpPr>
          <p:cNvPr id="11" name="Text 9"/>
          <p:cNvSpPr/>
          <p:nvPr/>
        </p:nvSpPr>
        <p:spPr>
          <a:xfrm>
            <a:off x="777240" y="3904488"/>
            <a:ext cx="4206240" cy="502920"/>
          </a:xfrm>
          <a:prstGeom prst="rect">
            <a:avLst/>
          </a:prstGeom>
          <a:noFill/>
          <a:ln/>
        </p:spPr>
        <p:txBody>
          <a:bodyPr wrap="square" lIns="0" tIns="0" rIns="0" bIns="0" rtlCol="0" anchor="ctr"/>
          <a:lstStyle/>
          <a:p>
            <a:pPr indent="0" marL="0">
              <a:lnSpc>
                <a:spcPct val="115000"/>
              </a:lnSpc>
              <a:buNone/>
            </a:pPr>
            <a:r>
              <a:rPr lang="en-US" sz="950" dirty="0">
                <a:solidFill>
                  <a:srgbClr val="1B2733"/>
                </a:solidFill>
                <a:latin typeface="Courier New" pitchFamily="34" charset="0"/>
                <a:ea typeface="Courier New" pitchFamily="34" charset="-122"/>
                <a:cs typeface="Courier New" pitchFamily="34" charset="-120"/>
              </a:rPr>
              <a:t>&lt;|im_start|&gt;user\n…&lt;|im_end|&gt;\n&lt;|im_start|&gt;assistant\nHmm</a:t>
            </a:r>
            <a:endParaRPr lang="en-US" sz="950" dirty="0"/>
          </a:p>
        </p:txBody>
      </p:sp>
      <p:sp>
        <p:nvSpPr>
          <p:cNvPr id="12" name="Text 10"/>
          <p:cNvSpPr/>
          <p:nvPr/>
        </p:nvSpPr>
        <p:spPr>
          <a:xfrm>
            <a:off x="5257800" y="3630168"/>
            <a:ext cx="6126480" cy="804672"/>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Clean steering in both directions. This is the shape you want.</a:t>
            </a:r>
            <a:endParaRPr lang="en-US" sz="1100" dirty="0"/>
          </a:p>
        </p:txBody>
      </p:sp>
      <p:sp>
        <p:nvSpPr>
          <p:cNvPr id="13" name="Shape 11"/>
          <p:cNvSpPr/>
          <p:nvPr/>
        </p:nvSpPr>
        <p:spPr>
          <a:xfrm>
            <a:off x="548640" y="4617720"/>
            <a:ext cx="11064240" cy="987552"/>
          </a:xfrm>
          <a:prstGeom prst="roundRect">
            <a:avLst>
              <a:gd name="adj" fmla="val 7407"/>
            </a:avLst>
          </a:prstGeom>
          <a:solidFill>
            <a:srgbClr val="F2F8FA"/>
          </a:solidFill>
          <a:ln w="12700">
            <a:solidFill>
              <a:srgbClr val="DCE7EC"/>
            </a:solidFill>
            <a:prstDash val="solid"/>
          </a:ln>
        </p:spPr>
      </p:sp>
      <p:sp>
        <p:nvSpPr>
          <p:cNvPr id="14" name="Text 12"/>
          <p:cNvSpPr/>
          <p:nvPr/>
        </p:nvSpPr>
        <p:spPr>
          <a:xfrm>
            <a:off x="777240" y="4690872"/>
            <a:ext cx="393192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Via the tokenizer's own template</a:t>
            </a:r>
            <a:endParaRPr lang="en-US" sz="1200" dirty="0"/>
          </a:p>
        </p:txBody>
      </p:sp>
      <p:sp>
        <p:nvSpPr>
          <p:cNvPr id="15" name="Text 13"/>
          <p:cNvSpPr/>
          <p:nvPr/>
        </p:nvSpPr>
        <p:spPr>
          <a:xfrm>
            <a:off x="777240" y="5001768"/>
            <a:ext cx="4206240" cy="502920"/>
          </a:xfrm>
          <a:prstGeom prst="rect">
            <a:avLst/>
          </a:prstGeom>
          <a:noFill/>
          <a:ln/>
        </p:spPr>
        <p:txBody>
          <a:bodyPr wrap="square" lIns="0" tIns="0" rIns="0" bIns="0" rtlCol="0" anchor="ctr"/>
          <a:lstStyle/>
          <a:p>
            <a:pPr indent="0" marL="0">
              <a:lnSpc>
                <a:spcPct val="115000"/>
              </a:lnSpc>
              <a:buNone/>
            </a:pPr>
            <a:r>
              <a:rPr lang="en-US" sz="950" dirty="0">
                <a:solidFill>
                  <a:srgbClr val="1B2733"/>
                </a:solidFill>
                <a:latin typeface="Courier New" pitchFamily="34" charset="0"/>
                <a:ea typeface="Courier New" pitchFamily="34" charset="-122"/>
                <a:cs typeface="Courier New" pitchFamily="34" charset="-120"/>
              </a:rPr>
              <a:t>… plus an auto-inserted default system turn</a:t>
            </a:r>
            <a:endParaRPr lang="en-US" sz="950" dirty="0"/>
          </a:p>
        </p:txBody>
      </p:sp>
      <p:sp>
        <p:nvSpPr>
          <p:cNvPr id="16" name="Text 14"/>
          <p:cNvSpPr/>
          <p:nvPr/>
        </p:nvSpPr>
        <p:spPr>
          <a:xfrm>
            <a:off x="5257800" y="4727448"/>
            <a:ext cx="6126480" cy="804672"/>
          </a:xfrm>
          <a:prstGeom prst="rect">
            <a:avLst/>
          </a:prstGeom>
          <a:noFill/>
          <a:ln/>
        </p:spPr>
        <p:txBody>
          <a:bodyPr wrap="square" lIns="0" tIns="0" rIns="0" bIns="0" rtlCol="0" anchor="ctr"/>
          <a:lstStyle/>
          <a:p>
            <a:pPr indent="0" marL="0">
              <a:lnSpc>
                <a:spcPct val="120000"/>
              </a:lnSpc>
              <a:buNone/>
            </a:pPr>
            <a:r>
              <a:rPr lang="en-US" sz="1100" dirty="0">
                <a:solidFill>
                  <a:srgbClr val="5C7080"/>
                </a:solidFill>
                <a:latin typeface="Calibri" pitchFamily="34" charset="0"/>
                <a:ea typeface="Calibri" pitchFamily="34" charset="-122"/>
                <a:cs typeface="Calibri" pitchFamily="34" charset="-120"/>
              </a:rPr>
              <a:t>The portable choice, and what the notebook uses — but it silently adds text you never wrote, so training and inference strings must both go through it.</a:t>
            </a:r>
            <a:endParaRPr lang="en-US" sz="1100" dirty="0"/>
          </a:p>
        </p:txBody>
      </p:sp>
      <p:sp>
        <p:nvSpPr>
          <p:cNvPr id="17" name="Shape 15"/>
          <p:cNvSpPr/>
          <p:nvPr/>
        </p:nvSpPr>
        <p:spPr>
          <a:xfrm>
            <a:off x="548640" y="5760720"/>
            <a:ext cx="11064240" cy="621792"/>
          </a:xfrm>
          <a:prstGeom prst="roundRect">
            <a:avLst>
              <a:gd name="adj" fmla="val 11765"/>
            </a:avLst>
          </a:prstGeom>
          <a:solidFill>
            <a:srgbClr val="21295C"/>
          </a:solidFill>
          <a:ln/>
        </p:spPr>
      </p:sp>
      <p:sp>
        <p:nvSpPr>
          <p:cNvPr id="18" name="Text 16"/>
          <p:cNvSpPr/>
          <p:nvPr/>
        </p:nvSpPr>
        <p:spPr>
          <a:xfrm>
            <a:off x="777240" y="5815584"/>
            <a:ext cx="10607040" cy="512064"/>
          </a:xfrm>
          <a:prstGeom prst="rect">
            <a:avLst/>
          </a:prstGeom>
          <a:noFill/>
          <a:ln/>
        </p:spPr>
        <p:txBody>
          <a:bodyPr wrap="square" lIns="0" tIns="0" rIns="0" bIns="0" rtlCol="0" anchor="ctr"/>
          <a:lstStyle/>
          <a:p>
            <a:pPr indent="0" marL="0">
              <a:buNone/>
            </a:pPr>
            <a:r>
              <a:rPr lang="en-US" sz="1050" dirty="0">
                <a:solidFill>
                  <a:srgbClr val="9FC3D9"/>
                </a:solidFill>
                <a:latin typeface="Calibri" pitchFamily="34" charset="0"/>
                <a:ea typeface="Calibri" pitchFamily="34" charset="-122"/>
                <a:cs typeface="Calibri" pitchFamily="34" charset="-120"/>
              </a:rPr>
              <a:t>Cosine between the resulting vectors (Qwen2.5-0.5B, mid-layer):  </a:t>
            </a:r>
            <a:pPr indent="0" marL="0">
              <a:buNone/>
            </a:pPr>
            <a:r>
              <a:rPr lang="en-US" sz="1050" b="1" dirty="0">
                <a:solidFill>
                  <a:srgbClr val="FFC9A8"/>
                </a:solidFill>
                <a:latin typeface="Calibri" pitchFamily="34" charset="0"/>
                <a:ea typeface="Calibri" pitchFamily="34" charset="-122"/>
                <a:cs typeface="Calibri" pitchFamily="34" charset="-120"/>
              </a:rPr>
              <a:t>wrong markers vs correct = 0.70</a:t>
            </a:r>
            <a:pPr indent="0" marL="0">
              <a:buNone/>
            </a:pPr>
            <a:r>
              <a:rPr lang="en-US" sz="1050" dirty="0">
                <a:solidFill>
                  <a:srgbClr val="5C7080"/>
                </a:solidFill>
                <a:latin typeface="Calibri" pitchFamily="34" charset="0"/>
                <a:ea typeface="Calibri" pitchFamily="34" charset="-122"/>
                <a:cs typeface="Calibri" pitchFamily="34" charset="-120"/>
              </a:rPr>
              <a:t>   ·   </a:t>
            </a:r>
            <a:pPr indent="0" marL="0">
              <a:buNone/>
            </a:pPr>
            <a:r>
              <a:rPr lang="en-US" sz="1050" b="1" dirty="0">
                <a:solidFill>
                  <a:srgbClr val="8FD4E8"/>
                </a:solidFill>
                <a:latin typeface="Calibri" pitchFamily="34" charset="0"/>
                <a:ea typeface="Calibri" pitchFamily="34" charset="-122"/>
                <a:cs typeface="Calibri" pitchFamily="34" charset="-120"/>
              </a:rPr>
              <a:t>auto system turn vs none = 0.95</a:t>
            </a:r>
            <a:pPr indent="0" marL="0">
              <a:buNone/>
            </a:pPr>
            <a:r>
              <a:rPr lang="en-US" sz="1050" dirty="0">
                <a:solidFill>
                  <a:srgbClr val="9FC3D9"/>
                </a:solidFill>
                <a:latin typeface="Calibri" pitchFamily="34" charset="0"/>
                <a:ea typeface="Calibri" pitchFamily="34" charset="-122"/>
                <a:cs typeface="Calibri" pitchFamily="34" charset="-120"/>
              </a:rPr>
              <a:t>   — measured on two different concept pairs; both say the same thing.</a:t>
            </a:r>
            <a:endParaRPr lang="en-US" sz="1050" dirty="0"/>
          </a:p>
        </p:txBody>
      </p:sp>
      <p:sp>
        <p:nvSpPr>
          <p:cNvPr id="19" name="Shape 17"/>
          <p:cNvSpPr/>
          <p:nvPr/>
        </p:nvSpPr>
        <p:spPr>
          <a:xfrm>
            <a:off x="8138160" y="868680"/>
            <a:ext cx="3474720" cy="310896"/>
          </a:xfrm>
          <a:prstGeom prst="roundRect">
            <a:avLst>
              <a:gd name="adj" fmla="val 50000"/>
            </a:avLst>
          </a:prstGeom>
          <a:solidFill>
            <a:srgbClr val="E9F1E6"/>
          </a:solidFill>
          <a:ln w="9525">
            <a:solidFill>
              <a:srgbClr val="8FB88F"/>
            </a:solidFill>
            <a:prstDash val="solid"/>
          </a:ln>
        </p:spPr>
      </p:sp>
      <p:sp>
        <p:nvSpPr>
          <p:cNvPr id="20" name="Text 18"/>
          <p:cNvSpPr/>
          <p:nvPr/>
        </p:nvSpPr>
        <p:spPr>
          <a:xfrm>
            <a:off x="8266176" y="868680"/>
            <a:ext cx="3218688" cy="310896"/>
          </a:xfrm>
          <a:prstGeom prst="rect">
            <a:avLst/>
          </a:prstGeom>
          <a:noFill/>
          <a:ln/>
        </p:spPr>
        <p:txBody>
          <a:bodyPr wrap="square" lIns="0" tIns="0" rIns="0" bIns="0" rtlCol="0" anchor="ctr"/>
          <a:lstStyle/>
          <a:p>
            <a:pPr indent="0" marL="0">
              <a:buNone/>
            </a:pPr>
            <a:r>
              <a:rPr lang="en-US" sz="1000" i="1" dirty="0">
                <a:solidFill>
                  <a:srgbClr val="3D6B3D"/>
                </a:solidFill>
                <a:latin typeface="Calibri" pitchFamily="34" charset="0"/>
                <a:ea typeface="Calibri" pitchFamily="34" charset="-122"/>
                <a:cs typeface="Calibri" pitchFamily="34" charset="-120"/>
              </a:rPr>
              <a:t>←  Background · Slide 6, Chat Templates</a:t>
            </a:r>
            <a:endParaRPr lang="en-US" sz="1000" dirty="0"/>
          </a:p>
        </p:txBody>
      </p:sp>
      <p:sp>
        <p:nvSpPr>
          <p:cNvPr id="21" name="Text 19"/>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22"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BEYOND ONE VECTOR</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2900" b="1" dirty="0">
                <a:solidFill>
                  <a:srgbClr val="1B2733"/>
                </a:solidFill>
                <a:latin typeface="Cambria" pitchFamily="34" charset="0"/>
                <a:ea typeface="Cambria" pitchFamily="34" charset="-122"/>
                <a:cs typeface="Cambria" pitchFamily="34" charset="-120"/>
              </a:rPr>
              <a:t>Vector Arithmetic, GGUF Export, and the SAE Path</a:t>
            </a:r>
            <a:endParaRPr lang="en-US" sz="2900" dirty="0"/>
          </a:p>
        </p:txBody>
      </p:sp>
      <p:sp>
        <p:nvSpPr>
          <p:cNvPr id="4" name="Shape 2"/>
          <p:cNvSpPr/>
          <p:nvPr/>
        </p:nvSpPr>
        <p:spPr>
          <a:xfrm>
            <a:off x="548640" y="1600200"/>
            <a:ext cx="5394960" cy="2377440"/>
          </a:xfrm>
          <a:prstGeom prst="roundRect">
            <a:avLst>
              <a:gd name="adj" fmla="val 3077"/>
            </a:avLst>
          </a:prstGeom>
          <a:solidFill>
            <a:srgbClr val="F2F8FA"/>
          </a:solidFill>
          <a:ln w="12700">
            <a:solidFill>
              <a:srgbClr val="DCE7EC"/>
            </a:solidFill>
            <a:prstDash val="solid"/>
          </a:ln>
        </p:spPr>
      </p:sp>
      <p:sp>
        <p:nvSpPr>
          <p:cNvPr id="5" name="Shape 3"/>
          <p:cNvSpPr/>
          <p:nvPr/>
        </p:nvSpPr>
        <p:spPr>
          <a:xfrm>
            <a:off x="777240" y="1810512"/>
            <a:ext cx="438912" cy="438912"/>
          </a:xfrm>
          <a:prstGeom prst="ellipse">
            <a:avLst/>
          </a:prstGeom>
          <a:solidFill>
            <a:srgbClr val="065A82"/>
          </a:solidFill>
          <a:ln/>
        </p:spPr>
      </p:sp>
      <p:pic>
        <p:nvPicPr>
          <p:cNvPr id="6" name="Image 0" descr="/home/claude/work/icons/plus.png">    </p:cNvPr>
          <p:cNvPicPr>
            <a:picLocks noChangeAspect="1"/>
          </p:cNvPicPr>
          <p:nvPr/>
        </p:nvPicPr>
        <p:blipFill>
          <a:blip r:embed="rId1"/>
          <a:stretch>
            <a:fillRect/>
          </a:stretch>
        </p:blipFill>
        <p:spPr>
          <a:xfrm>
            <a:off x="891357" y="1924629"/>
            <a:ext cx="210678" cy="210678"/>
          </a:xfrm>
          <a:prstGeom prst="rect">
            <a:avLst/>
          </a:prstGeom>
        </p:spPr>
      </p:pic>
      <p:sp>
        <p:nvSpPr>
          <p:cNvPr id="7" name="Text 4"/>
          <p:cNvSpPr/>
          <p:nvPr/>
        </p:nvSpPr>
        <p:spPr>
          <a:xfrm>
            <a:off x="1353312" y="1828800"/>
            <a:ext cx="4297680" cy="36576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Arithmetic on directions</a:t>
            </a:r>
            <a:endParaRPr lang="en-US" sz="1400" dirty="0"/>
          </a:p>
        </p:txBody>
      </p:sp>
      <p:sp>
        <p:nvSpPr>
          <p:cNvPr id="8" name="Text 5"/>
          <p:cNvSpPr/>
          <p:nvPr/>
        </p:nvSpPr>
        <p:spPr>
          <a:xfrm>
            <a:off x="777240" y="2377440"/>
            <a:ext cx="4937760" cy="1463040"/>
          </a:xfrm>
          <a:prstGeom prst="rect">
            <a:avLst/>
          </a:prstGeom>
          <a:noFill/>
          <a:ln/>
        </p:spPr>
        <p:txBody>
          <a:bodyPr wrap="square" lIns="0" tIns="0" rIns="0" bIns="0" rtlCol="0" anchor="ctr"/>
          <a:lstStyle/>
          <a:p>
            <a:pPr indent="0" marL="0">
              <a:lnSpc>
                <a:spcPct val="120000"/>
              </a:lnSpc>
              <a:buNone/>
            </a:pPr>
            <a:r>
              <a:rPr lang="en-US" sz="1100" b="1" dirty="0">
                <a:solidFill>
                  <a:srgbClr val="065A82"/>
                </a:solidFill>
                <a:latin typeface="Courier New" pitchFamily="34" charset="0"/>
                <a:ea typeface="Courier New" pitchFamily="34" charset="-122"/>
                <a:cs typeface="Courier New" pitchFamily="34" charset="-120"/>
              </a:rPr>
              <a:t>formal + lazy</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blends two behaviours;  </a:t>
            </a:r>
            <a:pPr indent="0" marL="0">
              <a:lnSpc>
                <a:spcPct val="120000"/>
              </a:lnSpc>
              <a:buNone/>
            </a:pPr>
            <a:r>
              <a:rPr lang="en-US" sz="1100" b="1" dirty="0">
                <a:solidFill>
                  <a:srgbClr val="065A82"/>
                </a:solidFill>
                <a:latin typeface="Courier New" pitchFamily="34" charset="0"/>
                <a:ea typeface="Courier New" pitchFamily="34" charset="-122"/>
                <a:cs typeface="Courier New" pitchFamily="34" charset="-120"/>
              </a:rPr>
              <a:t>-formal</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inverts one;  </a:t>
            </a:r>
            <a:pPr indent="0" marL="0">
              <a:lnSpc>
                <a:spcPct val="120000"/>
              </a:lnSpc>
              <a:buNone/>
            </a:pPr>
            <a:r>
              <a:rPr lang="en-US" sz="1100" b="1" dirty="0">
                <a:solidFill>
                  <a:srgbClr val="065A82"/>
                </a:solidFill>
                <a:latin typeface="Courier New" pitchFamily="34" charset="0"/>
                <a:ea typeface="Courier New" pitchFamily="34" charset="-122"/>
                <a:cs typeface="Courier New" pitchFamily="34" charset="-120"/>
              </a:rPr>
              <a:t>v / 2</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halves it. Implemented as ordinary Python dunder methods that combine the per-layer arrays, with a warning if the two vectors came from different model types.</a:t>
            </a:r>
            <a:endParaRPr lang="en-US" sz="1100" dirty="0"/>
          </a:p>
          <a:p>
            <a:pPr indent="0" marL="0">
              <a:lnSpc>
                <a:spcPct val="120000"/>
              </a:lnSpc>
              <a:buNone/>
            </a:pPr>
            <a:endParaRPr lang="en-US" sz="1100" dirty="0"/>
          </a:p>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Adding a vector to itself and halving returns something equal to the original — the operations are exactly as literal as they look.</a:t>
            </a:r>
            <a:endParaRPr lang="en-US" sz="1100" dirty="0"/>
          </a:p>
        </p:txBody>
      </p:sp>
      <p:sp>
        <p:nvSpPr>
          <p:cNvPr id="9" name="Shape 6"/>
          <p:cNvSpPr/>
          <p:nvPr/>
        </p:nvSpPr>
        <p:spPr>
          <a:xfrm>
            <a:off x="6172200" y="1600200"/>
            <a:ext cx="5440680" cy="2377440"/>
          </a:xfrm>
          <a:prstGeom prst="roundRect">
            <a:avLst>
              <a:gd name="adj" fmla="val 3077"/>
            </a:avLst>
          </a:prstGeom>
          <a:solidFill>
            <a:srgbClr val="F2F8FA"/>
          </a:solidFill>
          <a:ln w="12700">
            <a:solidFill>
              <a:srgbClr val="DCE7EC"/>
            </a:solidFill>
            <a:prstDash val="solid"/>
          </a:ln>
        </p:spPr>
      </p:sp>
      <p:sp>
        <p:nvSpPr>
          <p:cNvPr id="10" name="Shape 7"/>
          <p:cNvSpPr/>
          <p:nvPr/>
        </p:nvSpPr>
        <p:spPr>
          <a:xfrm>
            <a:off x="6400800" y="1810512"/>
            <a:ext cx="438912" cy="438912"/>
          </a:xfrm>
          <a:prstGeom prst="ellipse">
            <a:avLst/>
          </a:prstGeom>
          <a:solidFill>
            <a:srgbClr val="1C7293"/>
          </a:solidFill>
          <a:ln/>
        </p:spPr>
      </p:sp>
      <p:pic>
        <p:nvPicPr>
          <p:cNvPr id="11" name="Image 1" descr="/home/claude/work/icons/export.png">    </p:cNvPr>
          <p:cNvPicPr>
            <a:picLocks noChangeAspect="1"/>
          </p:cNvPicPr>
          <p:nvPr/>
        </p:nvPicPr>
        <p:blipFill>
          <a:blip r:embed="rId2"/>
          <a:stretch>
            <a:fillRect/>
          </a:stretch>
        </p:blipFill>
        <p:spPr>
          <a:xfrm>
            <a:off x="6514917" y="1924629"/>
            <a:ext cx="210678" cy="210678"/>
          </a:xfrm>
          <a:prstGeom prst="rect">
            <a:avLst/>
          </a:prstGeom>
        </p:spPr>
      </p:pic>
      <p:sp>
        <p:nvSpPr>
          <p:cNvPr id="12" name="Text 8"/>
          <p:cNvSpPr/>
          <p:nvPr/>
        </p:nvSpPr>
        <p:spPr>
          <a:xfrm>
            <a:off x="6976872" y="1828800"/>
            <a:ext cx="4389120" cy="36576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Export to GGUF</a:t>
            </a:r>
            <a:endParaRPr lang="en-US" sz="1400" dirty="0"/>
          </a:p>
        </p:txBody>
      </p:sp>
      <p:sp>
        <p:nvSpPr>
          <p:cNvPr id="13" name="Text 9"/>
          <p:cNvSpPr/>
          <p:nvPr/>
        </p:nvSpPr>
        <p:spPr>
          <a:xfrm>
            <a:off x="6400800" y="2377440"/>
            <a:ext cx="4983480" cy="1463040"/>
          </a:xfrm>
          <a:prstGeom prst="rect">
            <a:avLst/>
          </a:prstGeom>
          <a:noFill/>
          <a:ln/>
        </p:spPr>
        <p:txBody>
          <a:bodyPr wrap="square" lIns="0" tIns="0" rIns="0" bIns="0" rtlCol="0" anchor="ctr"/>
          <a:lstStyle/>
          <a:p>
            <a:pPr indent="0" marL="0">
              <a:lnSpc>
                <a:spcPct val="120000"/>
              </a:lnSpc>
              <a:buNone/>
            </a:pPr>
            <a:r>
              <a:rPr lang="en-US" sz="1100" b="1" dirty="0">
                <a:solidFill>
                  <a:srgbClr val="065A82"/>
                </a:solidFill>
                <a:latin typeface="Courier New" pitchFamily="34" charset="0"/>
                <a:ea typeface="Courier New" pitchFamily="34" charset="-122"/>
                <a:cs typeface="Courier New" pitchFamily="34" charset="-120"/>
              </a:rPr>
              <a:t>export_gguf(path)</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writes a file with architecture  </a:t>
            </a:r>
            <a:pPr indent="0" marL="0">
              <a:lnSpc>
                <a:spcPct val="120000"/>
              </a:lnSpc>
              <a:buNone/>
            </a:pPr>
            <a:r>
              <a:rPr lang="en-US" sz="1100" dirty="0">
                <a:solidFill>
                  <a:srgbClr val="1B2733"/>
                </a:solidFill>
                <a:latin typeface="Courier New" pitchFamily="34" charset="0"/>
                <a:ea typeface="Courier New" pitchFamily="34" charset="-122"/>
                <a:cs typeface="Courier New" pitchFamily="34" charset="-120"/>
              </a:rPr>
              <a:t>controlvector</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a  </a:t>
            </a:r>
            <a:pPr indent="0" marL="0">
              <a:lnSpc>
                <a:spcPct val="120000"/>
              </a:lnSpc>
              <a:buNone/>
            </a:pPr>
            <a:r>
              <a:rPr lang="en-US" sz="1100" dirty="0">
                <a:solidFill>
                  <a:srgbClr val="1B2733"/>
                </a:solidFill>
                <a:latin typeface="Courier New" pitchFamily="34" charset="0"/>
                <a:ea typeface="Courier New" pitchFamily="34" charset="-122"/>
                <a:cs typeface="Courier New" pitchFamily="34" charset="-120"/>
              </a:rPr>
              <a:t>model_hint</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string, and one tensor per layer named  </a:t>
            </a:r>
            <a:pPr indent="0" marL="0">
              <a:lnSpc>
                <a:spcPct val="120000"/>
              </a:lnSpc>
              <a:buNone/>
            </a:pPr>
            <a:r>
              <a:rPr lang="en-US" sz="1100" dirty="0">
                <a:solidFill>
                  <a:srgbClr val="1B2733"/>
                </a:solidFill>
                <a:latin typeface="Courier New" pitchFamily="34" charset="0"/>
                <a:ea typeface="Courier New" pitchFamily="34" charset="-122"/>
                <a:cs typeface="Courier New" pitchFamily="34" charset="-120"/>
              </a:rPr>
              <a:t>direction.N</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a:t>
            </a:r>
            <a:pPr indent="0" marL="0">
              <a:lnSpc>
                <a:spcPct val="120000"/>
              </a:lnSpc>
              <a:buNone/>
            </a:pPr>
            <a:r>
              <a:rPr lang="en-US" sz="1100" b="1" dirty="0">
                <a:solidFill>
                  <a:srgbClr val="065A82"/>
                </a:solidFill>
                <a:latin typeface="Courier New" pitchFamily="34" charset="0"/>
                <a:ea typeface="Courier New" pitchFamily="34" charset="-122"/>
                <a:cs typeface="Courier New" pitchFamily="34" charset="-120"/>
              </a:rPr>
              <a:t>import_gguf()</a:t>
            </a:r>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  reads it back and warns if the architecture field doesn't match.</a:t>
            </a:r>
            <a:endParaRPr lang="en-US" sz="1100" dirty="0"/>
          </a:p>
          <a:p>
            <a:pPr indent="0" marL="0">
              <a:lnSpc>
                <a:spcPct val="120000"/>
              </a:lnSpc>
              <a:buNone/>
            </a:pPr>
            <a:endParaRPr lang="en-US" sz="1100" dirty="0"/>
          </a:p>
          <a:p>
            <a:pPr indent="0" marL="0">
              <a:lnSpc>
                <a:spcPct val="120000"/>
              </a:lnSpc>
              <a:buNone/>
            </a:pPr>
            <a:r>
              <a:rPr lang="en-US" sz="1100" dirty="0">
                <a:solidFill>
                  <a:srgbClr val="1B2733"/>
                </a:solidFill>
                <a:latin typeface="Calibri" pitchFamily="34" charset="0"/>
                <a:ea typeface="Calibri" pitchFamily="34" charset="-122"/>
                <a:cs typeface="Calibri" pitchFamily="34" charset="-120"/>
              </a:rPr>
              <a:t>This is how a vector trained here gets used inside a quantised llama.cpp runtime.</a:t>
            </a:r>
            <a:endParaRPr lang="en-US" sz="1100" dirty="0"/>
          </a:p>
        </p:txBody>
      </p:sp>
      <p:sp>
        <p:nvSpPr>
          <p:cNvPr id="14" name="Shape 10"/>
          <p:cNvSpPr/>
          <p:nvPr/>
        </p:nvSpPr>
        <p:spPr>
          <a:xfrm>
            <a:off x="548640" y="4206240"/>
            <a:ext cx="11064240" cy="1600200"/>
          </a:xfrm>
          <a:prstGeom prst="roundRect">
            <a:avLst>
              <a:gd name="adj" fmla="val 4571"/>
            </a:avLst>
          </a:prstGeom>
          <a:solidFill>
            <a:srgbClr val="21295C"/>
          </a:solidFill>
          <a:ln/>
        </p:spPr>
      </p:sp>
      <p:sp>
        <p:nvSpPr>
          <p:cNvPr id="15" name="Shape 11"/>
          <p:cNvSpPr/>
          <p:nvPr/>
        </p:nvSpPr>
        <p:spPr>
          <a:xfrm>
            <a:off x="777240" y="4434840"/>
            <a:ext cx="457200" cy="457200"/>
          </a:xfrm>
          <a:prstGeom prst="ellipse">
            <a:avLst/>
          </a:prstGeom>
          <a:solidFill>
            <a:srgbClr val="1C7293"/>
          </a:solidFill>
          <a:ln/>
        </p:spPr>
      </p:sp>
      <p:pic>
        <p:nvPicPr>
          <p:cNvPr id="16" name="Image 2" descr="/home/claude/work/icons/brain.png">    </p:cNvPr>
          <p:cNvPicPr>
            <a:picLocks noChangeAspect="1"/>
          </p:cNvPicPr>
          <p:nvPr/>
        </p:nvPicPr>
        <p:blipFill>
          <a:blip r:embed="rId3"/>
          <a:stretch>
            <a:fillRect/>
          </a:stretch>
        </p:blipFill>
        <p:spPr>
          <a:xfrm>
            <a:off x="896112" y="4553712"/>
            <a:ext cx="219456" cy="219456"/>
          </a:xfrm>
          <a:prstGeom prst="rect">
            <a:avLst/>
          </a:prstGeom>
        </p:spPr>
      </p:pic>
      <p:sp>
        <p:nvSpPr>
          <p:cNvPr id="17" name="Text 12"/>
          <p:cNvSpPr/>
          <p:nvPr/>
        </p:nvSpPr>
        <p:spPr>
          <a:xfrm>
            <a:off x="1371600" y="4453128"/>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SAE path</a:t>
            </a:r>
            <a:endParaRPr lang="en-US" sz="1400" dirty="0"/>
          </a:p>
        </p:txBody>
      </p:sp>
      <p:sp>
        <p:nvSpPr>
          <p:cNvPr id="18" name="Text 13"/>
          <p:cNvSpPr/>
          <p:nvPr/>
        </p:nvSpPr>
        <p:spPr>
          <a:xfrm>
            <a:off x="1371600" y="4846320"/>
            <a:ext cx="10058400" cy="868680"/>
          </a:xfrm>
          <a:prstGeom prst="rect">
            <a:avLst/>
          </a:prstGeom>
          <a:noFill/>
          <a:ln/>
        </p:spPr>
        <p:txBody>
          <a:bodyPr wrap="square" lIns="0" tIns="0" rIns="0" bIns="0" rtlCol="0" anchor="ctr"/>
          <a:lstStyle/>
          <a:p>
            <a:pPr indent="0" marL="0">
              <a:lnSpc>
                <a:spcPct val="120000"/>
              </a:lnSpc>
              <a:buNone/>
            </a:pPr>
            <a:r>
              <a:rPr lang="en-US" sz="1100" b="1" dirty="0">
                <a:solidFill>
                  <a:srgbClr val="8FD4E8"/>
                </a:solidFill>
                <a:latin typeface="Courier New" pitchFamily="34" charset="0"/>
                <a:ea typeface="Courier New" pitchFamily="34" charset="-122"/>
                <a:cs typeface="Courier New" pitchFamily="34" charset="-120"/>
              </a:rPr>
              <a:t>train_with_sae()</a:t>
            </a:r>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  runs the same pipeline in a sparse-autoencoder feature basis: activations are encoded to features, PCA runs there, and the result is decoded back to a usable direction — or kept as features for inspection. It defaults to </a:t>
            </a:r>
            <a:pPr indent="0" marL="0">
              <a:lnSpc>
                <a:spcPct val="120000"/>
              </a:lnSpc>
              <a:buNone/>
            </a:pPr>
            <a:r>
              <a:rPr lang="en-US" sz="1100" dirty="0">
                <a:solidFill>
                  <a:srgbClr val="8FD4E8"/>
                </a:solidFill>
                <a:latin typeface="Courier New" pitchFamily="34" charset="0"/>
                <a:ea typeface="Courier New" pitchFamily="34" charset="-122"/>
                <a:cs typeface="Courier New" pitchFamily="34" charset="-120"/>
              </a:rPr>
              <a:t>pca_center</a:t>
            </a:r>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 where the plain trainer defaults to </a:t>
            </a:r>
            <a:pPr indent="0" marL="0">
              <a:lnSpc>
                <a:spcPct val="120000"/>
              </a:lnSpc>
              <a:buNone/>
            </a:pPr>
            <a:r>
              <a:rPr lang="en-US" sz="1100" dirty="0">
                <a:solidFill>
                  <a:srgbClr val="8FD4E8"/>
                </a:solidFill>
                <a:latin typeface="Courier New" pitchFamily="34" charset="0"/>
                <a:ea typeface="Courier New" pitchFamily="34" charset="-122"/>
                <a:cs typeface="Courier New" pitchFamily="34" charset="-120"/>
              </a:rPr>
              <a:t>pca_diff</a:t>
            </a:r>
            <a:pPr indent="0" marL="0">
              <a:lnSpc>
                <a:spcPct val="120000"/>
              </a:lnSpc>
              <a:buNone/>
            </a:pPr>
            <a:r>
              <a:rPr lang="en-US" sz="1100" dirty="0">
                <a:solidFill>
                  <a:srgbClr val="9FC3D9"/>
                </a:solidFill>
                <a:latin typeface="Calibri" pitchFamily="34" charset="0"/>
                <a:ea typeface="Calibri" pitchFamily="34" charset="-122"/>
                <a:cs typeface="Calibri" pitchFamily="34" charset="-120"/>
              </a:rPr>
              <a:t>. Loading via from_eleuther() also has an index offset to respect: this library counts the embedding as layer 0, the SAE library does not.</a:t>
            </a:r>
            <a:endParaRPr lang="en-US" sz="1100" dirty="0"/>
          </a:p>
        </p:txBody>
      </p:sp>
      <p:sp>
        <p:nvSpPr>
          <p:cNvPr id="19" name="Text 14"/>
          <p:cNvSpPr/>
          <p:nvPr/>
        </p:nvSpPr>
        <p:spPr>
          <a:xfrm>
            <a:off x="548640" y="5943600"/>
            <a:ext cx="11064240" cy="320040"/>
          </a:xfrm>
          <a:prstGeom prst="rect">
            <a:avLst/>
          </a:prstGeom>
          <a:noFill/>
          <a:ln/>
        </p:spPr>
        <p:txBody>
          <a:bodyPr wrap="square" rtlCol="0" anchor="ctr"/>
          <a:lstStyle/>
          <a:p>
            <a:pPr indent="0" marL="0">
              <a:buNone/>
            </a:pPr>
            <a:r>
              <a:rPr lang="en-US" sz="1100" i="1" dirty="0">
                <a:solidFill>
                  <a:srgbClr val="5C7080"/>
                </a:solidFill>
                <a:latin typeface="Calibri" pitchFamily="34" charset="0"/>
                <a:ea typeface="Calibri" pitchFamily="34" charset="-122"/>
                <a:cs typeface="Calibri" pitchFamily="34" charset="-120"/>
              </a:rPr>
              <a:t>The library's own docstring calls this path a work in progress — treat it as an experiment, not a default.</a:t>
            </a:r>
            <a:endParaRPr lang="en-US" sz="1100" dirty="0"/>
          </a:p>
        </p:txBody>
      </p:sp>
      <p:sp>
        <p:nvSpPr>
          <p:cNvPr id="20" name="Text 15"/>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21" name="Text 1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SETUP</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1B2733"/>
                </a:solidFill>
                <a:latin typeface="Cambria" pitchFamily="34" charset="0"/>
                <a:ea typeface="Cambria" pitchFamily="34" charset="-122"/>
                <a:cs typeface="Cambria" pitchFamily="34" charset="-120"/>
              </a:rPr>
              <a:t>Installation and Runtime Requirements</a:t>
            </a:r>
            <a:endParaRPr lang="en-US" sz="3200" dirty="0"/>
          </a:p>
        </p:txBody>
      </p:sp>
      <p:sp>
        <p:nvSpPr>
          <p:cNvPr id="4" name="Shape 2"/>
          <p:cNvSpPr/>
          <p:nvPr/>
        </p:nvSpPr>
        <p:spPr>
          <a:xfrm>
            <a:off x="548640" y="1572768"/>
            <a:ext cx="5394960" cy="2148840"/>
          </a:xfrm>
          <a:prstGeom prst="roundRect">
            <a:avLst>
              <a:gd name="adj" fmla="val 3404"/>
            </a:avLst>
          </a:prstGeom>
          <a:solidFill>
            <a:srgbClr val="F4F1E8"/>
          </a:solidFill>
          <a:ln w="12700">
            <a:solidFill>
              <a:srgbClr val="D8D2C0"/>
            </a:solidFill>
            <a:prstDash val="solid"/>
          </a:ln>
        </p:spPr>
      </p:sp>
      <p:sp>
        <p:nvSpPr>
          <p:cNvPr id="5" name="Shape 3"/>
          <p:cNvSpPr/>
          <p:nvPr/>
        </p:nvSpPr>
        <p:spPr>
          <a:xfrm>
            <a:off x="777240" y="1773936"/>
            <a:ext cx="438912" cy="438912"/>
          </a:xfrm>
          <a:prstGeom prst="ellipse">
            <a:avLst/>
          </a:prstGeom>
          <a:solidFill>
            <a:srgbClr val="8A4B2A"/>
          </a:solidFill>
          <a:ln/>
        </p:spPr>
      </p:sp>
      <p:pic>
        <p:nvPicPr>
          <p:cNvPr id="6" name="Image 0" descr="/home/claude/work/icons/warn.png">    </p:cNvPr>
          <p:cNvPicPr>
            <a:picLocks noChangeAspect="1"/>
          </p:cNvPicPr>
          <p:nvPr/>
        </p:nvPicPr>
        <p:blipFill>
          <a:blip r:embed="rId1"/>
          <a:stretch>
            <a:fillRect/>
          </a:stretch>
        </p:blipFill>
        <p:spPr>
          <a:xfrm>
            <a:off x="891357" y="1888053"/>
            <a:ext cx="210678" cy="210678"/>
          </a:xfrm>
          <a:prstGeom prst="rect">
            <a:avLst/>
          </a:prstGeom>
        </p:spPr>
      </p:pic>
      <p:sp>
        <p:nvSpPr>
          <p:cNvPr id="7" name="Text 4"/>
          <p:cNvSpPr/>
          <p:nvPr/>
        </p:nvSpPr>
        <p:spPr>
          <a:xfrm>
            <a:off x="1353312" y="1792224"/>
            <a:ext cx="4389120" cy="384048"/>
          </a:xfrm>
          <a:prstGeom prst="rect">
            <a:avLst/>
          </a:prstGeom>
          <a:noFill/>
          <a:ln/>
        </p:spPr>
        <p:txBody>
          <a:bodyPr wrap="square" lIns="0" tIns="0" rIns="0" bIns="0" rtlCol="0" anchor="ctr"/>
          <a:lstStyle/>
          <a:p>
            <a:pPr indent="0" marL="0">
              <a:buNone/>
            </a:pPr>
            <a:r>
              <a:rPr lang="en-US" sz="1350" b="1" dirty="0">
                <a:solidFill>
                  <a:srgbClr val="8A4B2A"/>
                </a:solidFill>
                <a:latin typeface="Calibri" pitchFamily="34" charset="0"/>
                <a:ea typeface="Calibri" pitchFamily="34" charset="-122"/>
                <a:cs typeface="Calibri" pitchFamily="34" charset="-120"/>
              </a:rPr>
              <a:t>The PyPI release does not import</a:t>
            </a:r>
            <a:endParaRPr lang="en-US" sz="1350" dirty="0"/>
          </a:p>
        </p:txBody>
      </p:sp>
      <p:sp>
        <p:nvSpPr>
          <p:cNvPr id="8" name="Text 5"/>
          <p:cNvSpPr/>
          <p:nvPr/>
        </p:nvSpPr>
        <p:spPr>
          <a:xfrm>
            <a:off x="777240" y="2286000"/>
            <a:ext cx="4937760" cy="1371600"/>
          </a:xfrm>
          <a:prstGeom prst="rect">
            <a:avLst/>
          </a:prstGeom>
          <a:noFill/>
          <a:ln/>
        </p:spPr>
        <p:txBody>
          <a:bodyPr wrap="square" lIns="0" tIns="0" rIns="0" bIns="0" rtlCol="0" anchor="ctr"/>
          <a:lstStyle/>
          <a:p>
            <a:pPr indent="0" marL="0">
              <a:lnSpc>
                <a:spcPct val="120000"/>
              </a:lnSpc>
              <a:buNone/>
            </a:pPr>
            <a:r>
              <a:rPr lang="en-US" sz="1050" b="1" dirty="0">
                <a:solidFill>
                  <a:srgbClr val="1B2733"/>
                </a:solidFill>
                <a:latin typeface="Courier New" pitchFamily="34" charset="0"/>
                <a:ea typeface="Courier New" pitchFamily="34" charset="-122"/>
                <a:cs typeface="Courier New" pitchFamily="34" charset="-120"/>
              </a:rPr>
              <a:t>pip install repeng</a:t>
            </a:r>
            <a:pPr indent="0" marL="0">
              <a:lnSpc>
                <a:spcPct val="120000"/>
              </a:lnSpc>
              <a:buNone/>
            </a:pPr>
            <a:r>
              <a:rPr lang="en-US" sz="1050" dirty="0">
                <a:solidFill>
                  <a:srgbClr val="1B2733"/>
                </a:solidFill>
                <a:latin typeface="Calibri" pitchFamily="34" charset="0"/>
                <a:ea typeface="Calibri" pitchFamily="34" charset="-122"/>
                <a:cs typeface="Calibri" pitchFamily="34" charset="-120"/>
              </a:rPr>
              <a:t>  currently resolves to  </a:t>
            </a:r>
            <a:pPr indent="0" marL="0">
              <a:lnSpc>
                <a:spcPct val="120000"/>
              </a:lnSpc>
              <a:buNone/>
            </a:pPr>
            <a:r>
              <a:rPr lang="en-US" sz="1050" b="1" dirty="0">
                <a:solidFill>
                  <a:srgbClr val="1B2733"/>
                </a:solidFill>
                <a:latin typeface="Courier New" pitchFamily="34" charset="0"/>
                <a:ea typeface="Courier New" pitchFamily="34" charset="-122"/>
                <a:cs typeface="Courier New" pitchFamily="34" charset="-120"/>
              </a:rPr>
              <a:t>0.4.0</a:t>
            </a:r>
            <a:pPr indent="0" marL="0">
              <a:lnSpc>
                <a:spcPct val="120000"/>
              </a:lnSpc>
              <a:buNone/>
            </a:pPr>
            <a:r>
              <a:rPr lang="en-US" sz="1050" dirty="0">
                <a:solidFill>
                  <a:srgbClr val="1B2733"/>
                </a:solidFill>
                <a:latin typeface="Calibri" pitchFamily="34" charset="0"/>
                <a:ea typeface="Calibri" pitchFamily="34" charset="-122"/>
                <a:cs typeface="Calibri" pitchFamily="34" charset="-120"/>
              </a:rPr>
              <a:t>  (Dec 2024), which fails at import time on NumPy 2 with </a:t>
            </a:r>
            <a:pPr indent="0" marL="0">
              <a:lnSpc>
                <a:spcPct val="120000"/>
              </a:lnSpc>
              <a:buNone/>
            </a:pPr>
            <a:r>
              <a:rPr lang="en-US" sz="1050" dirty="0">
                <a:solidFill>
                  <a:srgbClr val="1B2733"/>
                </a:solidFill>
                <a:latin typeface="Courier New" pitchFamily="34" charset="0"/>
                <a:ea typeface="Courier New" pitchFamily="34" charset="-122"/>
                <a:cs typeface="Courier New" pitchFamily="34" charset="-120"/>
              </a:rPr>
              <a:t>AttributeError: `np.float_` was removed</a:t>
            </a:r>
            <a:pPr indent="0" marL="0">
              <a:lnSpc>
                <a:spcPct val="120000"/>
              </a:lnSpc>
              <a:buNone/>
            </a:pPr>
            <a:r>
              <a:rPr lang="en-US" sz="1050" dirty="0">
                <a:solidFill>
                  <a:srgbClr val="1B2733"/>
                </a:solidFill>
                <a:latin typeface="Calibri" pitchFamily="34" charset="0"/>
                <a:ea typeface="Calibri" pitchFamily="34" charset="-122"/>
                <a:cs typeface="Calibri" pitchFamily="34" charset="-120"/>
              </a:rPr>
              <a:t>. Every modern environment ships NumPy 2, so the published package does not import at all. Install from the repository, or from a wheel built from it.</a:t>
            </a:r>
            <a:endParaRPr lang="en-US" sz="1050" dirty="0"/>
          </a:p>
        </p:txBody>
      </p:sp>
      <p:sp>
        <p:nvSpPr>
          <p:cNvPr id="9" name="Shape 6"/>
          <p:cNvSpPr/>
          <p:nvPr/>
        </p:nvSpPr>
        <p:spPr>
          <a:xfrm>
            <a:off x="6172200" y="1572768"/>
            <a:ext cx="5440680" cy="2148840"/>
          </a:xfrm>
          <a:prstGeom prst="roundRect">
            <a:avLst>
              <a:gd name="adj" fmla="val 3404"/>
            </a:avLst>
          </a:prstGeom>
          <a:solidFill>
            <a:srgbClr val="F2F8FA"/>
          </a:solidFill>
          <a:ln w="12700">
            <a:solidFill>
              <a:srgbClr val="DCE7EC"/>
            </a:solidFill>
            <a:prstDash val="solid"/>
          </a:ln>
        </p:spPr>
      </p:sp>
      <p:sp>
        <p:nvSpPr>
          <p:cNvPr id="10" name="Shape 7"/>
          <p:cNvSpPr/>
          <p:nvPr/>
        </p:nvSpPr>
        <p:spPr>
          <a:xfrm>
            <a:off x="6400800" y="1773936"/>
            <a:ext cx="438912" cy="438912"/>
          </a:xfrm>
          <a:prstGeom prst="ellipse">
            <a:avLst/>
          </a:prstGeom>
          <a:solidFill>
            <a:srgbClr val="065A82"/>
          </a:solidFill>
          <a:ln/>
        </p:spPr>
      </p:sp>
      <p:pic>
        <p:nvPicPr>
          <p:cNvPr id="11" name="Image 1" descr="/home/claude/work/icons/package.png">    </p:cNvPr>
          <p:cNvPicPr>
            <a:picLocks noChangeAspect="1"/>
          </p:cNvPicPr>
          <p:nvPr/>
        </p:nvPicPr>
        <p:blipFill>
          <a:blip r:embed="rId2"/>
          <a:stretch>
            <a:fillRect/>
          </a:stretch>
        </p:blipFill>
        <p:spPr>
          <a:xfrm>
            <a:off x="6514917" y="1888053"/>
            <a:ext cx="210678" cy="210678"/>
          </a:xfrm>
          <a:prstGeom prst="rect">
            <a:avLst/>
          </a:prstGeom>
        </p:spPr>
      </p:pic>
      <p:sp>
        <p:nvSpPr>
          <p:cNvPr id="12" name="Text 8"/>
          <p:cNvSpPr/>
          <p:nvPr/>
        </p:nvSpPr>
        <p:spPr>
          <a:xfrm>
            <a:off x="6976872" y="1792224"/>
            <a:ext cx="4480560" cy="384048"/>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What 0.5.0 adds that 0.4.0 lacks</a:t>
            </a:r>
            <a:endParaRPr lang="en-US" sz="1350" dirty="0"/>
          </a:p>
        </p:txBody>
      </p:sp>
      <p:sp>
        <p:nvSpPr>
          <p:cNvPr id="13" name="Text 9"/>
          <p:cNvSpPr/>
          <p:nvPr/>
        </p:nvSpPr>
        <p:spPr>
          <a:xfrm>
            <a:off x="6400800" y="2286000"/>
            <a:ext cx="4983480" cy="137160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B2733"/>
                </a:solidFill>
                <a:latin typeface="Calibri" pitchFamily="34" charset="0"/>
                <a:ea typeface="Calibri" pitchFamily="34" charset="-122"/>
                <a:cs typeface="Calibri" pitchFamily="34" charset="-120"/>
              </a:rPr>
              <a:t>a layer-list search that handles Llama, Mistral, Gemma, Qwen and GPT-2, with a repeng_layers override for anything else</a:t>
            </a:r>
            <a:endParaRPr lang="en-US" sz="1050" dirty="0"/>
          </a:p>
          <a:p>
            <a:pPr marL="342900" indent="-342900">
              <a:spcAft>
                <a:spcPts val="400"/>
              </a:spcAft>
              <a:buSzPct val="100000"/>
              <a:buChar char="•"/>
            </a:pPr>
            <a:r>
              <a:rPr lang="en-US" sz="1050" dirty="0">
                <a:solidFill>
                  <a:srgbClr val="1B2733"/>
                </a:solidFill>
                <a:latin typeface="Calibri" pitchFamily="34" charset="0"/>
                <a:ea typeface="Calibri" pitchFamily="34" charset="-122"/>
                <a:cs typeface="Calibri" pitchFamily="34" charset="-120"/>
              </a:rPr>
              <a:t>attribute forwarding on the wrapper, so wrapped blocks still answer questions the runtime asks them</a:t>
            </a:r>
            <a:endParaRPr lang="en-US" sz="1050" dirty="0"/>
          </a:p>
          <a:p>
            <a:pPr marL="342900" indent="-342900">
              <a:spcAft>
                <a:spcPts val="400"/>
              </a:spcAft>
              <a:buSzPct val="100000"/>
              <a:buChar char="•"/>
            </a:pPr>
            <a:r>
              <a:rPr lang="en-US" sz="1050" dirty="0">
                <a:solidFill>
                  <a:srgbClr val="1B2733"/>
                </a:solidFill>
                <a:latin typeface="Calibri" pitchFamily="34" charset="0"/>
                <a:ea typeface="Calibri" pitchFamily="34" charset="-122"/>
                <a:cs typeface="Calibri" pitchFamily="34" charset="-120"/>
              </a:rPr>
              <a:t>the compute_hiddens / transform_hiddens hooks</a:t>
            </a:r>
            <a:endParaRPr lang="en-US" sz="1050" dirty="0"/>
          </a:p>
          <a:p>
            <a:pPr marL="342900" indent="-342900">
              <a:spcAft>
                <a:spcPts val="400"/>
              </a:spcAft>
              <a:buSzPct val="100000"/>
              <a:buChar char="•"/>
            </a:pPr>
            <a:r>
              <a:rPr lang="en-US" sz="1050" dirty="0">
                <a:solidFill>
                  <a:srgbClr val="1B2733"/>
                </a:solidFill>
                <a:latin typeface="Calibri" pitchFamily="34" charset="0"/>
                <a:ea typeface="Calibri" pitchFamily="34" charset="-122"/>
                <a:cs typeface="Calibri" pitchFamily="34" charset="-120"/>
              </a:rPr>
              <a:t>the NumPy 2 fix</a:t>
            </a:r>
            <a:endParaRPr lang="en-US" sz="1050" dirty="0"/>
          </a:p>
        </p:txBody>
      </p:sp>
      <p:sp>
        <p:nvSpPr>
          <p:cNvPr id="14" name="Shape 10"/>
          <p:cNvSpPr/>
          <p:nvPr/>
        </p:nvSpPr>
        <p:spPr>
          <a:xfrm>
            <a:off x="548640" y="3931920"/>
            <a:ext cx="3474720" cy="2148840"/>
          </a:xfrm>
          <a:prstGeom prst="roundRect">
            <a:avLst>
              <a:gd name="adj" fmla="val 3404"/>
            </a:avLst>
          </a:prstGeom>
          <a:solidFill>
            <a:srgbClr val="F2F8FA"/>
          </a:solidFill>
          <a:ln w="12700">
            <a:solidFill>
              <a:srgbClr val="DCE7EC"/>
            </a:solidFill>
            <a:prstDash val="solid"/>
          </a:ln>
        </p:spPr>
      </p:sp>
      <p:sp>
        <p:nvSpPr>
          <p:cNvPr id="15" name="Shape 11"/>
          <p:cNvSpPr/>
          <p:nvPr/>
        </p:nvSpPr>
        <p:spPr>
          <a:xfrm>
            <a:off x="777240" y="4133088"/>
            <a:ext cx="420624" cy="420624"/>
          </a:xfrm>
          <a:prstGeom prst="ellipse">
            <a:avLst/>
          </a:prstGeom>
          <a:solidFill>
            <a:srgbClr val="1C7293"/>
          </a:solidFill>
          <a:ln/>
        </p:spPr>
      </p:sp>
      <p:pic>
        <p:nvPicPr>
          <p:cNvPr id="16" name="Image 2" descr="/home/claude/work/icons/cpu.png">    </p:cNvPr>
          <p:cNvPicPr>
            <a:picLocks noChangeAspect="1"/>
          </p:cNvPicPr>
          <p:nvPr/>
        </p:nvPicPr>
        <p:blipFill>
          <a:blip r:embed="rId3"/>
          <a:stretch>
            <a:fillRect/>
          </a:stretch>
        </p:blipFill>
        <p:spPr>
          <a:xfrm>
            <a:off x="886602" y="4242450"/>
            <a:ext cx="201900" cy="201900"/>
          </a:xfrm>
          <a:prstGeom prst="rect">
            <a:avLst/>
          </a:prstGeom>
        </p:spPr>
      </p:pic>
      <p:sp>
        <p:nvSpPr>
          <p:cNvPr id="17" name="Text 12"/>
          <p:cNvSpPr/>
          <p:nvPr/>
        </p:nvSpPr>
        <p:spPr>
          <a:xfrm>
            <a:off x="777240" y="4626864"/>
            <a:ext cx="3017520" cy="5029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A laptop is enough for a small model</a:t>
            </a:r>
            <a:endParaRPr lang="en-US" sz="1200" dirty="0"/>
          </a:p>
        </p:txBody>
      </p:sp>
      <p:sp>
        <p:nvSpPr>
          <p:cNvPr id="18" name="Text 13"/>
          <p:cNvSpPr/>
          <p:nvPr/>
        </p:nvSpPr>
        <p:spPr>
          <a:xfrm>
            <a:off x="777240" y="5138928"/>
            <a:ext cx="3017520" cy="868680"/>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A 0.5B instruct model trains a vector on CPU in about a minute at a few hundred pairs, and generates fast enough to iterate. No GPU, no quota.</a:t>
            </a:r>
            <a:endParaRPr lang="en-US" sz="1050" dirty="0"/>
          </a:p>
        </p:txBody>
      </p:sp>
      <p:sp>
        <p:nvSpPr>
          <p:cNvPr id="19" name="Shape 14"/>
          <p:cNvSpPr/>
          <p:nvPr/>
        </p:nvSpPr>
        <p:spPr>
          <a:xfrm>
            <a:off x="4251960" y="3931920"/>
            <a:ext cx="3474720" cy="2148840"/>
          </a:xfrm>
          <a:prstGeom prst="roundRect">
            <a:avLst>
              <a:gd name="adj" fmla="val 3404"/>
            </a:avLst>
          </a:prstGeom>
          <a:solidFill>
            <a:srgbClr val="F2F8FA"/>
          </a:solidFill>
          <a:ln w="12700">
            <a:solidFill>
              <a:srgbClr val="DCE7EC"/>
            </a:solidFill>
            <a:prstDash val="solid"/>
          </a:ln>
        </p:spPr>
      </p:sp>
      <p:sp>
        <p:nvSpPr>
          <p:cNvPr id="20" name="Shape 15"/>
          <p:cNvSpPr/>
          <p:nvPr/>
        </p:nvSpPr>
        <p:spPr>
          <a:xfrm>
            <a:off x="4480560" y="4133088"/>
            <a:ext cx="420624" cy="420624"/>
          </a:xfrm>
          <a:prstGeom prst="ellipse">
            <a:avLst/>
          </a:prstGeom>
          <a:solidFill>
            <a:srgbClr val="1C7293"/>
          </a:solidFill>
          <a:ln/>
        </p:spPr>
      </p:sp>
      <p:pic>
        <p:nvPicPr>
          <p:cNvPr id="21" name="Image 3" descr="/home/claude/work/icons/cloud.png">    </p:cNvPr>
          <p:cNvPicPr>
            <a:picLocks noChangeAspect="1"/>
          </p:cNvPicPr>
          <p:nvPr/>
        </p:nvPicPr>
        <p:blipFill>
          <a:blip r:embed="rId4"/>
          <a:stretch>
            <a:fillRect/>
          </a:stretch>
        </p:blipFill>
        <p:spPr>
          <a:xfrm>
            <a:off x="4589922" y="4242450"/>
            <a:ext cx="201900" cy="201900"/>
          </a:xfrm>
          <a:prstGeom prst="rect">
            <a:avLst/>
          </a:prstGeom>
        </p:spPr>
      </p:pic>
      <p:sp>
        <p:nvSpPr>
          <p:cNvPr id="22" name="Text 16"/>
          <p:cNvSpPr/>
          <p:nvPr/>
        </p:nvSpPr>
        <p:spPr>
          <a:xfrm>
            <a:off x="4480560" y="4626864"/>
            <a:ext cx="3017520" cy="5029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Free hosted GPUs make 7B comfortable</a:t>
            </a:r>
            <a:endParaRPr lang="en-US" sz="1200" dirty="0"/>
          </a:p>
        </p:txBody>
      </p:sp>
      <p:sp>
        <p:nvSpPr>
          <p:cNvPr id="23" name="Text 17"/>
          <p:cNvSpPr/>
          <p:nvPr/>
        </p:nvSpPr>
        <p:spPr>
          <a:xfrm>
            <a:off x="4480560" y="5138928"/>
            <a:ext cx="3017520" cy="868680"/>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A hosted notebook with a free accelerator tier covers the README's own Mistral-7B example. Offline wheel installs work where outbound network is disabled.</a:t>
            </a:r>
            <a:endParaRPr lang="en-US" sz="1050" dirty="0"/>
          </a:p>
        </p:txBody>
      </p:sp>
      <p:sp>
        <p:nvSpPr>
          <p:cNvPr id="24" name="Shape 18"/>
          <p:cNvSpPr/>
          <p:nvPr/>
        </p:nvSpPr>
        <p:spPr>
          <a:xfrm>
            <a:off x="7955280" y="3931920"/>
            <a:ext cx="3474720" cy="2148840"/>
          </a:xfrm>
          <a:prstGeom prst="roundRect">
            <a:avLst>
              <a:gd name="adj" fmla="val 3404"/>
            </a:avLst>
          </a:prstGeom>
          <a:solidFill>
            <a:srgbClr val="F2F8FA"/>
          </a:solidFill>
          <a:ln w="12700">
            <a:solidFill>
              <a:srgbClr val="DCE7EC"/>
            </a:solidFill>
            <a:prstDash val="solid"/>
          </a:ln>
        </p:spPr>
      </p:sp>
      <p:sp>
        <p:nvSpPr>
          <p:cNvPr id="25" name="Shape 19"/>
          <p:cNvSpPr/>
          <p:nvPr/>
        </p:nvSpPr>
        <p:spPr>
          <a:xfrm>
            <a:off x="8183880" y="4133088"/>
            <a:ext cx="420624" cy="420624"/>
          </a:xfrm>
          <a:prstGeom prst="ellipse">
            <a:avLst/>
          </a:prstGeom>
          <a:solidFill>
            <a:srgbClr val="8A4B2A"/>
          </a:solidFill>
          <a:ln/>
        </p:spPr>
      </p:sp>
      <p:pic>
        <p:nvPicPr>
          <p:cNvPr id="26" name="Image 4" descr="/home/claude/work/icons/bug.png">    </p:cNvPr>
          <p:cNvPicPr>
            <a:picLocks noChangeAspect="1"/>
          </p:cNvPicPr>
          <p:nvPr/>
        </p:nvPicPr>
        <p:blipFill>
          <a:blip r:embed="rId5"/>
          <a:stretch>
            <a:fillRect/>
          </a:stretch>
        </p:blipFill>
        <p:spPr>
          <a:xfrm>
            <a:off x="8293242" y="4242450"/>
            <a:ext cx="201900" cy="201900"/>
          </a:xfrm>
          <a:prstGeom prst="rect">
            <a:avLst/>
          </a:prstGeom>
        </p:spPr>
      </p:pic>
      <p:sp>
        <p:nvSpPr>
          <p:cNvPr id="27" name="Text 20"/>
          <p:cNvSpPr/>
          <p:nvPr/>
        </p:nvSpPr>
        <p:spPr>
          <a:xfrm>
            <a:off x="8183880" y="4626864"/>
            <a:ext cx="3017520" cy="5029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Version drift is the real hazard</a:t>
            </a:r>
            <a:endParaRPr lang="en-US" sz="1200" dirty="0"/>
          </a:p>
        </p:txBody>
      </p:sp>
      <p:sp>
        <p:nvSpPr>
          <p:cNvPr id="28" name="Text 21"/>
          <p:cNvSpPr/>
          <p:nvPr/>
        </p:nvSpPr>
        <p:spPr>
          <a:xfrm>
            <a:off x="8183880" y="5138928"/>
            <a:ext cx="3017520" cy="868680"/>
          </a:xfrm>
          <a:prstGeom prst="rect">
            <a:avLst/>
          </a:prstGeom>
          <a:noFill/>
          <a:ln/>
        </p:spPr>
        <p:txBody>
          <a:bodyPr wrap="square" lIns="0" tIns="0" rIns="0" bIns="0"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The library targets a moving HuggingFace API. One upstream test already fails against the current transformers release — a stale assertion rather than a broken feature, but a warning shot.</a:t>
            </a:r>
            <a:endParaRPr lang="en-US" sz="1050" dirty="0"/>
          </a:p>
        </p:txBody>
      </p:sp>
      <p:sp>
        <p:nvSpPr>
          <p:cNvPr id="29" name="Text 22"/>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0"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HONEST ASSESSMENT</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Known Limitations and Open Bugs</a:t>
            </a:r>
            <a:endParaRPr lang="en-US" sz="3200" dirty="0"/>
          </a:p>
        </p:txBody>
      </p:sp>
      <p:sp>
        <p:nvSpPr>
          <p:cNvPr id="4" name="Shape 2"/>
          <p:cNvSpPr/>
          <p:nvPr/>
        </p:nvSpPr>
        <p:spPr>
          <a:xfrm>
            <a:off x="548640" y="1572768"/>
            <a:ext cx="5394960" cy="1417320"/>
          </a:xfrm>
          <a:prstGeom prst="roundRect">
            <a:avLst>
              <a:gd name="adj" fmla="val 5161"/>
            </a:avLst>
          </a:prstGeom>
          <a:solidFill>
            <a:srgbClr val="12314F"/>
          </a:solidFill>
          <a:ln/>
        </p:spPr>
      </p:sp>
      <p:sp>
        <p:nvSpPr>
          <p:cNvPr id="5" name="Text 3"/>
          <p:cNvSpPr/>
          <p:nvPr/>
        </p:nvSpPr>
        <p:spPr>
          <a:xfrm>
            <a:off x="777240" y="1691640"/>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Training is not reproducible</a:t>
            </a:r>
            <a:endParaRPr lang="en-US" sz="1250" dirty="0"/>
          </a:p>
        </p:txBody>
      </p:sp>
      <p:sp>
        <p:nvSpPr>
          <p:cNvPr id="6" name="Text 4"/>
          <p:cNvSpPr/>
          <p:nvPr/>
        </p:nvSpPr>
        <p:spPr>
          <a:xfrm>
            <a:off x="777240" y="2011680"/>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scikit-learn's PCA picks a randomised solver by default at these matrix shapes, and no seed is set. Two runs on identical data give vectors that are not bit-identical. On a strong concept the direction still lands in the same place; the issue reporter observed real divergence on weak ones. Open issue #78.</a:t>
            </a:r>
            <a:endParaRPr lang="en-US" sz="1000" dirty="0"/>
          </a:p>
        </p:txBody>
      </p:sp>
      <p:sp>
        <p:nvSpPr>
          <p:cNvPr id="7" name="Shape 5"/>
          <p:cNvSpPr/>
          <p:nvPr/>
        </p:nvSpPr>
        <p:spPr>
          <a:xfrm>
            <a:off x="6217920" y="1572768"/>
            <a:ext cx="5394960" cy="1417320"/>
          </a:xfrm>
          <a:prstGeom prst="roundRect">
            <a:avLst>
              <a:gd name="adj" fmla="val 5161"/>
            </a:avLst>
          </a:prstGeom>
          <a:solidFill>
            <a:srgbClr val="12314F"/>
          </a:solidFill>
          <a:ln/>
        </p:spPr>
      </p:sp>
      <p:sp>
        <p:nvSpPr>
          <p:cNvPr id="8" name="Text 6"/>
          <p:cNvSpPr/>
          <p:nvPr/>
        </p:nvSpPr>
        <p:spPr>
          <a:xfrm>
            <a:off x="6446520" y="1691640"/>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pca_diff can miss the concept entirely</a:t>
            </a:r>
            <a:endParaRPr lang="en-US" sz="1250" dirty="0"/>
          </a:p>
        </p:txBody>
      </p:sp>
      <p:sp>
        <p:nvSpPr>
          <p:cNvPr id="9" name="Text 7"/>
          <p:cNvSpPr/>
          <p:nvPr/>
        </p:nvSpPr>
        <p:spPr>
          <a:xfrm>
            <a:off x="6446520" y="2011680"/>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If one side of every pair is the same string, the mean difference — where the concept sits — is exactly what PCA removes before it starts. The reporter measured near-orthogonality to the difference-of-means direction. Open issue #77.</a:t>
            </a:r>
            <a:endParaRPr lang="en-US" sz="1000" dirty="0"/>
          </a:p>
        </p:txBody>
      </p:sp>
      <p:sp>
        <p:nvSpPr>
          <p:cNvPr id="10" name="Shape 8"/>
          <p:cNvSpPr/>
          <p:nvPr/>
        </p:nvSpPr>
        <p:spPr>
          <a:xfrm>
            <a:off x="548640" y="3145536"/>
            <a:ext cx="5394960" cy="1417320"/>
          </a:xfrm>
          <a:prstGeom prst="roundRect">
            <a:avLst>
              <a:gd name="adj" fmla="val 5161"/>
            </a:avLst>
          </a:prstGeom>
          <a:solidFill>
            <a:srgbClr val="12314F"/>
          </a:solidFill>
          <a:ln/>
        </p:spPr>
      </p:sp>
      <p:sp>
        <p:nvSpPr>
          <p:cNvPr id="11" name="Text 9"/>
          <p:cNvSpPr/>
          <p:nvPr/>
        </p:nvSpPr>
        <p:spPr>
          <a:xfrm>
            <a:off x="777240" y="3264408"/>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The published package is stale and broken</a:t>
            </a:r>
            <a:endParaRPr lang="en-US" sz="1250" dirty="0"/>
          </a:p>
        </p:txBody>
      </p:sp>
      <p:sp>
        <p:nvSpPr>
          <p:cNvPr id="12" name="Text 10"/>
          <p:cNvSpPr/>
          <p:nvPr/>
        </p:nvSpPr>
        <p:spPr>
          <a:xfrm>
            <a:off x="777240" y="3584448"/>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PyPI is a full minor version behind and doesn't import on NumPy 2. Open issue #76.</a:t>
            </a:r>
            <a:endParaRPr lang="en-US" sz="1000" dirty="0"/>
          </a:p>
        </p:txBody>
      </p:sp>
      <p:sp>
        <p:nvSpPr>
          <p:cNvPr id="13" name="Shape 11"/>
          <p:cNvSpPr/>
          <p:nvPr/>
        </p:nvSpPr>
        <p:spPr>
          <a:xfrm>
            <a:off x="6217920" y="3145536"/>
            <a:ext cx="5394960" cy="1417320"/>
          </a:xfrm>
          <a:prstGeom prst="roundRect">
            <a:avLst>
              <a:gd name="adj" fmla="val 5161"/>
            </a:avLst>
          </a:prstGeom>
          <a:solidFill>
            <a:srgbClr val="12314F"/>
          </a:solidFill>
          <a:ln/>
        </p:spPr>
      </p:sp>
      <p:sp>
        <p:nvSpPr>
          <p:cNvPr id="14" name="Text 12"/>
          <p:cNvSpPr/>
          <p:nvPr/>
        </p:nvSpPr>
        <p:spPr>
          <a:xfrm>
            <a:off x="6446520" y="3264408"/>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MoE models are unsupported</a:t>
            </a:r>
            <a:endParaRPr lang="en-US" sz="1250" dirty="0"/>
          </a:p>
        </p:txBody>
      </p:sp>
      <p:sp>
        <p:nvSpPr>
          <p:cNvPr id="15" name="Text 13"/>
          <p:cNvSpPr/>
          <p:nvPr/>
        </p:nvSpPr>
        <p:spPr>
          <a:xfrm>
            <a:off x="6446520" y="3584448"/>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Stated plainly in the README: “Vector training currently does not work with MoE models (such as Mixtral).”</a:t>
            </a:r>
            <a:endParaRPr lang="en-US" sz="1000" dirty="0"/>
          </a:p>
        </p:txBody>
      </p:sp>
      <p:sp>
        <p:nvSpPr>
          <p:cNvPr id="16" name="Shape 14"/>
          <p:cNvSpPr/>
          <p:nvPr/>
        </p:nvSpPr>
        <p:spPr>
          <a:xfrm>
            <a:off x="548640" y="4718304"/>
            <a:ext cx="5394960" cy="1417320"/>
          </a:xfrm>
          <a:prstGeom prst="roundRect">
            <a:avLst>
              <a:gd name="adj" fmla="val 5161"/>
            </a:avLst>
          </a:prstGeom>
          <a:solidFill>
            <a:srgbClr val="12314F"/>
          </a:solidFill>
          <a:ln/>
        </p:spPr>
      </p:sp>
      <p:sp>
        <p:nvSpPr>
          <p:cNvPr id="17" name="Text 15"/>
          <p:cNvSpPr/>
          <p:nvPr/>
        </p:nvSpPr>
        <p:spPr>
          <a:xfrm>
            <a:off x="777240" y="4837176"/>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It rides a moving API</a:t>
            </a:r>
            <a:endParaRPr lang="en-US" sz="1250" dirty="0"/>
          </a:p>
        </p:txBody>
      </p:sp>
      <p:sp>
        <p:nvSpPr>
          <p:cNvPr id="18" name="Text 16"/>
          <p:cNvSpPr/>
          <p:nvPr/>
        </p:nvSpPr>
        <p:spPr>
          <a:xfrm>
            <a:off x="777240" y="5157216"/>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Model internals are accessed by attribute path and module-name suffix. New architectures need the override; upstream renames break things quietly.</a:t>
            </a:r>
            <a:endParaRPr lang="en-US" sz="1000" dirty="0"/>
          </a:p>
        </p:txBody>
      </p:sp>
      <p:sp>
        <p:nvSpPr>
          <p:cNvPr id="19" name="Shape 17"/>
          <p:cNvSpPr/>
          <p:nvPr/>
        </p:nvSpPr>
        <p:spPr>
          <a:xfrm>
            <a:off x="6217920" y="4718304"/>
            <a:ext cx="5394960" cy="1417320"/>
          </a:xfrm>
          <a:prstGeom prst="roundRect">
            <a:avLst>
              <a:gd name="adj" fmla="val 5161"/>
            </a:avLst>
          </a:prstGeom>
          <a:solidFill>
            <a:srgbClr val="12314F"/>
          </a:solidFill>
          <a:ln/>
        </p:spPr>
      </p:sp>
      <p:sp>
        <p:nvSpPr>
          <p:cNvPr id="20" name="Text 18"/>
          <p:cNvSpPr/>
          <p:nvPr/>
        </p:nvSpPr>
        <p:spPr>
          <a:xfrm>
            <a:off x="6446520" y="4837176"/>
            <a:ext cx="4937760" cy="310896"/>
          </a:xfrm>
          <a:prstGeom prst="rect">
            <a:avLst/>
          </a:prstGeom>
          <a:noFill/>
          <a:ln/>
        </p:spPr>
        <p:txBody>
          <a:bodyPr wrap="square" lIns="0" tIns="0" rIns="0" bIns="0" rtlCol="0" anchor="ctr"/>
          <a:lstStyle/>
          <a:p>
            <a:pPr indent="0" marL="0">
              <a:buNone/>
            </a:pPr>
            <a:r>
              <a:rPr lang="en-US" sz="1250" b="1" dirty="0">
                <a:solidFill>
                  <a:srgbClr val="FFC9A8"/>
                </a:solidFill>
                <a:latin typeface="Calibri" pitchFamily="34" charset="0"/>
                <a:ea typeface="Calibri" pitchFamily="34" charset="-122"/>
                <a:cs typeface="Calibri" pitchFamily="34" charset="-120"/>
              </a:rPr>
              <a:t>Strength has a narrow usable band</a:t>
            </a:r>
            <a:endParaRPr lang="en-US" sz="1250" dirty="0"/>
          </a:p>
        </p:txBody>
      </p:sp>
      <p:sp>
        <p:nvSpPr>
          <p:cNvPr id="21" name="Text 19"/>
          <p:cNvSpPr/>
          <p:nvPr/>
        </p:nvSpPr>
        <p:spPr>
          <a:xfrm>
            <a:off x="6446520" y="5157216"/>
            <a:ext cx="4937760" cy="896112"/>
          </a:xfrm>
          <a:prstGeom prst="rect">
            <a:avLst/>
          </a:prstGeom>
          <a:noFill/>
          <a:ln/>
        </p:spPr>
        <p:txBody>
          <a:bodyPr wrap="square" lIns="0" tIns="0" rIns="0" bIns="0" rtlCol="0" anchor="ctr"/>
          <a:lstStyle/>
          <a:p>
            <a:pPr indent="0" marL="0">
              <a:lnSpc>
                <a:spcPct val="115000"/>
              </a:lnSpc>
              <a:buNone/>
            </a:pPr>
            <a:r>
              <a:rPr lang="en-US" sz="1000" dirty="0">
                <a:solidFill>
                  <a:srgbClr val="9FC3D9"/>
                </a:solidFill>
                <a:latin typeface="Calibri" pitchFamily="34" charset="0"/>
                <a:ea typeface="Calibri" pitchFamily="34" charset="-122"/>
                <a:cs typeface="Calibri" pitchFamily="34" charset="-120"/>
              </a:rPr>
              <a:t>The gap between “no visible effect” and “fluency collapses” is small, model-specific, and has to be found empirically for every vector.</a:t>
            </a:r>
            <a:endParaRPr lang="en-US" sz="1000" dirty="0"/>
          </a:p>
        </p:txBody>
      </p:sp>
      <p:sp>
        <p:nvSpPr>
          <p:cNvPr id="22" name="Text 20"/>
          <p:cNvSpPr/>
          <p:nvPr/>
        </p:nvSpPr>
        <p:spPr>
          <a:xfrm>
            <a:off x="548640" y="6163056"/>
            <a:ext cx="11064240" cy="274320"/>
          </a:xfrm>
          <a:prstGeom prst="rect">
            <a:avLst/>
          </a:prstGeom>
          <a:noFill/>
          <a:ln/>
        </p:spPr>
        <p:txBody>
          <a:bodyPr wrap="square" lIns="0" tIns="0" rIns="0" bIns="0" rtlCol="0" anchor="ctr"/>
          <a:lstStyle/>
          <a:p>
            <a:pPr indent="0" marL="0">
              <a:buNone/>
            </a:pPr>
            <a:r>
              <a:rPr lang="en-US" sz="1050" i="1" dirty="0">
                <a:solidFill>
                  <a:srgbClr val="7FA8C0"/>
                </a:solidFill>
                <a:latin typeface="Calibri" pitchFamily="34" charset="0"/>
                <a:ea typeface="Calibri" pitchFamily="34" charset="-122"/>
                <a:cs typeface="Calibri" pitchFamily="34" charset="-120"/>
              </a:rPr>
              <a:t>Issues #77 and #78 were opened in July 2026 and are still open. Both are worth reading in full — they are unusually well-instrumented bug reports.</a:t>
            </a:r>
            <a:endParaRPr lang="en-US" sz="1050" dirty="0"/>
          </a:p>
        </p:txBody>
      </p:sp>
      <p:sp>
        <p:nvSpPr>
          <p:cNvPr id="23" name="Text 21"/>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REPENG  ·  AI SEMINAR, LECTURE 3</a:t>
            </a:r>
            <a:endParaRPr lang="en-US" sz="900" dirty="0"/>
          </a:p>
        </p:txBody>
      </p:sp>
      <p:sp>
        <p:nvSpPr>
          <p:cNvPr id="24"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82296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WRAP-UP</a:t>
            </a:r>
            <a:endParaRPr lang="en-US" sz="1300" dirty="0"/>
          </a:p>
        </p:txBody>
      </p:sp>
      <p:sp>
        <p:nvSpPr>
          <p:cNvPr id="3" name="Text 1"/>
          <p:cNvSpPr/>
          <p:nvPr/>
        </p:nvSpPr>
        <p:spPr>
          <a:xfrm>
            <a:off x="548640" y="713232"/>
            <a:ext cx="1051560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Resources, Next Steps, and Discussion</a:t>
            </a:r>
            <a:endParaRPr lang="en-US" sz="3000" dirty="0"/>
          </a:p>
        </p:txBody>
      </p:sp>
      <p:sp>
        <p:nvSpPr>
          <p:cNvPr id="4" name="Shape 2"/>
          <p:cNvSpPr/>
          <p:nvPr/>
        </p:nvSpPr>
        <p:spPr>
          <a:xfrm>
            <a:off x="548640" y="1600200"/>
            <a:ext cx="5394960" cy="2240280"/>
          </a:xfrm>
          <a:prstGeom prst="roundRect">
            <a:avLst>
              <a:gd name="adj" fmla="val 3265"/>
            </a:avLst>
          </a:prstGeom>
          <a:solidFill>
            <a:srgbClr val="F2F8FA"/>
          </a:solidFill>
          <a:ln w="12700">
            <a:solidFill>
              <a:srgbClr val="DCE7EC"/>
            </a:solidFill>
            <a:prstDash val="solid"/>
          </a:ln>
        </p:spPr>
      </p:sp>
      <p:sp>
        <p:nvSpPr>
          <p:cNvPr id="5" name="Text 3"/>
          <p:cNvSpPr/>
          <p:nvPr/>
        </p:nvSpPr>
        <p:spPr>
          <a:xfrm>
            <a:off x="777240" y="1737360"/>
            <a:ext cx="493776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Resources</a:t>
            </a:r>
            <a:endParaRPr lang="en-US" sz="1400" dirty="0"/>
          </a:p>
        </p:txBody>
      </p:sp>
      <p:sp>
        <p:nvSpPr>
          <p:cNvPr id="6" name="Text 4"/>
          <p:cNvSpPr/>
          <p:nvPr/>
        </p:nvSpPr>
        <p:spPr>
          <a:xfrm>
            <a:off x="777240" y="2148840"/>
            <a:ext cx="4937760" cy="21945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github.com/vgel/repeng</a:t>
            </a:r>
            <a:endParaRPr lang="en-US" sz="1050" dirty="0"/>
          </a:p>
        </p:txBody>
      </p:sp>
      <p:sp>
        <p:nvSpPr>
          <p:cNvPr id="7" name="Text 5"/>
          <p:cNvSpPr/>
          <p:nvPr/>
        </p:nvSpPr>
        <p:spPr>
          <a:xfrm>
            <a:off x="777240" y="2340864"/>
            <a:ext cx="4937760" cy="219456"/>
          </a:xfrm>
          <a:prstGeom prst="rect">
            <a:avLst/>
          </a:prstGeom>
          <a:noFill/>
          <a:ln/>
        </p:spPr>
        <p:txBody>
          <a:bodyPr wrap="square" lIns="0" tIns="0" rIns="0" bIns="0" rtlCol="0" anchor="ctr"/>
          <a:lstStyle/>
          <a:p>
            <a:pPr indent="0" marL="0">
              <a:buNone/>
            </a:pPr>
            <a:r>
              <a:rPr lang="en-US" sz="950" i="1" dirty="0">
                <a:solidFill>
                  <a:srgbClr val="5C7080"/>
                </a:solidFill>
                <a:latin typeface="Calibri" pitchFamily="34" charset="0"/>
                <a:ea typeface="Calibri" pitchFamily="34" charset="-122"/>
                <a:cs typeface="Calibri" pitchFamily="34" charset="-120"/>
              </a:rPr>
              <a:t>the library, the notebooks, the issues</a:t>
            </a:r>
            <a:endParaRPr lang="en-US" sz="950" dirty="0"/>
          </a:p>
        </p:txBody>
      </p:sp>
      <p:sp>
        <p:nvSpPr>
          <p:cNvPr id="8" name="Text 6"/>
          <p:cNvSpPr/>
          <p:nvPr/>
        </p:nvSpPr>
        <p:spPr>
          <a:xfrm>
            <a:off x="777240" y="2578608"/>
            <a:ext cx="4937760" cy="21945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vgel.me/posts/representation-engineering</a:t>
            </a:r>
            <a:endParaRPr lang="en-US" sz="1050" dirty="0"/>
          </a:p>
        </p:txBody>
      </p:sp>
      <p:sp>
        <p:nvSpPr>
          <p:cNvPr id="9" name="Text 7"/>
          <p:cNvSpPr/>
          <p:nvPr/>
        </p:nvSpPr>
        <p:spPr>
          <a:xfrm>
            <a:off x="777240" y="2770632"/>
            <a:ext cx="4937760" cy="219456"/>
          </a:xfrm>
          <a:prstGeom prst="rect">
            <a:avLst/>
          </a:prstGeom>
          <a:noFill/>
          <a:ln/>
        </p:spPr>
        <p:txBody>
          <a:bodyPr wrap="square" lIns="0" tIns="0" rIns="0" bIns="0" rtlCol="0" anchor="ctr"/>
          <a:lstStyle/>
          <a:p>
            <a:pPr indent="0" marL="0">
              <a:buNone/>
            </a:pPr>
            <a:r>
              <a:rPr lang="en-US" sz="950" i="1" dirty="0">
                <a:solidFill>
                  <a:srgbClr val="5C7080"/>
                </a:solidFill>
                <a:latin typeface="Calibri" pitchFamily="34" charset="0"/>
                <a:ea typeface="Calibri" pitchFamily="34" charset="-122"/>
                <a:cs typeface="Calibri" pitchFamily="34" charset="-120"/>
              </a:rPr>
              <a:t>the author's walkthrough of the technique</a:t>
            </a:r>
            <a:endParaRPr lang="en-US" sz="950" dirty="0"/>
          </a:p>
        </p:txBody>
      </p:sp>
      <p:sp>
        <p:nvSpPr>
          <p:cNvPr id="10" name="Text 8"/>
          <p:cNvSpPr/>
          <p:nvPr/>
        </p:nvSpPr>
        <p:spPr>
          <a:xfrm>
            <a:off x="777240" y="3008376"/>
            <a:ext cx="4937760" cy="21945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github.com/andyzoujm/representation-engineering</a:t>
            </a:r>
            <a:endParaRPr lang="en-US" sz="1050" dirty="0"/>
          </a:p>
        </p:txBody>
      </p:sp>
      <p:sp>
        <p:nvSpPr>
          <p:cNvPr id="11" name="Text 9"/>
          <p:cNvSpPr/>
          <p:nvPr/>
        </p:nvSpPr>
        <p:spPr>
          <a:xfrm>
            <a:off x="777240" y="3200400"/>
            <a:ext cx="4937760" cy="219456"/>
          </a:xfrm>
          <a:prstGeom prst="rect">
            <a:avLst/>
          </a:prstGeom>
          <a:noFill/>
          <a:ln/>
        </p:spPr>
        <p:txBody>
          <a:bodyPr wrap="square" lIns="0" tIns="0" rIns="0" bIns="0" rtlCol="0" anchor="ctr"/>
          <a:lstStyle/>
          <a:p>
            <a:pPr indent="0" marL="0">
              <a:buNone/>
            </a:pPr>
            <a:r>
              <a:rPr lang="en-US" sz="950" i="1" dirty="0">
                <a:solidFill>
                  <a:srgbClr val="5C7080"/>
                </a:solidFill>
                <a:latin typeface="Calibri" pitchFamily="34" charset="0"/>
                <a:ea typeface="Calibri" pitchFamily="34" charset="-122"/>
                <a:cs typeface="Calibri" pitchFamily="34" charset="-120"/>
              </a:rPr>
              <a:t>the prior work this derives from</a:t>
            </a:r>
            <a:endParaRPr lang="en-US" sz="950" dirty="0"/>
          </a:p>
        </p:txBody>
      </p:sp>
      <p:sp>
        <p:nvSpPr>
          <p:cNvPr id="12" name="Text 10"/>
          <p:cNvSpPr/>
          <p:nvPr/>
        </p:nvSpPr>
        <p:spPr>
          <a:xfrm>
            <a:off x="777240" y="3438144"/>
            <a:ext cx="4937760" cy="219456"/>
          </a:xfrm>
          <a:prstGeom prst="rect">
            <a:avLst/>
          </a:prstGeom>
          <a:noFill/>
          <a:ln/>
        </p:spPr>
        <p:txBody>
          <a:bodyPr wrap="square" lIns="0" tIns="0" rIns="0" bIns="0" rtlCol="0" anchor="ctr"/>
          <a:lstStyle/>
          <a:p>
            <a:pPr indent="0" marL="0">
              <a:buNone/>
            </a:pPr>
            <a:r>
              <a:rPr lang="en-US" sz="1050" b="1" dirty="0">
                <a:solidFill>
                  <a:srgbClr val="065A82"/>
                </a:solidFill>
                <a:latin typeface="Courier New" pitchFamily="34" charset="0"/>
                <a:ea typeface="Courier New" pitchFamily="34" charset="-122"/>
                <a:cs typeface="Courier New" pitchFamily="34" charset="-120"/>
              </a:rPr>
              <a:t>notebooks/experiments.ipynb</a:t>
            </a:r>
            <a:endParaRPr lang="en-US" sz="1050" dirty="0"/>
          </a:p>
        </p:txBody>
      </p:sp>
      <p:sp>
        <p:nvSpPr>
          <p:cNvPr id="13" name="Text 11"/>
          <p:cNvSpPr/>
          <p:nvPr/>
        </p:nvSpPr>
        <p:spPr>
          <a:xfrm>
            <a:off x="777240" y="3630168"/>
            <a:ext cx="4937760" cy="219456"/>
          </a:xfrm>
          <a:prstGeom prst="rect">
            <a:avLst/>
          </a:prstGeom>
          <a:noFill/>
          <a:ln/>
        </p:spPr>
        <p:txBody>
          <a:bodyPr wrap="square" lIns="0" tIns="0" rIns="0" bIns="0" rtlCol="0" anchor="ctr"/>
          <a:lstStyle/>
          <a:p>
            <a:pPr indent="0" marL="0">
              <a:buNone/>
            </a:pPr>
            <a:r>
              <a:rPr lang="en-US" sz="950" i="1" dirty="0">
                <a:solidFill>
                  <a:srgbClr val="5C7080"/>
                </a:solidFill>
                <a:latin typeface="Calibri" pitchFamily="34" charset="0"/>
                <a:ea typeface="Calibri" pitchFamily="34" charset="-122"/>
                <a:cs typeface="Calibri" pitchFamily="34" charset="-120"/>
              </a:rPr>
              <a:t>start here — the canonical worked example</a:t>
            </a:r>
            <a:endParaRPr lang="en-US" sz="950" dirty="0"/>
          </a:p>
        </p:txBody>
      </p:sp>
      <p:sp>
        <p:nvSpPr>
          <p:cNvPr id="14" name="Shape 12"/>
          <p:cNvSpPr/>
          <p:nvPr/>
        </p:nvSpPr>
        <p:spPr>
          <a:xfrm>
            <a:off x="6172200" y="1600200"/>
            <a:ext cx="5440680" cy="2240280"/>
          </a:xfrm>
          <a:prstGeom prst="roundRect">
            <a:avLst>
              <a:gd name="adj" fmla="val 3265"/>
            </a:avLst>
          </a:prstGeom>
          <a:solidFill>
            <a:srgbClr val="21295C"/>
          </a:solidFill>
          <a:ln/>
        </p:spPr>
      </p:sp>
      <p:sp>
        <p:nvSpPr>
          <p:cNvPr id="15" name="Shape 13"/>
          <p:cNvSpPr/>
          <p:nvPr/>
        </p:nvSpPr>
        <p:spPr>
          <a:xfrm>
            <a:off x="6400800" y="1810512"/>
            <a:ext cx="457200" cy="457200"/>
          </a:xfrm>
          <a:prstGeom prst="ellipse">
            <a:avLst/>
          </a:prstGeom>
          <a:solidFill>
            <a:srgbClr val="1C7293"/>
          </a:solidFill>
          <a:ln/>
        </p:spPr>
      </p:sp>
      <p:pic>
        <p:nvPicPr>
          <p:cNvPr id="16" name="Image 0" descr="/home/claude/work/icons/chat.png">    </p:cNvPr>
          <p:cNvPicPr>
            <a:picLocks noChangeAspect="1"/>
          </p:cNvPicPr>
          <p:nvPr/>
        </p:nvPicPr>
        <p:blipFill>
          <a:blip r:embed="rId1"/>
          <a:stretch>
            <a:fillRect/>
          </a:stretch>
        </p:blipFill>
        <p:spPr>
          <a:xfrm>
            <a:off x="6519672" y="1929384"/>
            <a:ext cx="219456" cy="219456"/>
          </a:xfrm>
          <a:prstGeom prst="rect">
            <a:avLst/>
          </a:prstGeom>
        </p:spPr>
      </p:pic>
      <p:sp>
        <p:nvSpPr>
          <p:cNvPr id="17" name="Text 14"/>
          <p:cNvSpPr/>
          <p:nvPr/>
        </p:nvSpPr>
        <p:spPr>
          <a:xfrm>
            <a:off x="6995160" y="1828800"/>
            <a:ext cx="43891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 discussion</a:t>
            </a:r>
            <a:endParaRPr lang="en-US" sz="1400" dirty="0"/>
          </a:p>
        </p:txBody>
      </p:sp>
      <p:sp>
        <p:nvSpPr>
          <p:cNvPr id="18" name="Text 15"/>
          <p:cNvSpPr/>
          <p:nvPr/>
        </p:nvSpPr>
        <p:spPr>
          <a:xfrm>
            <a:off x="6400800" y="2395728"/>
            <a:ext cx="4983480" cy="1325880"/>
          </a:xfrm>
          <a:prstGeom prst="rect">
            <a:avLst/>
          </a:prstGeom>
          <a:noFill/>
          <a:ln/>
        </p:spPr>
        <p:txBody>
          <a:bodyPr wrap="square" lIns="0" tIns="0" rIns="0" bIns="0" rtlCol="0" anchor="ctr"/>
          <a:lstStyle/>
          <a:p>
            <a:pPr indent="0" marL="0">
              <a:lnSpc>
                <a:spcPct val="125000"/>
              </a:lnSpc>
              <a:buNone/>
            </a:pPr>
            <a:r>
              <a:rPr lang="en-US" sz="1150" dirty="0">
                <a:solidFill>
                  <a:srgbClr val="BFE0EE"/>
                </a:solidFill>
                <a:latin typeface="Calibri" pitchFamily="34" charset="0"/>
                <a:ea typeface="Calibri" pitchFamily="34" charset="-122"/>
                <a:cs typeface="Calibri" pitchFamily="34" charset="-120"/>
              </a:rPr>
              <a:t>A control vector is trained from prompts describing a persona, yet it changes behaviour on inputs that have nothing to do with that persona. So what has actually been isolated — a representation of the concept, or a representation of “text where someone is acting this way”? What evidence would let you tell those apart?</a:t>
            </a:r>
            <a:endParaRPr lang="en-US" sz="1150" dirty="0"/>
          </a:p>
        </p:txBody>
      </p:sp>
      <p:sp>
        <p:nvSpPr>
          <p:cNvPr id="19" name="Shape 16"/>
          <p:cNvSpPr/>
          <p:nvPr/>
        </p:nvSpPr>
        <p:spPr>
          <a:xfrm>
            <a:off x="548640" y="4069080"/>
            <a:ext cx="11064240" cy="1691640"/>
          </a:xfrm>
          <a:prstGeom prst="roundRect">
            <a:avLst>
              <a:gd name="adj" fmla="val 4324"/>
            </a:avLst>
          </a:prstGeom>
          <a:solidFill>
            <a:srgbClr val="F2F8FA"/>
          </a:solidFill>
          <a:ln w="12700">
            <a:solidFill>
              <a:srgbClr val="DCE7EC"/>
            </a:solidFill>
            <a:prstDash val="solid"/>
          </a:ln>
        </p:spPr>
      </p:sp>
      <p:sp>
        <p:nvSpPr>
          <p:cNvPr id="20" name="Text 17"/>
          <p:cNvSpPr/>
          <p:nvPr/>
        </p:nvSpPr>
        <p:spPr>
          <a:xfrm>
            <a:off x="777240" y="4206240"/>
            <a:ext cx="512064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What this lesson established</a:t>
            </a:r>
            <a:endParaRPr lang="en-US" sz="1400" dirty="0"/>
          </a:p>
        </p:txBody>
      </p:sp>
      <p:sp>
        <p:nvSpPr>
          <p:cNvPr id="21" name="Text 18"/>
          <p:cNvSpPr/>
          <p:nvPr/>
        </p:nvSpPr>
        <p:spPr>
          <a:xfrm>
            <a:off x="777240" y="5870448"/>
            <a:ext cx="10607040" cy="310896"/>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Next:  </a:t>
            </a:r>
            <a:pPr indent="0" marL="0">
              <a:buNone/>
            </a:pPr>
            <a:r>
              <a:rPr lang="en-US" sz="1050" b="1" dirty="0">
                <a:solidFill>
                  <a:srgbClr val="1B2733"/>
                </a:solidFill>
                <a:latin typeface="Courier New" pitchFamily="34" charset="0"/>
                <a:ea typeface="Courier New" pitchFamily="34" charset="-122"/>
                <a:cs typeface="Courier New" pitchFamily="34" charset="-120"/>
              </a:rPr>
              <a:t>quiz.py --mode post</a:t>
            </a:r>
            <a:pPr indent="0" marL="0">
              <a:buNone/>
            </a:pPr>
            <a:r>
              <a:rPr lang="en-US" sz="1050" dirty="0">
                <a:solidFill>
                  <a:srgbClr val="5C7080"/>
                </a:solidFill>
                <a:latin typeface="Calibri" pitchFamily="34" charset="0"/>
                <a:ea typeface="Calibri" pitchFamily="34" charset="-122"/>
                <a:cs typeface="Calibri" pitchFamily="34" charset="-120"/>
              </a:rPr>
              <a:t>  (the same check you took before)   ·   </a:t>
            </a:r>
            <a:pPr indent="0" marL="0">
              <a:buNone/>
            </a:pPr>
            <a:r>
              <a:rPr lang="en-US" sz="1050" b="1" dirty="0">
                <a:solidFill>
                  <a:srgbClr val="1B2733"/>
                </a:solidFill>
                <a:latin typeface="Courier New" pitchFamily="34" charset="0"/>
                <a:ea typeface="Courier New" pitchFamily="34" charset="-122"/>
                <a:cs typeface="Courier New" pitchFamily="34" charset="-120"/>
              </a:rPr>
              <a:t>repeng_assignment.md</a:t>
            </a:r>
            <a:pPr indent="0" marL="0">
              <a:buNone/>
            </a:pPr>
            <a:r>
              <a:rPr lang="en-US" sz="1050" dirty="0">
                <a:solidFill>
                  <a:srgbClr val="5C7080"/>
                </a:solidFill>
                <a:latin typeface="Calibri" pitchFamily="34" charset="0"/>
                <a:ea typeface="Calibri" pitchFamily="34" charset="-122"/>
                <a:cs typeface="Calibri" pitchFamily="34" charset="-120"/>
              </a:rPr>
              <a:t>  (8 exercises)   ·   </a:t>
            </a:r>
            <a:pPr indent="0" marL="0">
              <a:buNone/>
            </a:pPr>
            <a:r>
              <a:rPr lang="en-US" sz="1050" b="1" dirty="0">
                <a:solidFill>
                  <a:srgbClr val="1B2733"/>
                </a:solidFill>
                <a:latin typeface="Courier New" pitchFamily="34" charset="0"/>
                <a:ea typeface="Courier New" pitchFamily="34" charset="-122"/>
                <a:cs typeface="Courier New" pitchFamily="34" charset="-120"/>
              </a:rPr>
              <a:t>repeng_kaggle.ipynb</a:t>
            </a:r>
            <a:pPr indent="0" marL="0">
              <a:buNone/>
            </a:pPr>
            <a:r>
              <a:rPr lang="en-US" sz="1050" dirty="0">
                <a:solidFill>
                  <a:srgbClr val="5C7080"/>
                </a:solidFill>
                <a:latin typeface="Calibri" pitchFamily="34" charset="0"/>
                <a:ea typeface="Calibri" pitchFamily="34" charset="-122"/>
                <a:cs typeface="Calibri" pitchFamily="34" charset="-120"/>
              </a:rPr>
              <a:t>  (runs them, CPU is enough)</a:t>
            </a:r>
            <a:endParaRPr lang="en-US" sz="1050" dirty="0"/>
          </a:p>
        </p:txBody>
      </p:sp>
      <p:sp>
        <p:nvSpPr>
          <p:cNvPr id="22" name="Shape 19"/>
          <p:cNvSpPr/>
          <p:nvPr/>
        </p:nvSpPr>
        <p:spPr>
          <a:xfrm>
            <a:off x="777240" y="4572000"/>
            <a:ext cx="384048" cy="384048"/>
          </a:xfrm>
          <a:prstGeom prst="ellipse">
            <a:avLst/>
          </a:prstGeom>
          <a:solidFill>
            <a:srgbClr val="065A82"/>
          </a:solidFill>
          <a:ln/>
        </p:spPr>
      </p:sp>
      <p:pic>
        <p:nvPicPr>
          <p:cNvPr id="23" name="Image 1" descr="/home/claude/work/icons/target.png">    </p:cNvPr>
          <p:cNvPicPr>
            <a:picLocks noChangeAspect="1"/>
          </p:cNvPicPr>
          <p:nvPr/>
        </p:nvPicPr>
        <p:blipFill>
          <a:blip r:embed="rId2"/>
          <a:stretch>
            <a:fillRect/>
          </a:stretch>
        </p:blipFill>
        <p:spPr>
          <a:xfrm>
            <a:off x="877092" y="4671852"/>
            <a:ext cx="184343" cy="184343"/>
          </a:xfrm>
          <a:prstGeom prst="rect">
            <a:avLst/>
          </a:prstGeom>
        </p:spPr>
      </p:pic>
      <p:sp>
        <p:nvSpPr>
          <p:cNvPr id="24" name="Text 20"/>
          <p:cNvSpPr/>
          <p:nvPr/>
        </p:nvSpPr>
        <p:spPr>
          <a:xfrm>
            <a:off x="1271016" y="4553712"/>
            <a:ext cx="3017520" cy="420624"/>
          </a:xfrm>
          <a:prstGeom prst="rect">
            <a:avLst/>
          </a:prstGeom>
          <a:noFill/>
          <a:ln/>
        </p:spPr>
        <p:txBody>
          <a:bodyPr wrap="square" lIns="0" tIns="0" rIns="0" bIns="0" rtlCol="0" anchor="ctr"/>
          <a:lstStyle/>
          <a:p>
            <a:pPr indent="0" marL="0">
              <a:buNone/>
            </a:pPr>
            <a:r>
              <a:rPr lang="en-US" sz="1100" b="1" dirty="0">
                <a:solidFill>
                  <a:srgbClr val="1B2733"/>
                </a:solidFill>
                <a:latin typeface="Calibri" pitchFamily="34" charset="0"/>
                <a:ea typeface="Calibri" pitchFamily="34" charset="-122"/>
                <a:cs typeface="Calibri" pitchFamily="34" charset="-120"/>
              </a:rPr>
              <a:t>A direction is not a behaviour</a:t>
            </a:r>
            <a:endParaRPr lang="en-US" sz="1100" dirty="0"/>
          </a:p>
        </p:txBody>
      </p:sp>
      <p:sp>
        <p:nvSpPr>
          <p:cNvPr id="25" name="Text 21"/>
          <p:cNvSpPr/>
          <p:nvPr/>
        </p:nvSpPr>
        <p:spPr>
          <a:xfrm>
            <a:off x="777240" y="5029200"/>
            <a:ext cx="3429000" cy="658368"/>
          </a:xfrm>
          <a:prstGeom prst="rect">
            <a:avLst/>
          </a:prstGeom>
          <a:noFill/>
          <a:ln/>
        </p:spPr>
        <p:txBody>
          <a:bodyPr wrap="square" lIns="0" tIns="0" rIns="0" bIns="0"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You extracted the axis along which two sets of prompts differ. Whether that axis is the concept you named is a separate empirical question.</a:t>
            </a:r>
            <a:endParaRPr lang="en-US" sz="950" dirty="0"/>
          </a:p>
        </p:txBody>
      </p:sp>
      <p:sp>
        <p:nvSpPr>
          <p:cNvPr id="26" name="Shape 22"/>
          <p:cNvSpPr/>
          <p:nvPr/>
        </p:nvSpPr>
        <p:spPr>
          <a:xfrm>
            <a:off x="4434840" y="4572000"/>
            <a:ext cx="384048" cy="384048"/>
          </a:xfrm>
          <a:prstGeom prst="ellipse">
            <a:avLst/>
          </a:prstGeom>
          <a:solidFill>
            <a:srgbClr val="065A82"/>
          </a:solidFill>
          <a:ln/>
        </p:spPr>
      </p:sp>
      <p:pic>
        <p:nvPicPr>
          <p:cNvPr id="27" name="Image 2" descr="/home/claude/work/icons/layers.png">    </p:cNvPr>
          <p:cNvPicPr>
            <a:picLocks noChangeAspect="1"/>
          </p:cNvPicPr>
          <p:nvPr/>
        </p:nvPicPr>
        <p:blipFill>
          <a:blip r:embed="rId3"/>
          <a:stretch>
            <a:fillRect/>
          </a:stretch>
        </p:blipFill>
        <p:spPr>
          <a:xfrm>
            <a:off x="4534692" y="4671852"/>
            <a:ext cx="184343" cy="184343"/>
          </a:xfrm>
          <a:prstGeom prst="rect">
            <a:avLst/>
          </a:prstGeom>
        </p:spPr>
      </p:pic>
      <p:sp>
        <p:nvSpPr>
          <p:cNvPr id="28" name="Text 23"/>
          <p:cNvSpPr/>
          <p:nvPr/>
        </p:nvSpPr>
        <p:spPr>
          <a:xfrm>
            <a:off x="4928616" y="4553712"/>
            <a:ext cx="3017520" cy="420624"/>
          </a:xfrm>
          <a:prstGeom prst="rect">
            <a:avLst/>
          </a:prstGeom>
          <a:noFill/>
          <a:ln/>
        </p:spPr>
        <p:txBody>
          <a:bodyPr wrap="square" lIns="0" tIns="0" rIns="0" bIns="0" rtlCol="0" anchor="ctr"/>
          <a:lstStyle/>
          <a:p>
            <a:pPr indent="0" marL="0">
              <a:buNone/>
            </a:pPr>
            <a:r>
              <a:rPr lang="en-US" sz="1100" b="1" dirty="0">
                <a:solidFill>
                  <a:srgbClr val="1B2733"/>
                </a:solidFill>
                <a:latin typeface="Calibri" pitchFamily="34" charset="0"/>
                <a:ea typeface="Calibri" pitchFamily="34" charset="-122"/>
                <a:cs typeface="Calibri" pitchFamily="34" charset="-120"/>
              </a:rPr>
              <a:t>Where you intervene is as important as how hard</a:t>
            </a:r>
            <a:endParaRPr lang="en-US" sz="1100" dirty="0"/>
          </a:p>
        </p:txBody>
      </p:sp>
      <p:sp>
        <p:nvSpPr>
          <p:cNvPr id="29" name="Text 24"/>
          <p:cNvSpPr/>
          <p:nvPr/>
        </p:nvSpPr>
        <p:spPr>
          <a:xfrm>
            <a:off x="4434840" y="5029200"/>
            <a:ext cx="3429000" cy="658368"/>
          </a:xfrm>
          <a:prstGeom prst="rect">
            <a:avLst/>
          </a:prstGeom>
          <a:noFill/>
          <a:ln/>
        </p:spPr>
        <p:txBody>
          <a:bodyPr wrap="square" lIns="0" tIns="0" rIns="0" bIns="0"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Band position and band width change the result at least as much as the coefficient does.</a:t>
            </a:r>
            <a:endParaRPr lang="en-US" sz="950" dirty="0"/>
          </a:p>
        </p:txBody>
      </p:sp>
      <p:sp>
        <p:nvSpPr>
          <p:cNvPr id="30" name="Shape 25"/>
          <p:cNvSpPr/>
          <p:nvPr/>
        </p:nvSpPr>
        <p:spPr>
          <a:xfrm>
            <a:off x="8092440" y="4572000"/>
            <a:ext cx="384048" cy="384048"/>
          </a:xfrm>
          <a:prstGeom prst="ellipse">
            <a:avLst/>
          </a:prstGeom>
          <a:solidFill>
            <a:srgbClr val="065A82"/>
          </a:solidFill>
          <a:ln/>
        </p:spPr>
      </p:sp>
      <p:pic>
        <p:nvPicPr>
          <p:cNvPr id="31" name="Image 3" descr="/home/claude/work/icons/bug.png">    </p:cNvPr>
          <p:cNvPicPr>
            <a:picLocks noChangeAspect="1"/>
          </p:cNvPicPr>
          <p:nvPr/>
        </p:nvPicPr>
        <p:blipFill>
          <a:blip r:embed="rId4"/>
          <a:stretch>
            <a:fillRect/>
          </a:stretch>
        </p:blipFill>
        <p:spPr>
          <a:xfrm>
            <a:off x="8192292" y="4671852"/>
            <a:ext cx="184343" cy="184343"/>
          </a:xfrm>
          <a:prstGeom prst="rect">
            <a:avLst/>
          </a:prstGeom>
        </p:spPr>
      </p:pic>
      <p:sp>
        <p:nvSpPr>
          <p:cNvPr id="32" name="Text 26"/>
          <p:cNvSpPr/>
          <p:nvPr/>
        </p:nvSpPr>
        <p:spPr>
          <a:xfrm>
            <a:off x="8586216" y="4553712"/>
            <a:ext cx="3017520" cy="420624"/>
          </a:xfrm>
          <a:prstGeom prst="rect">
            <a:avLst/>
          </a:prstGeom>
          <a:noFill/>
          <a:ln/>
        </p:spPr>
        <p:txBody>
          <a:bodyPr wrap="square" lIns="0" tIns="0" rIns="0" bIns="0" rtlCol="0" anchor="ctr"/>
          <a:lstStyle/>
          <a:p>
            <a:pPr indent="0" marL="0">
              <a:buNone/>
            </a:pPr>
            <a:r>
              <a:rPr lang="en-US" sz="1100" b="1" dirty="0">
                <a:solidFill>
                  <a:srgbClr val="1B2733"/>
                </a:solidFill>
                <a:latin typeface="Calibri" pitchFamily="34" charset="0"/>
                <a:ea typeface="Calibri" pitchFamily="34" charset="-122"/>
                <a:cs typeface="Calibri" pitchFamily="34" charset="-120"/>
              </a:rPr>
              <a:t>Read the issues before trusting the defaults</a:t>
            </a:r>
            <a:endParaRPr lang="en-US" sz="1100" dirty="0"/>
          </a:p>
        </p:txBody>
      </p:sp>
      <p:sp>
        <p:nvSpPr>
          <p:cNvPr id="33" name="Text 27"/>
          <p:cNvSpPr/>
          <p:nvPr/>
        </p:nvSpPr>
        <p:spPr>
          <a:xfrm>
            <a:off x="8092440" y="5029200"/>
            <a:ext cx="3429000" cy="658368"/>
          </a:xfrm>
          <a:prstGeom prst="rect">
            <a:avLst/>
          </a:prstGeom>
          <a:noFill/>
          <a:ln/>
        </p:spPr>
        <p:txBody>
          <a:bodyPr wrap="square" lIns="0" tIns="0" rIns="0" bIns="0" rtlCol="0" anchor="ctr"/>
          <a:lstStyle/>
          <a:p>
            <a:pPr indent="0" marL="0">
              <a:lnSpc>
                <a:spcPct val="112000"/>
              </a:lnSpc>
              <a:buNone/>
            </a:pPr>
            <a:r>
              <a:rPr lang="en-US" sz="950" dirty="0">
                <a:solidFill>
                  <a:srgbClr val="5C7080"/>
                </a:solidFill>
                <a:latin typeface="Calibri" pitchFamily="34" charset="0"/>
                <a:ea typeface="Calibri" pitchFamily="34" charset="-122"/>
                <a:cs typeface="Calibri" pitchFamily="34" charset="-120"/>
              </a:rPr>
              <a:t>Two of this library's default settings have open, well-evidenced reports against them.</a:t>
            </a:r>
            <a:endParaRPr lang="en-US" sz="950" dirty="0"/>
          </a:p>
        </p:txBody>
      </p:sp>
      <p:sp>
        <p:nvSpPr>
          <p:cNvPr id="34" name="Text 28"/>
          <p:cNvSpPr/>
          <p:nvPr/>
        </p:nvSpPr>
        <p:spPr>
          <a:xfrm>
            <a:off x="548640" y="6446520"/>
            <a:ext cx="54864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REPENG  ·  AI SEMINAR, LECTURE 3</a:t>
            </a:r>
            <a:endParaRPr lang="en-US" sz="900" dirty="0"/>
          </a:p>
        </p:txBody>
      </p:sp>
      <p:sp>
        <p:nvSpPr>
          <p:cNvPr id="35" name="Text 2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repeng: Representation Engineering &amp; Control Vectors</dc:title>
  <dc:subject>PptxGenJS Presentation</dc:subject>
  <dc:creator>AI Seminar</dc:creator>
  <cp:lastModifiedBy>AI Seminar</cp:lastModifiedBy>
  <cp:revision>1</cp:revision>
  <dcterms:created xsi:type="dcterms:W3CDTF">2026-08-08T12:13:27Z</dcterms:created>
  <dcterms:modified xsi:type="dcterms:W3CDTF">2026-08-08T12:13:27Z</dcterms:modified>
</cp:coreProperties>
</file>