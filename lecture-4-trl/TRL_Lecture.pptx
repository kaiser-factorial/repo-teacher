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2.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github.com/huggingface/trl" TargetMode="External"/><Relationship Id="rId2" Type="http://schemas.openxmlformats.org/officeDocument/2006/relationships/hyperlink" Target="https://github.com/huggingface/trl/blob/main/docs/source/paper_index.md" TargetMode="External"/><Relationship Id="rId3" Type="http://schemas.openxmlformats.org/officeDocument/2006/relationships/hyperlink" Target="https://github.com/huggingface/trl/blob/main/docs/source/dataset_formats.md" TargetMode="External"/><Relationship Id="rId4" Type="http://schemas.openxmlformats.org/officeDocument/2006/relationships/image" Target="../media/image-22-1.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822960" y="1371600"/>
            <a:ext cx="9144000" cy="365760"/>
          </a:xfrm>
          <a:prstGeom prst="rect">
            <a:avLst/>
          </a:prstGeom>
          <a:noFill/>
          <a:ln/>
        </p:spPr>
        <p:txBody>
          <a:bodyPr wrap="square" rtlCol="0" anchor="ctr"/>
          <a:lstStyle/>
          <a:p>
            <a:pPr indent="0" marL="0">
              <a:buNone/>
            </a:pPr>
            <a:r>
              <a:rPr lang="en-US" sz="1400" b="1" spc="200" kern="0" dirty="0">
                <a:solidFill>
                  <a:srgbClr val="8FD4E8"/>
                </a:solidFill>
                <a:latin typeface="Calibri" pitchFamily="34" charset="0"/>
                <a:ea typeface="Calibri" pitchFamily="34" charset="-122"/>
                <a:cs typeface="Calibri" pitchFamily="34" charset="-120"/>
              </a:rPr>
              <a:t>AI Tooling Seminar · Lecture 4</a:t>
            </a:r>
            <a:endParaRPr lang="en-US" sz="1400" dirty="0"/>
          </a:p>
        </p:txBody>
      </p:sp>
      <p:sp>
        <p:nvSpPr>
          <p:cNvPr id="3" name="Text 1"/>
          <p:cNvSpPr/>
          <p:nvPr/>
        </p:nvSpPr>
        <p:spPr>
          <a:xfrm>
            <a:off x="822960" y="1874520"/>
            <a:ext cx="10515600" cy="9144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Post-Training</a:t>
            </a:r>
            <a:endParaRPr lang="en-US" sz="5200" dirty="0"/>
          </a:p>
        </p:txBody>
      </p:sp>
      <p:sp>
        <p:nvSpPr>
          <p:cNvPr id="4" name="Text 2"/>
          <p:cNvSpPr/>
          <p:nvPr/>
        </p:nvSpPr>
        <p:spPr>
          <a:xfrm>
            <a:off x="822960" y="2743200"/>
            <a:ext cx="10515600" cy="640080"/>
          </a:xfrm>
          <a:prstGeom prst="rect">
            <a:avLst/>
          </a:prstGeom>
          <a:noFill/>
          <a:ln/>
        </p:spPr>
        <p:txBody>
          <a:bodyPr wrap="square" lIns="0" tIns="0" rIns="0" bIns="0" rtlCol="0" anchor="ctr"/>
          <a:lstStyle/>
          <a:p>
            <a:pPr indent="0" marL="0">
              <a:buNone/>
            </a:pPr>
            <a:r>
              <a:rPr lang="en-US" sz="3000" dirty="0">
                <a:solidFill>
                  <a:srgbClr val="8FD4E8"/>
                </a:solidFill>
                <a:latin typeface="Cambria" pitchFamily="34" charset="0"/>
                <a:ea typeface="Cambria" pitchFamily="34" charset="-122"/>
                <a:cs typeface="Cambria" pitchFamily="34" charset="-120"/>
              </a:rPr>
              <a:t>Six Methods, One Training Loop</a:t>
            </a:r>
            <a:endParaRPr lang="en-US" sz="3000" dirty="0"/>
          </a:p>
        </p:txBody>
      </p:sp>
      <p:sp>
        <p:nvSpPr>
          <p:cNvPr id="5" name="Text 3"/>
          <p:cNvSpPr/>
          <p:nvPr/>
        </p:nvSpPr>
        <p:spPr>
          <a:xfrm>
            <a:off x="822960" y="3657600"/>
            <a:ext cx="9692640" cy="731520"/>
          </a:xfrm>
          <a:prstGeom prst="rect">
            <a:avLst/>
          </a:prstGeom>
          <a:noFill/>
          <a:ln/>
        </p:spPr>
        <p:txBody>
          <a:bodyPr wrap="square" rtlCol="0" anchor="ctr"/>
          <a:lstStyle/>
          <a:p>
            <a:pPr indent="0" marL="0">
              <a:lnSpc>
                <a:spcPct val="125000"/>
              </a:lnSpc>
              <a:buNone/>
            </a:pPr>
            <a:r>
              <a:rPr lang="en-US" sz="1500" dirty="0">
                <a:solidFill>
                  <a:srgbClr val="9FC3D9"/>
                </a:solidFill>
                <a:latin typeface="Calibri" pitchFamily="34" charset="0"/>
                <a:ea typeface="Calibri" pitchFamily="34" charset="-122"/>
                <a:cs typeface="Calibri" pitchFamily="34" charset="-120"/>
              </a:rPr>
              <a:t>Read through huggingface/trl — the library where SFT, reward modeling, DPO, KTO, GRPO and RLOO all live side by side, one trainer class each.</a:t>
            </a:r>
            <a:endParaRPr lang="en-US" sz="1500" dirty="0"/>
          </a:p>
        </p:txBody>
      </p:sp>
      <p:sp>
        <p:nvSpPr>
          <p:cNvPr id="6" name="Shape 4"/>
          <p:cNvSpPr/>
          <p:nvPr/>
        </p:nvSpPr>
        <p:spPr>
          <a:xfrm>
            <a:off x="822960" y="4617720"/>
            <a:ext cx="9692640" cy="685800"/>
          </a:xfrm>
          <a:prstGeom prst="roundRect">
            <a:avLst>
              <a:gd name="adj" fmla="val 8000"/>
            </a:avLst>
          </a:prstGeom>
          <a:solidFill>
            <a:srgbClr val="21295C"/>
          </a:solidFill>
          <a:ln/>
        </p:spPr>
      </p:sp>
      <p:sp>
        <p:nvSpPr>
          <p:cNvPr id="7" name="Text 5"/>
          <p:cNvSpPr/>
          <p:nvPr/>
        </p:nvSpPr>
        <p:spPr>
          <a:xfrm>
            <a:off x="1051560" y="4617720"/>
            <a:ext cx="9235440" cy="685800"/>
          </a:xfrm>
          <a:prstGeom prst="rect">
            <a:avLst/>
          </a:prstGeom>
          <a:noFill/>
          <a:ln/>
        </p:spPr>
        <p:txBody>
          <a:bodyPr wrap="square" lIns="0" tIns="0" rIns="0" bIns="0" rtlCol="0" anchor="ctr"/>
          <a:lstStyle/>
          <a:p>
            <a:pPr indent="0" marL="0">
              <a:buNone/>
            </a:pPr>
            <a:r>
              <a:rPr lang="en-US" sz="1200" dirty="0">
                <a:solidFill>
                  <a:srgbClr val="CFE8F0"/>
                </a:solidFill>
                <a:latin typeface="Calibri" pitchFamily="34" charset="0"/>
                <a:ea typeface="Calibri" pitchFamily="34" charset="-122"/>
                <a:cs typeface="Calibri" pitchFamily="34" charset="-120"/>
              </a:rPr>
              <a:t>How we'll get there: six background ideas first — no tool names — then the repository, and finally the one question that organizes all of it.</a:t>
            </a:r>
            <a:endParaRPr lang="en-US" sz="1200" dirty="0"/>
          </a:p>
        </p:txBody>
      </p:sp>
      <p:sp>
        <p:nvSpPr>
          <p:cNvPr id="8" name="Text 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TRL  ·  AI SEMINAR, LECTURE 4</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WHERE WE'RE HEADED</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TRL Is, in One Paragraph</a:t>
            </a:r>
            <a:endParaRPr lang="en-US" sz="3000" dirty="0"/>
          </a:p>
        </p:txBody>
      </p:sp>
      <p:sp>
        <p:nvSpPr>
          <p:cNvPr id="4" name="Shape 2"/>
          <p:cNvSpPr/>
          <p:nvPr/>
        </p:nvSpPr>
        <p:spPr>
          <a:xfrm>
            <a:off x="548640" y="1691640"/>
            <a:ext cx="6858000" cy="1874520"/>
          </a:xfrm>
          <a:prstGeom prst="roundRect">
            <a:avLst>
              <a:gd name="adj" fmla="val 3902"/>
            </a:avLst>
          </a:prstGeom>
          <a:solidFill>
            <a:srgbClr val="F2F8FA"/>
          </a:solidFill>
          <a:ln/>
          <a:effectLst>
            <a:outerShdw sx="100000" sy="100000" kx="0" ky="0" algn="bl" rotWithShape="0" blurRad="101600" dist="25400" dir="5400000">
              <a:srgbClr val="1B2733">
                <a:alpha val="8000"/>
              </a:srgbClr>
            </a:outerShdw>
          </a:effectLst>
        </p:spPr>
      </p:sp>
      <p:sp>
        <p:nvSpPr>
          <p:cNvPr id="5" name="Text 3"/>
          <p:cNvSpPr/>
          <p:nvPr/>
        </p:nvSpPr>
        <p:spPr>
          <a:xfrm>
            <a:off x="868680" y="1920240"/>
            <a:ext cx="6217920" cy="1463040"/>
          </a:xfrm>
          <a:prstGeom prst="rect">
            <a:avLst/>
          </a:prstGeom>
          <a:noFill/>
          <a:ln/>
        </p:spPr>
        <p:txBody>
          <a:bodyPr wrap="square" rtlCol="0" anchor="ctr"/>
          <a:lstStyle/>
          <a:p>
            <a:pPr indent="0" marL="0">
              <a:lnSpc>
                <a:spcPct val="130000"/>
              </a:lnSpc>
              <a:buNone/>
            </a:pPr>
            <a:r>
              <a:rPr lang="en-US" sz="1250" b="1" dirty="0">
                <a:solidFill>
                  <a:srgbClr val="1B2733"/>
                </a:solidFill>
                <a:latin typeface="Calibri" pitchFamily="34" charset="0"/>
                <a:ea typeface="Calibri" pitchFamily="34" charset="-122"/>
                <a:cs typeface="Calibri" pitchFamily="34" charset="-120"/>
              </a:rPr>
              <a:t>TRL is a Python library for post-training language models. </a:t>
            </a:r>
            <a:pPr indent="0" marL="0">
              <a:lnSpc>
                <a:spcPct val="130000"/>
              </a:lnSpc>
              <a:buNone/>
            </a:pPr>
            <a:r>
              <a:rPr lang="en-US" sz="1250" dirty="0">
                <a:solidFill>
                  <a:srgbClr val="5C7080"/>
                </a:solidFill>
                <a:latin typeface="Calibri" pitchFamily="34" charset="0"/>
                <a:ea typeface="Calibri" pitchFamily="34" charset="-122"/>
                <a:cs typeface="Calibri" pitchFamily="34" charset="-120"/>
              </a:rPr>
              <a:t>It packages each major post-training method as its own trainer class — you hand it a model and a dataset in the shape that method expects, and it runs the training loop. Its real teaching value is that all the methods sit in one directory, written against one interface, so the differences between them can be inspected directly, with everything else held constant.</a:t>
            </a:r>
            <a:endParaRPr lang="en-US" sz="1250" dirty="0"/>
          </a:p>
        </p:txBody>
      </p:sp>
      <p:sp>
        <p:nvSpPr>
          <p:cNvPr id="6" name="Shape 4"/>
          <p:cNvSpPr/>
          <p:nvPr/>
        </p:nvSpPr>
        <p:spPr>
          <a:xfrm>
            <a:off x="7680960" y="1691640"/>
            <a:ext cx="3931920" cy="1874520"/>
          </a:xfrm>
          <a:prstGeom prst="roundRect">
            <a:avLst>
              <a:gd name="adj" fmla="val 3902"/>
            </a:avLst>
          </a:prstGeom>
          <a:solidFill>
            <a:srgbClr val="16385A"/>
          </a:solidFill>
          <a:ln/>
          <a:effectLst>
            <a:outerShdw sx="100000" sy="100000" kx="0" ky="0" algn="bl" rotWithShape="0" blurRad="101600" dist="25400" dir="5400000">
              <a:srgbClr val="1B2733">
                <a:alpha val="8000"/>
              </a:srgbClr>
            </a:outerShdw>
          </a:effectLst>
        </p:spPr>
      </p:sp>
      <p:sp>
        <p:nvSpPr>
          <p:cNvPr id="7" name="Shape 5"/>
          <p:cNvSpPr/>
          <p:nvPr/>
        </p:nvSpPr>
        <p:spPr>
          <a:xfrm>
            <a:off x="8001000" y="1965960"/>
            <a:ext cx="502920" cy="502920"/>
          </a:xfrm>
          <a:prstGeom prst="ellipse">
            <a:avLst/>
          </a:prstGeom>
          <a:solidFill>
            <a:srgbClr val="1C7293"/>
          </a:solidFill>
          <a:ln/>
        </p:spPr>
      </p:sp>
      <p:pic>
        <p:nvPicPr>
          <p:cNvPr id="8" name="Image 0" descr="/home/claude/icons/signal.png">    </p:cNvPr>
          <p:cNvPicPr>
            <a:picLocks noChangeAspect="1"/>
          </p:cNvPicPr>
          <p:nvPr/>
        </p:nvPicPr>
        <p:blipFill>
          <a:blip r:embed="rId1"/>
          <a:stretch>
            <a:fillRect/>
          </a:stretch>
        </p:blipFill>
        <p:spPr>
          <a:xfrm>
            <a:off x="8131759" y="2096719"/>
            <a:ext cx="241402" cy="241402"/>
          </a:xfrm>
          <a:prstGeom prst="rect">
            <a:avLst/>
          </a:prstGeom>
        </p:spPr>
      </p:pic>
      <p:sp>
        <p:nvSpPr>
          <p:cNvPr id="9" name="Text 6"/>
          <p:cNvSpPr/>
          <p:nvPr/>
        </p:nvSpPr>
        <p:spPr>
          <a:xfrm>
            <a:off x="8001000" y="2651760"/>
            <a:ext cx="3291840" cy="822960"/>
          </a:xfrm>
          <a:prstGeom prst="rect">
            <a:avLst/>
          </a:prstGeom>
          <a:noFill/>
          <a:ln/>
        </p:spPr>
        <p:txBody>
          <a:bodyPr wrap="square" rtlCol="0" anchor="ctr"/>
          <a:lstStyle/>
          <a:p>
            <a:pPr indent="0" marL="0">
              <a:lnSpc>
                <a:spcPct val="125000"/>
              </a:lnSpc>
              <a:buNone/>
            </a:pPr>
            <a:r>
              <a:rPr lang="en-US" sz="1150" dirty="0">
                <a:solidFill>
                  <a:srgbClr val="9FC3D9"/>
                </a:solidFill>
                <a:latin typeface="Calibri" pitchFamily="34" charset="0"/>
                <a:ea typeface="Calibri" pitchFamily="34" charset="-122"/>
                <a:cs typeface="Calibri" pitchFamily="34" charset="-120"/>
              </a:rPr>
              <a:t>The next six slides won't mention TRL at all. They build the ideas the library is organized around. We'll come back to the paragraph on the left once they're in place.</a:t>
            </a:r>
            <a:endParaRPr lang="en-US" sz="1150" dirty="0"/>
          </a:p>
        </p:txBody>
      </p:sp>
      <p:sp>
        <p:nvSpPr>
          <p:cNvPr id="10" name="Text 7"/>
          <p:cNvSpPr/>
          <p:nvPr/>
        </p:nvSpPr>
        <p:spPr>
          <a:xfrm>
            <a:off x="548640" y="3794760"/>
            <a:ext cx="11064240" cy="320040"/>
          </a:xfrm>
          <a:prstGeom prst="rect">
            <a:avLst/>
          </a:prstGeom>
          <a:noFill/>
          <a:ln/>
        </p:spPr>
        <p:txBody>
          <a:bodyPr wrap="square"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question that organizes everything that follows:</a:t>
            </a:r>
            <a:endParaRPr lang="en-US" sz="1200" dirty="0"/>
          </a:p>
        </p:txBody>
      </p:sp>
      <p:sp>
        <p:nvSpPr>
          <p:cNvPr id="11" name="Shape 8"/>
          <p:cNvSpPr/>
          <p:nvPr/>
        </p:nvSpPr>
        <p:spPr>
          <a:xfrm>
            <a:off x="548640" y="4206240"/>
            <a:ext cx="11064240" cy="777240"/>
          </a:xfrm>
          <a:prstGeom prst="roundRect">
            <a:avLst>
              <a:gd name="adj" fmla="val 9412"/>
            </a:avLst>
          </a:prstGeom>
          <a:solidFill>
            <a:srgbClr val="065A82"/>
          </a:solidFill>
          <a:ln/>
        </p:spPr>
      </p:sp>
      <p:sp>
        <p:nvSpPr>
          <p:cNvPr id="12" name="Text 9"/>
          <p:cNvSpPr/>
          <p:nvPr/>
        </p:nvSpPr>
        <p:spPr>
          <a:xfrm>
            <a:off x="548640" y="4206240"/>
            <a:ext cx="1106424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Where does the training signal come from?</a:t>
            </a:r>
            <a:endParaRPr lang="en-US" sz="2200" dirty="0"/>
          </a:p>
        </p:txBody>
      </p:sp>
      <p:sp>
        <p:nvSpPr>
          <p:cNvPr id="13" name="Shape 10"/>
          <p:cNvSpPr/>
          <p:nvPr/>
        </p:nvSpPr>
        <p:spPr>
          <a:xfrm>
            <a:off x="548640" y="5102352"/>
            <a:ext cx="352044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14" name="Shape 11"/>
          <p:cNvSpPr/>
          <p:nvPr/>
        </p:nvSpPr>
        <p:spPr>
          <a:xfrm>
            <a:off x="777240" y="5266944"/>
            <a:ext cx="457200" cy="457200"/>
          </a:xfrm>
          <a:prstGeom prst="ellipse">
            <a:avLst/>
          </a:prstGeom>
          <a:solidFill>
            <a:srgbClr val="065A82"/>
          </a:solidFill>
          <a:ln/>
        </p:spPr>
      </p:sp>
      <p:pic>
        <p:nvPicPr>
          <p:cNvPr id="15" name="Image 1" descr="/home/claude/icons/cap.png">    </p:cNvPr>
          <p:cNvPicPr>
            <a:picLocks noChangeAspect="1"/>
          </p:cNvPicPr>
          <p:nvPr/>
        </p:nvPicPr>
        <p:blipFill>
          <a:blip r:embed="rId2"/>
          <a:stretch>
            <a:fillRect/>
          </a:stretch>
        </p:blipFill>
        <p:spPr>
          <a:xfrm>
            <a:off x="896112" y="5385816"/>
            <a:ext cx="219456" cy="219456"/>
          </a:xfrm>
          <a:prstGeom prst="rect">
            <a:avLst/>
          </a:prstGeom>
        </p:spPr>
      </p:pic>
      <p:sp>
        <p:nvSpPr>
          <p:cNvPr id="16" name="Text 12"/>
          <p:cNvSpPr/>
          <p:nvPr/>
        </p:nvSpPr>
        <p:spPr>
          <a:xfrm>
            <a:off x="1371600" y="5266944"/>
            <a:ext cx="2560320" cy="45720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A demonstration</a:t>
            </a:r>
            <a:endParaRPr lang="en-US" sz="1500" dirty="0"/>
          </a:p>
        </p:txBody>
      </p:sp>
      <p:sp>
        <p:nvSpPr>
          <p:cNvPr id="17" name="Text 13"/>
          <p:cNvSpPr/>
          <p:nvPr/>
        </p:nvSpPr>
        <p:spPr>
          <a:xfrm>
            <a:off x="777240" y="5760720"/>
            <a:ext cx="3063240" cy="457200"/>
          </a:xfrm>
          <a:prstGeom prst="rect">
            <a:avLst/>
          </a:prstGeom>
          <a:noFill/>
          <a:ln/>
        </p:spPr>
        <p:txBody>
          <a:bodyPr wrap="square" rtlCol="0" anchor="ctr"/>
          <a:lstStyle/>
          <a:p>
            <a:pPr indent="0" marL="0">
              <a:lnSpc>
                <a:spcPct val="110000"/>
              </a:lnSpc>
              <a:buNone/>
            </a:pPr>
            <a:r>
              <a:rPr lang="en-US" sz="1100" dirty="0">
                <a:solidFill>
                  <a:srgbClr val="5C7080"/>
                </a:solidFill>
                <a:latin typeface="Calibri" pitchFamily="34" charset="0"/>
                <a:ea typeface="Calibri" pitchFamily="34" charset="-122"/>
                <a:cs typeface="Calibri" pitchFamily="34" charset="-120"/>
              </a:rPr>
              <a:t>Someone wrote down the answer you want. Copy it.</a:t>
            </a:r>
            <a:endParaRPr lang="en-US" sz="1100" dirty="0"/>
          </a:p>
        </p:txBody>
      </p:sp>
      <p:sp>
        <p:nvSpPr>
          <p:cNvPr id="18" name="Shape 14"/>
          <p:cNvSpPr/>
          <p:nvPr/>
        </p:nvSpPr>
        <p:spPr>
          <a:xfrm>
            <a:off x="4325112" y="5102352"/>
            <a:ext cx="352044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19" name="Shape 15"/>
          <p:cNvSpPr/>
          <p:nvPr/>
        </p:nvSpPr>
        <p:spPr>
          <a:xfrm>
            <a:off x="4553712" y="5266944"/>
            <a:ext cx="457200" cy="457200"/>
          </a:xfrm>
          <a:prstGeom prst="ellipse">
            <a:avLst/>
          </a:prstGeom>
          <a:solidFill>
            <a:srgbClr val="065A82"/>
          </a:solidFill>
          <a:ln/>
        </p:spPr>
      </p:sp>
      <p:pic>
        <p:nvPicPr>
          <p:cNvPr id="20" name="Image 2" descr="/home/claude/icons/balance.png">    </p:cNvPr>
          <p:cNvPicPr>
            <a:picLocks noChangeAspect="1"/>
          </p:cNvPicPr>
          <p:nvPr/>
        </p:nvPicPr>
        <p:blipFill>
          <a:blip r:embed="rId3"/>
          <a:stretch>
            <a:fillRect/>
          </a:stretch>
        </p:blipFill>
        <p:spPr>
          <a:xfrm>
            <a:off x="4672584" y="5385816"/>
            <a:ext cx="219456" cy="219456"/>
          </a:xfrm>
          <a:prstGeom prst="rect">
            <a:avLst/>
          </a:prstGeom>
        </p:spPr>
      </p:pic>
      <p:sp>
        <p:nvSpPr>
          <p:cNvPr id="21" name="Text 16"/>
          <p:cNvSpPr/>
          <p:nvPr/>
        </p:nvSpPr>
        <p:spPr>
          <a:xfrm>
            <a:off x="5148072" y="5266944"/>
            <a:ext cx="2560320" cy="45720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A judgment</a:t>
            </a:r>
            <a:endParaRPr lang="en-US" sz="1500" dirty="0"/>
          </a:p>
        </p:txBody>
      </p:sp>
      <p:sp>
        <p:nvSpPr>
          <p:cNvPr id="22" name="Text 17"/>
          <p:cNvSpPr/>
          <p:nvPr/>
        </p:nvSpPr>
        <p:spPr>
          <a:xfrm>
            <a:off x="4553712" y="5760720"/>
            <a:ext cx="3063240" cy="457200"/>
          </a:xfrm>
          <a:prstGeom prst="rect">
            <a:avLst/>
          </a:prstGeom>
          <a:noFill/>
          <a:ln/>
        </p:spPr>
        <p:txBody>
          <a:bodyPr wrap="square" rtlCol="0" anchor="ctr"/>
          <a:lstStyle/>
          <a:p>
            <a:pPr indent="0" marL="0">
              <a:lnSpc>
                <a:spcPct val="110000"/>
              </a:lnSpc>
              <a:buNone/>
            </a:pPr>
            <a:r>
              <a:rPr lang="en-US" sz="1100" dirty="0">
                <a:solidFill>
                  <a:srgbClr val="5C7080"/>
                </a:solidFill>
                <a:latin typeface="Calibri" pitchFamily="34" charset="0"/>
                <a:ea typeface="Calibri" pitchFamily="34" charset="-122"/>
                <a:cs typeface="Calibri" pitchFamily="34" charset="-120"/>
              </a:rPr>
              <a:t>Someone said which of two answers is better. Learn the preference.</a:t>
            </a:r>
            <a:endParaRPr lang="en-US" sz="1100" dirty="0"/>
          </a:p>
        </p:txBody>
      </p:sp>
      <p:sp>
        <p:nvSpPr>
          <p:cNvPr id="23" name="Shape 18"/>
          <p:cNvSpPr/>
          <p:nvPr/>
        </p:nvSpPr>
        <p:spPr>
          <a:xfrm>
            <a:off x="8101584" y="5102352"/>
            <a:ext cx="3520440" cy="1207008"/>
          </a:xfrm>
          <a:prstGeom prst="roundRect">
            <a:avLst>
              <a:gd name="adj" fmla="val 6061"/>
            </a:avLst>
          </a:prstGeom>
          <a:solidFill>
            <a:srgbClr val="F2F8FA"/>
          </a:solidFill>
          <a:ln/>
          <a:effectLst>
            <a:outerShdw sx="100000" sy="100000" kx="0" ky="0" algn="bl" rotWithShape="0" blurRad="101600" dist="25400" dir="5400000">
              <a:srgbClr val="1B2733">
                <a:alpha val="8000"/>
              </a:srgbClr>
            </a:outerShdw>
          </a:effectLst>
        </p:spPr>
      </p:sp>
      <p:sp>
        <p:nvSpPr>
          <p:cNvPr id="24" name="Shape 19"/>
          <p:cNvSpPr/>
          <p:nvPr/>
        </p:nvSpPr>
        <p:spPr>
          <a:xfrm>
            <a:off x="8330184" y="5266944"/>
            <a:ext cx="457200" cy="457200"/>
          </a:xfrm>
          <a:prstGeom prst="ellipse">
            <a:avLst/>
          </a:prstGeom>
          <a:solidFill>
            <a:srgbClr val="065A82"/>
          </a:solidFill>
          <a:ln/>
        </p:spPr>
      </p:sp>
      <p:pic>
        <p:nvPicPr>
          <p:cNvPr id="25" name="Image 3" descr="/home/claude/icons/check.png">    </p:cNvPr>
          <p:cNvPicPr>
            <a:picLocks noChangeAspect="1"/>
          </p:cNvPicPr>
          <p:nvPr/>
        </p:nvPicPr>
        <p:blipFill>
          <a:blip r:embed="rId4"/>
          <a:stretch>
            <a:fillRect/>
          </a:stretch>
        </p:blipFill>
        <p:spPr>
          <a:xfrm>
            <a:off x="8449056" y="5385816"/>
            <a:ext cx="219456" cy="219456"/>
          </a:xfrm>
          <a:prstGeom prst="rect">
            <a:avLst/>
          </a:prstGeom>
        </p:spPr>
      </p:pic>
      <p:sp>
        <p:nvSpPr>
          <p:cNvPr id="26" name="Text 20"/>
          <p:cNvSpPr/>
          <p:nvPr/>
        </p:nvSpPr>
        <p:spPr>
          <a:xfrm>
            <a:off x="8924544" y="5266944"/>
            <a:ext cx="2560320" cy="457200"/>
          </a:xfrm>
          <a:prstGeom prst="rect">
            <a:avLst/>
          </a:prstGeom>
          <a:noFill/>
          <a:ln/>
        </p:spPr>
        <p:txBody>
          <a:bodyPr wrap="square" lIns="0" tIns="0" rIns="0" bIns="0" rtlCol="0" anchor="ctr"/>
          <a:lstStyle/>
          <a:p>
            <a:pPr indent="0" marL="0">
              <a:buNone/>
            </a:pPr>
            <a:r>
              <a:rPr lang="en-US" sz="1500" b="1" dirty="0">
                <a:solidFill>
                  <a:srgbClr val="1B2733"/>
                </a:solidFill>
                <a:latin typeface="Calibri" pitchFamily="34" charset="0"/>
                <a:ea typeface="Calibri" pitchFamily="34" charset="-122"/>
                <a:cs typeface="Calibri" pitchFamily="34" charset="-120"/>
              </a:rPr>
              <a:t>A verifier</a:t>
            </a:r>
            <a:endParaRPr lang="en-US" sz="1500" dirty="0"/>
          </a:p>
        </p:txBody>
      </p:sp>
      <p:sp>
        <p:nvSpPr>
          <p:cNvPr id="27" name="Text 21"/>
          <p:cNvSpPr/>
          <p:nvPr/>
        </p:nvSpPr>
        <p:spPr>
          <a:xfrm>
            <a:off x="8330184" y="5760720"/>
            <a:ext cx="3063240" cy="457200"/>
          </a:xfrm>
          <a:prstGeom prst="rect">
            <a:avLst/>
          </a:prstGeom>
          <a:noFill/>
          <a:ln/>
        </p:spPr>
        <p:txBody>
          <a:bodyPr wrap="square" rtlCol="0" anchor="ctr"/>
          <a:lstStyle/>
          <a:p>
            <a:pPr indent="0" marL="0">
              <a:lnSpc>
                <a:spcPct val="110000"/>
              </a:lnSpc>
              <a:buNone/>
            </a:pPr>
            <a:r>
              <a:rPr lang="en-US" sz="1100" dirty="0">
                <a:solidFill>
                  <a:srgbClr val="5C7080"/>
                </a:solidFill>
                <a:latin typeface="Calibri" pitchFamily="34" charset="0"/>
                <a:ea typeface="Calibri" pitchFamily="34" charset="-122"/>
                <a:cs typeface="Calibri" pitchFamily="34" charset="-120"/>
              </a:rPr>
              <a:t>A program can check the answer. Let it score.</a:t>
            </a:r>
            <a:endParaRPr lang="en-US" sz="1100" dirty="0"/>
          </a:p>
        </p:txBody>
      </p:sp>
      <p:sp>
        <p:nvSpPr>
          <p:cNvPr id="28" name="Text 2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9" name="Text 2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1 OF 6</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Three Kinds of Training Signal</a:t>
            </a:r>
            <a:endParaRPr lang="en-US" sz="3000" dirty="0"/>
          </a:p>
        </p:txBody>
      </p:sp>
      <p:sp>
        <p:nvSpPr>
          <p:cNvPr id="4" name="Text 2"/>
          <p:cNvSpPr/>
          <p:nvPr/>
        </p:nvSpPr>
        <p:spPr>
          <a:xfrm>
            <a:off x="548640" y="1417320"/>
            <a:ext cx="11064240" cy="59436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Pretraining has exactly one signal: the next token in the corpus. Everything after pretraining has to get its signal from somewhere else, and there are only a few places it can come from. Each choice implies a different kind of data, a different cost, and a different failure mode.</a:t>
            </a:r>
            <a:endParaRPr lang="en-US" sz="1350" dirty="0"/>
          </a:p>
        </p:txBody>
      </p:sp>
      <p:sp>
        <p:nvSpPr>
          <p:cNvPr id="5" name="Shape 3"/>
          <p:cNvSpPr/>
          <p:nvPr/>
        </p:nvSpPr>
        <p:spPr>
          <a:xfrm>
            <a:off x="548640" y="2148840"/>
            <a:ext cx="11064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532888"/>
            <a:ext cx="530352" cy="530352"/>
          </a:xfrm>
          <a:prstGeom prst="ellipse">
            <a:avLst/>
          </a:prstGeom>
          <a:solidFill>
            <a:srgbClr val="065A82"/>
          </a:solidFill>
          <a:ln/>
        </p:spPr>
      </p:sp>
      <p:pic>
        <p:nvPicPr>
          <p:cNvPr id="7" name="Image 0" descr="/home/claude/icons/cap.png">    </p:cNvPr>
          <p:cNvPicPr>
            <a:picLocks noChangeAspect="1"/>
          </p:cNvPicPr>
          <p:nvPr/>
        </p:nvPicPr>
        <p:blipFill>
          <a:blip r:embed="rId1"/>
          <a:stretch>
            <a:fillRect/>
          </a:stretch>
        </p:blipFill>
        <p:spPr>
          <a:xfrm>
            <a:off x="960852" y="2670780"/>
            <a:ext cx="254569" cy="254569"/>
          </a:xfrm>
          <a:prstGeom prst="rect">
            <a:avLst/>
          </a:prstGeom>
        </p:spPr>
      </p:pic>
      <p:sp>
        <p:nvSpPr>
          <p:cNvPr id="8" name="Text 5"/>
          <p:cNvSpPr/>
          <p:nvPr/>
        </p:nvSpPr>
        <p:spPr>
          <a:xfrm>
            <a:off x="1536192" y="2313432"/>
            <a:ext cx="2743200" cy="384048"/>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 demonstration</a:t>
            </a:r>
            <a:endParaRPr lang="en-US" sz="1400" dirty="0"/>
          </a:p>
        </p:txBody>
      </p:sp>
      <p:sp>
        <p:nvSpPr>
          <p:cNvPr id="9" name="Text 6"/>
          <p:cNvSpPr/>
          <p:nvPr/>
        </p:nvSpPr>
        <p:spPr>
          <a:xfrm>
            <a:off x="1536192" y="2715768"/>
            <a:ext cx="2834640" cy="640080"/>
          </a:xfrm>
          <a:prstGeom prst="rect">
            <a:avLst/>
          </a:prstGeom>
          <a:noFill/>
          <a:ln/>
        </p:spPr>
        <p:txBody>
          <a:bodyPr wrap="square" rtlCol="0" anchor="ctr"/>
          <a:lstStyle/>
          <a:p>
            <a:pPr indent="0" marL="0">
              <a:lnSpc>
                <a:spcPct val="115000"/>
              </a:lnSpc>
              <a:buNone/>
            </a:pPr>
            <a:r>
              <a:rPr lang="en-US" sz="950" dirty="0">
                <a:solidFill>
                  <a:srgbClr val="5C7080"/>
                </a:solidFill>
                <a:latin typeface="Calibri" pitchFamily="34" charset="0"/>
                <a:ea typeface="Calibri" pitchFamily="34" charset="-122"/>
                <a:cs typeface="Calibri" pitchFamily="34" charset="-120"/>
              </a:rPr>
              <a:t>A human (or a stronger model) wrote the response you want. Training copies it token by token.</a:t>
            </a:r>
            <a:endParaRPr lang="en-US" sz="950" dirty="0"/>
          </a:p>
        </p:txBody>
      </p:sp>
      <p:sp>
        <p:nvSpPr>
          <p:cNvPr id="10" name="Shape 7"/>
          <p:cNvSpPr/>
          <p:nvPr/>
        </p:nvSpPr>
        <p:spPr>
          <a:xfrm>
            <a:off x="4572000" y="2331720"/>
            <a:ext cx="0" cy="932688"/>
          </a:xfrm>
          <a:prstGeom prst="line">
            <a:avLst/>
          </a:prstGeom>
          <a:noFill/>
          <a:ln w="12700">
            <a:solidFill>
              <a:srgbClr val="C9D8E0"/>
            </a:solidFill>
            <a:prstDash val="solid"/>
          </a:ln>
        </p:spPr>
      </p:sp>
      <p:sp>
        <p:nvSpPr>
          <p:cNvPr id="11" name="Text 8"/>
          <p:cNvSpPr/>
          <p:nvPr/>
        </p:nvSpPr>
        <p:spPr>
          <a:xfrm>
            <a:off x="4800600" y="2350008"/>
            <a:ext cx="6583680" cy="914400"/>
          </a:xfrm>
          <a:prstGeom prst="rect">
            <a:avLst/>
          </a:prstGeom>
          <a:noFill/>
          <a:ln/>
        </p:spPr>
        <p:txBody>
          <a:bodyPr wrap="square" rtlCol="0" anchor="ctr"/>
          <a:lstStyle/>
          <a:p>
            <a:pPr indent="0" marL="0">
              <a:lnSpc>
                <a:spcPct val="125000"/>
              </a:lnSpc>
              <a:buNone/>
            </a:pPr>
            <a:r>
              <a:rPr lang="en-US" sz="1150" dirty="0">
                <a:solidFill>
                  <a:srgbClr val="5C7080"/>
                </a:solidFill>
                <a:latin typeface="Calibri" pitchFamily="34" charset="0"/>
                <a:ea typeface="Calibri" pitchFamily="34" charset="-122"/>
                <a:cs typeface="Calibri" pitchFamily="34" charset="-120"/>
              </a:rPr>
              <a:t>Cheap to train on, expensive to collect. Caps out at the quality of whoever wrote the demonstrations — the model can imitate the target, not exceed it.</a:t>
            </a:r>
            <a:endParaRPr lang="en-US" sz="1150" dirty="0"/>
          </a:p>
        </p:txBody>
      </p:sp>
      <p:sp>
        <p:nvSpPr>
          <p:cNvPr id="12" name="Shape 9"/>
          <p:cNvSpPr/>
          <p:nvPr/>
        </p:nvSpPr>
        <p:spPr>
          <a:xfrm>
            <a:off x="548640" y="3566160"/>
            <a:ext cx="11064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13" name="Shape 10"/>
          <p:cNvSpPr/>
          <p:nvPr/>
        </p:nvSpPr>
        <p:spPr>
          <a:xfrm>
            <a:off x="822960" y="3950208"/>
            <a:ext cx="530352" cy="530352"/>
          </a:xfrm>
          <a:prstGeom prst="ellipse">
            <a:avLst/>
          </a:prstGeom>
          <a:solidFill>
            <a:srgbClr val="1C7293"/>
          </a:solidFill>
          <a:ln/>
        </p:spPr>
      </p:sp>
      <p:pic>
        <p:nvPicPr>
          <p:cNvPr id="14" name="Image 1" descr="/home/claude/icons/balance.png">    </p:cNvPr>
          <p:cNvPicPr>
            <a:picLocks noChangeAspect="1"/>
          </p:cNvPicPr>
          <p:nvPr/>
        </p:nvPicPr>
        <p:blipFill>
          <a:blip r:embed="rId2"/>
          <a:stretch>
            <a:fillRect/>
          </a:stretch>
        </p:blipFill>
        <p:spPr>
          <a:xfrm>
            <a:off x="960852" y="4088100"/>
            <a:ext cx="254569" cy="254569"/>
          </a:xfrm>
          <a:prstGeom prst="rect">
            <a:avLst/>
          </a:prstGeom>
        </p:spPr>
      </p:pic>
      <p:sp>
        <p:nvSpPr>
          <p:cNvPr id="15" name="Text 11"/>
          <p:cNvSpPr/>
          <p:nvPr/>
        </p:nvSpPr>
        <p:spPr>
          <a:xfrm>
            <a:off x="1536192" y="3730752"/>
            <a:ext cx="2743200" cy="384048"/>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 judgment</a:t>
            </a:r>
            <a:endParaRPr lang="en-US" sz="1400" dirty="0"/>
          </a:p>
        </p:txBody>
      </p:sp>
      <p:sp>
        <p:nvSpPr>
          <p:cNvPr id="16" name="Text 12"/>
          <p:cNvSpPr/>
          <p:nvPr/>
        </p:nvSpPr>
        <p:spPr>
          <a:xfrm>
            <a:off x="1536192" y="4133088"/>
            <a:ext cx="2834640" cy="640080"/>
          </a:xfrm>
          <a:prstGeom prst="rect">
            <a:avLst/>
          </a:prstGeom>
          <a:noFill/>
          <a:ln/>
        </p:spPr>
        <p:txBody>
          <a:bodyPr wrap="square" rtlCol="0" anchor="ctr"/>
          <a:lstStyle/>
          <a:p>
            <a:pPr indent="0" marL="0">
              <a:lnSpc>
                <a:spcPct val="115000"/>
              </a:lnSpc>
              <a:buNone/>
            </a:pPr>
            <a:r>
              <a:rPr lang="en-US" sz="950" dirty="0">
                <a:solidFill>
                  <a:srgbClr val="5C7080"/>
                </a:solidFill>
                <a:latin typeface="Calibri" pitchFamily="34" charset="0"/>
                <a:ea typeface="Calibri" pitchFamily="34" charset="-122"/>
                <a:cs typeface="Calibri" pitchFamily="34" charset="-120"/>
              </a:rPr>
              <a:t>Nobody wrote the ideal answer, but someone compared two candidate answers and said which was better. Comparisons are far easier to elicit than gold responses.</a:t>
            </a:r>
            <a:endParaRPr lang="en-US" sz="950" dirty="0"/>
          </a:p>
        </p:txBody>
      </p:sp>
      <p:sp>
        <p:nvSpPr>
          <p:cNvPr id="17" name="Shape 13"/>
          <p:cNvSpPr/>
          <p:nvPr/>
        </p:nvSpPr>
        <p:spPr>
          <a:xfrm>
            <a:off x="4572000" y="3749040"/>
            <a:ext cx="0" cy="932688"/>
          </a:xfrm>
          <a:prstGeom prst="line">
            <a:avLst/>
          </a:prstGeom>
          <a:noFill/>
          <a:ln w="12700">
            <a:solidFill>
              <a:srgbClr val="C9D8E0"/>
            </a:solidFill>
            <a:prstDash val="solid"/>
          </a:ln>
        </p:spPr>
      </p:sp>
      <p:sp>
        <p:nvSpPr>
          <p:cNvPr id="18" name="Text 14"/>
          <p:cNvSpPr/>
          <p:nvPr/>
        </p:nvSpPr>
        <p:spPr>
          <a:xfrm>
            <a:off x="4800600" y="3767328"/>
            <a:ext cx="6583680" cy="914400"/>
          </a:xfrm>
          <a:prstGeom prst="rect">
            <a:avLst/>
          </a:prstGeom>
          <a:noFill/>
          <a:ln/>
        </p:spPr>
        <p:txBody>
          <a:bodyPr wrap="square" rtlCol="0" anchor="ctr"/>
          <a:lstStyle/>
          <a:p>
            <a:pPr indent="0" marL="0">
              <a:lnSpc>
                <a:spcPct val="125000"/>
              </a:lnSpc>
              <a:buNone/>
            </a:pPr>
            <a:r>
              <a:rPr lang="en-US" sz="1150" dirty="0">
                <a:solidFill>
                  <a:srgbClr val="5C7080"/>
                </a:solidFill>
                <a:latin typeface="Calibri" pitchFamily="34" charset="0"/>
                <a:ea typeface="Calibri" pitchFamily="34" charset="-122"/>
                <a:cs typeface="Calibri" pitchFamily="34" charset="-120"/>
              </a:rPr>
              <a:t>A discrete comparison has to become a continuous signal before it can be optimized. One route is to fit a scalar scorer to the comparisons and then optimize against that scorer. The other is to optimize the comparisons directly, never fitting a scorer at all — that choice is what separates the two large families of preference methods.</a:t>
            </a:r>
            <a:endParaRPr lang="en-US" sz="1150" dirty="0"/>
          </a:p>
        </p:txBody>
      </p:sp>
      <p:sp>
        <p:nvSpPr>
          <p:cNvPr id="19" name="Shape 15"/>
          <p:cNvSpPr/>
          <p:nvPr/>
        </p:nvSpPr>
        <p:spPr>
          <a:xfrm>
            <a:off x="548640" y="4983480"/>
            <a:ext cx="11064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20" name="Shape 16"/>
          <p:cNvSpPr/>
          <p:nvPr/>
        </p:nvSpPr>
        <p:spPr>
          <a:xfrm>
            <a:off x="822960" y="5367528"/>
            <a:ext cx="530352" cy="530352"/>
          </a:xfrm>
          <a:prstGeom prst="ellipse">
            <a:avLst/>
          </a:prstGeom>
          <a:solidFill>
            <a:srgbClr val="21295C"/>
          </a:solidFill>
          <a:ln/>
        </p:spPr>
      </p:sp>
      <p:pic>
        <p:nvPicPr>
          <p:cNvPr id="21" name="Image 2" descr="/home/claude/icons/check.png">    </p:cNvPr>
          <p:cNvPicPr>
            <a:picLocks noChangeAspect="1"/>
          </p:cNvPicPr>
          <p:nvPr/>
        </p:nvPicPr>
        <p:blipFill>
          <a:blip r:embed="rId3"/>
          <a:stretch>
            <a:fillRect/>
          </a:stretch>
        </p:blipFill>
        <p:spPr>
          <a:xfrm>
            <a:off x="960852" y="5505420"/>
            <a:ext cx="254569" cy="254569"/>
          </a:xfrm>
          <a:prstGeom prst="rect">
            <a:avLst/>
          </a:prstGeom>
        </p:spPr>
      </p:pic>
      <p:sp>
        <p:nvSpPr>
          <p:cNvPr id="22" name="Text 17"/>
          <p:cNvSpPr/>
          <p:nvPr/>
        </p:nvSpPr>
        <p:spPr>
          <a:xfrm>
            <a:off x="1536192" y="5148072"/>
            <a:ext cx="2743200" cy="384048"/>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A verifier</a:t>
            </a:r>
            <a:endParaRPr lang="en-US" sz="1400" dirty="0"/>
          </a:p>
        </p:txBody>
      </p:sp>
      <p:sp>
        <p:nvSpPr>
          <p:cNvPr id="23" name="Text 18"/>
          <p:cNvSpPr/>
          <p:nvPr/>
        </p:nvSpPr>
        <p:spPr>
          <a:xfrm>
            <a:off x="1536192" y="5550408"/>
            <a:ext cx="2834640" cy="640080"/>
          </a:xfrm>
          <a:prstGeom prst="rect">
            <a:avLst/>
          </a:prstGeom>
          <a:noFill/>
          <a:ln/>
        </p:spPr>
        <p:txBody>
          <a:bodyPr wrap="square" rtlCol="0" anchor="ctr"/>
          <a:lstStyle/>
          <a:p>
            <a:pPr indent="0" marL="0">
              <a:lnSpc>
                <a:spcPct val="115000"/>
              </a:lnSpc>
              <a:buNone/>
            </a:pPr>
            <a:r>
              <a:rPr lang="en-US" sz="950" dirty="0">
                <a:solidFill>
                  <a:srgbClr val="5C7080"/>
                </a:solidFill>
                <a:latin typeface="Calibri" pitchFamily="34" charset="0"/>
                <a:ea typeface="Calibri" pitchFamily="34" charset="-122"/>
                <a:cs typeface="Calibri" pitchFamily="34" charset="-120"/>
              </a:rPr>
              <a:t>The task has a checkable answer: the equation balances, the unit test passes, the output parses. A program decides.</a:t>
            </a:r>
            <a:endParaRPr lang="en-US" sz="950" dirty="0"/>
          </a:p>
        </p:txBody>
      </p:sp>
      <p:sp>
        <p:nvSpPr>
          <p:cNvPr id="24" name="Shape 19"/>
          <p:cNvSpPr/>
          <p:nvPr/>
        </p:nvSpPr>
        <p:spPr>
          <a:xfrm>
            <a:off x="4572000" y="5166360"/>
            <a:ext cx="0" cy="932688"/>
          </a:xfrm>
          <a:prstGeom prst="line">
            <a:avLst/>
          </a:prstGeom>
          <a:noFill/>
          <a:ln w="12700">
            <a:solidFill>
              <a:srgbClr val="C9D8E0"/>
            </a:solidFill>
            <a:prstDash val="solid"/>
          </a:ln>
        </p:spPr>
      </p:sp>
      <p:sp>
        <p:nvSpPr>
          <p:cNvPr id="25" name="Text 20"/>
          <p:cNvSpPr/>
          <p:nvPr/>
        </p:nvSpPr>
        <p:spPr>
          <a:xfrm>
            <a:off x="4800600" y="5184648"/>
            <a:ext cx="6583680" cy="914400"/>
          </a:xfrm>
          <a:prstGeom prst="rect">
            <a:avLst/>
          </a:prstGeom>
          <a:noFill/>
          <a:ln/>
        </p:spPr>
        <p:txBody>
          <a:bodyPr wrap="square" rtlCol="0" anchor="ctr"/>
          <a:lstStyle/>
          <a:p>
            <a:pPr indent="0" marL="0">
              <a:lnSpc>
                <a:spcPct val="125000"/>
              </a:lnSpc>
              <a:buNone/>
            </a:pPr>
            <a:r>
              <a:rPr lang="en-US" sz="1150" dirty="0">
                <a:solidFill>
                  <a:srgbClr val="5C7080"/>
                </a:solidFill>
                <a:latin typeface="Calibri" pitchFamily="34" charset="0"/>
                <a:ea typeface="Calibri" pitchFamily="34" charset="-122"/>
                <a:cs typeface="Calibri" pitchFamily="34" charset="-120"/>
              </a:rPr>
              <a:t>Costless to evaluate, deterministic, and substantially more robust to reward hacking than a learned judge, since there is no fitted approximation to exploit. Not immune — a loosely specified check can be satisfied without solving the task — and available only where correctness is mechanically decidable.</a:t>
            </a:r>
            <a:endParaRPr lang="en-US" sz="1150" dirty="0"/>
          </a:p>
        </p:txBody>
      </p:sp>
      <p:sp>
        <p:nvSpPr>
          <p:cNvPr id="26" name="Text 2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7"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2 OF 6</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Reward Models — Fitting a Judge to Comparisons</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A comparison is discrete — A beat B. Optimization wants a continuous score. A reward model is the bridge: a copy of the network with its language-modeling head replaced by a single scalar output, trained so that better responses score higher.</a:t>
            </a:r>
            <a:endParaRPr lang="en-US" sz="1350" dirty="0"/>
          </a:p>
        </p:txBody>
      </p:sp>
      <p:sp>
        <p:nvSpPr>
          <p:cNvPr id="5" name="Shape 3"/>
          <p:cNvSpPr/>
          <p:nvPr/>
        </p:nvSpPr>
        <p:spPr>
          <a:xfrm>
            <a:off x="548640" y="2103120"/>
            <a:ext cx="5394960" cy="2286000"/>
          </a:xfrm>
          <a:prstGeom prst="roundRect">
            <a:avLst>
              <a:gd name="adj" fmla="val 3200"/>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68680" y="2286000"/>
            <a:ext cx="4754880" cy="32004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How it's trained</a:t>
            </a:r>
            <a:endParaRPr lang="en-US" sz="1400" dirty="0"/>
          </a:p>
        </p:txBody>
      </p:sp>
      <p:sp>
        <p:nvSpPr>
          <p:cNvPr id="7" name="Shape 5"/>
          <p:cNvSpPr/>
          <p:nvPr/>
        </p:nvSpPr>
        <p:spPr>
          <a:xfrm>
            <a:off x="868680" y="2715768"/>
            <a:ext cx="237744" cy="237744"/>
          </a:xfrm>
          <a:prstGeom prst="ellipse">
            <a:avLst/>
          </a:prstGeom>
          <a:solidFill>
            <a:srgbClr val="065A82"/>
          </a:solidFill>
          <a:ln/>
        </p:spPr>
      </p:sp>
      <p:sp>
        <p:nvSpPr>
          <p:cNvPr id="8" name="Text 6"/>
          <p:cNvSpPr/>
          <p:nvPr/>
        </p:nvSpPr>
        <p:spPr>
          <a:xfrm>
            <a:off x="868680" y="2715768"/>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1234440" y="2697480"/>
            <a:ext cx="4480560" cy="34747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Show the model both responses to the same prompt.</a:t>
            </a:r>
            <a:endParaRPr lang="en-US" sz="1050" dirty="0"/>
          </a:p>
        </p:txBody>
      </p:sp>
      <p:sp>
        <p:nvSpPr>
          <p:cNvPr id="10" name="Shape 8"/>
          <p:cNvSpPr/>
          <p:nvPr/>
        </p:nvSpPr>
        <p:spPr>
          <a:xfrm>
            <a:off x="868680" y="3099816"/>
            <a:ext cx="237744" cy="237744"/>
          </a:xfrm>
          <a:prstGeom prst="ellipse">
            <a:avLst/>
          </a:prstGeom>
          <a:solidFill>
            <a:srgbClr val="065A82"/>
          </a:solidFill>
          <a:ln/>
        </p:spPr>
      </p:sp>
      <p:sp>
        <p:nvSpPr>
          <p:cNvPr id="11" name="Text 9"/>
          <p:cNvSpPr/>
          <p:nvPr/>
        </p:nvSpPr>
        <p:spPr>
          <a:xfrm>
            <a:off x="868680" y="3099816"/>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2" name="Text 10"/>
          <p:cNvSpPr/>
          <p:nvPr/>
        </p:nvSpPr>
        <p:spPr>
          <a:xfrm>
            <a:off x="1234440" y="3081528"/>
            <a:ext cx="4480560" cy="34747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Get a scalar out for each: r(chosen), r(rejected).</a:t>
            </a:r>
            <a:endParaRPr lang="en-US" sz="1050" dirty="0"/>
          </a:p>
        </p:txBody>
      </p:sp>
      <p:sp>
        <p:nvSpPr>
          <p:cNvPr id="13" name="Shape 11"/>
          <p:cNvSpPr/>
          <p:nvPr/>
        </p:nvSpPr>
        <p:spPr>
          <a:xfrm>
            <a:off x="868680" y="3483864"/>
            <a:ext cx="237744" cy="237744"/>
          </a:xfrm>
          <a:prstGeom prst="ellipse">
            <a:avLst/>
          </a:prstGeom>
          <a:solidFill>
            <a:srgbClr val="065A82"/>
          </a:solidFill>
          <a:ln/>
        </p:spPr>
      </p:sp>
      <p:sp>
        <p:nvSpPr>
          <p:cNvPr id="14" name="Text 12"/>
          <p:cNvSpPr/>
          <p:nvPr/>
        </p:nvSpPr>
        <p:spPr>
          <a:xfrm>
            <a:off x="868680" y="3483864"/>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1234440" y="3465576"/>
            <a:ext cx="4480560" cy="34747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Push the gap between them to be large and positive.</a:t>
            </a:r>
            <a:endParaRPr lang="en-US" sz="1050" dirty="0"/>
          </a:p>
        </p:txBody>
      </p:sp>
      <p:sp>
        <p:nvSpPr>
          <p:cNvPr id="16" name="Shape 14"/>
          <p:cNvSpPr/>
          <p:nvPr/>
        </p:nvSpPr>
        <p:spPr>
          <a:xfrm>
            <a:off x="868680" y="3867912"/>
            <a:ext cx="237744" cy="237744"/>
          </a:xfrm>
          <a:prstGeom prst="ellipse">
            <a:avLst/>
          </a:prstGeom>
          <a:solidFill>
            <a:srgbClr val="065A82"/>
          </a:solidFill>
          <a:ln/>
        </p:spPr>
      </p:sp>
      <p:sp>
        <p:nvSpPr>
          <p:cNvPr id="17" name="Text 15"/>
          <p:cNvSpPr/>
          <p:nvPr/>
        </p:nvSpPr>
        <p:spPr>
          <a:xfrm>
            <a:off x="868680" y="3867912"/>
            <a:ext cx="237744"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8" name="Text 16"/>
          <p:cNvSpPr/>
          <p:nvPr/>
        </p:nvSpPr>
        <p:spPr>
          <a:xfrm>
            <a:off x="1234440" y="3849624"/>
            <a:ext cx="4480560" cy="347472"/>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That's it — there is no target value for either score.</a:t>
            </a:r>
            <a:endParaRPr lang="en-US" sz="1050" dirty="0"/>
          </a:p>
        </p:txBody>
      </p:sp>
      <p:sp>
        <p:nvSpPr>
          <p:cNvPr id="19" name="Shape 17"/>
          <p:cNvSpPr/>
          <p:nvPr/>
        </p:nvSpPr>
        <p:spPr>
          <a:xfrm>
            <a:off x="6217920" y="2103120"/>
            <a:ext cx="5394960" cy="2286000"/>
          </a:xfrm>
          <a:prstGeom prst="roundRect">
            <a:avLst>
              <a:gd name="adj" fmla="val 3200"/>
            </a:avLst>
          </a:prstGeom>
          <a:solidFill>
            <a:srgbClr val="16385A"/>
          </a:solidFill>
          <a:ln/>
          <a:effectLst>
            <a:outerShdw sx="100000" sy="100000" kx="0" ky="0" algn="bl" rotWithShape="0" blurRad="101600" dist="25400" dir="5400000">
              <a:srgbClr val="1B2733">
                <a:alpha val="8000"/>
              </a:srgbClr>
            </a:outerShdw>
          </a:effectLst>
        </p:spPr>
      </p:sp>
      <p:sp>
        <p:nvSpPr>
          <p:cNvPr id="20" name="Text 18"/>
          <p:cNvSpPr/>
          <p:nvPr/>
        </p:nvSpPr>
        <p:spPr>
          <a:xfrm>
            <a:off x="6537960" y="2286000"/>
            <a:ext cx="475488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Only the difference is learned</a:t>
            </a:r>
            <a:endParaRPr lang="en-US" sz="1400" dirty="0"/>
          </a:p>
        </p:txBody>
      </p:sp>
      <p:sp>
        <p:nvSpPr>
          <p:cNvPr id="21" name="Text 19"/>
          <p:cNvSpPr/>
          <p:nvPr/>
        </p:nvSpPr>
        <p:spPr>
          <a:xfrm>
            <a:off x="6537960" y="2697480"/>
            <a:ext cx="4800600" cy="1463040"/>
          </a:xfrm>
          <a:prstGeom prst="rect">
            <a:avLst/>
          </a:prstGeom>
          <a:noFill/>
          <a:ln/>
        </p:spPr>
        <p:txBody>
          <a:bodyPr wrap="square" rtlCol="0" anchor="ctr"/>
          <a:lstStyle/>
          <a:p>
            <a:pPr indent="0" marL="0">
              <a:lnSpc>
                <a:spcPct val="125000"/>
              </a:lnSpc>
              <a:buNone/>
            </a:pPr>
            <a:r>
              <a:rPr lang="en-US" sz="1150" dirty="0">
                <a:solidFill>
                  <a:srgbClr val="9FC3D9"/>
                </a:solidFill>
                <a:latin typeface="Calibri" pitchFamily="34" charset="0"/>
                <a:ea typeface="Calibri" pitchFamily="34" charset="-122"/>
                <a:cs typeface="Calibri" pitchFamily="34" charset="-120"/>
              </a:rPr>
              <a:t>Because the objective only ever sees r(chosen) − r(rejected), the absolute scale is arbitrary. Add 100 to every score and the loss is unchanged. A reward model tells you the ordering of responses, never their intrinsic worth — which is exactly why its numbers are meaningless across two separately-trained reward models.</a:t>
            </a:r>
            <a:endParaRPr lang="en-US" sz="1150" dirty="0"/>
          </a:p>
        </p:txBody>
      </p:sp>
      <p:sp>
        <p:nvSpPr>
          <p:cNvPr id="22" name="Shape 20"/>
          <p:cNvSpPr/>
          <p:nvPr/>
        </p:nvSpPr>
        <p:spPr>
          <a:xfrm>
            <a:off x="548640" y="4617720"/>
            <a:ext cx="11064240" cy="1417320"/>
          </a:xfrm>
          <a:prstGeom prst="roundRect">
            <a:avLst>
              <a:gd name="adj" fmla="val 5161"/>
            </a:avLst>
          </a:prstGeom>
          <a:solidFill>
            <a:srgbClr val="FDF3E3"/>
          </a:solidFill>
          <a:ln/>
        </p:spPr>
      </p:sp>
      <p:sp>
        <p:nvSpPr>
          <p:cNvPr id="23" name="Shape 21"/>
          <p:cNvSpPr/>
          <p:nvPr/>
        </p:nvSpPr>
        <p:spPr>
          <a:xfrm>
            <a:off x="868680" y="4892040"/>
            <a:ext cx="457200" cy="457200"/>
          </a:xfrm>
          <a:prstGeom prst="ellipse">
            <a:avLst/>
          </a:prstGeom>
          <a:solidFill>
            <a:srgbClr val="FFFFFF"/>
          </a:solidFill>
          <a:ln/>
        </p:spPr>
      </p:sp>
      <p:pic>
        <p:nvPicPr>
          <p:cNvPr id="24" name="Image 0" descr="/home/claude/icons/warning_teal.png">    </p:cNvPr>
          <p:cNvPicPr>
            <a:picLocks noChangeAspect="1"/>
          </p:cNvPicPr>
          <p:nvPr/>
        </p:nvPicPr>
        <p:blipFill>
          <a:blip r:embed="rId1"/>
          <a:stretch>
            <a:fillRect/>
          </a:stretch>
        </p:blipFill>
        <p:spPr>
          <a:xfrm>
            <a:off x="987552" y="5010912"/>
            <a:ext cx="219456" cy="219456"/>
          </a:xfrm>
          <a:prstGeom prst="rect">
            <a:avLst/>
          </a:prstGeom>
        </p:spPr>
      </p:pic>
      <p:sp>
        <p:nvSpPr>
          <p:cNvPr id="25" name="Text 22"/>
          <p:cNvSpPr/>
          <p:nvPr/>
        </p:nvSpPr>
        <p:spPr>
          <a:xfrm>
            <a:off x="1463040" y="4828032"/>
            <a:ext cx="7315200" cy="365760"/>
          </a:xfrm>
          <a:prstGeom prst="rect">
            <a:avLst/>
          </a:prstGeom>
          <a:noFill/>
          <a:ln/>
        </p:spPr>
        <p:txBody>
          <a:bodyPr wrap="square" lIns="0" tIns="0" rIns="0" bIns="0" rtlCol="0" anchor="ctr"/>
          <a:lstStyle/>
          <a:p>
            <a:pPr indent="0" marL="0">
              <a:buNone/>
            </a:pPr>
            <a:r>
              <a:rPr lang="en-US" sz="1300" b="1" dirty="0">
                <a:solidFill>
                  <a:srgbClr val="8A5A12"/>
                </a:solidFill>
                <a:latin typeface="Calibri" pitchFamily="34" charset="0"/>
                <a:ea typeface="Calibri" pitchFamily="34" charset="-122"/>
                <a:cs typeface="Calibri" pitchFamily="34" charset="-120"/>
              </a:rPr>
              <a:t>The failure mode that defines this whole field</a:t>
            </a:r>
            <a:endParaRPr lang="en-US" sz="1300" dirty="0"/>
          </a:p>
        </p:txBody>
      </p:sp>
      <p:sp>
        <p:nvSpPr>
          <p:cNvPr id="26" name="Text 23"/>
          <p:cNvSpPr/>
          <p:nvPr/>
        </p:nvSpPr>
        <p:spPr>
          <a:xfrm>
            <a:off x="1463040" y="5230368"/>
            <a:ext cx="9875520" cy="685800"/>
          </a:xfrm>
          <a:prstGeom prst="rect">
            <a:avLst/>
          </a:prstGeom>
          <a:noFill/>
          <a:ln/>
        </p:spPr>
        <p:txBody>
          <a:bodyPr wrap="square" rtlCol="0" anchor="ctr"/>
          <a:lstStyle/>
          <a:p>
            <a:pPr indent="0" marL="0">
              <a:lnSpc>
                <a:spcPct val="120000"/>
              </a:lnSpc>
              <a:buNone/>
            </a:pPr>
            <a:r>
              <a:rPr lang="en-US" sz="1150" dirty="0">
                <a:solidFill>
                  <a:srgbClr val="6B4A12"/>
                </a:solidFill>
                <a:latin typeface="Calibri" pitchFamily="34" charset="0"/>
                <a:ea typeface="Calibri" pitchFamily="34" charset="-122"/>
                <a:cs typeface="Calibri" pitchFamily="34" charset="-120"/>
              </a:rPr>
              <a:t>A reward model is a learned approximation of human judgment, fitted to a finite sample. Optimize hard enough against it and the policy finds inputs where the approximation and the judgment come apart — responses that score beautifully and are bad. This is </a:t>
            </a:r>
            <a:pPr indent="0" marL="0">
              <a:lnSpc>
                <a:spcPct val="120000"/>
              </a:lnSpc>
              <a:buNone/>
            </a:pPr>
            <a:r>
              <a:rPr lang="en-US" sz="1150" b="1" dirty="0">
                <a:solidFill>
                  <a:srgbClr val="6B4A12"/>
                </a:solidFill>
                <a:latin typeface="Calibri" pitchFamily="34" charset="0"/>
                <a:ea typeface="Calibri" pitchFamily="34" charset="-122"/>
                <a:cs typeface="Calibri" pitchFamily="34" charset="-120"/>
              </a:rPr>
              <a:t>reward hacking</a:t>
            </a:r>
            <a:pPr indent="0" marL="0">
              <a:lnSpc>
                <a:spcPct val="120000"/>
              </a:lnSpc>
              <a:buNone/>
            </a:pPr>
            <a:r>
              <a:rPr lang="en-US" sz="1150" dirty="0">
                <a:solidFill>
                  <a:srgbClr val="6B4A12"/>
                </a:solidFill>
                <a:latin typeface="Calibri" pitchFamily="34" charset="0"/>
                <a:ea typeface="Calibri" pitchFamily="34" charset="-122"/>
                <a:cs typeface="Calibri" pitchFamily="34" charset="-120"/>
              </a:rPr>
              <a:t>, and it is the reason every method downstream carries some mechanism for not straying too far.</a:t>
            </a:r>
            <a:endParaRPr lang="en-US" sz="1150" dirty="0"/>
          </a:p>
        </p:txBody>
      </p:sp>
      <p:sp>
        <p:nvSpPr>
          <p:cNvPr id="27" name="Text 24"/>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8" name="Text 2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3 OF 6</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Feedback Data Formats</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Before any algorithm runs, the feedback has to be written down, and it takes only a handful of formats. In practice this is the first constraint that binds: the format you already have rules most of the field out before any other consideration is reached.</a:t>
            </a:r>
            <a:endParaRPr lang="en-US" sz="1350" dirty="0"/>
          </a:p>
        </p:txBody>
      </p:sp>
      <p:sp>
        <p:nvSpPr>
          <p:cNvPr id="5" name="Shape 3"/>
          <p:cNvSpPr/>
          <p:nvPr/>
        </p:nvSpPr>
        <p:spPr>
          <a:xfrm>
            <a:off x="548640" y="2148840"/>
            <a:ext cx="2606040" cy="3657600"/>
          </a:xfrm>
          <a:prstGeom prst="roundRect">
            <a:avLst>
              <a:gd name="adj" fmla="val 2807"/>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777240" y="2377440"/>
            <a:ext cx="502920" cy="502920"/>
          </a:xfrm>
          <a:prstGeom prst="ellipse">
            <a:avLst/>
          </a:prstGeom>
          <a:solidFill>
            <a:srgbClr val="065A82"/>
          </a:solidFill>
          <a:ln/>
        </p:spPr>
      </p:sp>
      <p:pic>
        <p:nvPicPr>
          <p:cNvPr id="7" name="Image 0" descr="/home/claude/icons/file.png">    </p:cNvPr>
          <p:cNvPicPr>
            <a:picLocks noChangeAspect="1"/>
          </p:cNvPicPr>
          <p:nvPr/>
        </p:nvPicPr>
        <p:blipFill>
          <a:blip r:embed="rId1"/>
          <a:stretch>
            <a:fillRect/>
          </a:stretch>
        </p:blipFill>
        <p:spPr>
          <a:xfrm>
            <a:off x="907999" y="2508199"/>
            <a:ext cx="241402" cy="241402"/>
          </a:xfrm>
          <a:prstGeom prst="rect">
            <a:avLst/>
          </a:prstGeom>
        </p:spPr>
      </p:pic>
      <p:sp>
        <p:nvSpPr>
          <p:cNvPr id="8" name="Text 5"/>
          <p:cNvSpPr/>
          <p:nvPr/>
        </p:nvSpPr>
        <p:spPr>
          <a:xfrm>
            <a:off x="777240" y="2999232"/>
            <a:ext cx="214884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Full text</a:t>
            </a:r>
            <a:endParaRPr lang="en-US" sz="1400" dirty="0"/>
          </a:p>
        </p:txBody>
      </p:sp>
      <p:sp>
        <p:nvSpPr>
          <p:cNvPr id="9" name="Text 6"/>
          <p:cNvSpPr/>
          <p:nvPr/>
        </p:nvSpPr>
        <p:spPr>
          <a:xfrm>
            <a:off x="777240" y="3346704"/>
            <a:ext cx="2148840" cy="8686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One field: the finished text. No notion of who produced it or whether it was good.</a:t>
            </a:r>
            <a:endParaRPr lang="en-US" sz="1050" dirty="0"/>
          </a:p>
        </p:txBody>
      </p:sp>
      <p:sp>
        <p:nvSpPr>
          <p:cNvPr id="10" name="Shape 7"/>
          <p:cNvSpPr/>
          <p:nvPr/>
        </p:nvSpPr>
        <p:spPr>
          <a:xfrm>
            <a:off x="777240" y="4297680"/>
            <a:ext cx="2148840" cy="1051560"/>
          </a:xfrm>
          <a:prstGeom prst="roundRect">
            <a:avLst>
              <a:gd name="adj" fmla="val 5217"/>
            </a:avLst>
          </a:prstGeom>
          <a:solidFill>
            <a:srgbClr val="0B2942"/>
          </a:solidFill>
          <a:ln/>
        </p:spPr>
      </p:sp>
      <p:sp>
        <p:nvSpPr>
          <p:cNvPr id="11" name="Text 8"/>
          <p:cNvSpPr/>
          <p:nvPr/>
        </p:nvSpPr>
        <p:spPr>
          <a:xfrm>
            <a:off x="978408" y="4425696"/>
            <a:ext cx="1746504" cy="795528"/>
          </a:xfrm>
          <a:prstGeom prst="rect">
            <a:avLst/>
          </a:prstGeom>
          <a:noFill/>
          <a:ln/>
        </p:spPr>
        <p:txBody>
          <a:bodyPr wrap="square" lIns="0" tIns="0" rIns="0" bIns="0" rtlCol="0" anchor="ctr"/>
          <a:lstStyle/>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text }</a:t>
            </a:r>
            <a:endParaRPr lang="en-US" sz="950" dirty="0"/>
          </a:p>
        </p:txBody>
      </p:sp>
      <p:sp>
        <p:nvSpPr>
          <p:cNvPr id="12" name="Text 9"/>
          <p:cNvSpPr/>
          <p:nvPr/>
        </p:nvSpPr>
        <p:spPr>
          <a:xfrm>
            <a:off x="777240" y="5413248"/>
            <a:ext cx="2148840" cy="365760"/>
          </a:xfrm>
          <a:prstGeom prst="rect">
            <a:avLst/>
          </a:prstGeom>
          <a:noFill/>
          <a:ln/>
        </p:spPr>
        <p:txBody>
          <a:bodyPr wrap="square" rtlCol="0" anchor="ctr"/>
          <a:lstStyle/>
          <a:p>
            <a:pPr indent="0" marL="0">
              <a:lnSpc>
                <a:spcPct val="110000"/>
              </a:lnSpc>
              <a:buNone/>
            </a:pPr>
            <a:r>
              <a:rPr lang="en-US" sz="900" b="1" dirty="0">
                <a:solidFill>
                  <a:srgbClr val="065A82"/>
                </a:solidFill>
                <a:latin typeface="Calibri" pitchFamily="34" charset="0"/>
                <a:ea typeface="Calibri" pitchFamily="34" charset="-122"/>
                <a:cs typeface="Calibri" pitchFamily="34" charset="-120"/>
              </a:rPr>
              <a:t>Used by: supervised fine-tuning</a:t>
            </a:r>
            <a:endParaRPr lang="en-US" sz="900" dirty="0"/>
          </a:p>
        </p:txBody>
      </p:sp>
      <p:sp>
        <p:nvSpPr>
          <p:cNvPr id="13" name="Shape 10"/>
          <p:cNvSpPr/>
          <p:nvPr/>
        </p:nvSpPr>
        <p:spPr>
          <a:xfrm>
            <a:off x="3364992" y="2148840"/>
            <a:ext cx="2606040" cy="3657600"/>
          </a:xfrm>
          <a:prstGeom prst="roundRect">
            <a:avLst>
              <a:gd name="adj" fmla="val 2807"/>
            </a:avLst>
          </a:prstGeom>
          <a:solidFill>
            <a:srgbClr val="F2F8FA"/>
          </a:solidFill>
          <a:ln/>
          <a:effectLst>
            <a:outerShdw sx="100000" sy="100000" kx="0" ky="0" algn="bl" rotWithShape="0" blurRad="101600" dist="25400" dir="5400000">
              <a:srgbClr val="1B2733">
                <a:alpha val="8000"/>
              </a:srgbClr>
            </a:outerShdw>
          </a:effectLst>
        </p:spPr>
      </p:sp>
      <p:sp>
        <p:nvSpPr>
          <p:cNvPr id="14" name="Shape 11"/>
          <p:cNvSpPr/>
          <p:nvPr/>
        </p:nvSpPr>
        <p:spPr>
          <a:xfrm>
            <a:off x="3593592" y="2377440"/>
            <a:ext cx="502920" cy="502920"/>
          </a:xfrm>
          <a:prstGeom prst="ellipse">
            <a:avLst/>
          </a:prstGeom>
          <a:solidFill>
            <a:srgbClr val="1C7293"/>
          </a:solidFill>
          <a:ln/>
        </p:spPr>
      </p:sp>
      <p:pic>
        <p:nvPicPr>
          <p:cNvPr id="15" name="Image 1" descr="/home/claude/icons/balance.png">    </p:cNvPr>
          <p:cNvPicPr>
            <a:picLocks noChangeAspect="1"/>
          </p:cNvPicPr>
          <p:nvPr/>
        </p:nvPicPr>
        <p:blipFill>
          <a:blip r:embed="rId2"/>
          <a:stretch>
            <a:fillRect/>
          </a:stretch>
        </p:blipFill>
        <p:spPr>
          <a:xfrm>
            <a:off x="3724351" y="2508199"/>
            <a:ext cx="241402" cy="241402"/>
          </a:xfrm>
          <a:prstGeom prst="rect">
            <a:avLst/>
          </a:prstGeom>
        </p:spPr>
      </p:pic>
      <p:sp>
        <p:nvSpPr>
          <p:cNvPr id="16" name="Text 12"/>
          <p:cNvSpPr/>
          <p:nvPr/>
        </p:nvSpPr>
        <p:spPr>
          <a:xfrm>
            <a:off x="3593592" y="2999232"/>
            <a:ext cx="214884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Paired</a:t>
            </a:r>
            <a:endParaRPr lang="en-US" sz="1400" dirty="0"/>
          </a:p>
        </p:txBody>
      </p:sp>
      <p:sp>
        <p:nvSpPr>
          <p:cNvPr id="17" name="Text 13"/>
          <p:cNvSpPr/>
          <p:nvPr/>
        </p:nvSpPr>
        <p:spPr>
          <a:xfrm>
            <a:off x="3593592" y="3346704"/>
            <a:ext cx="2148840" cy="8686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Same prompt, two responses, one marked better. The classic comparison.</a:t>
            </a:r>
            <a:endParaRPr lang="en-US" sz="1050" dirty="0"/>
          </a:p>
        </p:txBody>
      </p:sp>
      <p:sp>
        <p:nvSpPr>
          <p:cNvPr id="18" name="Shape 14"/>
          <p:cNvSpPr/>
          <p:nvPr/>
        </p:nvSpPr>
        <p:spPr>
          <a:xfrm>
            <a:off x="3593592" y="4297680"/>
            <a:ext cx="2148840" cy="1051560"/>
          </a:xfrm>
          <a:prstGeom prst="roundRect">
            <a:avLst>
              <a:gd name="adj" fmla="val 5217"/>
            </a:avLst>
          </a:prstGeom>
          <a:solidFill>
            <a:srgbClr val="0B2942"/>
          </a:solidFill>
          <a:ln/>
        </p:spPr>
      </p:sp>
      <p:sp>
        <p:nvSpPr>
          <p:cNvPr id="19" name="Text 15"/>
          <p:cNvSpPr/>
          <p:nvPr/>
        </p:nvSpPr>
        <p:spPr>
          <a:xfrm>
            <a:off x="3794760" y="4425696"/>
            <a:ext cx="1746504" cy="795528"/>
          </a:xfrm>
          <a:prstGeom prst="rect">
            <a:avLst/>
          </a:prstGeom>
          <a:noFill/>
          <a:ln/>
        </p:spPr>
        <p:txBody>
          <a:bodyPr wrap="square" lIns="0" tIns="0" rIns="0" bIns="0" rtlCol="0" anchor="ctr"/>
          <a:lstStyle/>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prompt,</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chosen,</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rejected }</a:t>
            </a:r>
            <a:endParaRPr lang="en-US" sz="950" dirty="0"/>
          </a:p>
        </p:txBody>
      </p:sp>
      <p:sp>
        <p:nvSpPr>
          <p:cNvPr id="20" name="Text 16"/>
          <p:cNvSpPr/>
          <p:nvPr/>
        </p:nvSpPr>
        <p:spPr>
          <a:xfrm>
            <a:off x="3593592" y="5413248"/>
            <a:ext cx="2148840" cy="365760"/>
          </a:xfrm>
          <a:prstGeom prst="rect">
            <a:avLst/>
          </a:prstGeom>
          <a:noFill/>
          <a:ln/>
        </p:spPr>
        <p:txBody>
          <a:bodyPr wrap="square" rtlCol="0" anchor="ctr"/>
          <a:lstStyle/>
          <a:p>
            <a:pPr indent="0" marL="0">
              <a:lnSpc>
                <a:spcPct val="110000"/>
              </a:lnSpc>
              <a:buNone/>
            </a:pPr>
            <a:r>
              <a:rPr lang="en-US" sz="900" b="1" dirty="0">
                <a:solidFill>
                  <a:srgbClr val="1C7293"/>
                </a:solidFill>
                <a:latin typeface="Calibri" pitchFamily="34" charset="0"/>
                <a:ea typeface="Calibri" pitchFamily="34" charset="-122"/>
                <a:cs typeface="Calibri" pitchFamily="34" charset="-120"/>
              </a:rPr>
              <a:t>Used by: reward modeling, direct preference methods</a:t>
            </a:r>
            <a:endParaRPr lang="en-US" sz="900" dirty="0"/>
          </a:p>
        </p:txBody>
      </p:sp>
      <p:sp>
        <p:nvSpPr>
          <p:cNvPr id="21" name="Shape 17"/>
          <p:cNvSpPr/>
          <p:nvPr/>
        </p:nvSpPr>
        <p:spPr>
          <a:xfrm>
            <a:off x="6181344" y="2148840"/>
            <a:ext cx="2606040" cy="3657600"/>
          </a:xfrm>
          <a:prstGeom prst="roundRect">
            <a:avLst>
              <a:gd name="adj" fmla="val 2807"/>
            </a:avLst>
          </a:prstGeom>
          <a:solidFill>
            <a:srgbClr val="F2F8FA"/>
          </a:solidFill>
          <a:ln/>
          <a:effectLst>
            <a:outerShdw sx="100000" sy="100000" kx="0" ky="0" algn="bl" rotWithShape="0" blurRad="101600" dist="25400" dir="5400000">
              <a:srgbClr val="1B2733">
                <a:alpha val="8000"/>
              </a:srgbClr>
            </a:outerShdw>
          </a:effectLst>
        </p:spPr>
      </p:sp>
      <p:sp>
        <p:nvSpPr>
          <p:cNvPr id="22" name="Shape 18"/>
          <p:cNvSpPr/>
          <p:nvPr/>
        </p:nvSpPr>
        <p:spPr>
          <a:xfrm>
            <a:off x="6409944" y="2377440"/>
            <a:ext cx="502920" cy="502920"/>
          </a:xfrm>
          <a:prstGeom prst="ellipse">
            <a:avLst/>
          </a:prstGeom>
          <a:solidFill>
            <a:srgbClr val="21295C"/>
          </a:solidFill>
          <a:ln/>
        </p:spPr>
      </p:sp>
      <p:pic>
        <p:nvPicPr>
          <p:cNvPr id="23" name="Image 2" descr="/home/claude/icons/check.png">    </p:cNvPr>
          <p:cNvPicPr>
            <a:picLocks noChangeAspect="1"/>
          </p:cNvPicPr>
          <p:nvPr/>
        </p:nvPicPr>
        <p:blipFill>
          <a:blip r:embed="rId3"/>
          <a:stretch>
            <a:fillRect/>
          </a:stretch>
        </p:blipFill>
        <p:spPr>
          <a:xfrm>
            <a:off x="6540703" y="2508199"/>
            <a:ext cx="241402" cy="241402"/>
          </a:xfrm>
          <a:prstGeom prst="rect">
            <a:avLst/>
          </a:prstGeom>
        </p:spPr>
      </p:pic>
      <p:sp>
        <p:nvSpPr>
          <p:cNvPr id="24" name="Text 19"/>
          <p:cNvSpPr/>
          <p:nvPr/>
        </p:nvSpPr>
        <p:spPr>
          <a:xfrm>
            <a:off x="6409944" y="2999232"/>
            <a:ext cx="214884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Unpaired</a:t>
            </a:r>
            <a:endParaRPr lang="en-US" sz="1400" dirty="0"/>
          </a:p>
        </p:txBody>
      </p:sp>
      <p:sp>
        <p:nvSpPr>
          <p:cNvPr id="25" name="Text 20"/>
          <p:cNvSpPr/>
          <p:nvPr/>
        </p:nvSpPr>
        <p:spPr>
          <a:xfrm>
            <a:off x="6409944" y="3346704"/>
            <a:ext cx="2148840" cy="8686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One response, a thumbs up or down. No partner to compare against.</a:t>
            </a:r>
            <a:endParaRPr lang="en-US" sz="1050" dirty="0"/>
          </a:p>
        </p:txBody>
      </p:sp>
      <p:sp>
        <p:nvSpPr>
          <p:cNvPr id="26" name="Shape 21"/>
          <p:cNvSpPr/>
          <p:nvPr/>
        </p:nvSpPr>
        <p:spPr>
          <a:xfrm>
            <a:off x="6409944" y="4297680"/>
            <a:ext cx="2148840" cy="1051560"/>
          </a:xfrm>
          <a:prstGeom prst="roundRect">
            <a:avLst>
              <a:gd name="adj" fmla="val 5217"/>
            </a:avLst>
          </a:prstGeom>
          <a:solidFill>
            <a:srgbClr val="0B2942"/>
          </a:solidFill>
          <a:ln/>
        </p:spPr>
      </p:sp>
      <p:sp>
        <p:nvSpPr>
          <p:cNvPr id="27" name="Text 22"/>
          <p:cNvSpPr/>
          <p:nvPr/>
        </p:nvSpPr>
        <p:spPr>
          <a:xfrm>
            <a:off x="6611112" y="4425696"/>
            <a:ext cx="1746504" cy="795528"/>
          </a:xfrm>
          <a:prstGeom prst="rect">
            <a:avLst/>
          </a:prstGeom>
          <a:noFill/>
          <a:ln/>
        </p:spPr>
        <p:txBody>
          <a:bodyPr wrap="square" lIns="0" tIns="0" rIns="0" bIns="0" rtlCol="0" anchor="ctr"/>
          <a:lstStyle/>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prompt,</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completion,</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label }</a:t>
            </a:r>
            <a:endParaRPr lang="en-US" sz="950" dirty="0"/>
          </a:p>
        </p:txBody>
      </p:sp>
      <p:sp>
        <p:nvSpPr>
          <p:cNvPr id="28" name="Text 23"/>
          <p:cNvSpPr/>
          <p:nvPr/>
        </p:nvSpPr>
        <p:spPr>
          <a:xfrm>
            <a:off x="6409944" y="5413248"/>
            <a:ext cx="2148840" cy="365760"/>
          </a:xfrm>
          <a:prstGeom prst="rect">
            <a:avLst/>
          </a:prstGeom>
          <a:noFill/>
          <a:ln/>
        </p:spPr>
        <p:txBody>
          <a:bodyPr wrap="square" rtlCol="0" anchor="ctr"/>
          <a:lstStyle/>
          <a:p>
            <a:pPr indent="0" marL="0">
              <a:lnSpc>
                <a:spcPct val="110000"/>
              </a:lnSpc>
              <a:buNone/>
            </a:pPr>
            <a:r>
              <a:rPr lang="en-US" sz="900" b="1" dirty="0">
                <a:solidFill>
                  <a:srgbClr val="21295C"/>
                </a:solidFill>
                <a:latin typeface="Calibri" pitchFamily="34" charset="0"/>
                <a:ea typeface="Calibri" pitchFamily="34" charset="-122"/>
                <a:cs typeface="Calibri" pitchFamily="34" charset="-120"/>
              </a:rPr>
              <a:t>Used by: unpaired preference methods</a:t>
            </a:r>
            <a:endParaRPr lang="en-US" sz="900" dirty="0"/>
          </a:p>
        </p:txBody>
      </p:sp>
      <p:sp>
        <p:nvSpPr>
          <p:cNvPr id="29" name="Shape 24"/>
          <p:cNvSpPr/>
          <p:nvPr/>
        </p:nvSpPr>
        <p:spPr>
          <a:xfrm>
            <a:off x="8997696" y="2148840"/>
            <a:ext cx="2606040" cy="3657600"/>
          </a:xfrm>
          <a:prstGeom prst="roundRect">
            <a:avLst>
              <a:gd name="adj" fmla="val 2807"/>
            </a:avLst>
          </a:prstGeom>
          <a:solidFill>
            <a:srgbClr val="F2F8FA"/>
          </a:solidFill>
          <a:ln/>
          <a:effectLst>
            <a:outerShdw sx="100000" sy="100000" kx="0" ky="0" algn="bl" rotWithShape="0" blurRad="101600" dist="25400" dir="5400000">
              <a:srgbClr val="1B2733">
                <a:alpha val="8000"/>
              </a:srgbClr>
            </a:outerShdw>
          </a:effectLst>
        </p:spPr>
      </p:sp>
      <p:sp>
        <p:nvSpPr>
          <p:cNvPr id="30" name="Shape 25"/>
          <p:cNvSpPr/>
          <p:nvPr/>
        </p:nvSpPr>
        <p:spPr>
          <a:xfrm>
            <a:off x="9226296" y="2377440"/>
            <a:ext cx="502920" cy="502920"/>
          </a:xfrm>
          <a:prstGeom prst="ellipse">
            <a:avLst/>
          </a:prstGeom>
          <a:solidFill>
            <a:srgbClr val="1E7A5F"/>
          </a:solidFill>
          <a:ln/>
        </p:spPr>
      </p:sp>
      <p:pic>
        <p:nvPicPr>
          <p:cNvPr id="31" name="Image 3" descr="/home/claude/icons/signal.png">    </p:cNvPr>
          <p:cNvPicPr>
            <a:picLocks noChangeAspect="1"/>
          </p:cNvPicPr>
          <p:nvPr/>
        </p:nvPicPr>
        <p:blipFill>
          <a:blip r:embed="rId4"/>
          <a:stretch>
            <a:fillRect/>
          </a:stretch>
        </p:blipFill>
        <p:spPr>
          <a:xfrm>
            <a:off x="9357055" y="2508199"/>
            <a:ext cx="241402" cy="241402"/>
          </a:xfrm>
          <a:prstGeom prst="rect">
            <a:avLst/>
          </a:prstGeom>
        </p:spPr>
      </p:pic>
      <p:sp>
        <p:nvSpPr>
          <p:cNvPr id="32" name="Text 26"/>
          <p:cNvSpPr/>
          <p:nvPr/>
        </p:nvSpPr>
        <p:spPr>
          <a:xfrm>
            <a:off x="9226296" y="2999232"/>
            <a:ext cx="2148840" cy="32004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Prompt only</a:t>
            </a:r>
            <a:endParaRPr lang="en-US" sz="1400" dirty="0"/>
          </a:p>
        </p:txBody>
      </p:sp>
      <p:sp>
        <p:nvSpPr>
          <p:cNvPr id="33" name="Text 27"/>
          <p:cNvSpPr/>
          <p:nvPr/>
        </p:nvSpPr>
        <p:spPr>
          <a:xfrm>
            <a:off x="9226296" y="3346704"/>
            <a:ext cx="2148840" cy="86868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Just the question. No response at all — the model has to produce its own.</a:t>
            </a:r>
            <a:endParaRPr lang="en-US" sz="1050" dirty="0"/>
          </a:p>
        </p:txBody>
      </p:sp>
      <p:sp>
        <p:nvSpPr>
          <p:cNvPr id="34" name="Shape 28"/>
          <p:cNvSpPr/>
          <p:nvPr/>
        </p:nvSpPr>
        <p:spPr>
          <a:xfrm>
            <a:off x="9226296" y="4297680"/>
            <a:ext cx="2148840" cy="1051560"/>
          </a:xfrm>
          <a:prstGeom prst="roundRect">
            <a:avLst>
              <a:gd name="adj" fmla="val 5217"/>
            </a:avLst>
          </a:prstGeom>
          <a:solidFill>
            <a:srgbClr val="0B2942"/>
          </a:solidFill>
          <a:ln/>
        </p:spPr>
      </p:sp>
      <p:sp>
        <p:nvSpPr>
          <p:cNvPr id="35" name="Text 29"/>
          <p:cNvSpPr/>
          <p:nvPr/>
        </p:nvSpPr>
        <p:spPr>
          <a:xfrm>
            <a:off x="9427464" y="4425696"/>
            <a:ext cx="1746504" cy="795528"/>
          </a:xfrm>
          <a:prstGeom prst="rect">
            <a:avLst/>
          </a:prstGeom>
          <a:noFill/>
          <a:ln/>
        </p:spPr>
        <p:txBody>
          <a:bodyPr wrap="square" lIns="0" tIns="0" rIns="0" bIns="0" rtlCol="0" anchor="ctr"/>
          <a:lstStyle/>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prompt }</a:t>
            </a:r>
            <a:endParaRPr lang="en-US" sz="950" dirty="0"/>
          </a:p>
        </p:txBody>
      </p:sp>
      <p:sp>
        <p:nvSpPr>
          <p:cNvPr id="36" name="Text 30"/>
          <p:cNvSpPr/>
          <p:nvPr/>
        </p:nvSpPr>
        <p:spPr>
          <a:xfrm>
            <a:off x="9226296" y="5413248"/>
            <a:ext cx="2148840" cy="365760"/>
          </a:xfrm>
          <a:prstGeom prst="rect">
            <a:avLst/>
          </a:prstGeom>
          <a:noFill/>
          <a:ln/>
        </p:spPr>
        <p:txBody>
          <a:bodyPr wrap="square" rtlCol="0" anchor="ctr"/>
          <a:lstStyle/>
          <a:p>
            <a:pPr indent="0" marL="0">
              <a:lnSpc>
                <a:spcPct val="110000"/>
              </a:lnSpc>
              <a:buNone/>
            </a:pPr>
            <a:r>
              <a:rPr lang="en-US" sz="900" b="1" dirty="0">
                <a:solidFill>
                  <a:srgbClr val="1E7A5F"/>
                </a:solidFill>
                <a:latin typeface="Calibri" pitchFamily="34" charset="0"/>
                <a:ea typeface="Calibri" pitchFamily="34" charset="-122"/>
                <a:cs typeface="Calibri" pitchFamily="34" charset="-120"/>
              </a:rPr>
              <a:t>Used by: on-policy RL methods</a:t>
            </a:r>
            <a:endParaRPr lang="en-US" sz="900" dirty="0"/>
          </a:p>
        </p:txBody>
      </p:sp>
      <p:sp>
        <p:nvSpPr>
          <p:cNvPr id="37" name="Shape 31"/>
          <p:cNvSpPr/>
          <p:nvPr/>
        </p:nvSpPr>
        <p:spPr>
          <a:xfrm>
            <a:off x="548640" y="5897880"/>
            <a:ext cx="11064240" cy="457200"/>
          </a:xfrm>
          <a:prstGeom prst="roundRect">
            <a:avLst>
              <a:gd name="adj" fmla="val 12000"/>
            </a:avLst>
          </a:prstGeom>
          <a:solidFill>
            <a:srgbClr val="CFE8F0"/>
          </a:solidFill>
          <a:ln/>
        </p:spPr>
      </p:sp>
      <p:sp>
        <p:nvSpPr>
          <p:cNvPr id="38" name="Text 32"/>
          <p:cNvSpPr/>
          <p:nvPr/>
        </p:nvSpPr>
        <p:spPr>
          <a:xfrm>
            <a:off x="777240" y="5897880"/>
            <a:ext cx="10607040" cy="457200"/>
          </a:xfrm>
          <a:prstGeom prst="rect">
            <a:avLst/>
          </a:prstGeom>
          <a:noFill/>
          <a:ln/>
        </p:spPr>
        <p:txBody>
          <a:bodyPr wrap="square" lIns="0" tIns="0" rIns="0" bIns="0" rtlCol="0" anchor="ctr"/>
          <a:lstStyle/>
          <a:p>
            <a:pPr indent="0" marL="0">
              <a:lnSpc>
                <a:spcPct val="120000"/>
              </a:lnSpc>
              <a:buNone/>
            </a:pPr>
            <a:r>
              <a:rPr lang="en-US" sz="1100" dirty="0">
                <a:solidFill>
                  <a:srgbClr val="065A82"/>
                </a:solidFill>
                <a:latin typeface="Calibri" pitchFamily="34" charset="0"/>
                <a:ea typeface="Calibri" pitchFamily="34" charset="-122"/>
                <a:cs typeface="Calibri" pitchFamily="34" charset="-120"/>
              </a:rPr>
              <a:t>Notice the last one carries no answer at all. Any method that trains on prompt-only data must generate its own responses first — which is what makes it expensive, and which is the subject of the next slide.</a:t>
            </a:r>
            <a:endParaRPr lang="en-US" sz="1100" dirty="0"/>
          </a:p>
        </p:txBody>
      </p:sp>
      <p:sp>
        <p:nvSpPr>
          <p:cNvPr id="39" name="Text 3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40" name="Text 3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4 OF 6</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Whose Text Are You Learning From?</a:t>
            </a:r>
            <a:endParaRPr lang="en-US" sz="3000" dirty="0"/>
          </a:p>
        </p:txBody>
      </p:sp>
      <p:sp>
        <p:nvSpPr>
          <p:cNvPr id="4" name="Text 2"/>
          <p:cNvSpPr/>
          <p:nvPr/>
        </p:nvSpPr>
        <p:spPr>
          <a:xfrm>
            <a:off x="548640" y="1417320"/>
            <a:ext cx="11064240" cy="50292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A post-training method updates a model using some text and a score for that text. The pivotal question is who wrote the text: someone else, earlier — or the model itself, just now.</a:t>
            </a:r>
            <a:endParaRPr lang="en-US" sz="1350" dirty="0"/>
          </a:p>
        </p:txBody>
      </p:sp>
      <p:sp>
        <p:nvSpPr>
          <p:cNvPr id="5" name="Shape 3"/>
          <p:cNvSpPr/>
          <p:nvPr/>
        </p:nvSpPr>
        <p:spPr>
          <a:xfrm>
            <a:off x="548640" y="2103120"/>
            <a:ext cx="5349240" cy="3794760"/>
          </a:xfrm>
          <a:prstGeom prst="roundRect">
            <a:avLst>
              <a:gd name="adj" fmla="val 1928"/>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331720"/>
            <a:ext cx="548640" cy="548640"/>
          </a:xfrm>
          <a:prstGeom prst="ellipse">
            <a:avLst/>
          </a:prstGeom>
          <a:solidFill>
            <a:srgbClr val="065A82"/>
          </a:solidFill>
          <a:ln/>
        </p:spPr>
      </p:sp>
      <p:pic>
        <p:nvPicPr>
          <p:cNvPr id="7" name="Image 0" descr="/home/claude/icons/swap.png">    </p:cNvPr>
          <p:cNvPicPr>
            <a:picLocks noChangeAspect="1"/>
          </p:cNvPicPr>
          <p:nvPr/>
        </p:nvPicPr>
        <p:blipFill>
          <a:blip r:embed="rId1"/>
          <a:stretch>
            <a:fillRect/>
          </a:stretch>
        </p:blipFill>
        <p:spPr>
          <a:xfrm>
            <a:off x="965606" y="2474366"/>
            <a:ext cx="263347" cy="263347"/>
          </a:xfrm>
          <a:prstGeom prst="rect">
            <a:avLst/>
          </a:prstGeom>
        </p:spPr>
      </p:pic>
      <p:sp>
        <p:nvSpPr>
          <p:cNvPr id="8" name="Text 5"/>
          <p:cNvSpPr/>
          <p:nvPr/>
        </p:nvSpPr>
        <p:spPr>
          <a:xfrm>
            <a:off x="1508760" y="2331720"/>
            <a:ext cx="4114800" cy="548640"/>
          </a:xfrm>
          <a:prstGeom prst="rect">
            <a:avLst/>
          </a:prstGeom>
          <a:noFill/>
          <a:ln/>
        </p:spPr>
        <p:txBody>
          <a:bodyPr wrap="square" lIns="0" tIns="0" rIns="0" bIns="0" rtlCol="0" anchor="ctr"/>
          <a:lstStyle/>
          <a:p>
            <a:pPr indent="0" marL="0">
              <a:buNone/>
            </a:pPr>
            <a:r>
              <a:rPr lang="en-US" sz="1700" b="1" dirty="0">
                <a:solidFill>
                  <a:srgbClr val="1B2733"/>
                </a:solidFill>
                <a:latin typeface="Cambria" pitchFamily="34" charset="0"/>
                <a:ea typeface="Cambria" pitchFamily="34" charset="-122"/>
                <a:cs typeface="Cambria" pitchFamily="34" charset="-120"/>
              </a:rPr>
              <a:t>Off-policy</a:t>
            </a:r>
            <a:endParaRPr lang="en-US" sz="1700" dirty="0"/>
          </a:p>
        </p:txBody>
      </p:sp>
      <p:sp>
        <p:nvSpPr>
          <p:cNvPr id="9" name="Text 6"/>
          <p:cNvSpPr/>
          <p:nvPr/>
        </p:nvSpPr>
        <p:spPr>
          <a:xfrm>
            <a:off x="822960" y="3063240"/>
            <a:ext cx="1143000" cy="32004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The text</a:t>
            </a:r>
            <a:endParaRPr lang="en-US" sz="1050" dirty="0"/>
          </a:p>
        </p:txBody>
      </p:sp>
      <p:sp>
        <p:nvSpPr>
          <p:cNvPr id="10" name="Text 7"/>
          <p:cNvSpPr/>
          <p:nvPr/>
        </p:nvSpPr>
        <p:spPr>
          <a:xfrm>
            <a:off x="2011680" y="3063240"/>
            <a:ext cx="3611880" cy="658368"/>
          </a:xfrm>
          <a:prstGeom prst="rect">
            <a:avLst/>
          </a:prstGeom>
          <a:noFill/>
          <a:ln/>
        </p:spPr>
        <p:txBody>
          <a:bodyPr wrap="square" rtlCol="0" anchor="ctr"/>
          <a:lstStyle/>
          <a:p>
            <a:pPr indent="0" marL="0">
              <a:lnSpc>
                <a:spcPct val="118000"/>
              </a:lnSpc>
              <a:buNone/>
            </a:pPr>
            <a:r>
              <a:rPr lang="en-US" sz="1050" b="1" dirty="0">
                <a:solidFill>
                  <a:srgbClr val="1B2733"/>
                </a:solidFill>
                <a:latin typeface="Calibri" pitchFamily="34" charset="0"/>
                <a:ea typeface="Calibri" pitchFamily="34" charset="-122"/>
                <a:cs typeface="Calibri" pitchFamily="34" charset="-120"/>
              </a:rPr>
              <a:t>Collected in advance and frozen</a:t>
            </a:r>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 A fixed file on disk.</a:t>
            </a:r>
            <a:endParaRPr lang="en-US" sz="1050" dirty="0"/>
          </a:p>
        </p:txBody>
      </p:sp>
      <p:sp>
        <p:nvSpPr>
          <p:cNvPr id="11" name="Text 8"/>
          <p:cNvSpPr/>
          <p:nvPr/>
        </p:nvSpPr>
        <p:spPr>
          <a:xfrm>
            <a:off x="822960" y="3776472"/>
            <a:ext cx="1143000" cy="32004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The loop</a:t>
            </a:r>
            <a:endParaRPr lang="en-US" sz="1050" dirty="0"/>
          </a:p>
        </p:txBody>
      </p:sp>
      <p:sp>
        <p:nvSpPr>
          <p:cNvPr id="12" name="Text 9"/>
          <p:cNvSpPr/>
          <p:nvPr/>
        </p:nvSpPr>
        <p:spPr>
          <a:xfrm>
            <a:off x="2011680" y="3776472"/>
            <a:ext cx="3611880" cy="658368"/>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Load a batch, compute a loss, step. Same shape as ordinary supervised training.</a:t>
            </a:r>
            <a:endParaRPr lang="en-US" sz="1050" dirty="0"/>
          </a:p>
        </p:txBody>
      </p:sp>
      <p:sp>
        <p:nvSpPr>
          <p:cNvPr id="13" name="Text 10"/>
          <p:cNvSpPr/>
          <p:nvPr/>
        </p:nvSpPr>
        <p:spPr>
          <a:xfrm>
            <a:off x="822960" y="4489704"/>
            <a:ext cx="1143000" cy="32004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Cost</a:t>
            </a:r>
            <a:endParaRPr lang="en-US" sz="1050" dirty="0"/>
          </a:p>
        </p:txBody>
      </p:sp>
      <p:sp>
        <p:nvSpPr>
          <p:cNvPr id="14" name="Text 11"/>
          <p:cNvSpPr/>
          <p:nvPr/>
        </p:nvSpPr>
        <p:spPr>
          <a:xfrm>
            <a:off x="2011680" y="4489704"/>
            <a:ext cx="3611880" cy="658368"/>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One forward and backward pass per example. Predictable.</a:t>
            </a:r>
            <a:endParaRPr lang="en-US" sz="1050" dirty="0"/>
          </a:p>
        </p:txBody>
      </p:sp>
      <p:sp>
        <p:nvSpPr>
          <p:cNvPr id="15" name="Text 12"/>
          <p:cNvSpPr/>
          <p:nvPr/>
        </p:nvSpPr>
        <p:spPr>
          <a:xfrm>
            <a:off x="822960" y="5202936"/>
            <a:ext cx="1143000" cy="32004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The catch</a:t>
            </a:r>
            <a:endParaRPr lang="en-US" sz="1050" dirty="0"/>
          </a:p>
        </p:txBody>
      </p:sp>
      <p:sp>
        <p:nvSpPr>
          <p:cNvPr id="16" name="Text 13"/>
          <p:cNvSpPr/>
          <p:nvPr/>
        </p:nvSpPr>
        <p:spPr>
          <a:xfrm>
            <a:off x="2011680" y="5202936"/>
            <a:ext cx="3611880" cy="658368"/>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The data describes responses the model may no longer produce. As it </a:t>
            </a:r>
            <a:pPr indent="0" marL="0">
              <a:lnSpc>
                <a:spcPct val="118000"/>
              </a:lnSpc>
              <a:buNone/>
            </a:pPr>
            <a:r>
              <a:rPr lang="en-US" sz="1050" b="1" dirty="0">
                <a:solidFill>
                  <a:srgbClr val="1B2733"/>
                </a:solidFill>
                <a:latin typeface="Calibri" pitchFamily="34" charset="0"/>
                <a:ea typeface="Calibri" pitchFamily="34" charset="-122"/>
                <a:cs typeface="Calibri" pitchFamily="34" charset="-120"/>
              </a:rPr>
              <a:t>drifts</a:t>
            </a:r>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 the corrections apply to a model that no longer exists.</a:t>
            </a:r>
            <a:endParaRPr lang="en-US" sz="1050" dirty="0"/>
          </a:p>
        </p:txBody>
      </p:sp>
      <p:sp>
        <p:nvSpPr>
          <p:cNvPr id="17" name="Shape 14"/>
          <p:cNvSpPr/>
          <p:nvPr/>
        </p:nvSpPr>
        <p:spPr>
          <a:xfrm>
            <a:off x="6263640" y="2103120"/>
            <a:ext cx="5349240" cy="3794760"/>
          </a:xfrm>
          <a:prstGeom prst="roundRect">
            <a:avLst>
              <a:gd name="adj" fmla="val 1928"/>
            </a:avLst>
          </a:prstGeom>
          <a:solidFill>
            <a:srgbClr val="EDF1FA"/>
          </a:solidFill>
          <a:ln/>
          <a:effectLst>
            <a:outerShdw sx="100000" sy="100000" kx="0" ky="0" algn="bl" rotWithShape="0" blurRad="101600" dist="25400" dir="5400000">
              <a:srgbClr val="1B2733">
                <a:alpha val="8000"/>
              </a:srgbClr>
            </a:outerShdw>
          </a:effectLst>
        </p:spPr>
      </p:sp>
      <p:sp>
        <p:nvSpPr>
          <p:cNvPr id="18" name="Shape 15"/>
          <p:cNvSpPr/>
          <p:nvPr/>
        </p:nvSpPr>
        <p:spPr>
          <a:xfrm>
            <a:off x="6537960" y="2331720"/>
            <a:ext cx="548640" cy="548640"/>
          </a:xfrm>
          <a:prstGeom prst="ellipse">
            <a:avLst/>
          </a:prstGeom>
          <a:solidFill>
            <a:srgbClr val="21295C"/>
          </a:solidFill>
          <a:ln/>
        </p:spPr>
      </p:sp>
      <p:pic>
        <p:nvPicPr>
          <p:cNvPr id="19" name="Image 1" descr="/home/claude/icons/spin.png">    </p:cNvPr>
          <p:cNvPicPr>
            <a:picLocks noChangeAspect="1"/>
          </p:cNvPicPr>
          <p:nvPr/>
        </p:nvPicPr>
        <p:blipFill>
          <a:blip r:embed="rId2"/>
          <a:stretch>
            <a:fillRect/>
          </a:stretch>
        </p:blipFill>
        <p:spPr>
          <a:xfrm>
            <a:off x="6680606" y="2474366"/>
            <a:ext cx="263347" cy="263347"/>
          </a:xfrm>
          <a:prstGeom prst="rect">
            <a:avLst/>
          </a:prstGeom>
        </p:spPr>
      </p:pic>
      <p:sp>
        <p:nvSpPr>
          <p:cNvPr id="20" name="Text 16"/>
          <p:cNvSpPr/>
          <p:nvPr/>
        </p:nvSpPr>
        <p:spPr>
          <a:xfrm>
            <a:off x="7223760" y="2331720"/>
            <a:ext cx="4114800" cy="548640"/>
          </a:xfrm>
          <a:prstGeom prst="rect">
            <a:avLst/>
          </a:prstGeom>
          <a:noFill/>
          <a:ln/>
        </p:spPr>
        <p:txBody>
          <a:bodyPr wrap="square" lIns="0" tIns="0" rIns="0" bIns="0" rtlCol="0" anchor="ctr"/>
          <a:lstStyle/>
          <a:p>
            <a:pPr indent="0" marL="0">
              <a:buNone/>
            </a:pPr>
            <a:r>
              <a:rPr lang="en-US" sz="1700" b="1" dirty="0">
                <a:solidFill>
                  <a:srgbClr val="1B2733"/>
                </a:solidFill>
                <a:latin typeface="Cambria" pitchFamily="34" charset="0"/>
                <a:ea typeface="Cambria" pitchFamily="34" charset="-122"/>
                <a:cs typeface="Cambria" pitchFamily="34" charset="-120"/>
              </a:rPr>
              <a:t>On-policy</a:t>
            </a:r>
            <a:endParaRPr lang="en-US" sz="1700" dirty="0"/>
          </a:p>
        </p:txBody>
      </p:sp>
      <p:sp>
        <p:nvSpPr>
          <p:cNvPr id="21" name="Text 17"/>
          <p:cNvSpPr/>
          <p:nvPr/>
        </p:nvSpPr>
        <p:spPr>
          <a:xfrm>
            <a:off x="6537960" y="3063240"/>
            <a:ext cx="1143000" cy="320040"/>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The text</a:t>
            </a:r>
            <a:endParaRPr lang="en-US" sz="1050" dirty="0"/>
          </a:p>
        </p:txBody>
      </p:sp>
      <p:sp>
        <p:nvSpPr>
          <p:cNvPr id="22" name="Text 18"/>
          <p:cNvSpPr/>
          <p:nvPr/>
        </p:nvSpPr>
        <p:spPr>
          <a:xfrm>
            <a:off x="7726680" y="3063240"/>
            <a:ext cx="3611880" cy="658368"/>
          </a:xfrm>
          <a:prstGeom prst="rect">
            <a:avLst/>
          </a:prstGeom>
          <a:noFill/>
          <a:ln/>
        </p:spPr>
        <p:txBody>
          <a:bodyPr wrap="square" rtlCol="0" anchor="ctr"/>
          <a:lstStyle/>
          <a:p>
            <a:pPr indent="0" marL="0">
              <a:lnSpc>
                <a:spcPct val="118000"/>
              </a:lnSpc>
              <a:buNone/>
            </a:pPr>
            <a:r>
              <a:rPr lang="en-US" sz="1050" b="1" dirty="0">
                <a:solidFill>
                  <a:srgbClr val="1B2733"/>
                </a:solidFill>
                <a:latin typeface="Calibri" pitchFamily="34" charset="0"/>
                <a:ea typeface="Calibri" pitchFamily="34" charset="-122"/>
                <a:cs typeface="Calibri" pitchFamily="34" charset="-120"/>
              </a:rPr>
              <a:t>Generated during training</a:t>
            </a:r>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 by the model being trained, from prompts alone.</a:t>
            </a:r>
            <a:endParaRPr lang="en-US" sz="1050" dirty="0"/>
          </a:p>
        </p:txBody>
      </p:sp>
      <p:sp>
        <p:nvSpPr>
          <p:cNvPr id="23" name="Text 19"/>
          <p:cNvSpPr/>
          <p:nvPr/>
        </p:nvSpPr>
        <p:spPr>
          <a:xfrm>
            <a:off x="6537960" y="3776472"/>
            <a:ext cx="1143000" cy="320040"/>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The loop</a:t>
            </a:r>
            <a:endParaRPr lang="en-US" sz="1050" dirty="0"/>
          </a:p>
        </p:txBody>
      </p:sp>
      <p:sp>
        <p:nvSpPr>
          <p:cNvPr id="24" name="Text 20"/>
          <p:cNvSpPr/>
          <p:nvPr/>
        </p:nvSpPr>
        <p:spPr>
          <a:xfrm>
            <a:off x="7726680" y="3776472"/>
            <a:ext cx="3611880" cy="658368"/>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Generate several completions, score them, then step. Generation is inside the loop.</a:t>
            </a:r>
            <a:endParaRPr lang="en-US" sz="1050" dirty="0"/>
          </a:p>
        </p:txBody>
      </p:sp>
      <p:sp>
        <p:nvSpPr>
          <p:cNvPr id="25" name="Text 21"/>
          <p:cNvSpPr/>
          <p:nvPr/>
        </p:nvSpPr>
        <p:spPr>
          <a:xfrm>
            <a:off x="6537960" y="4489704"/>
            <a:ext cx="1143000" cy="320040"/>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Cost</a:t>
            </a:r>
            <a:endParaRPr lang="en-US" sz="1050" dirty="0"/>
          </a:p>
        </p:txBody>
      </p:sp>
      <p:sp>
        <p:nvSpPr>
          <p:cNvPr id="26" name="Text 22"/>
          <p:cNvSpPr/>
          <p:nvPr/>
        </p:nvSpPr>
        <p:spPr>
          <a:xfrm>
            <a:off x="7726680" y="4489704"/>
            <a:ext cx="3611880" cy="658368"/>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Dominated by generation, not gradients — often many completions per prompt, per step.</a:t>
            </a:r>
            <a:endParaRPr lang="en-US" sz="1050" dirty="0"/>
          </a:p>
        </p:txBody>
      </p:sp>
      <p:sp>
        <p:nvSpPr>
          <p:cNvPr id="27" name="Text 23"/>
          <p:cNvSpPr/>
          <p:nvPr/>
        </p:nvSpPr>
        <p:spPr>
          <a:xfrm>
            <a:off x="6537960" y="5202936"/>
            <a:ext cx="1143000" cy="320040"/>
          </a:xfrm>
          <a:prstGeom prst="rect">
            <a:avLst/>
          </a:prstGeom>
          <a:noFill/>
          <a:ln/>
        </p:spPr>
        <p:txBody>
          <a:bodyPr wrap="square" lIns="0" tIns="0" rIns="0" bIns="0" rtlCol="0" anchor="ctr"/>
          <a:lstStyle/>
          <a:p>
            <a:pPr indent="0" marL="0">
              <a:buNone/>
            </a:pPr>
            <a:r>
              <a:rPr lang="en-US" sz="1050" b="1" dirty="0">
                <a:solidFill>
                  <a:srgbClr val="21295C"/>
                </a:solidFill>
                <a:latin typeface="Calibri" pitchFamily="34" charset="0"/>
                <a:ea typeface="Calibri" pitchFamily="34" charset="-122"/>
                <a:cs typeface="Calibri" pitchFamily="34" charset="-120"/>
              </a:rPr>
              <a:t>The catch</a:t>
            </a:r>
            <a:endParaRPr lang="en-US" sz="1050" dirty="0"/>
          </a:p>
        </p:txBody>
      </p:sp>
      <p:sp>
        <p:nvSpPr>
          <p:cNvPr id="28" name="Text 24"/>
          <p:cNvSpPr/>
          <p:nvPr/>
        </p:nvSpPr>
        <p:spPr>
          <a:xfrm>
            <a:off x="7726680" y="5202936"/>
            <a:ext cx="3611880" cy="658368"/>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Vastly more compute, and a moving target: the data distribution shifts every step, which is precisely what makes it </a:t>
            </a:r>
            <a:pPr indent="0" marL="0">
              <a:lnSpc>
                <a:spcPct val="118000"/>
              </a:lnSpc>
              <a:buNone/>
            </a:pPr>
            <a:r>
              <a:rPr lang="en-US" sz="1050" b="1" dirty="0">
                <a:solidFill>
                  <a:srgbClr val="1B2733"/>
                </a:solidFill>
                <a:latin typeface="Calibri" pitchFamily="34" charset="0"/>
                <a:ea typeface="Calibri" pitchFamily="34" charset="-122"/>
                <a:cs typeface="Calibri" pitchFamily="34" charset="-120"/>
              </a:rPr>
              <a:t>powerful and unstable</a:t>
            </a:r>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a:t>
            </a:r>
            <a:endParaRPr lang="en-US" sz="1050" dirty="0"/>
          </a:p>
        </p:txBody>
      </p:sp>
      <p:sp>
        <p:nvSpPr>
          <p:cNvPr id="29" name="Text 2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30" name="Text 2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5 OF 6</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When You Can Skip the Judge Entirely</a:t>
            </a:r>
            <a:endParaRPr lang="en-US" sz="3000" dirty="0"/>
          </a:p>
        </p:txBody>
      </p:sp>
      <p:sp>
        <p:nvSpPr>
          <p:cNvPr id="4" name="Text 2"/>
          <p:cNvSpPr/>
          <p:nvPr/>
        </p:nvSpPr>
        <p:spPr>
          <a:xfrm>
            <a:off x="548640" y="1417320"/>
            <a:ext cx="11064240" cy="566928"/>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A learned reward model exists because “is this response good?” has no closed form. But for a large and growing class of tasks it does: the arithmetic is right or wrong, the code compiles or doesn't, the output matches the required format or doesn't. There, the reward is a function you write.</a:t>
            </a:r>
            <a:endParaRPr lang="en-US" sz="1350" dirty="0"/>
          </a:p>
        </p:txBody>
      </p:sp>
      <p:sp>
        <p:nvSpPr>
          <p:cNvPr id="5" name="Shape 3"/>
          <p:cNvSpPr/>
          <p:nvPr/>
        </p:nvSpPr>
        <p:spPr>
          <a:xfrm>
            <a:off x="548640" y="2148840"/>
            <a:ext cx="5486400" cy="2103120"/>
          </a:xfrm>
          <a:prstGeom prst="roundRect">
            <a:avLst>
              <a:gd name="adj" fmla="val 3478"/>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868680" y="2331720"/>
            <a:ext cx="4846320" cy="320040"/>
          </a:xfrm>
          <a:prstGeom prst="rect">
            <a:avLst/>
          </a:prstGeom>
          <a:noFill/>
          <a:ln/>
        </p:spPr>
        <p:txBody>
          <a:bodyPr wrap="square"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What you give up</a:t>
            </a:r>
            <a:endParaRPr lang="en-US" sz="1400" dirty="0"/>
          </a:p>
        </p:txBody>
      </p:sp>
      <p:sp>
        <p:nvSpPr>
          <p:cNvPr id="7" name="Text 5"/>
          <p:cNvSpPr/>
          <p:nvPr/>
        </p:nvSpPr>
        <p:spPr>
          <a:xfrm>
            <a:off x="868680" y="2743200"/>
            <a:ext cx="4846320" cy="1371600"/>
          </a:xfrm>
          <a:prstGeom prst="rect">
            <a:avLst/>
          </a:prstGeom>
          <a:noFill/>
          <a:ln/>
        </p:spPr>
        <p:txBody>
          <a:bodyPr wrap="square" rtlCol="0" anchor="ctr"/>
          <a:lstStyle/>
          <a:p>
            <a:pPr indent="0" marL="0">
              <a:lnSpc>
                <a:spcPct val="125000"/>
              </a:lnSpc>
              <a:buNone/>
            </a:pPr>
            <a:r>
              <a:rPr lang="en-US" sz="1150" dirty="0">
                <a:solidFill>
                  <a:srgbClr val="5C7080"/>
                </a:solidFill>
                <a:latin typeface="Calibri" pitchFamily="34" charset="0"/>
                <a:ea typeface="Calibri" pitchFamily="34" charset="-122"/>
                <a:cs typeface="Calibri" pitchFamily="34" charset="-120"/>
              </a:rPr>
              <a:t>Coverage. A verifier can score a proof or a parser, and has nothing to say about whether a piece of writing is tactful, or a refusal was warranted, or an explanation was honest. The overwhelming majority of what we want from a model is not mechanically checkable.</a:t>
            </a:r>
            <a:endParaRPr lang="en-US" sz="1150" dirty="0"/>
          </a:p>
        </p:txBody>
      </p:sp>
      <p:sp>
        <p:nvSpPr>
          <p:cNvPr id="8" name="Shape 6"/>
          <p:cNvSpPr/>
          <p:nvPr/>
        </p:nvSpPr>
        <p:spPr>
          <a:xfrm>
            <a:off x="6309360" y="2148840"/>
            <a:ext cx="5303520" cy="2103120"/>
          </a:xfrm>
          <a:prstGeom prst="roundRect">
            <a:avLst>
              <a:gd name="adj" fmla="val 3478"/>
            </a:avLst>
          </a:prstGeom>
          <a:solidFill>
            <a:srgbClr val="16385A"/>
          </a:solidFill>
          <a:ln/>
          <a:effectLst>
            <a:outerShdw sx="100000" sy="100000" kx="0" ky="0" algn="bl" rotWithShape="0" blurRad="101600" dist="25400" dir="5400000">
              <a:srgbClr val="1B2733">
                <a:alpha val="8000"/>
              </a:srgbClr>
            </a:outerShdw>
          </a:effectLst>
        </p:spPr>
      </p:sp>
      <p:sp>
        <p:nvSpPr>
          <p:cNvPr id="9" name="Text 7"/>
          <p:cNvSpPr/>
          <p:nvPr/>
        </p:nvSpPr>
        <p:spPr>
          <a:xfrm>
            <a:off x="6629400" y="2331720"/>
            <a:ext cx="46634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What you get</a:t>
            </a:r>
            <a:endParaRPr lang="en-US" sz="1400" dirty="0"/>
          </a:p>
        </p:txBody>
      </p:sp>
      <p:sp>
        <p:nvSpPr>
          <p:cNvPr id="10" name="Text 8"/>
          <p:cNvSpPr/>
          <p:nvPr/>
        </p:nvSpPr>
        <p:spPr>
          <a:xfrm>
            <a:off x="6629400" y="2743200"/>
            <a:ext cx="4663440" cy="1371600"/>
          </a:xfrm>
          <a:prstGeom prst="rect">
            <a:avLst/>
          </a:prstGeom>
          <a:noFill/>
          <a:ln/>
        </p:spPr>
        <p:txBody>
          <a:bodyPr wrap="square" rtlCol="0" anchor="ctr"/>
          <a:lstStyle/>
          <a:p>
            <a:pPr indent="0" marL="0">
              <a:lnSpc>
                <a:spcPct val="125000"/>
              </a:lnSpc>
              <a:buNone/>
            </a:pPr>
            <a:r>
              <a:rPr lang="en-US" sz="1150" b="1" dirty="0">
                <a:solidFill>
                  <a:srgbClr val="CFE8F0"/>
                </a:solidFill>
                <a:latin typeface="Calibri" pitchFamily="34" charset="0"/>
                <a:ea typeface="Calibri" pitchFamily="34" charset="-122"/>
                <a:cs typeface="Calibri" pitchFamily="34" charset="-120"/>
              </a:rPr>
              <a:t>A signal that cannot be hacked in the reward-model sense</a:t>
            </a:r>
            <a:pPr indent="0" marL="0">
              <a:lnSpc>
                <a:spcPct val="125000"/>
              </a:lnSpc>
              <a:buNone/>
            </a:pPr>
            <a:r>
              <a:rPr lang="en-US" sz="1150" b="1" dirty="0">
                <a:solidFill>
                  <a:srgbClr val="8FD4E8"/>
                </a:solidFill>
                <a:latin typeface="Calibri" pitchFamily="34" charset="0"/>
                <a:ea typeface="Calibri" pitchFamily="34" charset="-122"/>
                <a:cs typeface="Calibri" pitchFamily="34" charset="-120"/>
              </a:rPr>
              <a:t>*</a:t>
            </a:r>
            <a:pPr indent="0" marL="0">
              <a:lnSpc>
                <a:spcPct val="125000"/>
              </a:lnSpc>
              <a:buNone/>
            </a:pPr>
            <a:r>
              <a:rPr lang="en-US" sz="1150" dirty="0">
                <a:solidFill>
                  <a:srgbClr val="9FC3D9"/>
                </a:solidFill>
                <a:latin typeface="Calibri" pitchFamily="34" charset="0"/>
                <a:ea typeface="Calibri" pitchFamily="34" charset="-122"/>
                <a:cs typeface="Calibri" pitchFamily="34" charset="-120"/>
              </a:rPr>
              <a:t>, because there is no fitted approximation to exploit — the check is the ground truth. It costs nothing to evaluate, never needs retraining, and stays correct no matter how far the policy drifts.</a:t>
            </a:r>
            <a:endParaRPr lang="en-US" sz="1150" dirty="0"/>
          </a:p>
        </p:txBody>
      </p:sp>
      <p:sp>
        <p:nvSpPr>
          <p:cNvPr id="11" name="Shape 9"/>
          <p:cNvSpPr/>
          <p:nvPr/>
        </p:nvSpPr>
        <p:spPr>
          <a:xfrm>
            <a:off x="548640" y="4434840"/>
            <a:ext cx="11064240" cy="1371600"/>
          </a:xfrm>
          <a:prstGeom prst="roundRect">
            <a:avLst>
              <a:gd name="adj" fmla="val 5333"/>
            </a:avLst>
          </a:prstGeom>
          <a:solidFill>
            <a:srgbClr val="E4F4EC"/>
          </a:solidFill>
          <a:ln/>
        </p:spPr>
      </p:sp>
      <p:sp>
        <p:nvSpPr>
          <p:cNvPr id="12" name="Shape 10"/>
          <p:cNvSpPr/>
          <p:nvPr/>
        </p:nvSpPr>
        <p:spPr>
          <a:xfrm>
            <a:off x="868680" y="4681728"/>
            <a:ext cx="457200" cy="457200"/>
          </a:xfrm>
          <a:prstGeom prst="ellipse">
            <a:avLst/>
          </a:prstGeom>
          <a:solidFill>
            <a:srgbClr val="FFFFFF"/>
          </a:solidFill>
          <a:ln/>
        </p:spPr>
      </p:sp>
      <p:pic>
        <p:nvPicPr>
          <p:cNvPr id="13" name="Image 0" descr="/home/claude/icons/check_teal.png">    </p:cNvPr>
          <p:cNvPicPr>
            <a:picLocks noChangeAspect="1"/>
          </p:cNvPicPr>
          <p:nvPr/>
        </p:nvPicPr>
        <p:blipFill>
          <a:blip r:embed="rId1"/>
          <a:stretch>
            <a:fillRect/>
          </a:stretch>
        </p:blipFill>
        <p:spPr>
          <a:xfrm>
            <a:off x="987552" y="4800600"/>
            <a:ext cx="219456" cy="219456"/>
          </a:xfrm>
          <a:prstGeom prst="rect">
            <a:avLst/>
          </a:prstGeom>
        </p:spPr>
      </p:pic>
      <p:sp>
        <p:nvSpPr>
          <p:cNvPr id="14" name="Text 11"/>
          <p:cNvSpPr/>
          <p:nvPr/>
        </p:nvSpPr>
        <p:spPr>
          <a:xfrm>
            <a:off x="1463040" y="4617720"/>
            <a:ext cx="7315200" cy="365760"/>
          </a:xfrm>
          <a:prstGeom prst="rect">
            <a:avLst/>
          </a:prstGeom>
          <a:noFill/>
          <a:ln/>
        </p:spPr>
        <p:txBody>
          <a:bodyPr wrap="square" lIns="0" tIns="0" rIns="0" bIns="0" rtlCol="0" anchor="ctr"/>
          <a:lstStyle/>
          <a:p>
            <a:pPr indent="0" marL="0">
              <a:buNone/>
            </a:pPr>
            <a:r>
              <a:rPr lang="en-US" sz="1300" b="1" dirty="0">
                <a:solidFill>
                  <a:srgbClr val="14533D"/>
                </a:solidFill>
                <a:latin typeface="Calibri" pitchFamily="34" charset="0"/>
                <a:ea typeface="Calibri" pitchFamily="34" charset="-122"/>
                <a:cs typeface="Calibri" pitchFamily="34" charset="-120"/>
              </a:rPr>
              <a:t>Why this reorganized the field</a:t>
            </a:r>
            <a:endParaRPr lang="en-US" sz="1300" dirty="0"/>
          </a:p>
        </p:txBody>
      </p:sp>
      <p:sp>
        <p:nvSpPr>
          <p:cNvPr id="15" name="Text 12"/>
          <p:cNvSpPr/>
          <p:nvPr/>
        </p:nvSpPr>
        <p:spPr>
          <a:xfrm>
            <a:off x="1463040" y="5010912"/>
            <a:ext cx="9875520" cy="731520"/>
          </a:xfrm>
          <a:prstGeom prst="rect">
            <a:avLst/>
          </a:prstGeom>
          <a:noFill/>
          <a:ln/>
        </p:spPr>
        <p:txBody>
          <a:bodyPr wrap="square" rtlCol="0" anchor="ctr"/>
          <a:lstStyle/>
          <a:p>
            <a:pPr indent="0" marL="0">
              <a:lnSpc>
                <a:spcPct val="122000"/>
              </a:lnSpc>
              <a:buNone/>
            </a:pPr>
            <a:r>
              <a:rPr lang="en-US" sz="1150" dirty="0">
                <a:solidFill>
                  <a:srgbClr val="14533D"/>
                </a:solidFill>
                <a:latin typeface="Calibri" pitchFamily="34" charset="0"/>
                <a:ea typeface="Calibri" pitchFamily="34" charset="-122"/>
                <a:cs typeface="Calibri" pitchFamily="34" charset="-120"/>
              </a:rPr>
              <a:t>Verifiable rewards made it practical to run reinforcement learning on language models at scale without a reward model in the loop at all — no preference data to collect, no learned judge to drift. Reasoning-focused training runs lean on this heavily, because mathematics and code are exactly the domains where a checker is easy to write.</a:t>
            </a:r>
            <a:endParaRPr lang="en-US" sz="1150" dirty="0"/>
          </a:p>
        </p:txBody>
      </p:sp>
      <p:sp>
        <p:nvSpPr>
          <p:cNvPr id="16" name="Text 13"/>
          <p:cNvSpPr/>
          <p:nvPr/>
        </p:nvSpPr>
        <p:spPr>
          <a:xfrm>
            <a:off x="548640" y="5897880"/>
            <a:ext cx="11064240" cy="411480"/>
          </a:xfrm>
          <a:prstGeom prst="rect">
            <a:avLst/>
          </a:prstGeom>
          <a:noFill/>
          <a:ln/>
        </p:spPr>
        <p:txBody>
          <a:bodyPr wrap="square" lIns="0" tIns="0" rIns="0" bIns="0" rtlCol="0" anchor="ctr"/>
          <a:lstStyle/>
          <a:p>
            <a:pPr indent="0" marL="0">
              <a:lnSpc>
                <a:spcPct val="115000"/>
              </a:lnSpc>
              <a:buNone/>
            </a:pPr>
            <a:r>
              <a:rPr lang="en-US" sz="1050" b="1" dirty="0">
                <a:solidFill>
                  <a:srgbClr val="1B2733"/>
                </a:solidFill>
                <a:latin typeface="Calibri" pitchFamily="34" charset="0"/>
                <a:ea typeface="Calibri" pitchFamily="34" charset="-122"/>
                <a:cs typeface="Calibri" pitchFamily="34" charset="-120"/>
              </a:rPr>
              <a:t>* Not immune, only differently exposed. </a:t>
            </a:r>
            <a:pPr indent="0" marL="0">
              <a:lnSpc>
                <a:spcPct val="115000"/>
              </a:lnSpc>
              <a:buNone/>
            </a:pPr>
            <a:r>
              <a:rPr lang="en-US" sz="1050" dirty="0">
                <a:solidFill>
                  <a:srgbClr val="5C7080"/>
                </a:solidFill>
                <a:latin typeface="Calibri" pitchFamily="34" charset="0"/>
                <a:ea typeface="Calibri" pitchFamily="34" charset="-122"/>
                <a:cs typeface="Calibri" pitchFamily="34" charset="-120"/>
              </a:rPr>
              <a:t>Removing the learned judge removes one class of exploit and creates another: a check that can be satisfied without solving the task relocates the hacking into the checker itself. Worked through, with a real example, on slide 18.</a:t>
            </a:r>
            <a:endParaRPr lang="en-US" sz="1050" dirty="0"/>
          </a:p>
        </p:txBody>
      </p:sp>
      <p:sp>
        <p:nvSpPr>
          <p:cNvPr id="17" name="Text 14"/>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18" name="Text 15"/>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BACKGROUND · 6 OF 6</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2800" b="1" dirty="0">
                <a:solidFill>
                  <a:srgbClr val="1B2733"/>
                </a:solidFill>
                <a:latin typeface="Cambria" pitchFamily="34" charset="0"/>
                <a:ea typeface="Cambria" pitchFamily="34" charset="-122"/>
                <a:cs typeface="Cambria" pitchFamily="34" charset="-120"/>
              </a:rPr>
              <a:t>The Anchor Prices Change, It Doesn't Forbid It</a:t>
            </a:r>
            <a:endParaRPr lang="en-US" sz="28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Changing the model is the point of training, so a penalty on change needs justifying. The justification: what is being optimized is not what you want but a proxy for it, and the proxy is only trustworthy near the text it was built from.</a:t>
            </a:r>
            <a:endParaRPr lang="en-US" sz="1350" dirty="0"/>
          </a:p>
        </p:txBody>
      </p:sp>
      <p:sp>
        <p:nvSpPr>
          <p:cNvPr id="5" name="Shape 3"/>
          <p:cNvSpPr/>
          <p:nvPr/>
        </p:nvSpPr>
        <p:spPr>
          <a:xfrm>
            <a:off x="548640" y="2057400"/>
            <a:ext cx="11064240" cy="1600200"/>
          </a:xfrm>
          <a:prstGeom prst="roundRect">
            <a:avLst>
              <a:gd name="adj" fmla="val 4571"/>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1005840" y="2286000"/>
            <a:ext cx="2743200" cy="960120"/>
          </a:xfrm>
          <a:prstGeom prst="roundRect">
            <a:avLst>
              <a:gd name="adj" fmla="val 7619"/>
            </a:avLst>
          </a:prstGeom>
          <a:solidFill>
            <a:srgbClr val="065A82"/>
          </a:solidFill>
          <a:ln/>
        </p:spPr>
      </p:sp>
      <p:sp>
        <p:nvSpPr>
          <p:cNvPr id="7" name="Text 5"/>
          <p:cNvSpPr/>
          <p:nvPr/>
        </p:nvSpPr>
        <p:spPr>
          <a:xfrm>
            <a:off x="1005840" y="2286000"/>
            <a:ext cx="2743200"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Policy</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(training)</a:t>
            </a:r>
            <a:endParaRPr lang="en-US" sz="1300" dirty="0"/>
          </a:p>
        </p:txBody>
      </p:sp>
      <p:sp>
        <p:nvSpPr>
          <p:cNvPr id="8" name="Shape 6"/>
          <p:cNvSpPr/>
          <p:nvPr/>
        </p:nvSpPr>
        <p:spPr>
          <a:xfrm>
            <a:off x="8412480" y="2286000"/>
            <a:ext cx="2743200" cy="960120"/>
          </a:xfrm>
          <a:prstGeom prst="roundRect">
            <a:avLst>
              <a:gd name="adj" fmla="val 7619"/>
            </a:avLst>
          </a:prstGeom>
          <a:solidFill>
            <a:srgbClr val="5C7080"/>
          </a:solidFill>
          <a:ln/>
        </p:spPr>
      </p:sp>
      <p:sp>
        <p:nvSpPr>
          <p:cNvPr id="9" name="Text 7"/>
          <p:cNvSpPr/>
          <p:nvPr/>
        </p:nvSpPr>
        <p:spPr>
          <a:xfrm>
            <a:off x="8412480" y="2286000"/>
            <a:ext cx="2743200" cy="960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Reference</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(frozen copy of the model as it entered this stage)</a:t>
            </a:r>
            <a:endParaRPr lang="en-US" sz="1100" dirty="0"/>
          </a:p>
        </p:txBody>
      </p:sp>
      <p:sp>
        <p:nvSpPr>
          <p:cNvPr id="10" name="Shape 8"/>
          <p:cNvSpPr/>
          <p:nvPr/>
        </p:nvSpPr>
        <p:spPr>
          <a:xfrm>
            <a:off x="4069080" y="2478024"/>
            <a:ext cx="4023360" cy="566928"/>
          </a:xfrm>
          <a:prstGeom prst="roundRect">
            <a:avLst>
              <a:gd name="adj" fmla="val 9677"/>
            </a:avLst>
          </a:prstGeom>
          <a:solidFill>
            <a:srgbClr val="CFE8F0"/>
          </a:solidFill>
          <a:ln/>
        </p:spPr>
      </p:sp>
      <p:sp>
        <p:nvSpPr>
          <p:cNvPr id="11" name="Text 9"/>
          <p:cNvSpPr/>
          <p:nvPr/>
        </p:nvSpPr>
        <p:spPr>
          <a:xfrm>
            <a:off x="4069080" y="2478024"/>
            <a:ext cx="4023360" cy="566928"/>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penalty ∝ divergence between them</a:t>
            </a:r>
            <a:endParaRPr lang="en-US" sz="1200" dirty="0"/>
          </a:p>
        </p:txBody>
      </p:sp>
      <p:sp>
        <p:nvSpPr>
          <p:cNvPr id="12" name="Text 10"/>
          <p:cNvSpPr/>
          <p:nvPr/>
        </p:nvSpPr>
        <p:spPr>
          <a:xfrm>
            <a:off x="1005840" y="3291840"/>
            <a:ext cx="10149840" cy="292608"/>
          </a:xfrm>
          <a:prstGeom prst="rect">
            <a:avLst/>
          </a:prstGeom>
          <a:noFill/>
          <a:ln/>
        </p:spPr>
        <p:txBody>
          <a:bodyPr wrap="square" rtlCol="0" anchor="ctr"/>
          <a:lstStyle/>
          <a:p>
            <a:pPr algn="ctr" indent="0" marL="0">
              <a:lnSpc>
                <a:spcPct val="120000"/>
              </a:lnSpc>
              <a:buNone/>
            </a:pPr>
            <a:r>
              <a:rPr lang="en-US" sz="1050" dirty="0">
                <a:solidFill>
                  <a:srgbClr val="5C7080"/>
                </a:solidFill>
                <a:latin typeface="Calibri" pitchFamily="34" charset="0"/>
                <a:ea typeface="Calibri" pitchFamily="34" charset="-122"/>
                <a:cs typeface="Calibri" pitchFamily="34" charset="-120"/>
              </a:rPr>
              <a:t>Both score the same text. The penalty grows with the distance between the two token distributions — over the output distribution as a whole, not over any particular topic.</a:t>
            </a:r>
            <a:endParaRPr lang="en-US" sz="1050" dirty="0"/>
          </a:p>
        </p:txBody>
      </p:sp>
      <p:sp>
        <p:nvSpPr>
          <p:cNvPr id="13" name="Shape 11"/>
          <p:cNvSpPr/>
          <p:nvPr/>
        </p:nvSpPr>
        <p:spPr>
          <a:xfrm>
            <a:off x="548640" y="3749040"/>
            <a:ext cx="11064240" cy="1051560"/>
          </a:xfrm>
          <a:prstGeom prst="roundRect">
            <a:avLst>
              <a:gd name="adj" fmla="val 6957"/>
            </a:avLst>
          </a:prstGeom>
          <a:solidFill>
            <a:srgbClr val="E4F4EC"/>
          </a:solidFill>
          <a:ln/>
        </p:spPr>
      </p:sp>
      <p:sp>
        <p:nvSpPr>
          <p:cNvPr id="14" name="Text 12"/>
          <p:cNvSpPr/>
          <p:nvPr/>
        </p:nvSpPr>
        <p:spPr>
          <a:xfrm>
            <a:off x="868680" y="3822192"/>
            <a:ext cx="10424160" cy="310896"/>
          </a:xfrm>
          <a:prstGeom prst="rect">
            <a:avLst/>
          </a:prstGeom>
          <a:noFill/>
          <a:ln/>
        </p:spPr>
        <p:txBody>
          <a:bodyPr wrap="square" lIns="0" tIns="0" rIns="0" bIns="0" rtlCol="0" anchor="ctr"/>
          <a:lstStyle/>
          <a:p>
            <a:pPr indent="0" marL="0">
              <a:buNone/>
            </a:pPr>
            <a:r>
              <a:rPr lang="en-US" sz="1250" b="1" dirty="0">
                <a:solidFill>
                  <a:srgbClr val="14533D"/>
                </a:solidFill>
                <a:latin typeface="Calibri" pitchFamily="34" charset="0"/>
                <a:ea typeface="Calibri" pitchFamily="34" charset="-122"/>
                <a:cs typeface="Calibri" pitchFamily="34" charset="-120"/>
              </a:rPr>
              <a:t>So isn't it stopping the model from learning?</a:t>
            </a:r>
            <a:endParaRPr lang="en-US" sz="1250" dirty="0"/>
          </a:p>
        </p:txBody>
      </p:sp>
      <p:sp>
        <p:nvSpPr>
          <p:cNvPr id="15" name="Text 13"/>
          <p:cNvSpPr/>
          <p:nvPr/>
        </p:nvSpPr>
        <p:spPr>
          <a:xfrm>
            <a:off x="868680" y="4151376"/>
            <a:ext cx="10424160" cy="566928"/>
          </a:xfrm>
          <a:prstGeom prst="rect">
            <a:avLst/>
          </a:prstGeom>
          <a:noFill/>
          <a:ln/>
        </p:spPr>
        <p:txBody>
          <a:bodyPr wrap="square" rtlCol="0" anchor="ctr"/>
          <a:lstStyle/>
          <a:p>
            <a:pPr indent="0" marL="0">
              <a:lnSpc>
                <a:spcPct val="120000"/>
              </a:lnSpc>
              <a:buNone/>
            </a:pPr>
            <a:r>
              <a:rPr lang="en-US" sz="1100" dirty="0">
                <a:solidFill>
                  <a:srgbClr val="14533D"/>
                </a:solidFill>
                <a:latin typeface="Calibri" pitchFamily="34" charset="0"/>
                <a:ea typeface="Calibri" pitchFamily="34" charset="-122"/>
                <a:cs typeface="Calibri" pitchFamily="34" charset="-120"/>
              </a:rPr>
              <a:t>It does not forbid change; it prices it. A gain now has to be worth the divergence it costs. What that rules out is the cheap kind of change — the policy discovering text the scorer rates highly and a reader would not, which is precisely the region the scorer was never fitted on. Read it as a trust region for the proxy, not as a target to stay at.</a:t>
            </a:r>
            <a:endParaRPr lang="en-US" sz="1100" dirty="0"/>
          </a:p>
        </p:txBody>
      </p:sp>
      <p:sp>
        <p:nvSpPr>
          <p:cNvPr id="16" name="Shape 14"/>
          <p:cNvSpPr/>
          <p:nvPr/>
        </p:nvSpPr>
        <p:spPr>
          <a:xfrm>
            <a:off x="548640" y="4892040"/>
            <a:ext cx="352044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17" name="Text 15"/>
          <p:cNvSpPr/>
          <p:nvPr/>
        </p:nvSpPr>
        <p:spPr>
          <a:xfrm>
            <a:off x="777240" y="4992624"/>
            <a:ext cx="3063240" cy="27432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knob</a:t>
            </a:r>
            <a:endParaRPr lang="en-US" sz="1200" dirty="0"/>
          </a:p>
        </p:txBody>
      </p:sp>
      <p:sp>
        <p:nvSpPr>
          <p:cNvPr id="18" name="Text 16"/>
          <p:cNvSpPr/>
          <p:nvPr/>
        </p:nvSpPr>
        <p:spPr>
          <a:xfrm>
            <a:off x="777240" y="5285232"/>
            <a:ext cx="3063240" cy="914400"/>
          </a:xfrm>
          <a:prstGeom prst="rect">
            <a:avLst/>
          </a:prstGeom>
          <a:noFill/>
          <a:ln/>
        </p:spPr>
        <p:txBody>
          <a:bodyPr wrap="square" rtlCol="0" anchor="ctr"/>
          <a:lstStyle/>
          <a:p>
            <a:pPr indent="0" marL="0">
              <a:lnSpc>
                <a:spcPct val="116000"/>
              </a:lnSpc>
              <a:buNone/>
            </a:pPr>
            <a:r>
              <a:rPr lang="en-US" sz="950" dirty="0">
                <a:solidFill>
                  <a:srgbClr val="5C7080"/>
                </a:solidFill>
                <a:latin typeface="Calibri" pitchFamily="34" charset="0"/>
                <a:ea typeface="Calibri" pitchFamily="34" charset="-122"/>
                <a:cs typeface="Calibri" pitchFamily="34" charset="-120"/>
              </a:rPr>
              <a:t>A coefficient, conventionally β, sets the exchange rate. Large β and the model barely moves; at zero the term vanishes and nothing in the loss bounds the drift. It is a dial, not a switch, and its useful value is found empirically.</a:t>
            </a:r>
            <a:endParaRPr lang="en-US" sz="950" dirty="0"/>
          </a:p>
        </p:txBody>
      </p:sp>
      <p:sp>
        <p:nvSpPr>
          <p:cNvPr id="19" name="Shape 17"/>
          <p:cNvSpPr/>
          <p:nvPr/>
        </p:nvSpPr>
        <p:spPr>
          <a:xfrm>
            <a:off x="4325112" y="4892040"/>
            <a:ext cx="3520440" cy="1371600"/>
          </a:xfrm>
          <a:prstGeom prst="roundRect">
            <a:avLst>
              <a:gd name="adj" fmla="val 5333"/>
            </a:avLst>
          </a:prstGeom>
          <a:solidFill>
            <a:srgbClr val="F2F8FA"/>
          </a:solidFill>
          <a:ln/>
          <a:effectLst>
            <a:outerShdw sx="100000" sy="100000" kx="0" ky="0" algn="bl" rotWithShape="0" blurRad="101600" dist="25400" dir="5400000">
              <a:srgbClr val="1B2733">
                <a:alpha val="8000"/>
              </a:srgbClr>
            </a:outerShdw>
          </a:effectLst>
        </p:spPr>
      </p:sp>
      <p:sp>
        <p:nvSpPr>
          <p:cNvPr id="20" name="Text 18"/>
          <p:cNvSpPr/>
          <p:nvPr/>
        </p:nvSpPr>
        <p:spPr>
          <a:xfrm>
            <a:off x="4553712" y="4992624"/>
            <a:ext cx="3063240" cy="27432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cost</a:t>
            </a:r>
            <a:endParaRPr lang="en-US" sz="1200" dirty="0"/>
          </a:p>
        </p:txBody>
      </p:sp>
      <p:sp>
        <p:nvSpPr>
          <p:cNvPr id="21" name="Text 19"/>
          <p:cNvSpPr/>
          <p:nvPr/>
        </p:nvSpPr>
        <p:spPr>
          <a:xfrm>
            <a:off x="4553712" y="5285232"/>
            <a:ext cx="3063240" cy="914400"/>
          </a:xfrm>
          <a:prstGeom prst="rect">
            <a:avLst/>
          </a:prstGeom>
          <a:noFill/>
          <a:ln/>
        </p:spPr>
        <p:txBody>
          <a:bodyPr wrap="square" rtlCol="0" anchor="ctr"/>
          <a:lstStyle/>
          <a:p>
            <a:pPr indent="0" marL="0">
              <a:lnSpc>
                <a:spcPct val="116000"/>
              </a:lnSpc>
              <a:buNone/>
            </a:pPr>
            <a:r>
              <a:rPr lang="en-US" sz="950" dirty="0">
                <a:solidFill>
                  <a:srgbClr val="5C7080"/>
                </a:solidFill>
                <a:latin typeface="Calibri" pitchFamily="34" charset="0"/>
                <a:ea typeface="Calibri" pitchFamily="34" charset="-122"/>
                <a:cs typeface="Calibri" pitchFamily="34" charset="-120"/>
              </a:rPr>
              <a:t>A second full copy of the model in memory, and a second forward pass per batch — unless the method can avoid materializing it, which some can.</a:t>
            </a:r>
            <a:endParaRPr lang="en-US" sz="950" dirty="0"/>
          </a:p>
        </p:txBody>
      </p:sp>
      <p:sp>
        <p:nvSpPr>
          <p:cNvPr id="22" name="Shape 20"/>
          <p:cNvSpPr/>
          <p:nvPr/>
        </p:nvSpPr>
        <p:spPr>
          <a:xfrm>
            <a:off x="8101584" y="4892040"/>
            <a:ext cx="3520440" cy="1371600"/>
          </a:xfrm>
          <a:prstGeom prst="roundRect">
            <a:avLst>
              <a:gd name="adj" fmla="val 5333"/>
            </a:avLst>
          </a:prstGeom>
          <a:solidFill>
            <a:srgbClr val="EDF1FA"/>
          </a:solidFill>
          <a:ln/>
          <a:effectLst>
            <a:outerShdw sx="100000" sy="100000" kx="0" ky="0" algn="bl" rotWithShape="0" blurRad="101600" dist="25400" dir="5400000">
              <a:srgbClr val="1B2733">
                <a:alpha val="8000"/>
              </a:srgbClr>
            </a:outerShdw>
          </a:effectLst>
        </p:spPr>
      </p:sp>
      <p:sp>
        <p:nvSpPr>
          <p:cNvPr id="23" name="Text 21"/>
          <p:cNvSpPr/>
          <p:nvPr/>
        </p:nvSpPr>
        <p:spPr>
          <a:xfrm>
            <a:off x="8330184" y="4992624"/>
            <a:ext cx="3063240" cy="27432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 blunt instrument</a:t>
            </a:r>
            <a:endParaRPr lang="en-US" sz="1200" dirty="0"/>
          </a:p>
        </p:txBody>
      </p:sp>
      <p:sp>
        <p:nvSpPr>
          <p:cNvPr id="24" name="Text 22"/>
          <p:cNvSpPr/>
          <p:nvPr/>
        </p:nvSpPr>
        <p:spPr>
          <a:xfrm>
            <a:off x="8330184" y="5285232"/>
            <a:ext cx="3063240" cy="914400"/>
          </a:xfrm>
          <a:prstGeom prst="rect">
            <a:avLst/>
          </a:prstGeom>
          <a:noFill/>
          <a:ln/>
        </p:spPr>
        <p:txBody>
          <a:bodyPr wrap="square" rtlCol="0" anchor="ctr"/>
          <a:lstStyle/>
          <a:p>
            <a:pPr indent="0" marL="0">
              <a:lnSpc>
                <a:spcPct val="116000"/>
              </a:lnSpc>
              <a:buNone/>
            </a:pPr>
            <a:r>
              <a:rPr lang="en-US" sz="950" dirty="0">
                <a:solidFill>
                  <a:srgbClr val="5C7080"/>
                </a:solidFill>
                <a:latin typeface="Calibri" pitchFamily="34" charset="0"/>
                <a:ea typeface="Calibri" pitchFamily="34" charset="-122"/>
                <a:cs typeface="Calibri" pitchFamily="34" charset="-120"/>
              </a:rPr>
              <a:t>It cannot separate useful drift from harmful drift: it is one scalar over the whole distribution. You cannot ask it to hold register fixed while letting reasoning improve. That selectivity is exactly what it does not have.</a:t>
            </a:r>
            <a:endParaRPr lang="en-US" sz="950" dirty="0"/>
          </a:p>
        </p:txBody>
      </p:sp>
      <p:sp>
        <p:nvSpPr>
          <p:cNvPr id="25" name="Text 23"/>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6" name="Text 24"/>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COMING BACK TO IT</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Six Ideas, and Where Each One Surfaces</a:t>
            </a:r>
            <a:endParaRPr lang="en-US" sz="3000" dirty="0"/>
          </a:p>
        </p:txBody>
      </p:sp>
      <p:sp>
        <p:nvSpPr>
          <p:cNvPr id="4" name="Text 2"/>
          <p:cNvSpPr/>
          <p:nvPr/>
        </p:nvSpPr>
        <p:spPr>
          <a:xfrm>
            <a:off x="548640" y="1417320"/>
            <a:ext cx="11064240" cy="365760"/>
          </a:xfrm>
          <a:prstGeom prst="rect">
            <a:avLst/>
          </a:prstGeom>
          <a:noFill/>
          <a:ln/>
        </p:spPr>
        <p:txBody>
          <a:bodyPr wrap="square" rtlCol="0" anchor="ctr"/>
          <a:lstStyle/>
          <a:p>
            <a:pPr indent="0" marL="0">
              <a:lnSpc>
                <a:spcPct val="120000"/>
              </a:lnSpc>
              <a:buNone/>
            </a:pPr>
            <a:r>
              <a:rPr lang="en-US" sz="1250" dirty="0">
                <a:solidFill>
                  <a:srgbClr val="9FC3D9"/>
                </a:solidFill>
                <a:latin typeface="Calibri" pitchFamily="34" charset="0"/>
                <a:ea typeface="Calibri" pitchFamily="34" charset="-122"/>
                <a:cs typeface="Calibri" pitchFamily="34" charset="-120"/>
              </a:rPr>
              <a:t>Each background idea has a specific address in the repository.</a:t>
            </a:r>
            <a:endParaRPr lang="en-US" sz="1250" dirty="0"/>
          </a:p>
        </p:txBody>
      </p:sp>
      <p:sp>
        <p:nvSpPr>
          <p:cNvPr id="5" name="Shape 3"/>
          <p:cNvSpPr/>
          <p:nvPr/>
        </p:nvSpPr>
        <p:spPr>
          <a:xfrm>
            <a:off x="548640" y="1965960"/>
            <a:ext cx="11064240" cy="576072"/>
          </a:xfrm>
          <a:prstGeom prst="roundRect">
            <a:avLst>
              <a:gd name="adj" fmla="val 9524"/>
            </a:avLst>
          </a:prstGeom>
          <a:solidFill>
            <a:srgbClr val="21295C"/>
          </a:solidFill>
          <a:ln/>
        </p:spPr>
      </p:sp>
      <p:sp>
        <p:nvSpPr>
          <p:cNvPr id="6" name="Shape 4"/>
          <p:cNvSpPr/>
          <p:nvPr/>
        </p:nvSpPr>
        <p:spPr>
          <a:xfrm>
            <a:off x="777240" y="2084832"/>
            <a:ext cx="384048" cy="384048"/>
          </a:xfrm>
          <a:prstGeom prst="ellipse">
            <a:avLst/>
          </a:prstGeom>
          <a:solidFill>
            <a:srgbClr val="1C7293"/>
          </a:solidFill>
          <a:ln/>
        </p:spPr>
      </p:sp>
      <p:sp>
        <p:nvSpPr>
          <p:cNvPr id="7" name="Text 5"/>
          <p:cNvSpPr/>
          <p:nvPr/>
        </p:nvSpPr>
        <p:spPr>
          <a:xfrm>
            <a:off x="777240" y="20848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8" name="Text 6"/>
          <p:cNvSpPr/>
          <p:nvPr/>
        </p:nvSpPr>
        <p:spPr>
          <a:xfrm>
            <a:off x="1325880" y="1965960"/>
            <a:ext cx="3017520" cy="5760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Three kinds of signal</a:t>
            </a:r>
            <a:endParaRPr lang="en-US" sz="1200" dirty="0"/>
          </a:p>
        </p:txBody>
      </p:sp>
      <p:sp>
        <p:nvSpPr>
          <p:cNvPr id="9" name="Text 7"/>
          <p:cNvSpPr/>
          <p:nvPr/>
        </p:nvSpPr>
        <p:spPr>
          <a:xfrm>
            <a:off x="4480560" y="1965960"/>
            <a:ext cx="6949440" cy="576072"/>
          </a:xfrm>
          <a:prstGeom prst="rect">
            <a:avLst/>
          </a:prstGeom>
          <a:noFill/>
          <a:ln/>
        </p:spPr>
        <p:txBody>
          <a:bodyPr wrap="square" lIns="0" tIns="0" rIns="0" bIns="0"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The organizing axis of the whole library — it's why there are six trainer classes and not one.</a:t>
            </a:r>
            <a:endParaRPr lang="en-US" sz="1050" dirty="0"/>
          </a:p>
        </p:txBody>
      </p:sp>
      <p:sp>
        <p:nvSpPr>
          <p:cNvPr id="10" name="Shape 8"/>
          <p:cNvSpPr/>
          <p:nvPr/>
        </p:nvSpPr>
        <p:spPr>
          <a:xfrm>
            <a:off x="548640" y="2624328"/>
            <a:ext cx="11064240" cy="576072"/>
          </a:xfrm>
          <a:prstGeom prst="roundRect">
            <a:avLst>
              <a:gd name="adj" fmla="val 9524"/>
            </a:avLst>
          </a:prstGeom>
          <a:solidFill>
            <a:srgbClr val="21295C"/>
          </a:solidFill>
          <a:ln/>
        </p:spPr>
      </p:sp>
      <p:sp>
        <p:nvSpPr>
          <p:cNvPr id="11" name="Shape 9"/>
          <p:cNvSpPr/>
          <p:nvPr/>
        </p:nvSpPr>
        <p:spPr>
          <a:xfrm>
            <a:off x="777240" y="2743200"/>
            <a:ext cx="384048" cy="384048"/>
          </a:xfrm>
          <a:prstGeom prst="ellipse">
            <a:avLst/>
          </a:prstGeom>
          <a:solidFill>
            <a:srgbClr val="1C7293"/>
          </a:solidFill>
          <a:ln/>
        </p:spPr>
      </p:sp>
      <p:sp>
        <p:nvSpPr>
          <p:cNvPr id="12" name="Text 10"/>
          <p:cNvSpPr/>
          <p:nvPr/>
        </p:nvSpPr>
        <p:spPr>
          <a:xfrm>
            <a:off x="777240" y="27432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3" name="Text 11"/>
          <p:cNvSpPr/>
          <p:nvPr/>
        </p:nvSpPr>
        <p:spPr>
          <a:xfrm>
            <a:off x="1325880" y="2624328"/>
            <a:ext cx="3017520" cy="5760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Reward models</a:t>
            </a:r>
            <a:endParaRPr lang="en-US" sz="1200" dirty="0"/>
          </a:p>
        </p:txBody>
      </p:sp>
      <p:sp>
        <p:nvSpPr>
          <p:cNvPr id="14" name="Text 12"/>
          <p:cNvSpPr/>
          <p:nvPr/>
        </p:nvSpPr>
        <p:spPr>
          <a:xfrm>
            <a:off x="4480560" y="2624328"/>
            <a:ext cx="6949440" cy="576072"/>
          </a:xfrm>
          <a:prstGeom prst="rect">
            <a:avLst/>
          </a:prstGeom>
          <a:noFill/>
          <a:ln/>
        </p:spPr>
        <p:txBody>
          <a:bodyPr wrap="square" lIns="0" tIns="0" rIns="0" bIns="0"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RewardTrainer, and its loss is a single line you can read on slide 17.</a:t>
            </a:r>
            <a:endParaRPr lang="en-US" sz="1050" dirty="0"/>
          </a:p>
        </p:txBody>
      </p:sp>
      <p:sp>
        <p:nvSpPr>
          <p:cNvPr id="15" name="Shape 13"/>
          <p:cNvSpPr/>
          <p:nvPr/>
        </p:nvSpPr>
        <p:spPr>
          <a:xfrm>
            <a:off x="548640" y="3282696"/>
            <a:ext cx="11064240" cy="576072"/>
          </a:xfrm>
          <a:prstGeom prst="roundRect">
            <a:avLst>
              <a:gd name="adj" fmla="val 9524"/>
            </a:avLst>
          </a:prstGeom>
          <a:solidFill>
            <a:srgbClr val="21295C"/>
          </a:solidFill>
          <a:ln/>
        </p:spPr>
      </p:sp>
      <p:sp>
        <p:nvSpPr>
          <p:cNvPr id="16" name="Shape 14"/>
          <p:cNvSpPr/>
          <p:nvPr/>
        </p:nvSpPr>
        <p:spPr>
          <a:xfrm>
            <a:off x="777240" y="3401568"/>
            <a:ext cx="384048" cy="384048"/>
          </a:xfrm>
          <a:prstGeom prst="ellipse">
            <a:avLst/>
          </a:prstGeom>
          <a:solidFill>
            <a:srgbClr val="1C7293"/>
          </a:solidFill>
          <a:ln/>
        </p:spPr>
      </p:sp>
      <p:sp>
        <p:nvSpPr>
          <p:cNvPr id="17" name="Text 15"/>
          <p:cNvSpPr/>
          <p:nvPr/>
        </p:nvSpPr>
        <p:spPr>
          <a:xfrm>
            <a:off x="777240" y="340156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p:nvPr/>
        </p:nvSpPr>
        <p:spPr>
          <a:xfrm>
            <a:off x="1325880" y="3282696"/>
            <a:ext cx="3017520" cy="5760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Data formats</a:t>
            </a:r>
            <a:endParaRPr lang="en-US" sz="1200" dirty="0"/>
          </a:p>
        </p:txBody>
      </p:sp>
      <p:sp>
        <p:nvSpPr>
          <p:cNvPr id="19" name="Text 17"/>
          <p:cNvSpPr/>
          <p:nvPr/>
        </p:nvSpPr>
        <p:spPr>
          <a:xfrm>
            <a:off x="4480560" y="3282696"/>
            <a:ext cx="6949440" cy="576072"/>
          </a:xfrm>
          <a:prstGeom prst="rect">
            <a:avLst/>
          </a:prstGeom>
          <a:noFill/>
          <a:ln/>
        </p:spPr>
        <p:txBody>
          <a:bodyPr wrap="square" lIns="0" tIns="0" rIns="0" bIns="0"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The documented trainer→dataset-type table. Choosing a method is mostly choosing a data format.</a:t>
            </a:r>
            <a:endParaRPr lang="en-US" sz="1050" dirty="0"/>
          </a:p>
        </p:txBody>
      </p:sp>
      <p:sp>
        <p:nvSpPr>
          <p:cNvPr id="20" name="Shape 18"/>
          <p:cNvSpPr/>
          <p:nvPr/>
        </p:nvSpPr>
        <p:spPr>
          <a:xfrm>
            <a:off x="548640" y="3941064"/>
            <a:ext cx="11064240" cy="576072"/>
          </a:xfrm>
          <a:prstGeom prst="roundRect">
            <a:avLst>
              <a:gd name="adj" fmla="val 9524"/>
            </a:avLst>
          </a:prstGeom>
          <a:solidFill>
            <a:srgbClr val="21295C"/>
          </a:solidFill>
          <a:ln/>
        </p:spPr>
      </p:sp>
      <p:sp>
        <p:nvSpPr>
          <p:cNvPr id="21" name="Shape 19"/>
          <p:cNvSpPr/>
          <p:nvPr/>
        </p:nvSpPr>
        <p:spPr>
          <a:xfrm>
            <a:off x="777240" y="4059936"/>
            <a:ext cx="384048" cy="384048"/>
          </a:xfrm>
          <a:prstGeom prst="ellipse">
            <a:avLst/>
          </a:prstGeom>
          <a:solidFill>
            <a:srgbClr val="1C7293"/>
          </a:solidFill>
          <a:ln/>
        </p:spPr>
      </p:sp>
      <p:sp>
        <p:nvSpPr>
          <p:cNvPr id="22" name="Text 20"/>
          <p:cNvSpPr/>
          <p:nvPr/>
        </p:nvSpPr>
        <p:spPr>
          <a:xfrm>
            <a:off x="777240" y="40599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3" name="Text 21"/>
          <p:cNvSpPr/>
          <p:nvPr/>
        </p:nvSpPr>
        <p:spPr>
          <a:xfrm>
            <a:off x="1325880" y="3941064"/>
            <a:ext cx="3017520" cy="5760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 vs off-policy</a:t>
            </a:r>
            <a:endParaRPr lang="en-US" sz="1200" dirty="0"/>
          </a:p>
        </p:txBody>
      </p:sp>
      <p:sp>
        <p:nvSpPr>
          <p:cNvPr id="24" name="Text 22"/>
          <p:cNvSpPr/>
          <p:nvPr/>
        </p:nvSpPr>
        <p:spPr>
          <a:xfrm>
            <a:off x="4480560" y="3941064"/>
            <a:ext cx="6949440" cy="576072"/>
          </a:xfrm>
          <a:prstGeom prst="rect">
            <a:avLst/>
          </a:prstGeom>
          <a:noFill/>
          <a:ln/>
        </p:spPr>
        <p:txBody>
          <a:bodyPr wrap="square" lIns="0" tIns="0" rIns="0" bIns="0"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Visible structurally: which trainers generate inside the training step and which don't.</a:t>
            </a:r>
            <a:endParaRPr lang="en-US" sz="1050" dirty="0"/>
          </a:p>
        </p:txBody>
      </p:sp>
      <p:sp>
        <p:nvSpPr>
          <p:cNvPr id="25" name="Shape 23"/>
          <p:cNvSpPr/>
          <p:nvPr/>
        </p:nvSpPr>
        <p:spPr>
          <a:xfrm>
            <a:off x="548640" y="4599432"/>
            <a:ext cx="11064240" cy="576072"/>
          </a:xfrm>
          <a:prstGeom prst="roundRect">
            <a:avLst>
              <a:gd name="adj" fmla="val 9524"/>
            </a:avLst>
          </a:prstGeom>
          <a:solidFill>
            <a:srgbClr val="21295C"/>
          </a:solidFill>
          <a:ln/>
        </p:spPr>
      </p:sp>
      <p:sp>
        <p:nvSpPr>
          <p:cNvPr id="26" name="Shape 24"/>
          <p:cNvSpPr/>
          <p:nvPr/>
        </p:nvSpPr>
        <p:spPr>
          <a:xfrm>
            <a:off x="777240" y="4718304"/>
            <a:ext cx="384048" cy="384048"/>
          </a:xfrm>
          <a:prstGeom prst="ellipse">
            <a:avLst/>
          </a:prstGeom>
          <a:solidFill>
            <a:srgbClr val="1C7293"/>
          </a:solidFill>
          <a:ln/>
        </p:spPr>
      </p:sp>
      <p:sp>
        <p:nvSpPr>
          <p:cNvPr id="27" name="Text 25"/>
          <p:cNvSpPr/>
          <p:nvPr/>
        </p:nvSpPr>
        <p:spPr>
          <a:xfrm>
            <a:off x="777240" y="47183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28" name="Text 26"/>
          <p:cNvSpPr/>
          <p:nvPr/>
        </p:nvSpPr>
        <p:spPr>
          <a:xfrm>
            <a:off x="1325880" y="4599432"/>
            <a:ext cx="3017520" cy="5760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Verifiable rewards</a:t>
            </a:r>
            <a:endParaRPr lang="en-US" sz="1200" dirty="0"/>
          </a:p>
        </p:txBody>
      </p:sp>
      <p:sp>
        <p:nvSpPr>
          <p:cNvPr id="29" name="Text 27"/>
          <p:cNvSpPr/>
          <p:nvPr/>
        </p:nvSpPr>
        <p:spPr>
          <a:xfrm>
            <a:off x="4480560" y="4599432"/>
            <a:ext cx="6949440" cy="576072"/>
          </a:xfrm>
          <a:prstGeom prst="rect">
            <a:avLst/>
          </a:prstGeom>
          <a:noFill/>
          <a:ln/>
        </p:spPr>
        <p:txBody>
          <a:bodyPr wrap="square" lIns="0" tIns="0" rIns="0" bIns="0"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trl/rewards/ — reward functions shipped as ordinary Python, passed straight to a trainer.</a:t>
            </a:r>
            <a:endParaRPr lang="en-US" sz="1050" dirty="0"/>
          </a:p>
        </p:txBody>
      </p:sp>
      <p:sp>
        <p:nvSpPr>
          <p:cNvPr id="30" name="Shape 28"/>
          <p:cNvSpPr/>
          <p:nvPr/>
        </p:nvSpPr>
        <p:spPr>
          <a:xfrm>
            <a:off x="548640" y="5257800"/>
            <a:ext cx="11064240" cy="576072"/>
          </a:xfrm>
          <a:prstGeom prst="roundRect">
            <a:avLst>
              <a:gd name="adj" fmla="val 9524"/>
            </a:avLst>
          </a:prstGeom>
          <a:solidFill>
            <a:srgbClr val="21295C"/>
          </a:solidFill>
          <a:ln/>
        </p:spPr>
      </p:sp>
      <p:sp>
        <p:nvSpPr>
          <p:cNvPr id="31" name="Shape 29"/>
          <p:cNvSpPr/>
          <p:nvPr/>
        </p:nvSpPr>
        <p:spPr>
          <a:xfrm>
            <a:off x="777240" y="5376672"/>
            <a:ext cx="384048" cy="384048"/>
          </a:xfrm>
          <a:prstGeom prst="ellipse">
            <a:avLst/>
          </a:prstGeom>
          <a:solidFill>
            <a:srgbClr val="1C7293"/>
          </a:solidFill>
          <a:ln/>
        </p:spPr>
      </p:sp>
      <p:sp>
        <p:nvSpPr>
          <p:cNvPr id="32" name="Text 30"/>
          <p:cNvSpPr/>
          <p:nvPr/>
        </p:nvSpPr>
        <p:spPr>
          <a:xfrm>
            <a:off x="777240" y="537667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3" name="Text 31"/>
          <p:cNvSpPr/>
          <p:nvPr/>
        </p:nvSpPr>
        <p:spPr>
          <a:xfrm>
            <a:off x="1325880" y="5257800"/>
            <a:ext cx="3017520" cy="57607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The anchor</a:t>
            </a:r>
            <a:endParaRPr lang="en-US" sz="1200" dirty="0"/>
          </a:p>
        </p:txBody>
      </p:sp>
      <p:sp>
        <p:nvSpPr>
          <p:cNvPr id="34" name="Text 32"/>
          <p:cNvSpPr/>
          <p:nvPr/>
        </p:nvSpPr>
        <p:spPr>
          <a:xfrm>
            <a:off x="4480560" y="5257800"/>
            <a:ext cx="6949440" cy="576072"/>
          </a:xfrm>
          <a:prstGeom prst="rect">
            <a:avLst/>
          </a:prstGeom>
          <a:noFill/>
          <a:ln/>
        </p:spPr>
        <p:txBody>
          <a:bodyPr wrap="square" lIns="0" tIns="0" rIns="0" bIns="0" rtlCol="0" anchor="ctr"/>
          <a:lstStyle/>
          <a:p>
            <a:pPr indent="0" marL="0">
              <a:lnSpc>
                <a:spcPct val="110000"/>
              </a:lnSpc>
              <a:buNone/>
            </a:pPr>
            <a:r>
              <a:rPr lang="en-US" sz="1050" dirty="0">
                <a:solidFill>
                  <a:srgbClr val="9FC3D9"/>
                </a:solidFill>
                <a:latin typeface="Calibri" pitchFamily="34" charset="0"/>
                <a:ea typeface="Calibri" pitchFamily="34" charset="-122"/>
                <a:cs typeface="Calibri" pitchFamily="34" charset="-120"/>
              </a:rPr>
              <a:t>A β parameter on nearly every config, and compute_ref_log_probs() on the offline trainers.</a:t>
            </a:r>
            <a:endParaRPr lang="en-US" sz="1050" dirty="0"/>
          </a:p>
        </p:txBody>
      </p:sp>
      <p:sp>
        <p:nvSpPr>
          <p:cNvPr id="35" name="Text 33"/>
          <p:cNvSpPr/>
          <p:nvPr/>
        </p:nvSpPr>
        <p:spPr>
          <a:xfrm>
            <a:off x="548640" y="5943600"/>
            <a:ext cx="7589520" cy="320040"/>
          </a:xfrm>
          <a:prstGeom prst="rect">
            <a:avLst/>
          </a:prstGeom>
          <a:noFill/>
          <a:ln/>
        </p:spPr>
        <p:txBody>
          <a:bodyPr wrap="square" lIns="0" tIns="0" rIns="0" bIns="0" rtlCol="0" anchor="ctr"/>
          <a:lstStyle/>
          <a:p>
            <a:pPr indent="0" marL="0">
              <a:buNone/>
            </a:pPr>
            <a:r>
              <a:rPr lang="en-US" sz="1050" i="1" dirty="0">
                <a:solidFill>
                  <a:srgbClr val="8FA8C2"/>
                </a:solidFill>
                <a:latin typeface="Calibri" pitchFamily="34" charset="0"/>
                <a:ea typeface="Calibri" pitchFamily="34" charset="-122"/>
                <a:cs typeface="Calibri" pitchFamily="34" charset="-120"/>
              </a:rPr>
              <a:t>From here on, slides carry a green pill like this one when they lean on something taught above.</a:t>
            </a:r>
            <a:endParaRPr lang="en-US" sz="1050" dirty="0"/>
          </a:p>
        </p:txBody>
      </p:sp>
      <p:sp>
        <p:nvSpPr>
          <p:cNvPr id="36" name="Shape 34"/>
          <p:cNvSpPr/>
          <p:nvPr/>
        </p:nvSpPr>
        <p:spPr>
          <a:xfrm>
            <a:off x="8321040" y="5961888"/>
            <a:ext cx="3291840" cy="292608"/>
          </a:xfrm>
          <a:prstGeom prst="roundRect">
            <a:avLst>
              <a:gd name="adj" fmla="val 15625"/>
            </a:avLst>
          </a:prstGeom>
          <a:solidFill>
            <a:srgbClr val="E4F4EC"/>
          </a:solidFill>
          <a:ln/>
        </p:spPr>
      </p:sp>
      <p:sp>
        <p:nvSpPr>
          <p:cNvPr id="37" name="Text 35"/>
          <p:cNvSpPr/>
          <p:nvPr/>
        </p:nvSpPr>
        <p:spPr>
          <a:xfrm>
            <a:off x="8321040" y="5961888"/>
            <a:ext cx="329184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4, Reward models</a:t>
            </a:r>
            <a:endParaRPr lang="en-US" sz="950" dirty="0"/>
          </a:p>
        </p:txBody>
      </p:sp>
      <p:sp>
        <p:nvSpPr>
          <p:cNvPr id="38" name="Text 3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TRL  ·  AI SEMINAR, LECTURE 4</a:t>
            </a:r>
            <a:endParaRPr lang="en-US" sz="900" dirty="0"/>
          </a:p>
        </p:txBody>
      </p:sp>
      <p:sp>
        <p:nvSpPr>
          <p:cNvPr id="39" name="Text 3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TOOL</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TRL — Transformer Reinforcement Learning</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Maintained by Hugging Face. The README describes it as </a:t>
            </a:r>
            <a:pPr indent="0" marL="0">
              <a:lnSpc>
                <a:spcPct val="120000"/>
              </a:lnSpc>
              <a:buNone/>
            </a:pPr>
            <a:r>
              <a:rPr lang="en-US" sz="1350" i="1" dirty="0">
                <a:solidFill>
                  <a:srgbClr val="1B2733"/>
                </a:solidFill>
                <a:latin typeface="Calibri" pitchFamily="34" charset="0"/>
                <a:ea typeface="Calibri" pitchFamily="34" charset="-122"/>
                <a:cs typeface="Calibri" pitchFamily="34" charset="-120"/>
              </a:rPr>
              <a:t>“a comprehensive library to post-train foundation models”</a:t>
            </a:r>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 — a wider claim than the name makes. RL is one family of post-training methods, and several trainers here involve none of it. The acronym records where the project started, not what it covers.</a:t>
            </a:r>
            <a:endParaRPr lang="en-US" sz="1350" dirty="0"/>
          </a:p>
        </p:txBody>
      </p:sp>
      <p:sp>
        <p:nvSpPr>
          <p:cNvPr id="5" name="Shape 3"/>
          <p:cNvSpPr/>
          <p:nvPr/>
        </p:nvSpPr>
        <p:spPr>
          <a:xfrm>
            <a:off x="548640" y="2148840"/>
            <a:ext cx="5349240"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404872"/>
            <a:ext cx="502920" cy="502920"/>
          </a:xfrm>
          <a:prstGeom prst="ellipse">
            <a:avLst/>
          </a:prstGeom>
          <a:solidFill>
            <a:srgbClr val="065A82"/>
          </a:solidFill>
          <a:ln/>
        </p:spPr>
      </p:sp>
      <p:pic>
        <p:nvPicPr>
          <p:cNvPr id="7" name="Image 0" descr="/home/claude/icons/cubes.png">    </p:cNvPr>
          <p:cNvPicPr>
            <a:picLocks noChangeAspect="1"/>
          </p:cNvPicPr>
          <p:nvPr/>
        </p:nvPicPr>
        <p:blipFill>
          <a:blip r:embed="rId1"/>
          <a:stretch>
            <a:fillRect/>
          </a:stretch>
        </p:blipFill>
        <p:spPr>
          <a:xfrm>
            <a:off x="935431" y="2535631"/>
            <a:ext cx="241402" cy="241402"/>
          </a:xfrm>
          <a:prstGeom prst="rect">
            <a:avLst/>
          </a:prstGeom>
        </p:spPr>
      </p:pic>
      <p:sp>
        <p:nvSpPr>
          <p:cNvPr id="8" name="Text 5"/>
          <p:cNvSpPr/>
          <p:nvPr/>
        </p:nvSpPr>
        <p:spPr>
          <a:xfrm>
            <a:off x="1463040" y="2404872"/>
            <a:ext cx="4206240" cy="50292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Six stable trainers</a:t>
            </a:r>
            <a:endParaRPr lang="en-US" sz="1350" dirty="0"/>
          </a:p>
        </p:txBody>
      </p:sp>
      <p:sp>
        <p:nvSpPr>
          <p:cNvPr id="9" name="Text 6"/>
          <p:cNvSpPr/>
          <p:nvPr/>
        </p:nvSpPr>
        <p:spPr>
          <a:xfrm>
            <a:off x="804672" y="2990088"/>
            <a:ext cx="4846320" cy="50292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SFT, Reward, DPO, KTO, GRPO, RLOO — one class each, plus a matching config dataclass.</a:t>
            </a:r>
            <a:endParaRPr lang="en-US" sz="1050" dirty="0"/>
          </a:p>
        </p:txBody>
      </p:sp>
      <p:sp>
        <p:nvSpPr>
          <p:cNvPr id="10" name="Shape 7"/>
          <p:cNvSpPr/>
          <p:nvPr/>
        </p:nvSpPr>
        <p:spPr>
          <a:xfrm>
            <a:off x="6263640" y="2148840"/>
            <a:ext cx="5349240"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519672" y="2404872"/>
            <a:ext cx="502920" cy="502920"/>
          </a:xfrm>
          <a:prstGeom prst="ellipse">
            <a:avLst/>
          </a:prstGeom>
          <a:solidFill>
            <a:srgbClr val="1C7293"/>
          </a:solidFill>
          <a:ln/>
        </p:spPr>
      </p:sp>
      <p:pic>
        <p:nvPicPr>
          <p:cNvPr id="12" name="Image 1" descr="/home/claude/icons/layers.png">    </p:cNvPr>
          <p:cNvPicPr>
            <a:picLocks noChangeAspect="1"/>
          </p:cNvPicPr>
          <p:nvPr/>
        </p:nvPicPr>
        <p:blipFill>
          <a:blip r:embed="rId2"/>
          <a:stretch>
            <a:fillRect/>
          </a:stretch>
        </p:blipFill>
        <p:spPr>
          <a:xfrm>
            <a:off x="6650431" y="2535631"/>
            <a:ext cx="241402" cy="241402"/>
          </a:xfrm>
          <a:prstGeom prst="rect">
            <a:avLst/>
          </a:prstGeom>
        </p:spPr>
      </p:pic>
      <p:sp>
        <p:nvSpPr>
          <p:cNvPr id="13" name="Text 9"/>
          <p:cNvSpPr/>
          <p:nvPr/>
        </p:nvSpPr>
        <p:spPr>
          <a:xfrm>
            <a:off x="7178040" y="2404872"/>
            <a:ext cx="4206240" cy="50292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Built on Transformers</a:t>
            </a:r>
            <a:endParaRPr lang="en-US" sz="1350" dirty="0"/>
          </a:p>
        </p:txBody>
      </p:sp>
      <p:sp>
        <p:nvSpPr>
          <p:cNvPr id="14" name="Text 10"/>
          <p:cNvSpPr/>
          <p:nvPr/>
        </p:nvSpPr>
        <p:spPr>
          <a:xfrm>
            <a:off x="6519672" y="2990088"/>
            <a:ext cx="4846320" cy="50292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Each trainer is a thin subclass of the Transformers Trainer, so Accelerate, DeepSpeed, FSDP and PEFT all work unchanged.</a:t>
            </a:r>
            <a:endParaRPr lang="en-US" sz="1050" dirty="0"/>
          </a:p>
        </p:txBody>
      </p:sp>
      <p:sp>
        <p:nvSpPr>
          <p:cNvPr id="15" name="Shape 11"/>
          <p:cNvSpPr/>
          <p:nvPr/>
        </p:nvSpPr>
        <p:spPr>
          <a:xfrm>
            <a:off x="548640" y="3749040"/>
            <a:ext cx="5349240"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04672" y="4005072"/>
            <a:ext cx="502920" cy="502920"/>
          </a:xfrm>
          <a:prstGeom prst="ellipse">
            <a:avLst/>
          </a:prstGeom>
          <a:solidFill>
            <a:srgbClr val="21295C"/>
          </a:solidFill>
          <a:ln/>
        </p:spPr>
      </p:sp>
      <p:pic>
        <p:nvPicPr>
          <p:cNvPr id="17" name="Image 2" descr="/home/claude/icons/branch.png">    </p:cNvPr>
          <p:cNvPicPr>
            <a:picLocks noChangeAspect="1"/>
          </p:cNvPicPr>
          <p:nvPr/>
        </p:nvPicPr>
        <p:blipFill>
          <a:blip r:embed="rId3"/>
          <a:stretch>
            <a:fillRect/>
          </a:stretch>
        </p:blipFill>
        <p:spPr>
          <a:xfrm>
            <a:off x="935431" y="4135831"/>
            <a:ext cx="241402" cy="241402"/>
          </a:xfrm>
          <a:prstGeom prst="rect">
            <a:avLst/>
          </a:prstGeom>
        </p:spPr>
      </p:pic>
      <p:sp>
        <p:nvSpPr>
          <p:cNvPr id="18" name="Text 13"/>
          <p:cNvSpPr/>
          <p:nvPr/>
        </p:nvSpPr>
        <p:spPr>
          <a:xfrm>
            <a:off x="1463040" y="4005072"/>
            <a:ext cx="4206240" cy="50292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Apache 2.0, version 1.10.0.dev0</a:t>
            </a:r>
            <a:endParaRPr lang="en-US" sz="1350" dirty="0"/>
          </a:p>
        </p:txBody>
      </p:sp>
      <p:sp>
        <p:nvSpPr>
          <p:cNvPr id="19" name="Text 14"/>
          <p:cNvSpPr/>
          <p:nvPr/>
        </p:nvSpPr>
        <p:spPr>
          <a:xfrm>
            <a:off x="804672" y="4590288"/>
            <a:ext cx="4846320" cy="50292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Past its 1.0, with a written migration guide for the v0→v1 breaking changes.</a:t>
            </a:r>
            <a:endParaRPr lang="en-US" sz="1050" dirty="0"/>
          </a:p>
        </p:txBody>
      </p:sp>
      <p:sp>
        <p:nvSpPr>
          <p:cNvPr id="20" name="Shape 15"/>
          <p:cNvSpPr/>
          <p:nvPr/>
        </p:nvSpPr>
        <p:spPr>
          <a:xfrm>
            <a:off x="6263640" y="3749040"/>
            <a:ext cx="5349240" cy="1417320"/>
          </a:xfrm>
          <a:prstGeom prst="roundRect">
            <a:avLst>
              <a:gd name="adj" fmla="val 5161"/>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6519672" y="4005072"/>
            <a:ext cx="502920" cy="502920"/>
          </a:xfrm>
          <a:prstGeom prst="ellipse">
            <a:avLst/>
          </a:prstGeom>
          <a:solidFill>
            <a:srgbClr val="1E7A5F"/>
          </a:solidFill>
          <a:ln/>
        </p:spPr>
      </p:sp>
      <p:pic>
        <p:nvPicPr>
          <p:cNvPr id="22" name="Image 3" descr="/home/claude/icons/chip.png">    </p:cNvPr>
          <p:cNvPicPr>
            <a:picLocks noChangeAspect="1"/>
          </p:cNvPicPr>
          <p:nvPr/>
        </p:nvPicPr>
        <p:blipFill>
          <a:blip r:embed="rId4"/>
          <a:stretch>
            <a:fillRect/>
          </a:stretch>
        </p:blipFill>
        <p:spPr>
          <a:xfrm>
            <a:off x="6650431" y="4135831"/>
            <a:ext cx="241402" cy="241402"/>
          </a:xfrm>
          <a:prstGeom prst="rect">
            <a:avLst/>
          </a:prstGeom>
        </p:spPr>
      </p:pic>
      <p:sp>
        <p:nvSpPr>
          <p:cNvPr id="23" name="Text 17"/>
          <p:cNvSpPr/>
          <p:nvPr/>
        </p:nvSpPr>
        <p:spPr>
          <a:xfrm>
            <a:off x="7178040" y="4005072"/>
            <a:ext cx="4206240" cy="502920"/>
          </a:xfrm>
          <a:prstGeom prst="rect">
            <a:avLst/>
          </a:prstGeom>
          <a:noFill/>
          <a:ln/>
        </p:spPr>
        <p:txBody>
          <a:bodyPr wrap="square" lIns="0" tIns="0" rIns="0" bIns="0" rtlCol="0" anchor="ctr"/>
          <a:lstStyle/>
          <a:p>
            <a:pPr indent="0" marL="0">
              <a:buNone/>
            </a:pPr>
            <a:r>
              <a:rPr lang="en-US" sz="1350" b="1" dirty="0">
                <a:solidFill>
                  <a:srgbClr val="1B2733"/>
                </a:solidFill>
                <a:latin typeface="Calibri" pitchFamily="34" charset="0"/>
                <a:ea typeface="Calibri" pitchFamily="34" charset="-122"/>
                <a:cs typeface="Calibri" pitchFamily="34" charset="-120"/>
              </a:rPr>
              <a:t>Actively moving</a:t>
            </a:r>
            <a:endParaRPr lang="en-US" sz="1350" dirty="0"/>
          </a:p>
        </p:txBody>
      </p:sp>
      <p:sp>
        <p:nvSpPr>
          <p:cNvPr id="24" name="Text 18"/>
          <p:cNvSpPr/>
          <p:nvPr/>
        </p:nvSpPr>
        <p:spPr>
          <a:xfrm>
            <a:off x="6519672" y="4590288"/>
            <a:ext cx="4846320" cy="502920"/>
          </a:xfrm>
          <a:prstGeom prst="rect">
            <a:avLst/>
          </a:prstGeom>
          <a:noFill/>
          <a:ln/>
        </p:spPr>
        <p:txBody>
          <a:bodyPr wrap="square" rtlCol="0" anchor="ctr"/>
          <a:lstStyle/>
          <a:p>
            <a:pPr indent="0" marL="0">
              <a:lnSpc>
                <a:spcPct val="118000"/>
              </a:lnSpc>
              <a:buNone/>
            </a:pPr>
            <a:r>
              <a:rPr lang="en-US" sz="1050" dirty="0">
                <a:solidFill>
                  <a:srgbClr val="5C7080"/>
                </a:solidFill>
                <a:latin typeface="Calibri" pitchFamily="34" charset="0"/>
                <a:ea typeface="Calibri" pitchFamily="34" charset="-122"/>
                <a:cs typeface="Calibri" pitchFamily="34" charset="-120"/>
              </a:rPr>
              <a:t>Commits land daily. 86 issues were open on 8 August 2026, when this deck was last checked against the repository. Verify specifics against the source.</a:t>
            </a:r>
            <a:endParaRPr lang="en-US" sz="1050" dirty="0"/>
          </a:p>
        </p:txBody>
      </p:sp>
      <p:sp>
        <p:nvSpPr>
          <p:cNvPr id="25" name="Shape 19"/>
          <p:cNvSpPr/>
          <p:nvPr/>
        </p:nvSpPr>
        <p:spPr>
          <a:xfrm>
            <a:off x="548640" y="5440680"/>
            <a:ext cx="11064240" cy="658368"/>
          </a:xfrm>
          <a:prstGeom prst="roundRect">
            <a:avLst>
              <a:gd name="adj" fmla="val 8333"/>
            </a:avLst>
          </a:prstGeom>
          <a:solidFill>
            <a:srgbClr val="CFE8F0"/>
          </a:solidFill>
          <a:ln/>
        </p:spPr>
      </p:sp>
      <p:sp>
        <p:nvSpPr>
          <p:cNvPr id="26" name="Text 20"/>
          <p:cNvSpPr/>
          <p:nvPr/>
        </p:nvSpPr>
        <p:spPr>
          <a:xfrm>
            <a:off x="777240" y="5440680"/>
            <a:ext cx="10607040" cy="658368"/>
          </a:xfrm>
          <a:prstGeom prst="rect">
            <a:avLst/>
          </a:prstGeom>
          <a:noFill/>
          <a:ln/>
        </p:spPr>
        <p:txBody>
          <a:bodyPr wrap="square" lIns="0" tIns="0" rIns="0" bIns="0" rtlCol="0" anchor="ctr"/>
          <a:lstStyle/>
          <a:p>
            <a:pPr indent="0" marL="0">
              <a:lnSpc>
                <a:spcPct val="115000"/>
              </a:lnSpc>
              <a:buNone/>
            </a:pPr>
            <a:r>
              <a:rPr lang="en-US" sz="1150" dirty="0">
                <a:solidFill>
                  <a:srgbClr val="065A82"/>
                </a:solidFill>
                <a:latin typeface="Calibri" pitchFamily="34" charset="0"/>
                <a:ea typeface="Calibri" pitchFamily="34" charset="-122"/>
                <a:cs typeface="Calibri" pitchFamily="34" charset="-120"/>
              </a:rPr>
              <a:t>What makes it a good object of study, as opposed to a good dependency: the methods aren't scattered across six research repos with six conventions. They're in one directory, written against one interface, which makes the differences between them legible instead of anecdotal.</a:t>
            </a:r>
            <a:endParaRPr lang="en-US" sz="1150" dirty="0"/>
          </a:p>
        </p:txBody>
      </p:sp>
      <p:sp>
        <p:nvSpPr>
          <p:cNvPr id="27" name="Text 2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8"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DECODING THE NAMES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What the Acronyms Stand For</a:t>
            </a:r>
            <a:endParaRPr lang="en-US" sz="3000" dirty="0"/>
          </a:p>
        </p:txBody>
      </p:sp>
      <p:sp>
        <p:nvSpPr>
          <p:cNvPr id="4" name="Text 2"/>
          <p:cNvSpPr/>
          <p:nvPr/>
        </p:nvSpPr>
        <p:spPr>
          <a:xfrm>
            <a:off x="548640" y="1371600"/>
            <a:ext cx="11064240" cy="411480"/>
          </a:xfrm>
          <a:prstGeom prst="rect">
            <a:avLst/>
          </a:prstGeom>
          <a:noFill/>
          <a:ln/>
        </p:spPr>
        <p:txBody>
          <a:bodyPr wrap="square" rtlCol="0" anchor="ctr"/>
          <a:lstStyle/>
          <a:p>
            <a:pPr indent="0" marL="0">
              <a:lnSpc>
                <a:spcPct val="115000"/>
              </a:lnSpc>
              <a:buNone/>
            </a:pPr>
            <a:r>
              <a:rPr lang="en-US" sz="1250" dirty="0">
                <a:solidFill>
                  <a:srgbClr val="5C7080"/>
                </a:solidFill>
                <a:latin typeface="Calibri" pitchFamily="34" charset="0"/>
                <a:ea typeface="Calibri" pitchFamily="34" charset="-122"/>
                <a:cs typeface="Calibri" pitchFamily="34" charset="-120"/>
              </a:rPr>
              <a:t>The library's own name expands to Transformer Reinforcement Learning. Its trainers are named on the same principle: each name records the one idea that distinguishes that method from its neighbours, which makes the list a compressed summary of the whole field.</a:t>
            </a:r>
            <a:endParaRPr lang="en-US" sz="1250" dirty="0"/>
          </a:p>
        </p:txBody>
      </p:sp>
      <p:sp>
        <p:nvSpPr>
          <p:cNvPr id="5" name="Shape 3"/>
          <p:cNvSpPr/>
          <p:nvPr/>
        </p:nvSpPr>
        <p:spPr>
          <a:xfrm>
            <a:off x="548640" y="1874520"/>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6" name="Text 4"/>
          <p:cNvSpPr/>
          <p:nvPr/>
        </p:nvSpPr>
        <p:spPr>
          <a:xfrm>
            <a:off x="777240" y="1984248"/>
            <a:ext cx="960120" cy="310896"/>
          </a:xfrm>
          <a:prstGeom prst="rect">
            <a:avLst/>
          </a:prstGeom>
          <a:noFill/>
          <a:ln/>
        </p:spPr>
        <p:txBody>
          <a:bodyPr wrap="square" lIns="0" tIns="0" rIns="0" bIns="0" rtlCol="0" anchor="ctr"/>
          <a:lstStyle/>
          <a:p>
            <a:pPr indent="0" marL="0">
              <a:buNone/>
            </a:pPr>
            <a:r>
              <a:rPr lang="en-US" sz="1500" b="1" dirty="0">
                <a:solidFill>
                  <a:srgbClr val="065A82"/>
                </a:solidFill>
                <a:latin typeface="Courier New" pitchFamily="34" charset="0"/>
                <a:ea typeface="Courier New" pitchFamily="34" charset="-122"/>
                <a:cs typeface="Courier New" pitchFamily="34" charset="-120"/>
              </a:rPr>
              <a:t>SFT</a:t>
            </a:r>
            <a:endParaRPr lang="en-US" sz="1500" dirty="0"/>
          </a:p>
        </p:txBody>
      </p:sp>
      <p:sp>
        <p:nvSpPr>
          <p:cNvPr id="7" name="Text 5"/>
          <p:cNvSpPr/>
          <p:nvPr/>
        </p:nvSpPr>
        <p:spPr>
          <a:xfrm>
            <a:off x="1828800" y="1984248"/>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Supervised Fine-Tuning</a:t>
            </a:r>
            <a:endParaRPr lang="en-US" sz="1250" dirty="0"/>
          </a:p>
        </p:txBody>
      </p:sp>
      <p:sp>
        <p:nvSpPr>
          <p:cNvPr id="8" name="Text 6"/>
          <p:cNvSpPr/>
          <p:nvPr/>
        </p:nvSpPr>
        <p:spPr>
          <a:xfrm>
            <a:off x="777240" y="2331720"/>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Supervised because every example carries its own target text; fine-tuning because it adjusts an already-pretrained model rather than training one from scratch.</a:t>
            </a:r>
            <a:endParaRPr lang="en-US" sz="950" dirty="0"/>
          </a:p>
        </p:txBody>
      </p:sp>
      <p:sp>
        <p:nvSpPr>
          <p:cNvPr id="9" name="Shape 7"/>
          <p:cNvSpPr/>
          <p:nvPr/>
        </p:nvSpPr>
        <p:spPr>
          <a:xfrm>
            <a:off x="6263640" y="1874520"/>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10" name="Text 8"/>
          <p:cNvSpPr/>
          <p:nvPr/>
        </p:nvSpPr>
        <p:spPr>
          <a:xfrm>
            <a:off x="6492240" y="1984248"/>
            <a:ext cx="960120" cy="310896"/>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RM</a:t>
            </a:r>
            <a:endParaRPr lang="en-US" sz="1500" dirty="0"/>
          </a:p>
        </p:txBody>
      </p:sp>
      <p:sp>
        <p:nvSpPr>
          <p:cNvPr id="11" name="Text 9"/>
          <p:cNvSpPr/>
          <p:nvPr/>
        </p:nvSpPr>
        <p:spPr>
          <a:xfrm>
            <a:off x="7543800" y="1984248"/>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Reward Model</a:t>
            </a:r>
            <a:endParaRPr lang="en-US" sz="1250" dirty="0"/>
          </a:p>
        </p:txBody>
      </p:sp>
      <p:sp>
        <p:nvSpPr>
          <p:cNvPr id="12" name="Text 10"/>
          <p:cNvSpPr/>
          <p:nvPr/>
        </p:nvSpPr>
        <p:spPr>
          <a:xfrm>
            <a:off x="6492240" y="2331720"/>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Named for what it emits: a scalar reward, one number per response. It scores text; it does not produce any.</a:t>
            </a:r>
            <a:endParaRPr lang="en-US" sz="950" dirty="0"/>
          </a:p>
        </p:txBody>
      </p:sp>
      <p:sp>
        <p:nvSpPr>
          <p:cNvPr id="13" name="Shape 11"/>
          <p:cNvSpPr/>
          <p:nvPr/>
        </p:nvSpPr>
        <p:spPr>
          <a:xfrm>
            <a:off x="548640" y="2990088"/>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14" name="Text 12"/>
          <p:cNvSpPr/>
          <p:nvPr/>
        </p:nvSpPr>
        <p:spPr>
          <a:xfrm>
            <a:off x="777240" y="3099816"/>
            <a:ext cx="960120" cy="310896"/>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DPO</a:t>
            </a:r>
            <a:endParaRPr lang="en-US" sz="1500" dirty="0"/>
          </a:p>
        </p:txBody>
      </p:sp>
      <p:sp>
        <p:nvSpPr>
          <p:cNvPr id="15" name="Text 13"/>
          <p:cNvSpPr/>
          <p:nvPr/>
        </p:nvSpPr>
        <p:spPr>
          <a:xfrm>
            <a:off x="1828800" y="3099816"/>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Direct Preference Optimization</a:t>
            </a:r>
            <a:endParaRPr lang="en-US" sz="1250" dirty="0"/>
          </a:p>
        </p:txBody>
      </p:sp>
      <p:sp>
        <p:nvSpPr>
          <p:cNvPr id="16" name="Text 14"/>
          <p:cNvSpPr/>
          <p:nvPr/>
        </p:nvSpPr>
        <p:spPr>
          <a:xfrm>
            <a:off x="777240" y="3447288"/>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Direct because it optimizes the preference pairs themselves, removing the intermediate step of first fitting a reward model and then optimizing against it.</a:t>
            </a:r>
            <a:endParaRPr lang="en-US" sz="950" dirty="0"/>
          </a:p>
        </p:txBody>
      </p:sp>
      <p:sp>
        <p:nvSpPr>
          <p:cNvPr id="17" name="Shape 15"/>
          <p:cNvSpPr/>
          <p:nvPr/>
        </p:nvSpPr>
        <p:spPr>
          <a:xfrm>
            <a:off x="6263640" y="2990088"/>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18" name="Text 16"/>
          <p:cNvSpPr/>
          <p:nvPr/>
        </p:nvSpPr>
        <p:spPr>
          <a:xfrm>
            <a:off x="6492240" y="3099816"/>
            <a:ext cx="960120" cy="310896"/>
          </a:xfrm>
          <a:prstGeom prst="rect">
            <a:avLst/>
          </a:prstGeom>
          <a:noFill/>
          <a:ln/>
        </p:spPr>
        <p:txBody>
          <a:bodyPr wrap="square" lIns="0" tIns="0" rIns="0" bIns="0" rtlCol="0" anchor="ctr"/>
          <a:lstStyle/>
          <a:p>
            <a:pPr indent="0" marL="0">
              <a:buNone/>
            </a:pPr>
            <a:r>
              <a:rPr lang="en-US" sz="1500" b="1" dirty="0">
                <a:solidFill>
                  <a:srgbClr val="1C7293"/>
                </a:solidFill>
                <a:latin typeface="Courier New" pitchFamily="34" charset="0"/>
                <a:ea typeface="Courier New" pitchFamily="34" charset="-122"/>
                <a:cs typeface="Courier New" pitchFamily="34" charset="-120"/>
              </a:rPr>
              <a:t>KTO</a:t>
            </a:r>
            <a:endParaRPr lang="en-US" sz="1500" dirty="0"/>
          </a:p>
        </p:txBody>
      </p:sp>
      <p:sp>
        <p:nvSpPr>
          <p:cNvPr id="19" name="Text 17"/>
          <p:cNvSpPr/>
          <p:nvPr/>
        </p:nvSpPr>
        <p:spPr>
          <a:xfrm>
            <a:off x="7543800" y="3099816"/>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Kahneman–Tversky Optimization</a:t>
            </a:r>
            <a:endParaRPr lang="en-US" sz="1250" dirty="0"/>
          </a:p>
        </p:txBody>
      </p:sp>
      <p:sp>
        <p:nvSpPr>
          <p:cNvPr id="20" name="Text 18"/>
          <p:cNvSpPr/>
          <p:nvPr/>
        </p:nvSpPr>
        <p:spPr>
          <a:xfrm>
            <a:off x="6492240" y="3447288"/>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After the prospect-theory model of human utility. People weigh losses more heavily than equivalent gains, so desirable and undesirable examples enter the loss asymmetrically.</a:t>
            </a:r>
            <a:endParaRPr lang="en-US" sz="950" dirty="0"/>
          </a:p>
        </p:txBody>
      </p:sp>
      <p:sp>
        <p:nvSpPr>
          <p:cNvPr id="21" name="Shape 19"/>
          <p:cNvSpPr/>
          <p:nvPr/>
        </p:nvSpPr>
        <p:spPr>
          <a:xfrm>
            <a:off x="548640" y="4105656"/>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22" name="Text 20"/>
          <p:cNvSpPr/>
          <p:nvPr/>
        </p:nvSpPr>
        <p:spPr>
          <a:xfrm>
            <a:off x="777240" y="4215384"/>
            <a:ext cx="960120" cy="310896"/>
          </a:xfrm>
          <a:prstGeom prst="rect">
            <a:avLst/>
          </a:prstGeom>
          <a:noFill/>
          <a:ln/>
        </p:spPr>
        <p:txBody>
          <a:bodyPr wrap="square" lIns="0" tIns="0" rIns="0" bIns="0" rtlCol="0" anchor="ctr"/>
          <a:lstStyle/>
          <a:p>
            <a:pPr indent="0" marL="0">
              <a:buNone/>
            </a:pPr>
            <a:r>
              <a:rPr lang="en-US" sz="1500" b="1" dirty="0">
                <a:solidFill>
                  <a:srgbClr val="21295C"/>
                </a:solidFill>
                <a:latin typeface="Courier New" pitchFamily="34" charset="0"/>
                <a:ea typeface="Courier New" pitchFamily="34" charset="-122"/>
                <a:cs typeface="Courier New" pitchFamily="34" charset="-120"/>
              </a:rPr>
              <a:t>GRPO</a:t>
            </a:r>
            <a:endParaRPr lang="en-US" sz="1500" dirty="0"/>
          </a:p>
        </p:txBody>
      </p:sp>
      <p:sp>
        <p:nvSpPr>
          <p:cNvPr id="23" name="Text 21"/>
          <p:cNvSpPr/>
          <p:nvPr/>
        </p:nvSpPr>
        <p:spPr>
          <a:xfrm>
            <a:off x="1828800" y="4215384"/>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Group Relative Policy Optimization</a:t>
            </a:r>
            <a:endParaRPr lang="en-US" sz="1250" dirty="0"/>
          </a:p>
        </p:txBody>
      </p:sp>
      <p:sp>
        <p:nvSpPr>
          <p:cNvPr id="24" name="Text 22"/>
          <p:cNvSpPr/>
          <p:nvPr/>
        </p:nvSpPr>
        <p:spPr>
          <a:xfrm>
            <a:off x="777240" y="4562856"/>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Several completions are sampled per prompt; each one's advantage is its reward minus the mean of that group. The group is the baseline — hence group relative.</a:t>
            </a:r>
            <a:endParaRPr lang="en-US" sz="950" dirty="0"/>
          </a:p>
        </p:txBody>
      </p:sp>
      <p:sp>
        <p:nvSpPr>
          <p:cNvPr id="25" name="Shape 23"/>
          <p:cNvSpPr/>
          <p:nvPr/>
        </p:nvSpPr>
        <p:spPr>
          <a:xfrm>
            <a:off x="6263640" y="4105656"/>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26" name="Text 24"/>
          <p:cNvSpPr/>
          <p:nvPr/>
        </p:nvSpPr>
        <p:spPr>
          <a:xfrm>
            <a:off x="6492240" y="4215384"/>
            <a:ext cx="960120" cy="310896"/>
          </a:xfrm>
          <a:prstGeom prst="rect">
            <a:avLst/>
          </a:prstGeom>
          <a:noFill/>
          <a:ln/>
        </p:spPr>
        <p:txBody>
          <a:bodyPr wrap="square" lIns="0" tIns="0" rIns="0" bIns="0" rtlCol="0" anchor="ctr"/>
          <a:lstStyle/>
          <a:p>
            <a:pPr indent="0" marL="0">
              <a:buNone/>
            </a:pPr>
            <a:r>
              <a:rPr lang="en-US" sz="1500" b="1" dirty="0">
                <a:solidFill>
                  <a:srgbClr val="21295C"/>
                </a:solidFill>
                <a:latin typeface="Courier New" pitchFamily="34" charset="0"/>
                <a:ea typeface="Courier New" pitchFamily="34" charset="-122"/>
                <a:cs typeface="Courier New" pitchFamily="34" charset="-120"/>
              </a:rPr>
              <a:t>RLOO</a:t>
            </a:r>
            <a:endParaRPr lang="en-US" sz="1500" dirty="0"/>
          </a:p>
        </p:txBody>
      </p:sp>
      <p:sp>
        <p:nvSpPr>
          <p:cNvPr id="27" name="Text 25"/>
          <p:cNvSpPr/>
          <p:nvPr/>
        </p:nvSpPr>
        <p:spPr>
          <a:xfrm>
            <a:off x="7543800" y="4215384"/>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REINFORCE Leave-One-Out</a:t>
            </a:r>
            <a:endParaRPr lang="en-US" sz="1250" dirty="0"/>
          </a:p>
        </p:txBody>
      </p:sp>
      <p:sp>
        <p:nvSpPr>
          <p:cNvPr id="28" name="Text 26"/>
          <p:cNvSpPr/>
          <p:nvPr/>
        </p:nvSpPr>
        <p:spPr>
          <a:xfrm>
            <a:off x="6492240" y="4562856"/>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REINFORCE is the classical policy-gradient estimator. Each sample's baseline is the mean reward of its siblings with itself excluded — leave one out.</a:t>
            </a:r>
            <a:endParaRPr lang="en-US" sz="950" dirty="0"/>
          </a:p>
        </p:txBody>
      </p:sp>
      <p:sp>
        <p:nvSpPr>
          <p:cNvPr id="29" name="Shape 27"/>
          <p:cNvSpPr/>
          <p:nvPr/>
        </p:nvSpPr>
        <p:spPr>
          <a:xfrm>
            <a:off x="548640" y="5221224"/>
            <a:ext cx="5349240" cy="1051560"/>
          </a:xfrm>
          <a:prstGeom prst="roundRect">
            <a:avLst>
              <a:gd name="adj" fmla="val 6957"/>
            </a:avLst>
          </a:prstGeom>
          <a:solidFill>
            <a:srgbClr val="F2F8FA"/>
          </a:solidFill>
          <a:ln/>
          <a:effectLst>
            <a:outerShdw sx="100000" sy="100000" kx="0" ky="0" algn="bl" rotWithShape="0" blurRad="101600" dist="25400" dir="5400000">
              <a:srgbClr val="1B2733">
                <a:alpha val="8000"/>
              </a:srgbClr>
            </a:outerShdw>
          </a:effectLst>
        </p:spPr>
      </p:sp>
      <p:sp>
        <p:nvSpPr>
          <p:cNvPr id="30" name="Text 28"/>
          <p:cNvSpPr/>
          <p:nvPr/>
        </p:nvSpPr>
        <p:spPr>
          <a:xfrm>
            <a:off x="777240" y="5330952"/>
            <a:ext cx="960120" cy="310896"/>
          </a:xfrm>
          <a:prstGeom prst="rect">
            <a:avLst/>
          </a:prstGeom>
          <a:noFill/>
          <a:ln/>
        </p:spPr>
        <p:txBody>
          <a:bodyPr wrap="square" lIns="0" tIns="0" rIns="0" bIns="0" rtlCol="0" anchor="ctr"/>
          <a:lstStyle/>
          <a:p>
            <a:pPr indent="0" marL="0">
              <a:buNone/>
            </a:pPr>
            <a:r>
              <a:rPr lang="en-US" sz="1500" b="1" dirty="0">
                <a:solidFill>
                  <a:srgbClr val="5C7080"/>
                </a:solidFill>
                <a:latin typeface="Courier New" pitchFamily="34" charset="0"/>
                <a:ea typeface="Courier New" pitchFamily="34" charset="-122"/>
                <a:cs typeface="Courier New" pitchFamily="34" charset="-120"/>
              </a:rPr>
              <a:t>PPO</a:t>
            </a:r>
            <a:endParaRPr lang="en-US" sz="1500" dirty="0"/>
          </a:p>
        </p:txBody>
      </p:sp>
      <p:sp>
        <p:nvSpPr>
          <p:cNvPr id="31" name="Text 29"/>
          <p:cNvSpPr/>
          <p:nvPr/>
        </p:nvSpPr>
        <p:spPr>
          <a:xfrm>
            <a:off x="1828800" y="5330952"/>
            <a:ext cx="3931920" cy="310896"/>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Proximal Policy Optimization</a:t>
            </a:r>
            <a:endParaRPr lang="en-US" sz="1250" dirty="0"/>
          </a:p>
        </p:txBody>
      </p:sp>
      <p:sp>
        <p:nvSpPr>
          <p:cNvPr id="32" name="Text 30"/>
          <p:cNvSpPr/>
          <p:nvPr/>
        </p:nvSpPr>
        <p:spPr>
          <a:xfrm>
            <a:off x="777240" y="5678424"/>
            <a:ext cx="4892040" cy="530352"/>
          </a:xfrm>
          <a:prstGeom prst="rect">
            <a:avLst/>
          </a:prstGeom>
          <a:noFill/>
          <a:ln/>
        </p:spPr>
        <p:txBody>
          <a:bodyPr wrap="square" rtlCol="0" anchor="ctr"/>
          <a:lstStyle/>
          <a:p>
            <a:pPr indent="0" marL="0">
              <a:lnSpc>
                <a:spcPct val="114000"/>
              </a:lnSpc>
              <a:buNone/>
            </a:pPr>
            <a:r>
              <a:rPr lang="en-US" sz="950" dirty="0">
                <a:solidFill>
                  <a:srgbClr val="5C7080"/>
                </a:solidFill>
                <a:latin typeface="Calibri" pitchFamily="34" charset="0"/>
                <a:ea typeface="Calibri" pitchFamily="34" charset="-122"/>
                <a:cs typeface="Calibri" pitchFamily="34" charset="-120"/>
              </a:rPr>
              <a:t>Proximal because each update is clipped to stay close to the policy that generated the data. Long treated as the canonical RLHF algorithm; in this library it is experimental.</a:t>
            </a:r>
            <a:endParaRPr lang="en-US" sz="950" dirty="0"/>
          </a:p>
        </p:txBody>
      </p:sp>
      <p:sp>
        <p:nvSpPr>
          <p:cNvPr id="33" name="Shape 31"/>
          <p:cNvSpPr/>
          <p:nvPr/>
        </p:nvSpPr>
        <p:spPr>
          <a:xfrm>
            <a:off x="6263640" y="5221224"/>
            <a:ext cx="5349240" cy="1051560"/>
          </a:xfrm>
          <a:prstGeom prst="roundRect">
            <a:avLst>
              <a:gd name="adj" fmla="val 6957"/>
            </a:avLst>
          </a:prstGeom>
          <a:solidFill>
            <a:srgbClr val="FDF3E3"/>
          </a:solidFill>
          <a:ln/>
          <a:effectLst>
            <a:outerShdw sx="100000" sy="100000" kx="0" ky="0" algn="bl" rotWithShape="0" blurRad="101600" dist="25400" dir="5400000">
              <a:srgbClr val="1B2733">
                <a:alpha val="8000"/>
              </a:srgbClr>
            </a:outerShdw>
          </a:effectLst>
        </p:spPr>
      </p:sp>
      <p:sp>
        <p:nvSpPr>
          <p:cNvPr id="34" name="Shape 32"/>
          <p:cNvSpPr/>
          <p:nvPr/>
        </p:nvSpPr>
        <p:spPr>
          <a:xfrm>
            <a:off x="6492240" y="5477256"/>
            <a:ext cx="384048" cy="384048"/>
          </a:xfrm>
          <a:prstGeom prst="ellipse">
            <a:avLst/>
          </a:prstGeom>
          <a:solidFill>
            <a:srgbClr val="FFFFFF"/>
          </a:solidFill>
          <a:ln/>
        </p:spPr>
      </p:sp>
      <p:pic>
        <p:nvPicPr>
          <p:cNvPr id="35" name="Image 0" descr="/home/claude/icons/warning_teal.png">    </p:cNvPr>
          <p:cNvPicPr>
            <a:picLocks noChangeAspect="1"/>
          </p:cNvPicPr>
          <p:nvPr/>
        </p:nvPicPr>
        <p:blipFill>
          <a:blip r:embed="rId1"/>
          <a:stretch>
            <a:fillRect/>
          </a:stretch>
        </p:blipFill>
        <p:spPr>
          <a:xfrm>
            <a:off x="6592092" y="5577108"/>
            <a:ext cx="184343" cy="184343"/>
          </a:xfrm>
          <a:prstGeom prst="rect">
            <a:avLst/>
          </a:prstGeom>
        </p:spPr>
      </p:pic>
      <p:sp>
        <p:nvSpPr>
          <p:cNvPr id="36" name="Text 33"/>
          <p:cNvSpPr/>
          <p:nvPr/>
        </p:nvSpPr>
        <p:spPr>
          <a:xfrm>
            <a:off x="7013448" y="5330952"/>
            <a:ext cx="4434840" cy="310896"/>
          </a:xfrm>
          <a:prstGeom prst="rect">
            <a:avLst/>
          </a:prstGeom>
          <a:noFill/>
          <a:ln/>
        </p:spPr>
        <p:txBody>
          <a:bodyPr wrap="square" lIns="0" tIns="0" rIns="0" bIns="0" rtlCol="0" anchor="ctr"/>
          <a:lstStyle/>
          <a:p>
            <a:pPr indent="0" marL="0">
              <a:buNone/>
            </a:pPr>
            <a:r>
              <a:rPr lang="en-US" sz="1250" b="1" dirty="0">
                <a:solidFill>
                  <a:srgbClr val="8A5A12"/>
                </a:solidFill>
                <a:latin typeface="Calibri" pitchFamily="34" charset="0"/>
                <a:ea typeface="Calibri" pitchFamily="34" charset="-122"/>
                <a:cs typeface="Calibri" pitchFamily="34" charset="-120"/>
              </a:rPr>
              <a:t>An expansion is not a citation</a:t>
            </a:r>
            <a:endParaRPr lang="en-US" sz="1250" dirty="0"/>
          </a:p>
        </p:txBody>
      </p:sp>
      <p:sp>
        <p:nvSpPr>
          <p:cNvPr id="37" name="Text 34"/>
          <p:cNvSpPr/>
          <p:nvPr/>
        </p:nvSpPr>
        <p:spPr>
          <a:xfrm>
            <a:off x="7013448" y="5678424"/>
            <a:ext cx="4370832" cy="530352"/>
          </a:xfrm>
          <a:prstGeom prst="rect">
            <a:avLst/>
          </a:prstGeom>
          <a:noFill/>
          <a:ln/>
        </p:spPr>
        <p:txBody>
          <a:bodyPr wrap="square" rtlCol="0" anchor="ctr"/>
          <a:lstStyle/>
          <a:p>
            <a:pPr indent="0" marL="0">
              <a:lnSpc>
                <a:spcPct val="114000"/>
              </a:lnSpc>
              <a:buNone/>
            </a:pPr>
            <a:r>
              <a:rPr lang="en-US" sz="950" dirty="0">
                <a:solidFill>
                  <a:srgbClr val="6B4A12"/>
                </a:solidFill>
                <a:latin typeface="Calibri" pitchFamily="34" charset="0"/>
                <a:ea typeface="Calibri" pitchFamily="34" charset="-122"/>
                <a:cs typeface="Calibri" pitchFamily="34" charset="-120"/>
              </a:rPr>
              <a:t>TRL's own paper_index.md heads the DPO section “Direct Policy Optimization”. The paper it links to on the next line is titled Direct Preference Optimization. Names drift even inside the repository that implements them.</a:t>
            </a:r>
            <a:endParaRPr lang="en-US" sz="950" dirty="0"/>
          </a:p>
        </p:txBody>
      </p:sp>
      <p:sp>
        <p:nvSpPr>
          <p:cNvPr id="38" name="Text 35"/>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39" name="Text 36"/>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WHAT IT'S ACTUALLY FOR</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Where You'd Reach For This</a:t>
            </a:r>
            <a:endParaRPr lang="en-US" sz="3000" dirty="0"/>
          </a:p>
        </p:txBody>
      </p:sp>
      <p:sp>
        <p:nvSpPr>
          <p:cNvPr id="4" name="Shape 2"/>
          <p:cNvSpPr/>
          <p:nvPr/>
        </p:nvSpPr>
        <p:spPr>
          <a:xfrm>
            <a:off x="548640" y="1691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5" name="Shape 3"/>
          <p:cNvSpPr/>
          <p:nvPr/>
        </p:nvSpPr>
        <p:spPr>
          <a:xfrm>
            <a:off x="777240" y="1920240"/>
            <a:ext cx="502920" cy="502920"/>
          </a:xfrm>
          <a:prstGeom prst="ellipse">
            <a:avLst/>
          </a:prstGeom>
          <a:solidFill>
            <a:srgbClr val="065A82"/>
          </a:solidFill>
          <a:ln/>
        </p:spPr>
      </p:sp>
      <p:pic>
        <p:nvPicPr>
          <p:cNvPr id="6" name="Image 0" descr="/home/claude/icons/cap.png">    </p:cNvPr>
          <p:cNvPicPr>
            <a:picLocks noChangeAspect="1"/>
          </p:cNvPicPr>
          <p:nvPr/>
        </p:nvPicPr>
        <p:blipFill>
          <a:blip r:embed="rId1"/>
          <a:stretch>
            <a:fillRect/>
          </a:stretch>
        </p:blipFill>
        <p:spPr>
          <a:xfrm>
            <a:off x="907999" y="2050999"/>
            <a:ext cx="241402" cy="241402"/>
          </a:xfrm>
          <a:prstGeom prst="rect">
            <a:avLst/>
          </a:prstGeom>
        </p:spPr>
      </p:pic>
      <p:sp>
        <p:nvSpPr>
          <p:cNvPr id="7" name="Text 4"/>
          <p:cNvSpPr/>
          <p:nvPr/>
        </p:nvSpPr>
        <p:spPr>
          <a:xfrm>
            <a:off x="777240" y="253288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Teaching a format</a:t>
            </a:r>
            <a:endParaRPr lang="en-US" sz="1300" dirty="0"/>
          </a:p>
        </p:txBody>
      </p:sp>
      <p:sp>
        <p:nvSpPr>
          <p:cNvPr id="8" name="Text 5"/>
          <p:cNvSpPr/>
          <p:nvPr/>
        </p:nvSpPr>
        <p:spPr>
          <a:xfrm>
            <a:off x="777240" y="2898648"/>
            <a:ext cx="3063240" cy="7772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You need a model that answers in your schema, your tone, your citation style. SFT on a few thousand examples. The most common real use, and the least glamorous.</a:t>
            </a:r>
            <a:endParaRPr lang="en-US" sz="1050" dirty="0"/>
          </a:p>
        </p:txBody>
      </p:sp>
      <p:sp>
        <p:nvSpPr>
          <p:cNvPr id="9" name="Shape 6"/>
          <p:cNvSpPr/>
          <p:nvPr/>
        </p:nvSpPr>
        <p:spPr>
          <a:xfrm>
            <a:off x="4325112" y="1691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10" name="Shape 7"/>
          <p:cNvSpPr/>
          <p:nvPr/>
        </p:nvSpPr>
        <p:spPr>
          <a:xfrm>
            <a:off x="4553712" y="1920240"/>
            <a:ext cx="502920" cy="502920"/>
          </a:xfrm>
          <a:prstGeom prst="ellipse">
            <a:avLst/>
          </a:prstGeom>
          <a:solidFill>
            <a:srgbClr val="1C7293"/>
          </a:solidFill>
          <a:ln/>
        </p:spPr>
      </p:sp>
      <p:pic>
        <p:nvPicPr>
          <p:cNvPr id="11" name="Image 1" descr="/home/claude/icons/balance.png">    </p:cNvPr>
          <p:cNvPicPr>
            <a:picLocks noChangeAspect="1"/>
          </p:cNvPicPr>
          <p:nvPr/>
        </p:nvPicPr>
        <p:blipFill>
          <a:blip r:embed="rId2"/>
          <a:stretch>
            <a:fillRect/>
          </a:stretch>
        </p:blipFill>
        <p:spPr>
          <a:xfrm>
            <a:off x="4684471" y="2050999"/>
            <a:ext cx="241402" cy="241402"/>
          </a:xfrm>
          <a:prstGeom prst="rect">
            <a:avLst/>
          </a:prstGeom>
        </p:spPr>
      </p:pic>
      <p:sp>
        <p:nvSpPr>
          <p:cNvPr id="12" name="Text 8"/>
          <p:cNvSpPr/>
          <p:nvPr/>
        </p:nvSpPr>
        <p:spPr>
          <a:xfrm>
            <a:off x="4553712" y="253288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Aligning to taste</a:t>
            </a:r>
            <a:endParaRPr lang="en-US" sz="1300" dirty="0"/>
          </a:p>
        </p:txBody>
      </p:sp>
      <p:sp>
        <p:nvSpPr>
          <p:cNvPr id="13" name="Text 9"/>
          <p:cNvSpPr/>
          <p:nvPr/>
        </p:nvSpPr>
        <p:spPr>
          <a:xfrm>
            <a:off x="4553712" y="2898648"/>
            <a:ext cx="3063240" cy="7772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You have thumbs-up/down from users or annotators and want the model to internalize it. DPO if the feedback is paired; KTO if it isn't.</a:t>
            </a:r>
            <a:endParaRPr lang="en-US" sz="1050" dirty="0"/>
          </a:p>
        </p:txBody>
      </p:sp>
      <p:sp>
        <p:nvSpPr>
          <p:cNvPr id="14" name="Shape 10"/>
          <p:cNvSpPr/>
          <p:nvPr/>
        </p:nvSpPr>
        <p:spPr>
          <a:xfrm>
            <a:off x="8101584" y="1691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15" name="Shape 11"/>
          <p:cNvSpPr/>
          <p:nvPr/>
        </p:nvSpPr>
        <p:spPr>
          <a:xfrm>
            <a:off x="8330184" y="1920240"/>
            <a:ext cx="502920" cy="502920"/>
          </a:xfrm>
          <a:prstGeom prst="ellipse">
            <a:avLst/>
          </a:prstGeom>
          <a:solidFill>
            <a:srgbClr val="21295C"/>
          </a:solidFill>
          <a:ln/>
        </p:spPr>
      </p:sp>
      <p:pic>
        <p:nvPicPr>
          <p:cNvPr id="16" name="Image 2" descr="/home/claude/icons/check.png">    </p:cNvPr>
          <p:cNvPicPr>
            <a:picLocks noChangeAspect="1"/>
          </p:cNvPicPr>
          <p:nvPr/>
        </p:nvPicPr>
        <p:blipFill>
          <a:blip r:embed="rId3"/>
          <a:stretch>
            <a:fillRect/>
          </a:stretch>
        </p:blipFill>
        <p:spPr>
          <a:xfrm>
            <a:off x="8460943" y="2050999"/>
            <a:ext cx="241402" cy="241402"/>
          </a:xfrm>
          <a:prstGeom prst="rect">
            <a:avLst/>
          </a:prstGeom>
        </p:spPr>
      </p:pic>
      <p:sp>
        <p:nvSpPr>
          <p:cNvPr id="17" name="Text 12"/>
          <p:cNvSpPr/>
          <p:nvPr/>
        </p:nvSpPr>
        <p:spPr>
          <a:xfrm>
            <a:off x="8330184" y="253288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Training reasoning</a:t>
            </a:r>
            <a:endParaRPr lang="en-US" sz="1300" dirty="0"/>
          </a:p>
        </p:txBody>
      </p:sp>
      <p:sp>
        <p:nvSpPr>
          <p:cNvPr id="18" name="Text 13"/>
          <p:cNvSpPr/>
          <p:nvPr/>
        </p:nvSpPr>
        <p:spPr>
          <a:xfrm>
            <a:off x="8330184" y="2898648"/>
            <a:ext cx="3063240" cy="7772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The task has checkable answers — maths, code, structured extraction. GRPO with a verifier, no preference data collected at all.</a:t>
            </a:r>
            <a:endParaRPr lang="en-US" sz="1050" dirty="0"/>
          </a:p>
        </p:txBody>
      </p:sp>
      <p:sp>
        <p:nvSpPr>
          <p:cNvPr id="19" name="Shape 14"/>
          <p:cNvSpPr/>
          <p:nvPr/>
        </p:nvSpPr>
        <p:spPr>
          <a:xfrm>
            <a:off x="548640" y="393192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20" name="Shape 15"/>
          <p:cNvSpPr/>
          <p:nvPr/>
        </p:nvSpPr>
        <p:spPr>
          <a:xfrm>
            <a:off x="777240" y="4160520"/>
            <a:ext cx="502920" cy="502920"/>
          </a:xfrm>
          <a:prstGeom prst="ellipse">
            <a:avLst/>
          </a:prstGeom>
          <a:solidFill>
            <a:srgbClr val="1E7A5F"/>
          </a:solidFill>
          <a:ln/>
        </p:spPr>
      </p:sp>
      <p:pic>
        <p:nvPicPr>
          <p:cNvPr id="21" name="Image 3" descr="/home/claude/icons/balance.png">    </p:cNvPr>
          <p:cNvPicPr>
            <a:picLocks noChangeAspect="1"/>
          </p:cNvPicPr>
          <p:nvPr/>
        </p:nvPicPr>
        <p:blipFill>
          <a:blip r:embed="rId4"/>
          <a:stretch>
            <a:fillRect/>
          </a:stretch>
        </p:blipFill>
        <p:spPr>
          <a:xfrm>
            <a:off x="907999" y="4291279"/>
            <a:ext cx="241402" cy="241402"/>
          </a:xfrm>
          <a:prstGeom prst="rect">
            <a:avLst/>
          </a:prstGeom>
        </p:spPr>
      </p:pic>
      <p:sp>
        <p:nvSpPr>
          <p:cNvPr id="22" name="Text 16"/>
          <p:cNvSpPr/>
          <p:nvPr/>
        </p:nvSpPr>
        <p:spPr>
          <a:xfrm>
            <a:off x="777240" y="477316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Building a judge</a:t>
            </a:r>
            <a:endParaRPr lang="en-US" sz="1300" dirty="0"/>
          </a:p>
        </p:txBody>
      </p:sp>
      <p:sp>
        <p:nvSpPr>
          <p:cNvPr id="23" name="Text 17"/>
          <p:cNvSpPr/>
          <p:nvPr/>
        </p:nvSpPr>
        <p:spPr>
          <a:xfrm>
            <a:off x="777240" y="5138928"/>
            <a:ext cx="3063240" cy="7772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Sometimes the reward model is the product: an automatic evaluator to rank outputs or filter a dataset. RewardTrainer alone, no policy training.</a:t>
            </a:r>
            <a:endParaRPr lang="en-US" sz="1050" dirty="0"/>
          </a:p>
        </p:txBody>
      </p:sp>
      <p:sp>
        <p:nvSpPr>
          <p:cNvPr id="24" name="Shape 18"/>
          <p:cNvSpPr/>
          <p:nvPr/>
        </p:nvSpPr>
        <p:spPr>
          <a:xfrm>
            <a:off x="4325112" y="393192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25" name="Shape 19"/>
          <p:cNvSpPr/>
          <p:nvPr/>
        </p:nvSpPr>
        <p:spPr>
          <a:xfrm>
            <a:off x="4553712" y="4160520"/>
            <a:ext cx="502920" cy="502920"/>
          </a:xfrm>
          <a:prstGeom prst="ellipse">
            <a:avLst/>
          </a:prstGeom>
          <a:solidFill>
            <a:srgbClr val="065A82"/>
          </a:solidFill>
          <a:ln/>
        </p:spPr>
      </p:sp>
      <p:pic>
        <p:nvPicPr>
          <p:cNvPr id="26" name="Image 4" descr="/home/claude/icons/code.png">    </p:cNvPr>
          <p:cNvPicPr>
            <a:picLocks noChangeAspect="1"/>
          </p:cNvPicPr>
          <p:nvPr/>
        </p:nvPicPr>
        <p:blipFill>
          <a:blip r:embed="rId5"/>
          <a:stretch>
            <a:fillRect/>
          </a:stretch>
        </p:blipFill>
        <p:spPr>
          <a:xfrm>
            <a:off x="4684471" y="4291279"/>
            <a:ext cx="241402" cy="241402"/>
          </a:xfrm>
          <a:prstGeom prst="rect">
            <a:avLst/>
          </a:prstGeom>
        </p:spPr>
      </p:pic>
      <p:sp>
        <p:nvSpPr>
          <p:cNvPr id="27" name="Text 20"/>
          <p:cNvSpPr/>
          <p:nvPr/>
        </p:nvSpPr>
        <p:spPr>
          <a:xfrm>
            <a:off x="4553712" y="477316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Reading it to learn</a:t>
            </a:r>
            <a:endParaRPr lang="en-US" sz="1300" dirty="0"/>
          </a:p>
        </p:txBody>
      </p:sp>
      <p:sp>
        <p:nvSpPr>
          <p:cNvPr id="28" name="Text 21"/>
          <p:cNvSpPr/>
          <p:nvPr/>
        </p:nvSpPr>
        <p:spPr>
          <a:xfrm>
            <a:off x="4553712" y="5138928"/>
            <a:ext cx="3063240" cy="7772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Six implementations of one interface is a rare teaching object. Diffing two compute_loss functions teaches more than most papers about how the methods differ.</a:t>
            </a:r>
            <a:endParaRPr lang="en-US" sz="1050" dirty="0"/>
          </a:p>
        </p:txBody>
      </p:sp>
      <p:sp>
        <p:nvSpPr>
          <p:cNvPr id="29" name="Shape 22"/>
          <p:cNvSpPr/>
          <p:nvPr/>
        </p:nvSpPr>
        <p:spPr>
          <a:xfrm>
            <a:off x="8101584" y="393192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30" name="Shape 23"/>
          <p:cNvSpPr/>
          <p:nvPr/>
        </p:nvSpPr>
        <p:spPr>
          <a:xfrm>
            <a:off x="8330184" y="4160520"/>
            <a:ext cx="502920" cy="502920"/>
          </a:xfrm>
          <a:prstGeom prst="ellipse">
            <a:avLst/>
          </a:prstGeom>
          <a:solidFill>
            <a:srgbClr val="1C7293"/>
          </a:solidFill>
          <a:ln/>
        </p:spPr>
      </p:sp>
      <p:pic>
        <p:nvPicPr>
          <p:cNvPr id="31" name="Image 5" descr="/home/claude/icons/chip.png">    </p:cNvPr>
          <p:cNvPicPr>
            <a:picLocks noChangeAspect="1"/>
          </p:cNvPicPr>
          <p:nvPr/>
        </p:nvPicPr>
        <p:blipFill>
          <a:blip r:embed="rId6"/>
          <a:stretch>
            <a:fillRect/>
          </a:stretch>
        </p:blipFill>
        <p:spPr>
          <a:xfrm>
            <a:off x="8460943" y="4291279"/>
            <a:ext cx="241402" cy="241402"/>
          </a:xfrm>
          <a:prstGeom prst="rect">
            <a:avLst/>
          </a:prstGeom>
        </p:spPr>
      </p:pic>
      <p:sp>
        <p:nvSpPr>
          <p:cNvPr id="32" name="Text 24"/>
          <p:cNvSpPr/>
          <p:nvPr/>
        </p:nvSpPr>
        <p:spPr>
          <a:xfrm>
            <a:off x="8330184" y="4773168"/>
            <a:ext cx="3063240" cy="347472"/>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A baseline to modify</a:t>
            </a:r>
            <a:endParaRPr lang="en-US" sz="1300" dirty="0"/>
          </a:p>
        </p:txBody>
      </p:sp>
      <p:sp>
        <p:nvSpPr>
          <p:cNvPr id="33" name="Text 25"/>
          <p:cNvSpPr/>
          <p:nvPr/>
        </p:nvSpPr>
        <p:spPr>
          <a:xfrm>
            <a:off x="8330184" y="5138928"/>
            <a:ext cx="3063240" cy="7772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Subclass a trainer, override the loss, keep every piece of distributed plumbing. This is what trl/experimental/ is — the library's own extension mechanism, used in public.</a:t>
            </a:r>
            <a:endParaRPr lang="en-US" sz="1050" dirty="0"/>
          </a:p>
        </p:txBody>
      </p:sp>
      <p:sp>
        <p:nvSpPr>
          <p:cNvPr id="34" name="Text 26"/>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35" name="Text 27"/>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ORIENTATION</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Repository Structure</a:t>
            </a:r>
            <a:endParaRPr lang="en-US" sz="3000" dirty="0"/>
          </a:p>
        </p:txBody>
      </p:sp>
      <p:sp>
        <p:nvSpPr>
          <p:cNvPr id="4" name="Text 2"/>
          <p:cNvSpPr/>
          <p:nvPr/>
        </p:nvSpPr>
        <p:spPr>
          <a:xfrm>
            <a:off x="548640" y="1417320"/>
            <a:ext cx="11064240" cy="36576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The real listing at the repository root, and one level into the package. Four paths carry this lesson; they're highlighted.</a:t>
            </a:r>
            <a:endParaRPr lang="en-US" sz="1250" dirty="0"/>
          </a:p>
        </p:txBody>
      </p:sp>
      <p:sp>
        <p:nvSpPr>
          <p:cNvPr id="5" name="Shape 3"/>
          <p:cNvSpPr/>
          <p:nvPr/>
        </p:nvSpPr>
        <p:spPr>
          <a:xfrm>
            <a:off x="548640" y="1920240"/>
            <a:ext cx="5120640" cy="4114800"/>
          </a:xfrm>
          <a:prstGeom prst="roundRect">
            <a:avLst>
              <a:gd name="adj" fmla="val 1778"/>
            </a:avLst>
          </a:prstGeom>
          <a:solidFill>
            <a:srgbClr val="0B2942"/>
          </a:solidFill>
          <a:ln/>
        </p:spPr>
      </p:sp>
      <p:sp>
        <p:nvSpPr>
          <p:cNvPr id="6" name="Text 4"/>
          <p:cNvSpPr/>
          <p:nvPr/>
        </p:nvSpPr>
        <p:spPr>
          <a:xfrm>
            <a:off x="777240" y="2121408"/>
            <a:ext cx="4754880" cy="256032"/>
          </a:xfrm>
          <a:prstGeom prst="rect">
            <a:avLst/>
          </a:prstGeom>
          <a:noFill/>
          <a:ln/>
        </p:spPr>
        <p:txBody>
          <a:bodyPr wrap="square" lIns="0" tIns="0" rIns="0" bIns="0" rtlCol="0" anchor="ctr"/>
          <a:lstStyle/>
          <a:p>
            <a:pPr indent="0" marL="0">
              <a:buNone/>
            </a:pPr>
            <a:r>
              <a:rPr lang="en-US" sz="1050" b="1" dirty="0">
                <a:solidFill>
                  <a:srgbClr val="FFFFFF"/>
                </a:solidFill>
                <a:latin typeface="Courier New" pitchFamily="34" charset="0"/>
                <a:ea typeface="Courier New" pitchFamily="34" charset="-122"/>
                <a:cs typeface="Courier New" pitchFamily="34" charset="-120"/>
              </a:rPr>
              <a:t>huggingface/trl</a:t>
            </a:r>
            <a:endParaRPr lang="en-US" sz="1050" dirty="0"/>
          </a:p>
        </p:txBody>
      </p:sp>
      <p:sp>
        <p:nvSpPr>
          <p:cNvPr id="7" name="Text 5"/>
          <p:cNvSpPr/>
          <p:nvPr/>
        </p:nvSpPr>
        <p:spPr>
          <a:xfrm>
            <a:off x="777240" y="244144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docs/            </a:t>
            </a:r>
            <a:endParaRPr lang="en-US" sz="1050" dirty="0"/>
          </a:p>
        </p:txBody>
      </p:sp>
      <p:sp>
        <p:nvSpPr>
          <p:cNvPr id="8" name="Text 6"/>
          <p:cNvSpPr/>
          <p:nvPr/>
        </p:nvSpPr>
        <p:spPr>
          <a:xfrm>
            <a:off x="777240" y="276148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examples/        </a:t>
            </a:r>
            <a:endParaRPr lang="en-US" sz="1050" dirty="0"/>
          </a:p>
        </p:txBody>
      </p:sp>
      <p:sp>
        <p:nvSpPr>
          <p:cNvPr id="9" name="Text 7"/>
          <p:cNvSpPr/>
          <p:nvPr/>
        </p:nvSpPr>
        <p:spPr>
          <a:xfrm>
            <a:off x="777240" y="308152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tests/           </a:t>
            </a:r>
            <a:endParaRPr lang="en-US" sz="1050" dirty="0"/>
          </a:p>
        </p:txBody>
      </p:sp>
      <p:sp>
        <p:nvSpPr>
          <p:cNvPr id="10" name="Text 8"/>
          <p:cNvSpPr/>
          <p:nvPr/>
        </p:nvSpPr>
        <p:spPr>
          <a:xfrm>
            <a:off x="777240" y="340156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trl/             </a:t>
            </a:r>
            <a:endParaRPr lang="en-US" sz="1050" dirty="0"/>
          </a:p>
        </p:txBody>
      </p:sp>
      <p:sp>
        <p:nvSpPr>
          <p:cNvPr id="11" name="Shape 9"/>
          <p:cNvSpPr/>
          <p:nvPr/>
        </p:nvSpPr>
        <p:spPr>
          <a:xfrm>
            <a:off x="685800" y="3694176"/>
            <a:ext cx="4846320" cy="292608"/>
          </a:xfrm>
          <a:prstGeom prst="roundRect">
            <a:avLst>
              <a:gd name="adj" fmla="val 12500"/>
            </a:avLst>
          </a:prstGeom>
          <a:solidFill>
            <a:srgbClr val="16385A"/>
          </a:solidFill>
          <a:ln/>
        </p:spPr>
      </p:sp>
      <p:sp>
        <p:nvSpPr>
          <p:cNvPr id="12" name="Text 10"/>
          <p:cNvSpPr/>
          <p:nvPr/>
        </p:nvSpPr>
        <p:spPr>
          <a:xfrm>
            <a:off x="777240" y="3721608"/>
            <a:ext cx="4754880" cy="256032"/>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 trainer/     </a:t>
            </a:r>
            <a:endParaRPr lang="en-US" sz="1050" dirty="0"/>
          </a:p>
        </p:txBody>
      </p:sp>
      <p:sp>
        <p:nvSpPr>
          <p:cNvPr id="13" name="Shape 11"/>
          <p:cNvSpPr/>
          <p:nvPr/>
        </p:nvSpPr>
        <p:spPr>
          <a:xfrm>
            <a:off x="685800" y="4014216"/>
            <a:ext cx="4846320" cy="292608"/>
          </a:xfrm>
          <a:prstGeom prst="roundRect">
            <a:avLst>
              <a:gd name="adj" fmla="val 12500"/>
            </a:avLst>
          </a:prstGeom>
          <a:solidFill>
            <a:srgbClr val="16385A"/>
          </a:solidFill>
          <a:ln/>
        </p:spPr>
      </p:sp>
      <p:sp>
        <p:nvSpPr>
          <p:cNvPr id="14" name="Text 12"/>
          <p:cNvSpPr/>
          <p:nvPr/>
        </p:nvSpPr>
        <p:spPr>
          <a:xfrm>
            <a:off x="777240" y="4041648"/>
            <a:ext cx="4754880" cy="256032"/>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 experimental/</a:t>
            </a:r>
            <a:endParaRPr lang="en-US" sz="1050" dirty="0"/>
          </a:p>
        </p:txBody>
      </p:sp>
      <p:sp>
        <p:nvSpPr>
          <p:cNvPr id="15" name="Shape 13"/>
          <p:cNvSpPr/>
          <p:nvPr/>
        </p:nvSpPr>
        <p:spPr>
          <a:xfrm>
            <a:off x="685800" y="4334256"/>
            <a:ext cx="4846320" cy="292608"/>
          </a:xfrm>
          <a:prstGeom prst="roundRect">
            <a:avLst>
              <a:gd name="adj" fmla="val 12500"/>
            </a:avLst>
          </a:prstGeom>
          <a:solidFill>
            <a:srgbClr val="16385A"/>
          </a:solidFill>
          <a:ln/>
        </p:spPr>
      </p:sp>
      <p:sp>
        <p:nvSpPr>
          <p:cNvPr id="16" name="Text 14"/>
          <p:cNvSpPr/>
          <p:nvPr/>
        </p:nvSpPr>
        <p:spPr>
          <a:xfrm>
            <a:off x="777240" y="4361688"/>
            <a:ext cx="4754880" cy="256032"/>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 rewards/     </a:t>
            </a:r>
            <a:endParaRPr lang="en-US" sz="1050" dirty="0"/>
          </a:p>
        </p:txBody>
      </p:sp>
      <p:sp>
        <p:nvSpPr>
          <p:cNvPr id="17" name="Shape 15"/>
          <p:cNvSpPr/>
          <p:nvPr/>
        </p:nvSpPr>
        <p:spPr>
          <a:xfrm>
            <a:off x="685800" y="4654296"/>
            <a:ext cx="4846320" cy="292608"/>
          </a:xfrm>
          <a:prstGeom prst="roundRect">
            <a:avLst>
              <a:gd name="adj" fmla="val 12500"/>
            </a:avLst>
          </a:prstGeom>
          <a:solidFill>
            <a:srgbClr val="16385A"/>
          </a:solidFill>
          <a:ln/>
        </p:spPr>
      </p:sp>
      <p:sp>
        <p:nvSpPr>
          <p:cNvPr id="18" name="Text 16"/>
          <p:cNvSpPr/>
          <p:nvPr/>
        </p:nvSpPr>
        <p:spPr>
          <a:xfrm>
            <a:off x="777240" y="4681728"/>
            <a:ext cx="4754880" cy="256032"/>
          </a:xfrm>
          <a:prstGeom prst="rect">
            <a:avLst/>
          </a:prstGeom>
          <a:noFill/>
          <a:ln/>
        </p:spPr>
        <p:txBody>
          <a:bodyPr wrap="square" lIns="0" tIns="0" rIns="0" bIns="0" rtlCol="0" anchor="ctr"/>
          <a:lstStyle/>
          <a:p>
            <a:pPr indent="0" marL="0">
              <a:buNone/>
            </a:pPr>
            <a:r>
              <a:rPr lang="en-US" sz="1050" b="1" dirty="0">
                <a:solidFill>
                  <a:srgbClr val="8FD4E8"/>
                </a:solidFill>
                <a:latin typeface="Courier New" pitchFamily="34" charset="0"/>
                <a:ea typeface="Courier New" pitchFamily="34" charset="-122"/>
                <a:cs typeface="Courier New" pitchFamily="34" charset="-120"/>
              </a:rPr>
              <a:t>    ├── scripts/     </a:t>
            </a:r>
            <a:endParaRPr lang="en-US" sz="1050" dirty="0"/>
          </a:p>
        </p:txBody>
      </p:sp>
      <p:sp>
        <p:nvSpPr>
          <p:cNvPr id="19" name="Text 17"/>
          <p:cNvSpPr/>
          <p:nvPr/>
        </p:nvSpPr>
        <p:spPr>
          <a:xfrm>
            <a:off x="777240" y="500176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 models/      </a:t>
            </a:r>
            <a:endParaRPr lang="en-US" sz="1050" dirty="0"/>
          </a:p>
        </p:txBody>
      </p:sp>
      <p:sp>
        <p:nvSpPr>
          <p:cNvPr id="20" name="Text 18"/>
          <p:cNvSpPr/>
          <p:nvPr/>
        </p:nvSpPr>
        <p:spPr>
          <a:xfrm>
            <a:off x="777240" y="532180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 cli/         </a:t>
            </a:r>
            <a:endParaRPr lang="en-US" sz="1050" dirty="0"/>
          </a:p>
        </p:txBody>
      </p:sp>
      <p:sp>
        <p:nvSpPr>
          <p:cNvPr id="21" name="Text 19"/>
          <p:cNvSpPr/>
          <p:nvPr/>
        </p:nvSpPr>
        <p:spPr>
          <a:xfrm>
            <a:off x="777240" y="5641848"/>
            <a:ext cx="4754880" cy="256032"/>
          </a:xfrm>
          <a:prstGeom prst="rect">
            <a:avLst/>
          </a:prstGeom>
          <a:noFill/>
          <a:ln/>
        </p:spPr>
        <p:txBody>
          <a:bodyPr wrap="square" lIns="0" tIns="0" rIns="0" bIns="0" rtlCol="0" anchor="ctr"/>
          <a:lstStyle/>
          <a:p>
            <a:pPr indent="0" marL="0">
              <a:buNone/>
            </a:pPr>
            <a:r>
              <a:rPr lang="en-US" sz="1050" dirty="0">
                <a:solidFill>
                  <a:srgbClr val="9FC3D9"/>
                </a:solidFill>
                <a:latin typeface="Courier New" pitchFamily="34" charset="0"/>
                <a:ea typeface="Courier New" pitchFamily="34" charset="-122"/>
                <a:cs typeface="Courier New" pitchFamily="34" charset="-120"/>
              </a:rPr>
              <a:t>    └── data_utils.py</a:t>
            </a:r>
            <a:endParaRPr lang="en-US" sz="1050" dirty="0"/>
          </a:p>
        </p:txBody>
      </p:sp>
      <p:sp>
        <p:nvSpPr>
          <p:cNvPr id="22" name="Text 20"/>
          <p:cNvSpPr/>
          <p:nvPr/>
        </p:nvSpPr>
        <p:spPr>
          <a:xfrm>
            <a:off x="5989320" y="192024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docs/</a:t>
            </a:r>
            <a:endParaRPr lang="en-US" sz="1000" dirty="0"/>
          </a:p>
        </p:txBody>
      </p:sp>
      <p:sp>
        <p:nvSpPr>
          <p:cNvPr id="23" name="Text 21"/>
          <p:cNvSpPr/>
          <p:nvPr/>
        </p:nvSpPr>
        <p:spPr>
          <a:xfrm>
            <a:off x="8001000" y="192024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Every trainer has a page here — including paper_index.md</a:t>
            </a:r>
            <a:endParaRPr lang="en-US" sz="1000" dirty="0"/>
          </a:p>
        </p:txBody>
      </p:sp>
      <p:sp>
        <p:nvSpPr>
          <p:cNvPr id="24" name="Text 22"/>
          <p:cNvSpPr/>
          <p:nvPr/>
        </p:nvSpPr>
        <p:spPr>
          <a:xfrm>
            <a:off x="5989320" y="228600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examples/</a:t>
            </a:r>
            <a:endParaRPr lang="en-US" sz="1000" dirty="0"/>
          </a:p>
        </p:txBody>
      </p:sp>
      <p:sp>
        <p:nvSpPr>
          <p:cNvPr id="25" name="Text 23"/>
          <p:cNvSpPr/>
          <p:nvPr/>
        </p:nvSpPr>
        <p:spPr>
          <a:xfrm>
            <a:off x="8001000" y="228600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Runnable scripts, notebooks and accelerate configs</a:t>
            </a:r>
            <a:endParaRPr lang="en-US" sz="1000" dirty="0"/>
          </a:p>
        </p:txBody>
      </p:sp>
      <p:sp>
        <p:nvSpPr>
          <p:cNvPr id="26" name="Text 24"/>
          <p:cNvSpPr/>
          <p:nvPr/>
        </p:nvSpPr>
        <p:spPr>
          <a:xfrm>
            <a:off x="5989320" y="265176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tests/</a:t>
            </a:r>
            <a:endParaRPr lang="en-US" sz="1000" dirty="0"/>
          </a:p>
        </p:txBody>
      </p:sp>
      <p:sp>
        <p:nvSpPr>
          <p:cNvPr id="27" name="Text 25"/>
          <p:cNvSpPr/>
          <p:nvPr/>
        </p:nvSpPr>
        <p:spPr>
          <a:xfrm>
            <a:off x="8001000" y="265176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One test module per trainer</a:t>
            </a:r>
            <a:endParaRPr lang="en-US" sz="1000" dirty="0"/>
          </a:p>
        </p:txBody>
      </p:sp>
      <p:sp>
        <p:nvSpPr>
          <p:cNvPr id="28" name="Text 26"/>
          <p:cNvSpPr/>
          <p:nvPr/>
        </p:nvSpPr>
        <p:spPr>
          <a:xfrm>
            <a:off x="5989320" y="301752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trl/</a:t>
            </a:r>
            <a:endParaRPr lang="en-US" sz="1000" dirty="0"/>
          </a:p>
        </p:txBody>
      </p:sp>
      <p:sp>
        <p:nvSpPr>
          <p:cNvPr id="29" name="Text 27"/>
          <p:cNvSpPr/>
          <p:nvPr/>
        </p:nvSpPr>
        <p:spPr>
          <a:xfrm>
            <a:off x="8001000" y="301752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The package itself</a:t>
            </a:r>
            <a:endParaRPr lang="en-US" sz="1000" dirty="0"/>
          </a:p>
        </p:txBody>
      </p:sp>
      <p:sp>
        <p:nvSpPr>
          <p:cNvPr id="30" name="Text 28"/>
          <p:cNvSpPr/>
          <p:nvPr/>
        </p:nvSpPr>
        <p:spPr>
          <a:xfrm>
            <a:off x="5989320" y="3383280"/>
            <a:ext cx="2011680" cy="310896"/>
          </a:xfrm>
          <a:prstGeom prst="rect">
            <a:avLst/>
          </a:prstGeom>
          <a:noFill/>
          <a:ln/>
        </p:spPr>
        <p:txBody>
          <a:bodyPr wrap="square" lIns="0" tIns="0" rIns="0" bIns="0"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trainer/</a:t>
            </a:r>
            <a:endParaRPr lang="en-US" sz="1000" dirty="0"/>
          </a:p>
        </p:txBody>
      </p:sp>
      <p:sp>
        <p:nvSpPr>
          <p:cNvPr id="31" name="Text 29"/>
          <p:cNvSpPr/>
          <p:nvPr/>
        </p:nvSpPr>
        <p:spPr>
          <a:xfrm>
            <a:off x="8001000" y="338328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1B2733"/>
                </a:solidFill>
                <a:latin typeface="Calibri" pitchFamily="34" charset="0"/>
                <a:ea typeface="Calibri" pitchFamily="34" charset="-122"/>
                <a:cs typeface="Calibri" pitchFamily="34" charset="-120"/>
              </a:rPr>
              <a:t>The six stable trainers + their configs</a:t>
            </a:r>
            <a:endParaRPr lang="en-US" sz="1000" dirty="0"/>
          </a:p>
        </p:txBody>
      </p:sp>
      <p:sp>
        <p:nvSpPr>
          <p:cNvPr id="32" name="Text 30"/>
          <p:cNvSpPr/>
          <p:nvPr/>
        </p:nvSpPr>
        <p:spPr>
          <a:xfrm>
            <a:off x="5989320" y="3749040"/>
            <a:ext cx="2011680" cy="310896"/>
          </a:xfrm>
          <a:prstGeom prst="rect">
            <a:avLst/>
          </a:prstGeom>
          <a:noFill/>
          <a:ln/>
        </p:spPr>
        <p:txBody>
          <a:bodyPr wrap="square" lIns="0" tIns="0" rIns="0" bIns="0"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experimental/</a:t>
            </a:r>
            <a:endParaRPr lang="en-US" sz="1000" dirty="0"/>
          </a:p>
        </p:txBody>
      </p:sp>
      <p:sp>
        <p:nvSpPr>
          <p:cNvPr id="33" name="Text 31"/>
          <p:cNvSpPr/>
          <p:nvPr/>
        </p:nvSpPr>
        <p:spPr>
          <a:xfrm>
            <a:off x="8001000" y="374904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1B2733"/>
                </a:solidFill>
                <a:latin typeface="Calibri" pitchFamily="34" charset="0"/>
                <a:ea typeface="Calibri" pitchFamily="34" charset="-122"/>
                <a:cs typeface="Calibri" pitchFamily="34" charset="-120"/>
              </a:rPr>
              <a:t>27 further methods, under a stability contract</a:t>
            </a:r>
            <a:endParaRPr lang="en-US" sz="1000" dirty="0"/>
          </a:p>
        </p:txBody>
      </p:sp>
      <p:sp>
        <p:nvSpPr>
          <p:cNvPr id="34" name="Text 32"/>
          <p:cNvSpPr/>
          <p:nvPr/>
        </p:nvSpPr>
        <p:spPr>
          <a:xfrm>
            <a:off x="5989320" y="4114800"/>
            <a:ext cx="2011680" cy="310896"/>
          </a:xfrm>
          <a:prstGeom prst="rect">
            <a:avLst/>
          </a:prstGeom>
          <a:noFill/>
          <a:ln/>
        </p:spPr>
        <p:txBody>
          <a:bodyPr wrap="square" lIns="0" tIns="0" rIns="0" bIns="0"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rewards/</a:t>
            </a:r>
            <a:endParaRPr lang="en-US" sz="1000" dirty="0"/>
          </a:p>
        </p:txBody>
      </p:sp>
      <p:sp>
        <p:nvSpPr>
          <p:cNvPr id="35" name="Text 33"/>
          <p:cNvSpPr/>
          <p:nvPr/>
        </p:nvSpPr>
        <p:spPr>
          <a:xfrm>
            <a:off x="8001000" y="411480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1B2733"/>
                </a:solidFill>
                <a:latin typeface="Calibri" pitchFamily="34" charset="0"/>
                <a:ea typeface="Calibri" pitchFamily="34" charset="-122"/>
                <a:cs typeface="Calibri" pitchFamily="34" charset="-120"/>
              </a:rPr>
              <a:t>Verifiable reward functions, ready to pass in</a:t>
            </a:r>
            <a:endParaRPr lang="en-US" sz="1000" dirty="0"/>
          </a:p>
        </p:txBody>
      </p:sp>
      <p:sp>
        <p:nvSpPr>
          <p:cNvPr id="36" name="Text 34"/>
          <p:cNvSpPr/>
          <p:nvPr/>
        </p:nvSpPr>
        <p:spPr>
          <a:xfrm>
            <a:off x="5989320" y="4480560"/>
            <a:ext cx="2011680" cy="310896"/>
          </a:xfrm>
          <a:prstGeom prst="rect">
            <a:avLst/>
          </a:prstGeom>
          <a:noFill/>
          <a:ln/>
        </p:spPr>
        <p:txBody>
          <a:bodyPr wrap="square" lIns="0" tIns="0" rIns="0" bIns="0" rtlCol="0" anchor="ctr"/>
          <a:lstStyle/>
          <a:p>
            <a:pPr indent="0" marL="0">
              <a:buNone/>
            </a:pPr>
            <a:r>
              <a:rPr lang="en-US" sz="1000" b="1" dirty="0">
                <a:solidFill>
                  <a:srgbClr val="065A82"/>
                </a:solidFill>
                <a:latin typeface="Courier New" pitchFamily="34" charset="0"/>
                <a:ea typeface="Courier New" pitchFamily="34" charset="-122"/>
                <a:cs typeface="Courier New" pitchFamily="34" charset="-120"/>
              </a:rPr>
              <a:t>scripts/</a:t>
            </a:r>
            <a:endParaRPr lang="en-US" sz="1000" dirty="0"/>
          </a:p>
        </p:txBody>
      </p:sp>
      <p:sp>
        <p:nvSpPr>
          <p:cNvPr id="37" name="Text 35"/>
          <p:cNvSpPr/>
          <p:nvPr/>
        </p:nvSpPr>
        <p:spPr>
          <a:xfrm>
            <a:off x="8001000" y="448056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1B2733"/>
                </a:solidFill>
                <a:latin typeface="Calibri" pitchFamily="34" charset="0"/>
                <a:ea typeface="Calibri" pitchFamily="34" charset="-122"/>
                <a:cs typeface="Calibri" pitchFamily="34" charset="-120"/>
              </a:rPr>
              <a:t>sft.py, dpo.py, grpo.py, kto.py, reward.py, rloo.py</a:t>
            </a:r>
            <a:endParaRPr lang="en-US" sz="1000" dirty="0"/>
          </a:p>
        </p:txBody>
      </p:sp>
      <p:sp>
        <p:nvSpPr>
          <p:cNvPr id="38" name="Text 36"/>
          <p:cNvSpPr/>
          <p:nvPr/>
        </p:nvSpPr>
        <p:spPr>
          <a:xfrm>
            <a:off x="5989320" y="484632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models/</a:t>
            </a:r>
            <a:endParaRPr lang="en-US" sz="1000" dirty="0"/>
          </a:p>
        </p:txBody>
      </p:sp>
      <p:sp>
        <p:nvSpPr>
          <p:cNvPr id="39" name="Text 37"/>
          <p:cNvSpPr/>
          <p:nvPr/>
        </p:nvSpPr>
        <p:spPr>
          <a:xfrm>
            <a:off x="8001000" y="484632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Model wrappers, create_reference_model()</a:t>
            </a:r>
            <a:endParaRPr lang="en-US" sz="1000" dirty="0"/>
          </a:p>
        </p:txBody>
      </p:sp>
      <p:sp>
        <p:nvSpPr>
          <p:cNvPr id="40" name="Text 38"/>
          <p:cNvSpPr/>
          <p:nvPr/>
        </p:nvSpPr>
        <p:spPr>
          <a:xfrm>
            <a:off x="5989320" y="521208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cli/</a:t>
            </a:r>
            <a:endParaRPr lang="en-US" sz="1000" dirty="0"/>
          </a:p>
        </p:txBody>
      </p:sp>
      <p:sp>
        <p:nvSpPr>
          <p:cNvPr id="41" name="Text 39"/>
          <p:cNvSpPr/>
          <p:nvPr/>
        </p:nvSpPr>
        <p:spPr>
          <a:xfrm>
            <a:off x="8001000" y="521208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The trl command</a:t>
            </a:r>
            <a:endParaRPr lang="en-US" sz="1000" dirty="0"/>
          </a:p>
        </p:txBody>
      </p:sp>
      <p:sp>
        <p:nvSpPr>
          <p:cNvPr id="42" name="Text 40"/>
          <p:cNvSpPr/>
          <p:nvPr/>
        </p:nvSpPr>
        <p:spPr>
          <a:xfrm>
            <a:off x="5989320" y="5577840"/>
            <a:ext cx="2011680" cy="310896"/>
          </a:xfrm>
          <a:prstGeom prst="rect">
            <a:avLst/>
          </a:prstGeom>
          <a:noFill/>
          <a:ln/>
        </p:spPr>
        <p:txBody>
          <a:bodyPr wrap="square" lIns="0" tIns="0" rIns="0" bIns="0" rtlCol="0" anchor="ctr"/>
          <a:lstStyle/>
          <a:p>
            <a:pPr indent="0" marL="0">
              <a:buNone/>
            </a:pPr>
            <a:r>
              <a:rPr lang="en-US" sz="1000" dirty="0">
                <a:solidFill>
                  <a:srgbClr val="5C7080"/>
                </a:solidFill>
                <a:latin typeface="Courier New" pitchFamily="34" charset="0"/>
                <a:ea typeface="Courier New" pitchFamily="34" charset="-122"/>
                <a:cs typeface="Courier New" pitchFamily="34" charset="-120"/>
              </a:rPr>
              <a:t>data_utils.py</a:t>
            </a:r>
            <a:endParaRPr lang="en-US" sz="1000" dirty="0"/>
          </a:p>
        </p:txBody>
      </p:sp>
      <p:sp>
        <p:nvSpPr>
          <p:cNvPr id="43" name="Text 41"/>
          <p:cNvSpPr/>
          <p:nvPr/>
        </p:nvSpPr>
        <p:spPr>
          <a:xfrm>
            <a:off x="8001000" y="5577840"/>
            <a:ext cx="3611880" cy="310896"/>
          </a:xfrm>
          <a:prstGeom prst="rect">
            <a:avLst/>
          </a:prstGeom>
          <a:noFill/>
          <a:ln/>
        </p:spPr>
        <p:txBody>
          <a:bodyPr wrap="square" lIns="0" tIns="0" rIns="0" bIns="0" rtlCol="0" anchor="ctr"/>
          <a:lstStyle/>
          <a:p>
            <a:pPr indent="0" marL="0">
              <a:lnSpc>
                <a:spcPct val="120000"/>
              </a:lnSpc>
              <a:buNone/>
            </a:pPr>
            <a:r>
              <a:rPr lang="en-US" sz="1000" dirty="0">
                <a:solidFill>
                  <a:srgbClr val="5C7080"/>
                </a:solidFill>
                <a:latin typeface="Calibri" pitchFamily="34" charset="0"/>
                <a:ea typeface="Calibri" pitchFamily="34" charset="-122"/>
                <a:cs typeface="Calibri" pitchFamily="34" charset="-120"/>
              </a:rPr>
              <a:t>apply_chat_template, pack_dataset, unpair_preference_dataset</a:t>
            </a:r>
            <a:endParaRPr lang="en-US" sz="1000" dirty="0"/>
          </a:p>
        </p:txBody>
      </p:sp>
      <p:sp>
        <p:nvSpPr>
          <p:cNvPr id="44" name="Text 4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45" name="Text 4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CENTRAL IDEA</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One Training Loop, Six Losses</a:t>
            </a:r>
            <a:endParaRPr lang="en-US" sz="3000" dirty="0"/>
          </a:p>
        </p:txBody>
      </p:sp>
      <p:sp>
        <p:nvSpPr>
          <p:cNvPr id="4" name="Shape 2"/>
          <p:cNvSpPr/>
          <p:nvPr/>
        </p:nvSpPr>
        <p:spPr>
          <a:xfrm>
            <a:off x="8778240" y="777240"/>
            <a:ext cx="2834640" cy="310896"/>
          </a:xfrm>
          <a:prstGeom prst="roundRect">
            <a:avLst>
              <a:gd name="adj" fmla="val 14706"/>
            </a:avLst>
          </a:prstGeom>
          <a:solidFill>
            <a:srgbClr val="CFE8F0"/>
          </a:solidFill>
          <a:ln/>
        </p:spPr>
      </p:sp>
      <p:sp>
        <p:nvSpPr>
          <p:cNvPr id="5" name="Text 3"/>
          <p:cNvSpPr/>
          <p:nvPr/>
        </p:nvSpPr>
        <p:spPr>
          <a:xfrm>
            <a:off x="8778240" y="777240"/>
            <a:ext cx="28346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trl/trainer/base_trainer.py</a:t>
            </a:r>
            <a:endParaRPr lang="en-US" sz="1000" dirty="0"/>
          </a:p>
        </p:txBody>
      </p:sp>
      <p:sp>
        <p:nvSpPr>
          <p:cNvPr id="6" name="Text 4"/>
          <p:cNvSpPr/>
          <p:nvPr/>
        </p:nvSpPr>
        <p:spPr>
          <a:xfrm>
            <a:off x="548640" y="1417320"/>
            <a:ext cx="11064240" cy="566928"/>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Read the trainer directory and the same shape appears six times. Every stable trainer subclasses the same private base, which itself subclasses the Transformers Trainer. None of them reimplements batching, checkpointing, logging, or distribution. What each one actually contributes is an override of compute_loss().</a:t>
            </a:r>
            <a:endParaRPr lang="en-US" sz="1350" dirty="0"/>
          </a:p>
        </p:txBody>
      </p:sp>
      <p:sp>
        <p:nvSpPr>
          <p:cNvPr id="7" name="Shape 5"/>
          <p:cNvSpPr/>
          <p:nvPr/>
        </p:nvSpPr>
        <p:spPr>
          <a:xfrm>
            <a:off x="548640" y="2148840"/>
            <a:ext cx="6675120" cy="2880360"/>
          </a:xfrm>
          <a:prstGeom prst="roundRect">
            <a:avLst>
              <a:gd name="adj" fmla="val 1905"/>
            </a:avLst>
          </a:prstGeom>
          <a:solidFill>
            <a:srgbClr val="0B2942"/>
          </a:solidFill>
          <a:ln/>
        </p:spPr>
      </p:sp>
      <p:sp>
        <p:nvSpPr>
          <p:cNvPr id="8" name="Text 6"/>
          <p:cNvSpPr/>
          <p:nvPr/>
        </p:nvSpPr>
        <p:spPr>
          <a:xfrm>
            <a:off x="749808" y="2276856"/>
            <a:ext cx="6272784" cy="2624328"/>
          </a:xfrm>
          <a:prstGeom prst="rect">
            <a:avLst/>
          </a:prstGeom>
          <a:noFill/>
          <a:ln/>
        </p:spPr>
        <p:txBody>
          <a:bodyPr wrap="square" lIns="0" tIns="0" rIns="0" bIns="0" rtlCol="0" anchor="ctr"/>
          <a:lstStyle/>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class _BaseTrainer(Trainer):        # trl/trainer/base_trainer.py</a:t>
            </a: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    ...</a:t>
            </a:r>
            <a:endParaRPr lang="en-US" sz="1050" dirty="0"/>
          </a:p>
          <a:p>
            <a:pPr indent="0" marL="0">
              <a:lnSpc>
                <a:spcPct val="122000"/>
              </a:lnSpc>
              <a:buNone/>
            </a:pP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class SFTTrainer(_BaseTrainer):     # sft_trainer.py</a:t>
            </a: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    def compute_loss(self, model, inputs, ...):  ...</a:t>
            </a:r>
            <a:endParaRPr lang="en-US" sz="1050" dirty="0"/>
          </a:p>
          <a:p>
            <a:pPr indent="0" marL="0">
              <a:lnSpc>
                <a:spcPct val="122000"/>
              </a:lnSpc>
              <a:buNone/>
            </a:pP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class RewardTrainer(_BaseTrainer):  # reward_trainer.py</a:t>
            </a: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    def compute_loss(self, model, inputs, ...):  ...</a:t>
            </a:r>
            <a:endParaRPr lang="en-US" sz="1050" dirty="0"/>
          </a:p>
          <a:p>
            <a:pPr indent="0" marL="0">
              <a:lnSpc>
                <a:spcPct val="122000"/>
              </a:lnSpc>
              <a:buNone/>
            </a:pP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class DPOTrainer(_BaseTrainer):     # dpo_trainer.py</a:t>
            </a: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    def compute_ref_log_probs(self, model, inputs):  ...</a:t>
            </a:r>
            <a:endParaRPr lang="en-US" sz="1050" dirty="0"/>
          </a:p>
          <a:p>
            <a:pPr indent="0" marL="0">
              <a:lnSpc>
                <a:spcPct val="122000"/>
              </a:lnSpc>
              <a:buNone/>
            </a:pPr>
            <a:r>
              <a:rPr lang="en-US" sz="1050" dirty="0">
                <a:solidFill>
                  <a:srgbClr val="CFE8F0"/>
                </a:solidFill>
                <a:latin typeface="Courier New" pitchFamily="34" charset="0"/>
                <a:ea typeface="Courier New" pitchFamily="34" charset="-122"/>
                <a:cs typeface="Courier New" pitchFamily="34" charset="-120"/>
              </a:rPr>
              <a:t>    def compute_loss(self, model, inputs, ...):  ...</a:t>
            </a:r>
            <a:endParaRPr lang="en-US" sz="1050" dirty="0"/>
          </a:p>
        </p:txBody>
      </p:sp>
      <p:sp>
        <p:nvSpPr>
          <p:cNvPr id="9" name="Shape 7"/>
          <p:cNvSpPr/>
          <p:nvPr/>
        </p:nvSpPr>
        <p:spPr>
          <a:xfrm>
            <a:off x="7498080" y="2148840"/>
            <a:ext cx="4114800" cy="2880360"/>
          </a:xfrm>
          <a:prstGeom prst="roundRect">
            <a:avLst>
              <a:gd name="adj" fmla="val 2540"/>
            </a:avLst>
          </a:prstGeom>
          <a:solidFill>
            <a:srgbClr val="16385A"/>
          </a:solidFill>
          <a:ln/>
          <a:effectLst>
            <a:outerShdw sx="100000" sy="100000" kx="0" ky="0" algn="bl" rotWithShape="0" blurRad="101600" dist="25400" dir="5400000">
              <a:srgbClr val="1B2733">
                <a:alpha val="8000"/>
              </a:srgbClr>
            </a:outerShdw>
          </a:effectLst>
        </p:spPr>
      </p:sp>
      <p:sp>
        <p:nvSpPr>
          <p:cNvPr id="10" name="Text 8"/>
          <p:cNvSpPr/>
          <p:nvPr/>
        </p:nvSpPr>
        <p:spPr>
          <a:xfrm>
            <a:off x="7772400" y="2331720"/>
            <a:ext cx="356616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Why this matters for reading it</a:t>
            </a:r>
            <a:endParaRPr lang="en-US" sz="1350" dirty="0"/>
          </a:p>
        </p:txBody>
      </p:sp>
      <p:sp>
        <p:nvSpPr>
          <p:cNvPr id="11" name="Text 9"/>
          <p:cNvSpPr/>
          <p:nvPr/>
        </p:nvSpPr>
        <p:spPr>
          <a:xfrm>
            <a:off x="7772400" y="2788920"/>
            <a:ext cx="3566160" cy="2103120"/>
          </a:xfrm>
          <a:prstGeom prst="rect">
            <a:avLst/>
          </a:prstGeom>
          <a:noFill/>
          <a:ln/>
        </p:spPr>
        <p:txBody>
          <a:bodyPr wrap="square" rtlCol="0" anchor="ctr"/>
          <a:lstStyle/>
          <a:p>
            <a:pPr indent="0" marL="0">
              <a:lnSpc>
                <a:spcPct val="128000"/>
              </a:lnSpc>
              <a:buNone/>
            </a:pPr>
            <a:r>
              <a:rPr lang="en-US" sz="1150" dirty="0">
                <a:solidFill>
                  <a:srgbClr val="9FC3D9"/>
                </a:solidFill>
                <a:latin typeface="Calibri" pitchFamily="34" charset="0"/>
                <a:ea typeface="Calibri" pitchFamily="34" charset="-122"/>
                <a:cs typeface="Calibri" pitchFamily="34" charset="-120"/>
              </a:rPr>
              <a:t>You do not have to understand six training loops. There is one loop, inherited. The entire intellectual content of a method — what it thinks a good response is and how it pushes the model toward one — lives in that one overridden function.</a:t>
            </a:r>
            <a:endParaRPr lang="en-US" sz="1150" dirty="0"/>
          </a:p>
          <a:p>
            <a:pPr indent="0" marL="0">
              <a:lnSpc>
                <a:spcPct val="128000"/>
              </a:lnSpc>
              <a:buNone/>
            </a:pPr>
            <a:endParaRPr lang="en-US" sz="1150" dirty="0"/>
          </a:p>
          <a:p>
            <a:pPr indent="0" marL="0">
              <a:lnSpc>
                <a:spcPct val="128000"/>
              </a:lnSpc>
              <a:buNone/>
            </a:pPr>
            <a:r>
              <a:rPr lang="en-US" sz="1150" dirty="0">
                <a:solidFill>
                  <a:srgbClr val="9FC3D9"/>
                </a:solidFill>
                <a:latin typeface="Calibri" pitchFamily="34" charset="0"/>
                <a:ea typeface="Calibri" pitchFamily="34" charset="-122"/>
                <a:cs typeface="Calibri" pitchFamily="34" charset="-120"/>
              </a:rPr>
              <a:t>So the way to read this library is to open two trainers and diff their compute_loss. Everything else is shared scaffolding.</a:t>
            </a:r>
            <a:endParaRPr lang="en-US" sz="1150" dirty="0"/>
          </a:p>
        </p:txBody>
      </p:sp>
      <p:sp>
        <p:nvSpPr>
          <p:cNvPr id="12" name="Shape 10"/>
          <p:cNvSpPr/>
          <p:nvPr/>
        </p:nvSpPr>
        <p:spPr>
          <a:xfrm>
            <a:off x="548640" y="5212080"/>
            <a:ext cx="11064240" cy="658368"/>
          </a:xfrm>
          <a:prstGeom prst="roundRect">
            <a:avLst>
              <a:gd name="adj" fmla="val 8333"/>
            </a:avLst>
          </a:prstGeom>
          <a:solidFill>
            <a:srgbClr val="CFE8F0"/>
          </a:solidFill>
          <a:ln/>
        </p:spPr>
      </p:sp>
      <p:sp>
        <p:nvSpPr>
          <p:cNvPr id="13" name="Text 11"/>
          <p:cNvSpPr/>
          <p:nvPr/>
        </p:nvSpPr>
        <p:spPr>
          <a:xfrm>
            <a:off x="777240" y="5212080"/>
            <a:ext cx="10607040" cy="658368"/>
          </a:xfrm>
          <a:prstGeom prst="rect">
            <a:avLst/>
          </a:prstGeom>
          <a:noFill/>
          <a:ln/>
        </p:spPr>
        <p:txBody>
          <a:bodyPr wrap="square" lIns="0" tIns="0" rIns="0" bIns="0" rtlCol="0" anchor="ctr"/>
          <a:lstStyle/>
          <a:p>
            <a:pPr indent="0" marL="0">
              <a:lnSpc>
                <a:spcPct val="115000"/>
              </a:lnSpc>
              <a:buNone/>
            </a:pPr>
            <a:r>
              <a:rPr lang="en-US" sz="1150" dirty="0">
                <a:solidFill>
                  <a:srgbClr val="065A82"/>
                </a:solidFill>
                <a:latin typeface="Calibri" pitchFamily="34" charset="0"/>
                <a:ea typeface="Calibri" pitchFamily="34" charset="-122"/>
                <a:cs typeface="Calibri" pitchFamily="34" charset="-120"/>
              </a:rPr>
              <a:t>There is a second override worth watching for: training_step(). On four of the six it's a thin wrapper that calls super(). On the other two it isn't — and that difference is the whole on-policy story, made visible in the class definitions. We'll come back to it on slide 19.</a:t>
            </a:r>
            <a:endParaRPr lang="en-US" sz="1150" dirty="0"/>
          </a:p>
        </p:txBody>
      </p:sp>
      <p:sp>
        <p:nvSpPr>
          <p:cNvPr id="14" name="Text 12"/>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15" name="Text 13"/>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TAXONOMY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Six Trainers, Sorted by Signal Source</a:t>
            </a:r>
            <a:endParaRPr lang="en-US" sz="3000" dirty="0"/>
          </a:p>
        </p:txBody>
      </p:sp>
      <p:sp>
        <p:nvSpPr>
          <p:cNvPr id="4" name="Shape 2"/>
          <p:cNvSpPr/>
          <p:nvPr/>
        </p:nvSpPr>
        <p:spPr>
          <a:xfrm>
            <a:off x="8183880" y="1417320"/>
            <a:ext cx="3429000" cy="292608"/>
          </a:xfrm>
          <a:prstGeom prst="roundRect">
            <a:avLst>
              <a:gd name="adj" fmla="val 15625"/>
            </a:avLst>
          </a:prstGeom>
          <a:solidFill>
            <a:srgbClr val="E4F4EC"/>
          </a:solidFill>
          <a:ln/>
        </p:spPr>
      </p:sp>
      <p:sp>
        <p:nvSpPr>
          <p:cNvPr id="5" name="Text 3"/>
          <p:cNvSpPr/>
          <p:nvPr/>
        </p:nvSpPr>
        <p:spPr>
          <a:xfrm>
            <a:off x="8183880" y="1417320"/>
            <a:ext cx="342900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3, Three kinds of signal</a:t>
            </a:r>
            <a:endParaRPr lang="en-US" sz="950" dirty="0"/>
          </a:p>
        </p:txBody>
      </p:sp>
      <p:sp>
        <p:nvSpPr>
          <p:cNvPr id="6" name="Text 4"/>
          <p:cNvSpPr/>
          <p:nvPr/>
        </p:nvSpPr>
        <p:spPr>
          <a:xfrm>
            <a:off x="548640" y="1371600"/>
            <a:ext cx="7498080" cy="365760"/>
          </a:xfrm>
          <a:prstGeom prst="rect">
            <a:avLst/>
          </a:prstGeom>
          <a:noFill/>
          <a:ln/>
        </p:spPr>
        <p:txBody>
          <a:bodyPr wrap="square" rtlCol="0" anchor="ctr"/>
          <a:lstStyle/>
          <a:p>
            <a:pPr indent="0" marL="0">
              <a:lnSpc>
                <a:spcPct val="120000"/>
              </a:lnSpc>
              <a:buNone/>
            </a:pPr>
            <a:r>
              <a:rPr lang="en-US" sz="1150" dirty="0">
                <a:solidFill>
                  <a:srgbClr val="5C7080"/>
                </a:solidFill>
                <a:latin typeface="Calibri" pitchFamily="34" charset="0"/>
                <a:ea typeface="Calibri" pitchFamily="34" charset="-122"/>
                <a:cs typeface="Calibri" pitchFamily="34" charset="-120"/>
              </a:rPr>
              <a:t>Dataset types below are the library's own documented requirements, not a paraphrase — they come from the trainer→dataset-type table in the docs.</a:t>
            </a:r>
            <a:endParaRPr lang="en-US" sz="1150" dirty="0"/>
          </a:p>
        </p:txBody>
      </p:sp>
      <p:sp>
        <p:nvSpPr>
          <p:cNvPr id="7" name="Shape 5"/>
          <p:cNvSpPr/>
          <p:nvPr/>
        </p:nvSpPr>
        <p:spPr>
          <a:xfrm>
            <a:off x="548640" y="1938528"/>
            <a:ext cx="1801368" cy="384048"/>
          </a:xfrm>
          <a:prstGeom prst="roundRect">
            <a:avLst>
              <a:gd name="adj" fmla="val 9524"/>
            </a:avLst>
          </a:prstGeom>
          <a:solidFill>
            <a:srgbClr val="065A82"/>
          </a:solidFill>
          <a:ln/>
        </p:spPr>
      </p:sp>
      <p:sp>
        <p:nvSpPr>
          <p:cNvPr id="8" name="Text 6"/>
          <p:cNvSpPr/>
          <p:nvPr/>
        </p:nvSpPr>
        <p:spPr>
          <a:xfrm>
            <a:off x="658368" y="1938528"/>
            <a:ext cx="160020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Trainer</a:t>
            </a:r>
            <a:endParaRPr lang="en-US" sz="1050" dirty="0"/>
          </a:p>
        </p:txBody>
      </p:sp>
      <p:sp>
        <p:nvSpPr>
          <p:cNvPr id="9" name="Shape 7"/>
          <p:cNvSpPr/>
          <p:nvPr/>
        </p:nvSpPr>
        <p:spPr>
          <a:xfrm>
            <a:off x="2423160" y="1938528"/>
            <a:ext cx="2258568" cy="384048"/>
          </a:xfrm>
          <a:prstGeom prst="roundRect">
            <a:avLst>
              <a:gd name="adj" fmla="val 9524"/>
            </a:avLst>
          </a:prstGeom>
          <a:solidFill>
            <a:srgbClr val="065A82"/>
          </a:solidFill>
          <a:ln/>
        </p:spPr>
      </p:sp>
      <p:sp>
        <p:nvSpPr>
          <p:cNvPr id="10" name="Text 8"/>
          <p:cNvSpPr/>
          <p:nvPr/>
        </p:nvSpPr>
        <p:spPr>
          <a:xfrm>
            <a:off x="2532888" y="1938528"/>
            <a:ext cx="205740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Expected dataset</a:t>
            </a:r>
            <a:endParaRPr lang="en-US" sz="1050" dirty="0"/>
          </a:p>
        </p:txBody>
      </p:sp>
      <p:sp>
        <p:nvSpPr>
          <p:cNvPr id="11" name="Shape 9"/>
          <p:cNvSpPr/>
          <p:nvPr/>
        </p:nvSpPr>
        <p:spPr>
          <a:xfrm>
            <a:off x="4754880" y="1938528"/>
            <a:ext cx="1618488" cy="384048"/>
          </a:xfrm>
          <a:prstGeom prst="roundRect">
            <a:avLst>
              <a:gd name="adj" fmla="val 9524"/>
            </a:avLst>
          </a:prstGeom>
          <a:solidFill>
            <a:srgbClr val="065A82"/>
          </a:solidFill>
          <a:ln/>
        </p:spPr>
      </p:sp>
      <p:sp>
        <p:nvSpPr>
          <p:cNvPr id="12" name="Text 10"/>
          <p:cNvSpPr/>
          <p:nvPr/>
        </p:nvSpPr>
        <p:spPr>
          <a:xfrm>
            <a:off x="4864608" y="1938528"/>
            <a:ext cx="141732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Signal</a:t>
            </a:r>
            <a:endParaRPr lang="en-US" sz="1050" dirty="0"/>
          </a:p>
        </p:txBody>
      </p:sp>
      <p:sp>
        <p:nvSpPr>
          <p:cNvPr id="13" name="Shape 11"/>
          <p:cNvSpPr/>
          <p:nvPr/>
        </p:nvSpPr>
        <p:spPr>
          <a:xfrm>
            <a:off x="6446520" y="1938528"/>
            <a:ext cx="5093208" cy="384048"/>
          </a:xfrm>
          <a:prstGeom prst="roundRect">
            <a:avLst>
              <a:gd name="adj" fmla="val 9524"/>
            </a:avLst>
          </a:prstGeom>
          <a:solidFill>
            <a:srgbClr val="065A82"/>
          </a:solidFill>
          <a:ln/>
        </p:spPr>
      </p:sp>
      <p:sp>
        <p:nvSpPr>
          <p:cNvPr id="14" name="Text 12"/>
          <p:cNvSpPr/>
          <p:nvPr/>
        </p:nvSpPr>
        <p:spPr>
          <a:xfrm>
            <a:off x="6556248" y="1938528"/>
            <a:ext cx="4892040" cy="384048"/>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What the loss rewards</a:t>
            </a:r>
            <a:endParaRPr lang="en-US" sz="1050" dirty="0"/>
          </a:p>
        </p:txBody>
      </p:sp>
      <p:sp>
        <p:nvSpPr>
          <p:cNvPr id="15" name="Shape 13"/>
          <p:cNvSpPr/>
          <p:nvPr/>
        </p:nvSpPr>
        <p:spPr>
          <a:xfrm>
            <a:off x="548640" y="2414016"/>
            <a:ext cx="11064240" cy="530352"/>
          </a:xfrm>
          <a:prstGeom prst="roundRect">
            <a:avLst>
              <a:gd name="adj" fmla="val 8621"/>
            </a:avLst>
          </a:prstGeom>
          <a:solidFill>
            <a:srgbClr val="E4EFF8"/>
          </a:solidFill>
          <a:ln/>
        </p:spPr>
      </p:sp>
      <p:sp>
        <p:nvSpPr>
          <p:cNvPr id="16" name="Text 14"/>
          <p:cNvSpPr/>
          <p:nvPr/>
        </p:nvSpPr>
        <p:spPr>
          <a:xfrm>
            <a:off x="658368" y="2414016"/>
            <a:ext cx="160020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ourier New" pitchFamily="34" charset="0"/>
                <a:ea typeface="Courier New" pitchFamily="34" charset="-122"/>
                <a:cs typeface="Courier New" pitchFamily="34" charset="-120"/>
              </a:rPr>
              <a:t>SFTTrainer</a:t>
            </a:r>
            <a:endParaRPr lang="en-US" sz="1050" dirty="0"/>
          </a:p>
        </p:txBody>
      </p:sp>
      <p:sp>
        <p:nvSpPr>
          <p:cNvPr id="17" name="Text 15"/>
          <p:cNvSpPr/>
          <p:nvPr/>
        </p:nvSpPr>
        <p:spPr>
          <a:xfrm>
            <a:off x="2532888" y="2414016"/>
            <a:ext cx="2057400" cy="530352"/>
          </a:xfrm>
          <a:prstGeom prst="rect">
            <a:avLst/>
          </a:prstGeom>
          <a:noFill/>
          <a:ln/>
        </p:spPr>
        <p:txBody>
          <a:bodyPr wrap="square" lIns="0" tIns="0" rIns="0" bIns="0" rtlCol="0" anchor="ctr"/>
          <a:lstStyle/>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Language modeling</a:t>
            </a:r>
            <a:endParaRPr lang="en-US" sz="900" dirty="0"/>
          </a:p>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or prompt-completion</a:t>
            </a:r>
            <a:endParaRPr lang="en-US" sz="900" dirty="0"/>
          </a:p>
        </p:txBody>
      </p:sp>
      <p:sp>
        <p:nvSpPr>
          <p:cNvPr id="18" name="Text 16"/>
          <p:cNvSpPr/>
          <p:nvPr/>
        </p:nvSpPr>
        <p:spPr>
          <a:xfrm>
            <a:off x="4864608" y="2414016"/>
            <a:ext cx="141732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alibri" pitchFamily="34" charset="0"/>
                <a:ea typeface="Calibri" pitchFamily="34" charset="-122"/>
                <a:cs typeface="Calibri" pitchFamily="34" charset="-120"/>
              </a:rPr>
              <a:t>Demonstration</a:t>
            </a:r>
            <a:endParaRPr lang="en-US" sz="1050" dirty="0"/>
          </a:p>
        </p:txBody>
      </p:sp>
      <p:sp>
        <p:nvSpPr>
          <p:cNvPr id="19" name="Text 17"/>
          <p:cNvSpPr/>
          <p:nvPr/>
        </p:nvSpPr>
        <p:spPr>
          <a:xfrm>
            <a:off x="6556248" y="2414016"/>
            <a:ext cx="4892040" cy="530352"/>
          </a:xfrm>
          <a:prstGeom prst="rect">
            <a:avLst/>
          </a:prstGeom>
          <a:noFill/>
          <a:ln/>
        </p:spPr>
        <p:txBody>
          <a:bodyPr wrap="square" lIns="0" tIns="0" rIns="0" bIns="0" rtlCol="0" anchor="ctr"/>
          <a:lstStyle/>
          <a:p>
            <a:pPr indent="0" marL="0">
              <a:lnSpc>
                <a:spcPct val="105000"/>
              </a:lnSpc>
              <a:buNone/>
            </a:pPr>
            <a:r>
              <a:rPr lang="en-US" sz="950" dirty="0">
                <a:solidFill>
                  <a:srgbClr val="5C7080"/>
                </a:solidFill>
                <a:latin typeface="Calibri" pitchFamily="34" charset="0"/>
                <a:ea typeface="Calibri" pitchFamily="34" charset="-122"/>
                <a:cs typeface="Calibri" pitchFamily="34" charset="-120"/>
              </a:rPr>
              <a:t>Reproducing the reference text token by token. The plain fine-tuning objective.</a:t>
            </a:r>
            <a:endParaRPr lang="en-US" sz="950" dirty="0"/>
          </a:p>
        </p:txBody>
      </p:sp>
      <p:sp>
        <p:nvSpPr>
          <p:cNvPr id="20" name="Shape 18"/>
          <p:cNvSpPr/>
          <p:nvPr/>
        </p:nvSpPr>
        <p:spPr>
          <a:xfrm>
            <a:off x="548640" y="2990088"/>
            <a:ext cx="11064240" cy="530352"/>
          </a:xfrm>
          <a:prstGeom prst="roundRect">
            <a:avLst>
              <a:gd name="adj" fmla="val 8621"/>
            </a:avLst>
          </a:prstGeom>
          <a:solidFill>
            <a:srgbClr val="E4F4EC"/>
          </a:solidFill>
          <a:ln/>
        </p:spPr>
      </p:sp>
      <p:sp>
        <p:nvSpPr>
          <p:cNvPr id="21" name="Text 19"/>
          <p:cNvSpPr/>
          <p:nvPr/>
        </p:nvSpPr>
        <p:spPr>
          <a:xfrm>
            <a:off x="658368" y="2990088"/>
            <a:ext cx="160020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ourier New" pitchFamily="34" charset="0"/>
                <a:ea typeface="Courier New" pitchFamily="34" charset="-122"/>
                <a:cs typeface="Courier New" pitchFamily="34" charset="-120"/>
              </a:rPr>
              <a:t>RewardTrainer</a:t>
            </a:r>
            <a:endParaRPr lang="en-US" sz="1050" dirty="0"/>
          </a:p>
        </p:txBody>
      </p:sp>
      <p:sp>
        <p:nvSpPr>
          <p:cNvPr id="22" name="Text 20"/>
          <p:cNvSpPr/>
          <p:nvPr/>
        </p:nvSpPr>
        <p:spPr>
          <a:xfrm>
            <a:off x="2532888" y="2990088"/>
            <a:ext cx="2057400" cy="530352"/>
          </a:xfrm>
          <a:prstGeom prst="rect">
            <a:avLst/>
          </a:prstGeom>
          <a:noFill/>
          <a:ln/>
        </p:spPr>
        <p:txBody>
          <a:bodyPr wrap="square" lIns="0" tIns="0" rIns="0" bIns="0" rtlCol="0" anchor="ctr"/>
          <a:lstStyle/>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Preference</a:t>
            </a:r>
            <a:endParaRPr lang="en-US" sz="900" dirty="0"/>
          </a:p>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(implicit prompt)</a:t>
            </a:r>
            <a:endParaRPr lang="en-US" sz="900" dirty="0"/>
          </a:p>
        </p:txBody>
      </p:sp>
      <p:sp>
        <p:nvSpPr>
          <p:cNvPr id="23" name="Text 21"/>
          <p:cNvSpPr/>
          <p:nvPr/>
        </p:nvSpPr>
        <p:spPr>
          <a:xfrm>
            <a:off x="4864608" y="2990088"/>
            <a:ext cx="1417320" cy="530352"/>
          </a:xfrm>
          <a:prstGeom prst="rect">
            <a:avLst/>
          </a:prstGeom>
          <a:noFill/>
          <a:ln/>
        </p:spPr>
        <p:txBody>
          <a:bodyPr wrap="square" lIns="0" tIns="0" rIns="0" bIns="0" rtlCol="0" anchor="ctr"/>
          <a:lstStyle/>
          <a:p>
            <a:pPr indent="0" marL="0">
              <a:lnSpc>
                <a:spcPct val="105000"/>
              </a:lnSpc>
              <a:buNone/>
            </a:pPr>
            <a:r>
              <a:rPr lang="en-US" sz="1050" b="1" dirty="0">
                <a:solidFill>
                  <a:srgbClr val="14533D"/>
                </a:solidFill>
                <a:latin typeface="Calibri" pitchFamily="34" charset="0"/>
                <a:ea typeface="Calibri" pitchFamily="34" charset="-122"/>
                <a:cs typeface="Calibri" pitchFamily="34" charset="-120"/>
              </a:rPr>
              <a:t>Judgment</a:t>
            </a:r>
            <a:endParaRPr lang="en-US" sz="1050" dirty="0"/>
          </a:p>
        </p:txBody>
      </p:sp>
      <p:sp>
        <p:nvSpPr>
          <p:cNvPr id="24" name="Text 22"/>
          <p:cNvSpPr/>
          <p:nvPr/>
        </p:nvSpPr>
        <p:spPr>
          <a:xfrm>
            <a:off x="6556248" y="2990088"/>
            <a:ext cx="4892040" cy="530352"/>
          </a:xfrm>
          <a:prstGeom prst="rect">
            <a:avLst/>
          </a:prstGeom>
          <a:noFill/>
          <a:ln/>
        </p:spPr>
        <p:txBody>
          <a:bodyPr wrap="square" lIns="0" tIns="0" rIns="0" bIns="0" rtlCol="0" anchor="ctr"/>
          <a:lstStyle/>
          <a:p>
            <a:pPr indent="0" marL="0">
              <a:lnSpc>
                <a:spcPct val="105000"/>
              </a:lnSpc>
              <a:buNone/>
            </a:pPr>
            <a:r>
              <a:rPr lang="en-US" sz="950" dirty="0">
                <a:solidFill>
                  <a:srgbClr val="5C7080"/>
                </a:solidFill>
                <a:latin typeface="Calibri" pitchFamily="34" charset="0"/>
                <a:ea typeface="Calibri" pitchFamily="34" charset="-122"/>
                <a:cs typeface="Calibri" pitchFamily="34" charset="-120"/>
              </a:rPr>
              <a:t>Scoring the preferred response above the other. Trains a judge, not a generator.</a:t>
            </a:r>
            <a:endParaRPr lang="en-US" sz="950" dirty="0"/>
          </a:p>
        </p:txBody>
      </p:sp>
      <p:sp>
        <p:nvSpPr>
          <p:cNvPr id="25" name="Shape 23"/>
          <p:cNvSpPr/>
          <p:nvPr/>
        </p:nvSpPr>
        <p:spPr>
          <a:xfrm>
            <a:off x="548640" y="3566160"/>
            <a:ext cx="11064240" cy="530352"/>
          </a:xfrm>
          <a:prstGeom prst="roundRect">
            <a:avLst>
              <a:gd name="adj" fmla="val 8621"/>
            </a:avLst>
          </a:prstGeom>
          <a:solidFill>
            <a:srgbClr val="E4F4EC"/>
          </a:solidFill>
          <a:ln/>
        </p:spPr>
      </p:sp>
      <p:sp>
        <p:nvSpPr>
          <p:cNvPr id="26" name="Text 24"/>
          <p:cNvSpPr/>
          <p:nvPr/>
        </p:nvSpPr>
        <p:spPr>
          <a:xfrm>
            <a:off x="658368" y="3566160"/>
            <a:ext cx="160020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ourier New" pitchFamily="34" charset="0"/>
                <a:ea typeface="Courier New" pitchFamily="34" charset="-122"/>
                <a:cs typeface="Courier New" pitchFamily="34" charset="-120"/>
              </a:rPr>
              <a:t>DPOTrainer</a:t>
            </a:r>
            <a:endParaRPr lang="en-US" sz="1050" dirty="0"/>
          </a:p>
        </p:txBody>
      </p:sp>
      <p:sp>
        <p:nvSpPr>
          <p:cNvPr id="27" name="Text 25"/>
          <p:cNvSpPr/>
          <p:nvPr/>
        </p:nvSpPr>
        <p:spPr>
          <a:xfrm>
            <a:off x="2532888" y="3566160"/>
            <a:ext cx="2057400" cy="530352"/>
          </a:xfrm>
          <a:prstGeom prst="rect">
            <a:avLst/>
          </a:prstGeom>
          <a:noFill/>
          <a:ln/>
        </p:spPr>
        <p:txBody>
          <a:bodyPr wrap="square" lIns="0" tIns="0" rIns="0" bIns="0" rtlCol="0" anchor="ctr"/>
          <a:lstStyle/>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Preference</a:t>
            </a:r>
            <a:endParaRPr lang="en-US" sz="900" dirty="0"/>
          </a:p>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(explicit prompt)</a:t>
            </a:r>
            <a:endParaRPr lang="en-US" sz="900" dirty="0"/>
          </a:p>
        </p:txBody>
      </p:sp>
      <p:sp>
        <p:nvSpPr>
          <p:cNvPr id="28" name="Text 26"/>
          <p:cNvSpPr/>
          <p:nvPr/>
        </p:nvSpPr>
        <p:spPr>
          <a:xfrm>
            <a:off x="4864608" y="3566160"/>
            <a:ext cx="1417320" cy="530352"/>
          </a:xfrm>
          <a:prstGeom prst="rect">
            <a:avLst/>
          </a:prstGeom>
          <a:noFill/>
          <a:ln/>
        </p:spPr>
        <p:txBody>
          <a:bodyPr wrap="square" lIns="0" tIns="0" rIns="0" bIns="0" rtlCol="0" anchor="ctr"/>
          <a:lstStyle/>
          <a:p>
            <a:pPr indent="0" marL="0">
              <a:lnSpc>
                <a:spcPct val="105000"/>
              </a:lnSpc>
              <a:buNone/>
            </a:pPr>
            <a:r>
              <a:rPr lang="en-US" sz="1050" b="1" dirty="0">
                <a:solidFill>
                  <a:srgbClr val="14533D"/>
                </a:solidFill>
                <a:latin typeface="Calibri" pitchFamily="34" charset="0"/>
                <a:ea typeface="Calibri" pitchFamily="34" charset="-122"/>
                <a:cs typeface="Calibri" pitchFamily="34" charset="-120"/>
              </a:rPr>
              <a:t>Judgment</a:t>
            </a:r>
            <a:endParaRPr lang="en-US" sz="1050" dirty="0"/>
          </a:p>
        </p:txBody>
      </p:sp>
      <p:sp>
        <p:nvSpPr>
          <p:cNvPr id="29" name="Text 27"/>
          <p:cNvSpPr/>
          <p:nvPr/>
        </p:nvSpPr>
        <p:spPr>
          <a:xfrm>
            <a:off x="6556248" y="3566160"/>
            <a:ext cx="4892040" cy="530352"/>
          </a:xfrm>
          <a:prstGeom prst="rect">
            <a:avLst/>
          </a:prstGeom>
          <a:noFill/>
          <a:ln/>
        </p:spPr>
        <p:txBody>
          <a:bodyPr wrap="square" lIns="0" tIns="0" rIns="0" bIns="0" rtlCol="0" anchor="ctr"/>
          <a:lstStyle/>
          <a:p>
            <a:pPr indent="0" marL="0">
              <a:lnSpc>
                <a:spcPct val="105000"/>
              </a:lnSpc>
              <a:buNone/>
            </a:pPr>
            <a:r>
              <a:rPr lang="en-US" sz="950" dirty="0">
                <a:solidFill>
                  <a:srgbClr val="5C7080"/>
                </a:solidFill>
                <a:latin typeface="Calibri" pitchFamily="34" charset="0"/>
                <a:ea typeface="Calibri" pitchFamily="34" charset="-122"/>
                <a:cs typeface="Calibri" pitchFamily="34" charset="-120"/>
              </a:rPr>
              <a:t>Raising the chosen response's likelihood relative to the rejected one, measured against the frozen reference. No reward model.</a:t>
            </a:r>
            <a:endParaRPr lang="en-US" sz="950" dirty="0"/>
          </a:p>
        </p:txBody>
      </p:sp>
      <p:sp>
        <p:nvSpPr>
          <p:cNvPr id="30" name="Shape 28"/>
          <p:cNvSpPr/>
          <p:nvPr/>
        </p:nvSpPr>
        <p:spPr>
          <a:xfrm>
            <a:off x="548640" y="4142232"/>
            <a:ext cx="11064240" cy="530352"/>
          </a:xfrm>
          <a:prstGeom prst="roundRect">
            <a:avLst>
              <a:gd name="adj" fmla="val 8621"/>
            </a:avLst>
          </a:prstGeom>
          <a:solidFill>
            <a:srgbClr val="E4F4EC"/>
          </a:solidFill>
          <a:ln/>
        </p:spPr>
      </p:sp>
      <p:sp>
        <p:nvSpPr>
          <p:cNvPr id="31" name="Text 29"/>
          <p:cNvSpPr/>
          <p:nvPr/>
        </p:nvSpPr>
        <p:spPr>
          <a:xfrm>
            <a:off x="658368" y="4142232"/>
            <a:ext cx="160020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ourier New" pitchFamily="34" charset="0"/>
                <a:ea typeface="Courier New" pitchFamily="34" charset="-122"/>
                <a:cs typeface="Courier New" pitchFamily="34" charset="-120"/>
              </a:rPr>
              <a:t>KTOTrainer</a:t>
            </a:r>
            <a:endParaRPr lang="en-US" sz="1050" dirty="0"/>
          </a:p>
        </p:txBody>
      </p:sp>
      <p:sp>
        <p:nvSpPr>
          <p:cNvPr id="32" name="Text 30"/>
          <p:cNvSpPr/>
          <p:nvPr/>
        </p:nvSpPr>
        <p:spPr>
          <a:xfrm>
            <a:off x="2532888" y="4142232"/>
            <a:ext cx="2057400" cy="530352"/>
          </a:xfrm>
          <a:prstGeom prst="rect">
            <a:avLst/>
          </a:prstGeom>
          <a:noFill/>
          <a:ln/>
        </p:spPr>
        <p:txBody>
          <a:bodyPr wrap="square" lIns="0" tIns="0" rIns="0" bIns="0" rtlCol="0" anchor="ctr"/>
          <a:lstStyle/>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Unpaired preference</a:t>
            </a:r>
            <a:endParaRPr lang="en-US" sz="900" dirty="0"/>
          </a:p>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or preference</a:t>
            </a:r>
            <a:endParaRPr lang="en-US" sz="900" dirty="0"/>
          </a:p>
        </p:txBody>
      </p:sp>
      <p:sp>
        <p:nvSpPr>
          <p:cNvPr id="33" name="Text 31"/>
          <p:cNvSpPr/>
          <p:nvPr/>
        </p:nvSpPr>
        <p:spPr>
          <a:xfrm>
            <a:off x="4864608" y="4142232"/>
            <a:ext cx="1417320" cy="530352"/>
          </a:xfrm>
          <a:prstGeom prst="rect">
            <a:avLst/>
          </a:prstGeom>
          <a:noFill/>
          <a:ln/>
        </p:spPr>
        <p:txBody>
          <a:bodyPr wrap="square" lIns="0" tIns="0" rIns="0" bIns="0" rtlCol="0" anchor="ctr"/>
          <a:lstStyle/>
          <a:p>
            <a:pPr indent="0" marL="0">
              <a:lnSpc>
                <a:spcPct val="105000"/>
              </a:lnSpc>
              <a:buNone/>
            </a:pPr>
            <a:r>
              <a:rPr lang="en-US" sz="1050" b="1" dirty="0">
                <a:solidFill>
                  <a:srgbClr val="14533D"/>
                </a:solidFill>
                <a:latin typeface="Calibri" pitchFamily="34" charset="0"/>
                <a:ea typeface="Calibri" pitchFamily="34" charset="-122"/>
                <a:cs typeface="Calibri" pitchFamily="34" charset="-120"/>
              </a:rPr>
              <a:t>Judgment</a:t>
            </a:r>
            <a:endParaRPr lang="en-US" sz="1050" dirty="0"/>
          </a:p>
        </p:txBody>
      </p:sp>
      <p:sp>
        <p:nvSpPr>
          <p:cNvPr id="34" name="Text 32"/>
          <p:cNvSpPr/>
          <p:nvPr/>
        </p:nvSpPr>
        <p:spPr>
          <a:xfrm>
            <a:off x="6556248" y="4142232"/>
            <a:ext cx="4892040" cy="530352"/>
          </a:xfrm>
          <a:prstGeom prst="rect">
            <a:avLst/>
          </a:prstGeom>
          <a:noFill/>
          <a:ln/>
        </p:spPr>
        <p:txBody>
          <a:bodyPr wrap="square" lIns="0" tIns="0" rIns="0" bIns="0" rtlCol="0" anchor="ctr"/>
          <a:lstStyle/>
          <a:p>
            <a:pPr indent="0" marL="0">
              <a:lnSpc>
                <a:spcPct val="105000"/>
              </a:lnSpc>
              <a:buNone/>
            </a:pPr>
            <a:r>
              <a:rPr lang="en-US" sz="950" dirty="0">
                <a:solidFill>
                  <a:srgbClr val="5C7080"/>
                </a:solidFill>
                <a:latin typeface="Calibri" pitchFamily="34" charset="0"/>
                <a:ea typeface="Calibri" pitchFamily="34" charset="-122"/>
                <a:cs typeface="Calibri" pitchFamily="34" charset="-120"/>
              </a:rPr>
              <a:t>Same goal, from a thumbs up or down on a single response. Drops the requirement that feedback come in pairs.</a:t>
            </a:r>
            <a:endParaRPr lang="en-US" sz="950" dirty="0"/>
          </a:p>
        </p:txBody>
      </p:sp>
      <p:sp>
        <p:nvSpPr>
          <p:cNvPr id="35" name="Shape 33"/>
          <p:cNvSpPr/>
          <p:nvPr/>
        </p:nvSpPr>
        <p:spPr>
          <a:xfrm>
            <a:off x="548640" y="4718304"/>
            <a:ext cx="11064240" cy="530352"/>
          </a:xfrm>
          <a:prstGeom prst="roundRect">
            <a:avLst>
              <a:gd name="adj" fmla="val 8621"/>
            </a:avLst>
          </a:prstGeom>
          <a:solidFill>
            <a:srgbClr val="E9E8F6"/>
          </a:solidFill>
          <a:ln/>
        </p:spPr>
      </p:sp>
      <p:sp>
        <p:nvSpPr>
          <p:cNvPr id="36" name="Text 34"/>
          <p:cNvSpPr/>
          <p:nvPr/>
        </p:nvSpPr>
        <p:spPr>
          <a:xfrm>
            <a:off x="658368" y="4718304"/>
            <a:ext cx="160020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ourier New" pitchFamily="34" charset="0"/>
                <a:ea typeface="Courier New" pitchFamily="34" charset="-122"/>
                <a:cs typeface="Courier New" pitchFamily="34" charset="-120"/>
              </a:rPr>
              <a:t>GRPOTrainer</a:t>
            </a:r>
            <a:endParaRPr lang="en-US" sz="1050" dirty="0"/>
          </a:p>
        </p:txBody>
      </p:sp>
      <p:sp>
        <p:nvSpPr>
          <p:cNvPr id="37" name="Text 35"/>
          <p:cNvSpPr/>
          <p:nvPr/>
        </p:nvSpPr>
        <p:spPr>
          <a:xfrm>
            <a:off x="2532888" y="4718304"/>
            <a:ext cx="2057400" cy="530352"/>
          </a:xfrm>
          <a:prstGeom prst="rect">
            <a:avLst/>
          </a:prstGeom>
          <a:noFill/>
          <a:ln/>
        </p:spPr>
        <p:txBody>
          <a:bodyPr wrap="square" lIns="0" tIns="0" rIns="0" bIns="0" rtlCol="0" anchor="ctr"/>
          <a:lstStyle/>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Prompt-only</a:t>
            </a:r>
            <a:endParaRPr lang="en-US" sz="900" dirty="0"/>
          </a:p>
        </p:txBody>
      </p:sp>
      <p:sp>
        <p:nvSpPr>
          <p:cNvPr id="38" name="Text 36"/>
          <p:cNvSpPr/>
          <p:nvPr/>
        </p:nvSpPr>
        <p:spPr>
          <a:xfrm>
            <a:off x="4864608" y="4718304"/>
            <a:ext cx="1417320" cy="530352"/>
          </a:xfrm>
          <a:prstGeom prst="rect">
            <a:avLst/>
          </a:prstGeom>
          <a:noFill/>
          <a:ln/>
        </p:spPr>
        <p:txBody>
          <a:bodyPr wrap="square" lIns="0" tIns="0" rIns="0" bIns="0" rtlCol="0" anchor="ctr"/>
          <a:lstStyle/>
          <a:p>
            <a:pPr indent="0" marL="0">
              <a:lnSpc>
                <a:spcPct val="105000"/>
              </a:lnSpc>
              <a:buNone/>
            </a:pPr>
            <a:r>
              <a:rPr lang="en-US" sz="1050" b="1" dirty="0">
                <a:solidFill>
                  <a:srgbClr val="21295C"/>
                </a:solidFill>
                <a:latin typeface="Calibri" pitchFamily="34" charset="0"/>
                <a:ea typeface="Calibri" pitchFamily="34" charset="-122"/>
                <a:cs typeface="Calibri" pitchFamily="34" charset="-120"/>
              </a:rPr>
              <a:t>Verifier or RM</a:t>
            </a:r>
            <a:endParaRPr lang="en-US" sz="1050" dirty="0"/>
          </a:p>
        </p:txBody>
      </p:sp>
      <p:sp>
        <p:nvSpPr>
          <p:cNvPr id="39" name="Text 37"/>
          <p:cNvSpPr/>
          <p:nvPr/>
        </p:nvSpPr>
        <p:spPr>
          <a:xfrm>
            <a:off x="6556248" y="4718304"/>
            <a:ext cx="4892040" cy="530352"/>
          </a:xfrm>
          <a:prstGeom prst="rect">
            <a:avLst/>
          </a:prstGeom>
          <a:noFill/>
          <a:ln/>
        </p:spPr>
        <p:txBody>
          <a:bodyPr wrap="square" lIns="0" tIns="0" rIns="0" bIns="0" rtlCol="0" anchor="ctr"/>
          <a:lstStyle/>
          <a:p>
            <a:pPr indent="0" marL="0">
              <a:lnSpc>
                <a:spcPct val="105000"/>
              </a:lnSpc>
              <a:buNone/>
            </a:pPr>
            <a:r>
              <a:rPr lang="en-US" sz="950" dirty="0">
                <a:solidFill>
                  <a:srgbClr val="5C7080"/>
                </a:solidFill>
                <a:latin typeface="Calibri" pitchFamily="34" charset="0"/>
                <a:ea typeface="Calibri" pitchFamily="34" charset="-122"/>
                <a:cs typeface="Calibri" pitchFamily="34" charset="-120"/>
              </a:rPr>
              <a:t>Completions that beat their own group's average on the same prompt. The group is the baseline.</a:t>
            </a:r>
            <a:endParaRPr lang="en-US" sz="950" dirty="0"/>
          </a:p>
        </p:txBody>
      </p:sp>
      <p:sp>
        <p:nvSpPr>
          <p:cNvPr id="40" name="Shape 38"/>
          <p:cNvSpPr/>
          <p:nvPr/>
        </p:nvSpPr>
        <p:spPr>
          <a:xfrm>
            <a:off x="548640" y="5294376"/>
            <a:ext cx="11064240" cy="530352"/>
          </a:xfrm>
          <a:prstGeom prst="roundRect">
            <a:avLst>
              <a:gd name="adj" fmla="val 8621"/>
            </a:avLst>
          </a:prstGeom>
          <a:solidFill>
            <a:srgbClr val="E9E8F6"/>
          </a:solidFill>
          <a:ln/>
        </p:spPr>
      </p:sp>
      <p:sp>
        <p:nvSpPr>
          <p:cNvPr id="41" name="Text 39"/>
          <p:cNvSpPr/>
          <p:nvPr/>
        </p:nvSpPr>
        <p:spPr>
          <a:xfrm>
            <a:off x="658368" y="5294376"/>
            <a:ext cx="1600200" cy="530352"/>
          </a:xfrm>
          <a:prstGeom prst="rect">
            <a:avLst/>
          </a:prstGeom>
          <a:noFill/>
          <a:ln/>
        </p:spPr>
        <p:txBody>
          <a:bodyPr wrap="square" lIns="0" tIns="0" rIns="0" bIns="0" rtlCol="0" anchor="ctr"/>
          <a:lstStyle/>
          <a:p>
            <a:pPr indent="0" marL="0">
              <a:lnSpc>
                <a:spcPct val="105000"/>
              </a:lnSpc>
              <a:buNone/>
            </a:pPr>
            <a:r>
              <a:rPr lang="en-US" sz="1050" b="1" dirty="0">
                <a:solidFill>
                  <a:srgbClr val="065A82"/>
                </a:solidFill>
                <a:latin typeface="Courier New" pitchFamily="34" charset="0"/>
                <a:ea typeface="Courier New" pitchFamily="34" charset="-122"/>
                <a:cs typeface="Courier New" pitchFamily="34" charset="-120"/>
              </a:rPr>
              <a:t>RLOOTrainer</a:t>
            </a:r>
            <a:endParaRPr lang="en-US" sz="1050" dirty="0"/>
          </a:p>
        </p:txBody>
      </p:sp>
      <p:sp>
        <p:nvSpPr>
          <p:cNvPr id="42" name="Text 40"/>
          <p:cNvSpPr/>
          <p:nvPr/>
        </p:nvSpPr>
        <p:spPr>
          <a:xfrm>
            <a:off x="2532888" y="5294376"/>
            <a:ext cx="2057400" cy="530352"/>
          </a:xfrm>
          <a:prstGeom prst="rect">
            <a:avLst/>
          </a:prstGeom>
          <a:noFill/>
          <a:ln/>
        </p:spPr>
        <p:txBody>
          <a:bodyPr wrap="square" lIns="0" tIns="0" rIns="0" bIns="0" rtlCol="0" anchor="ctr"/>
          <a:lstStyle/>
          <a:p>
            <a:pPr indent="0" marL="0">
              <a:lnSpc>
                <a:spcPct val="105000"/>
              </a:lnSpc>
              <a:buNone/>
            </a:pPr>
            <a:r>
              <a:rPr lang="en-US" sz="900" dirty="0">
                <a:solidFill>
                  <a:srgbClr val="5C7080"/>
                </a:solidFill>
                <a:latin typeface="Calibri" pitchFamily="34" charset="0"/>
                <a:ea typeface="Calibri" pitchFamily="34" charset="-122"/>
                <a:cs typeface="Calibri" pitchFamily="34" charset="-120"/>
              </a:rPr>
              <a:t>Prompt-only</a:t>
            </a:r>
            <a:endParaRPr lang="en-US" sz="900" dirty="0"/>
          </a:p>
        </p:txBody>
      </p:sp>
      <p:sp>
        <p:nvSpPr>
          <p:cNvPr id="43" name="Text 41"/>
          <p:cNvSpPr/>
          <p:nvPr/>
        </p:nvSpPr>
        <p:spPr>
          <a:xfrm>
            <a:off x="4864608" y="5294376"/>
            <a:ext cx="1417320" cy="530352"/>
          </a:xfrm>
          <a:prstGeom prst="rect">
            <a:avLst/>
          </a:prstGeom>
          <a:noFill/>
          <a:ln/>
        </p:spPr>
        <p:txBody>
          <a:bodyPr wrap="square" lIns="0" tIns="0" rIns="0" bIns="0" rtlCol="0" anchor="ctr"/>
          <a:lstStyle/>
          <a:p>
            <a:pPr indent="0" marL="0">
              <a:lnSpc>
                <a:spcPct val="105000"/>
              </a:lnSpc>
              <a:buNone/>
            </a:pPr>
            <a:r>
              <a:rPr lang="en-US" sz="1050" b="1" dirty="0">
                <a:solidFill>
                  <a:srgbClr val="21295C"/>
                </a:solidFill>
                <a:latin typeface="Calibri" pitchFamily="34" charset="0"/>
                <a:ea typeface="Calibri" pitchFamily="34" charset="-122"/>
                <a:cs typeface="Calibri" pitchFamily="34" charset="-120"/>
              </a:rPr>
              <a:t>Verifier or RM</a:t>
            </a:r>
            <a:endParaRPr lang="en-US" sz="1050" dirty="0"/>
          </a:p>
        </p:txBody>
      </p:sp>
      <p:sp>
        <p:nvSpPr>
          <p:cNvPr id="44" name="Text 42"/>
          <p:cNvSpPr/>
          <p:nvPr/>
        </p:nvSpPr>
        <p:spPr>
          <a:xfrm>
            <a:off x="6556248" y="5294376"/>
            <a:ext cx="4892040" cy="530352"/>
          </a:xfrm>
          <a:prstGeom prst="rect">
            <a:avLst/>
          </a:prstGeom>
          <a:noFill/>
          <a:ln/>
        </p:spPr>
        <p:txBody>
          <a:bodyPr wrap="square" lIns="0" tIns="0" rIns="0" bIns="0" rtlCol="0" anchor="ctr"/>
          <a:lstStyle/>
          <a:p>
            <a:pPr indent="0" marL="0">
              <a:lnSpc>
                <a:spcPct val="105000"/>
              </a:lnSpc>
              <a:buNone/>
            </a:pPr>
            <a:r>
              <a:rPr lang="en-US" sz="950" dirty="0">
                <a:solidFill>
                  <a:srgbClr val="5C7080"/>
                </a:solidFill>
                <a:latin typeface="Calibri" pitchFamily="34" charset="0"/>
                <a:ea typeface="Calibri" pitchFamily="34" charset="-122"/>
                <a:cs typeface="Calibri" pitchFamily="34" charset="-120"/>
              </a:rPr>
              <a:t>The same idea with a leave-one-out baseline — each sample is compared against the mean of its siblings.</a:t>
            </a:r>
            <a:endParaRPr lang="en-US" sz="950" dirty="0"/>
          </a:p>
        </p:txBody>
      </p:sp>
      <p:sp>
        <p:nvSpPr>
          <p:cNvPr id="45" name="Shape 43"/>
          <p:cNvSpPr/>
          <p:nvPr/>
        </p:nvSpPr>
        <p:spPr>
          <a:xfrm>
            <a:off x="548640" y="5925312"/>
            <a:ext cx="274320" cy="274320"/>
          </a:xfrm>
          <a:prstGeom prst="roundRect">
            <a:avLst>
              <a:gd name="adj" fmla="val 13333"/>
            </a:avLst>
          </a:prstGeom>
          <a:solidFill>
            <a:srgbClr val="E4EFF8"/>
          </a:solidFill>
          <a:ln w="9525">
            <a:solidFill>
              <a:srgbClr val="065A82"/>
            </a:solidFill>
            <a:prstDash val="solid"/>
          </a:ln>
        </p:spPr>
      </p:sp>
      <p:sp>
        <p:nvSpPr>
          <p:cNvPr id="46" name="Text 44"/>
          <p:cNvSpPr/>
          <p:nvPr/>
        </p:nvSpPr>
        <p:spPr>
          <a:xfrm>
            <a:off x="914400" y="5925312"/>
            <a:ext cx="2514600" cy="274320"/>
          </a:xfrm>
          <a:prstGeom prst="rect">
            <a:avLst/>
          </a:prstGeom>
          <a:noFill/>
          <a:ln/>
        </p:spPr>
        <p:txBody>
          <a:bodyPr wrap="square" lIns="0" tIns="0" rIns="0" bIns="0" rtlCol="0" anchor="ctr"/>
          <a:lstStyle/>
          <a:p>
            <a:pPr indent="0" marL="0">
              <a:buNone/>
            </a:pPr>
            <a:r>
              <a:rPr lang="en-US" sz="950" b="1" dirty="0">
                <a:solidFill>
                  <a:srgbClr val="065A82"/>
                </a:solidFill>
                <a:latin typeface="Calibri" pitchFamily="34" charset="0"/>
                <a:ea typeface="Calibri" pitchFamily="34" charset="-122"/>
                <a:cs typeface="Calibri" pitchFamily="34" charset="-120"/>
              </a:rPr>
              <a:t>Demonstration · </a:t>
            </a:r>
            <a:pPr indent="0" marL="0">
              <a:buNone/>
            </a:pPr>
            <a:r>
              <a:rPr lang="en-US" sz="950" i="1" dirty="0">
                <a:solidFill>
                  <a:srgbClr val="5C7080"/>
                </a:solidFill>
                <a:latin typeface="Calibri" pitchFamily="34" charset="0"/>
                <a:ea typeface="Calibri" pitchFamily="34" charset="-122"/>
                <a:cs typeface="Calibri" pitchFamily="34" charset="-120"/>
              </a:rPr>
              <a:t>the answer is in the dataset</a:t>
            </a:r>
            <a:endParaRPr lang="en-US" sz="950" dirty="0"/>
          </a:p>
        </p:txBody>
      </p:sp>
      <p:sp>
        <p:nvSpPr>
          <p:cNvPr id="47" name="Shape 45"/>
          <p:cNvSpPr/>
          <p:nvPr/>
        </p:nvSpPr>
        <p:spPr>
          <a:xfrm>
            <a:off x="3520440" y="5925312"/>
            <a:ext cx="274320" cy="274320"/>
          </a:xfrm>
          <a:prstGeom prst="roundRect">
            <a:avLst>
              <a:gd name="adj" fmla="val 13333"/>
            </a:avLst>
          </a:prstGeom>
          <a:solidFill>
            <a:srgbClr val="E4F4EC"/>
          </a:solidFill>
          <a:ln w="9525">
            <a:solidFill>
              <a:srgbClr val="14533D"/>
            </a:solidFill>
            <a:prstDash val="solid"/>
          </a:ln>
        </p:spPr>
      </p:sp>
      <p:sp>
        <p:nvSpPr>
          <p:cNvPr id="48" name="Text 46"/>
          <p:cNvSpPr/>
          <p:nvPr/>
        </p:nvSpPr>
        <p:spPr>
          <a:xfrm>
            <a:off x="3886200" y="5925312"/>
            <a:ext cx="2651760" cy="274320"/>
          </a:xfrm>
          <a:prstGeom prst="rect">
            <a:avLst/>
          </a:prstGeom>
          <a:noFill/>
          <a:ln/>
        </p:spPr>
        <p:txBody>
          <a:bodyPr wrap="square" lIns="0" tIns="0" rIns="0" bIns="0" rtlCol="0" anchor="ctr"/>
          <a:lstStyle/>
          <a:p>
            <a:pPr indent="0" marL="0">
              <a:buNone/>
            </a:pPr>
            <a:r>
              <a:rPr lang="en-US" sz="950" b="1" dirty="0">
                <a:solidFill>
                  <a:srgbClr val="14533D"/>
                </a:solidFill>
                <a:latin typeface="Calibri" pitchFamily="34" charset="0"/>
                <a:ea typeface="Calibri" pitchFamily="34" charset="-122"/>
                <a:cs typeface="Calibri" pitchFamily="34" charset="-120"/>
              </a:rPr>
              <a:t>Judgment · </a:t>
            </a:r>
            <a:pPr indent="0" marL="0">
              <a:buNone/>
            </a:pPr>
            <a:r>
              <a:rPr lang="en-US" sz="950" i="1" dirty="0">
                <a:solidFill>
                  <a:srgbClr val="5C7080"/>
                </a:solidFill>
                <a:latin typeface="Calibri" pitchFamily="34" charset="0"/>
                <a:ea typeface="Calibri" pitchFamily="34" charset="-122"/>
                <a:cs typeface="Calibri" pitchFamily="34" charset="-120"/>
              </a:rPr>
              <a:t>a preference is in the dataset</a:t>
            </a:r>
            <a:endParaRPr lang="en-US" sz="950" dirty="0"/>
          </a:p>
        </p:txBody>
      </p:sp>
      <p:sp>
        <p:nvSpPr>
          <p:cNvPr id="49" name="Shape 47"/>
          <p:cNvSpPr/>
          <p:nvPr/>
        </p:nvSpPr>
        <p:spPr>
          <a:xfrm>
            <a:off x="6629400" y="5925312"/>
            <a:ext cx="274320" cy="274320"/>
          </a:xfrm>
          <a:prstGeom prst="roundRect">
            <a:avLst>
              <a:gd name="adj" fmla="val 13333"/>
            </a:avLst>
          </a:prstGeom>
          <a:solidFill>
            <a:srgbClr val="E9E8F6"/>
          </a:solidFill>
          <a:ln w="9525">
            <a:solidFill>
              <a:srgbClr val="21295C"/>
            </a:solidFill>
            <a:prstDash val="solid"/>
          </a:ln>
        </p:spPr>
      </p:sp>
      <p:sp>
        <p:nvSpPr>
          <p:cNvPr id="50" name="Text 48"/>
          <p:cNvSpPr/>
          <p:nvPr/>
        </p:nvSpPr>
        <p:spPr>
          <a:xfrm>
            <a:off x="6995160" y="5925312"/>
            <a:ext cx="4617720" cy="274320"/>
          </a:xfrm>
          <a:prstGeom prst="rect">
            <a:avLst/>
          </a:prstGeom>
          <a:noFill/>
          <a:ln/>
        </p:spPr>
        <p:txBody>
          <a:bodyPr wrap="square" lIns="0" tIns="0" rIns="0" bIns="0" rtlCol="0" anchor="ctr"/>
          <a:lstStyle/>
          <a:p>
            <a:pPr indent="0" marL="0">
              <a:buNone/>
            </a:pPr>
            <a:r>
              <a:rPr lang="en-US" sz="950" b="1" dirty="0">
                <a:solidFill>
                  <a:srgbClr val="21295C"/>
                </a:solidFill>
                <a:latin typeface="Calibri" pitchFamily="34" charset="0"/>
                <a:ea typeface="Calibri" pitchFamily="34" charset="-122"/>
                <a:cs typeface="Calibri" pitchFamily="34" charset="-120"/>
              </a:rPr>
              <a:t>Verifier or RM · </a:t>
            </a:r>
            <a:pPr indent="0" marL="0">
              <a:buNone/>
            </a:pPr>
            <a:r>
              <a:rPr lang="en-US" sz="950" i="1" dirty="0">
                <a:solidFill>
                  <a:srgbClr val="5C7080"/>
                </a:solidFill>
                <a:latin typeface="Calibri" pitchFamily="34" charset="0"/>
                <a:ea typeface="Calibri" pitchFamily="34" charset="-122"/>
                <a:cs typeface="Calibri" pitchFamily="34" charset="-120"/>
              </a:rPr>
              <a:t>no response in the dataset — these two generate their own, then score it</a:t>
            </a:r>
            <a:endParaRPr lang="en-US" sz="950" dirty="0"/>
          </a:p>
        </p:txBody>
      </p:sp>
      <p:sp>
        <p:nvSpPr>
          <p:cNvPr id="51" name="Text 49"/>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52" name="Text 5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PRACTICAL CONSTRAINT</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Your Data Chooses Your Method</a:t>
            </a:r>
            <a:endParaRPr lang="en-US" sz="3000" dirty="0"/>
          </a:p>
        </p:txBody>
      </p:sp>
      <p:sp>
        <p:nvSpPr>
          <p:cNvPr id="4" name="Shape 2"/>
          <p:cNvSpPr/>
          <p:nvPr/>
        </p:nvSpPr>
        <p:spPr>
          <a:xfrm>
            <a:off x="9052560" y="841248"/>
            <a:ext cx="2560320" cy="292608"/>
          </a:xfrm>
          <a:prstGeom prst="roundRect">
            <a:avLst>
              <a:gd name="adj" fmla="val 15625"/>
            </a:avLst>
          </a:prstGeom>
          <a:solidFill>
            <a:srgbClr val="E4F4EC"/>
          </a:solidFill>
          <a:ln/>
        </p:spPr>
      </p:sp>
      <p:sp>
        <p:nvSpPr>
          <p:cNvPr id="5" name="Text 3"/>
          <p:cNvSpPr/>
          <p:nvPr/>
        </p:nvSpPr>
        <p:spPr>
          <a:xfrm>
            <a:off x="9052560" y="841248"/>
            <a:ext cx="256032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5, Data formats</a:t>
            </a:r>
            <a:endParaRPr lang="en-US" sz="950" dirty="0"/>
          </a:p>
        </p:txBody>
      </p:sp>
      <p:sp>
        <p:nvSpPr>
          <p:cNvPr id="6" name="Text 4"/>
          <p:cNvSpPr/>
          <p:nvPr/>
        </p:nvSpPr>
        <p:spPr>
          <a:xfrm>
            <a:off x="548640" y="1371600"/>
            <a:ext cx="8138160" cy="50292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In practice you rarely pick a method and then go collect data for it. You have data, in some format, and that format rules most of the library out. These are the exact record formats the library documents.</a:t>
            </a:r>
            <a:endParaRPr lang="en-US" sz="1250" dirty="0"/>
          </a:p>
        </p:txBody>
      </p:sp>
      <p:sp>
        <p:nvSpPr>
          <p:cNvPr id="7" name="Shape 5"/>
          <p:cNvSpPr/>
          <p:nvPr/>
        </p:nvSpPr>
        <p:spPr>
          <a:xfrm>
            <a:off x="548640" y="1938528"/>
            <a:ext cx="5029200" cy="896112"/>
          </a:xfrm>
          <a:prstGeom prst="roundRect">
            <a:avLst>
              <a:gd name="adj" fmla="val 8163"/>
            </a:avLst>
          </a:prstGeom>
          <a:solidFill>
            <a:srgbClr val="F2F8FA"/>
          </a:solidFill>
          <a:ln/>
          <a:effectLst>
            <a:outerShdw sx="100000" sy="100000" kx="0" ky="0" algn="bl" rotWithShape="0" blurRad="101600" dist="25400" dir="5400000">
              <a:srgbClr val="1B2733">
                <a:alpha val="8000"/>
              </a:srgbClr>
            </a:outerShdw>
          </a:effectLst>
        </p:spPr>
      </p:sp>
      <p:sp>
        <p:nvSpPr>
          <p:cNvPr id="8" name="Shape 6"/>
          <p:cNvSpPr/>
          <p:nvPr/>
        </p:nvSpPr>
        <p:spPr>
          <a:xfrm>
            <a:off x="777240" y="2267712"/>
            <a:ext cx="292608" cy="292608"/>
          </a:xfrm>
          <a:prstGeom prst="ellipse">
            <a:avLst/>
          </a:prstGeom>
          <a:solidFill>
            <a:srgbClr val="065A82"/>
          </a:solidFill>
          <a:ln/>
        </p:spPr>
      </p:sp>
      <p:sp>
        <p:nvSpPr>
          <p:cNvPr id="9" name="Text 7"/>
          <p:cNvSpPr/>
          <p:nvPr/>
        </p:nvSpPr>
        <p:spPr>
          <a:xfrm>
            <a:off x="1207008" y="2066544"/>
            <a:ext cx="4114800" cy="38404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Language modeling</a:t>
            </a:r>
            <a:endParaRPr lang="en-US" sz="1300" dirty="0"/>
          </a:p>
        </p:txBody>
      </p:sp>
      <p:sp>
        <p:nvSpPr>
          <p:cNvPr id="10" name="Text 8"/>
          <p:cNvSpPr/>
          <p:nvPr/>
        </p:nvSpPr>
        <p:spPr>
          <a:xfrm>
            <a:off x="1207008" y="2441448"/>
            <a:ext cx="4114800" cy="320040"/>
          </a:xfrm>
          <a:prstGeom prst="rect">
            <a:avLst/>
          </a:prstGeom>
          <a:noFill/>
          <a:ln/>
        </p:spPr>
        <p:txBody>
          <a:bodyPr wrap="square" lIns="0" tIns="0" rIns="0" bIns="0" rtlCol="0" anchor="ctr"/>
          <a:lstStyle/>
          <a:p>
            <a:pPr indent="0" marL="0">
              <a:buNone/>
            </a:pPr>
            <a:r>
              <a:rPr lang="en-US" sz="1000" dirty="0">
                <a:solidFill>
                  <a:srgbClr val="065A82"/>
                </a:solidFill>
                <a:latin typeface="Courier New" pitchFamily="34" charset="0"/>
                <a:ea typeface="Courier New" pitchFamily="34" charset="-122"/>
                <a:cs typeface="Courier New" pitchFamily="34" charset="-120"/>
              </a:rPr>
              <a:t>SFTTrainer</a:t>
            </a:r>
            <a:endParaRPr lang="en-US" sz="1000" dirty="0"/>
          </a:p>
        </p:txBody>
      </p:sp>
      <p:sp>
        <p:nvSpPr>
          <p:cNvPr id="11" name="Shape 9"/>
          <p:cNvSpPr/>
          <p:nvPr/>
        </p:nvSpPr>
        <p:spPr>
          <a:xfrm>
            <a:off x="5806440" y="1938528"/>
            <a:ext cx="5806440" cy="896112"/>
          </a:xfrm>
          <a:prstGeom prst="roundRect">
            <a:avLst>
              <a:gd name="adj" fmla="val 6122"/>
            </a:avLst>
          </a:prstGeom>
          <a:solidFill>
            <a:srgbClr val="0B2942"/>
          </a:solidFill>
          <a:ln/>
        </p:spPr>
      </p:sp>
      <p:sp>
        <p:nvSpPr>
          <p:cNvPr id="12" name="Text 10"/>
          <p:cNvSpPr/>
          <p:nvPr/>
        </p:nvSpPr>
        <p:spPr>
          <a:xfrm>
            <a:off x="6007608" y="2066544"/>
            <a:ext cx="5404104" cy="640080"/>
          </a:xfrm>
          <a:prstGeom prst="rect">
            <a:avLst/>
          </a:prstGeom>
          <a:noFill/>
          <a:ln/>
        </p:spPr>
        <p:txBody>
          <a:bodyPr wrap="square" lIns="0" tIns="0" rIns="0" bIns="0" rtlCol="0" anchor="ctr"/>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{"text": "The sky is blue."}</a:t>
            </a:r>
            <a:endParaRPr lang="en-US" sz="1000" dirty="0"/>
          </a:p>
        </p:txBody>
      </p:sp>
      <p:sp>
        <p:nvSpPr>
          <p:cNvPr id="13" name="Shape 11"/>
          <p:cNvSpPr/>
          <p:nvPr/>
        </p:nvSpPr>
        <p:spPr>
          <a:xfrm>
            <a:off x="548640" y="2907792"/>
            <a:ext cx="5029200" cy="896112"/>
          </a:xfrm>
          <a:prstGeom prst="roundRect">
            <a:avLst>
              <a:gd name="adj" fmla="val 8163"/>
            </a:avLst>
          </a:prstGeom>
          <a:solidFill>
            <a:srgbClr val="F2F8FA"/>
          </a:solidFill>
          <a:ln/>
          <a:effectLst>
            <a:outerShdw sx="100000" sy="100000" kx="0" ky="0" algn="bl" rotWithShape="0" blurRad="101600" dist="25400" dir="5400000">
              <a:srgbClr val="1B2733">
                <a:alpha val="8000"/>
              </a:srgbClr>
            </a:outerShdw>
          </a:effectLst>
        </p:spPr>
      </p:sp>
      <p:sp>
        <p:nvSpPr>
          <p:cNvPr id="14" name="Shape 12"/>
          <p:cNvSpPr/>
          <p:nvPr/>
        </p:nvSpPr>
        <p:spPr>
          <a:xfrm>
            <a:off x="777240" y="3236976"/>
            <a:ext cx="292608" cy="292608"/>
          </a:xfrm>
          <a:prstGeom prst="ellipse">
            <a:avLst/>
          </a:prstGeom>
          <a:solidFill>
            <a:srgbClr val="1C7293"/>
          </a:solidFill>
          <a:ln/>
        </p:spPr>
      </p:sp>
      <p:sp>
        <p:nvSpPr>
          <p:cNvPr id="15" name="Text 13"/>
          <p:cNvSpPr/>
          <p:nvPr/>
        </p:nvSpPr>
        <p:spPr>
          <a:xfrm>
            <a:off x="1207008" y="3035808"/>
            <a:ext cx="4114800" cy="38404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Preference</a:t>
            </a:r>
            <a:endParaRPr lang="en-US" sz="1300" dirty="0"/>
          </a:p>
        </p:txBody>
      </p:sp>
      <p:sp>
        <p:nvSpPr>
          <p:cNvPr id="16" name="Text 14"/>
          <p:cNvSpPr/>
          <p:nvPr/>
        </p:nvSpPr>
        <p:spPr>
          <a:xfrm>
            <a:off x="1207008" y="3410712"/>
            <a:ext cx="4114800" cy="320040"/>
          </a:xfrm>
          <a:prstGeom prst="rect">
            <a:avLst/>
          </a:prstGeom>
          <a:noFill/>
          <a:ln/>
        </p:spPr>
        <p:txBody>
          <a:bodyPr wrap="square" lIns="0" tIns="0" rIns="0" bIns="0" rtlCol="0" anchor="ctr"/>
          <a:lstStyle/>
          <a:p>
            <a:pPr indent="0" marL="0">
              <a:buNone/>
            </a:pPr>
            <a:r>
              <a:rPr lang="en-US" sz="1000" dirty="0">
                <a:solidFill>
                  <a:srgbClr val="1C7293"/>
                </a:solidFill>
                <a:latin typeface="Courier New" pitchFamily="34" charset="0"/>
                <a:ea typeface="Courier New" pitchFamily="34" charset="-122"/>
                <a:cs typeface="Courier New" pitchFamily="34" charset="-120"/>
              </a:rPr>
              <a:t>RewardTrainer · DPOTrainer</a:t>
            </a:r>
            <a:endParaRPr lang="en-US" sz="1000" dirty="0"/>
          </a:p>
        </p:txBody>
      </p:sp>
      <p:sp>
        <p:nvSpPr>
          <p:cNvPr id="17" name="Shape 15"/>
          <p:cNvSpPr/>
          <p:nvPr/>
        </p:nvSpPr>
        <p:spPr>
          <a:xfrm>
            <a:off x="5806440" y="2907792"/>
            <a:ext cx="5806440" cy="896112"/>
          </a:xfrm>
          <a:prstGeom prst="roundRect">
            <a:avLst>
              <a:gd name="adj" fmla="val 6122"/>
            </a:avLst>
          </a:prstGeom>
          <a:solidFill>
            <a:srgbClr val="0B2942"/>
          </a:solidFill>
          <a:ln/>
        </p:spPr>
      </p:sp>
      <p:sp>
        <p:nvSpPr>
          <p:cNvPr id="18" name="Text 16"/>
          <p:cNvSpPr/>
          <p:nvPr/>
        </p:nvSpPr>
        <p:spPr>
          <a:xfrm>
            <a:off x="6007608" y="3035808"/>
            <a:ext cx="5404104" cy="640080"/>
          </a:xfrm>
          <a:prstGeom prst="rect">
            <a:avLst/>
          </a:prstGeom>
          <a:noFill/>
          <a:ln/>
        </p:spPr>
        <p:txBody>
          <a:bodyPr wrap="square" lIns="0" tIns="0" rIns="0" bIns="0" rtlCol="0" anchor="ctr"/>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{"prompt": "The sky is",</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"chosen": " blue.",</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"rejected": " green."}</a:t>
            </a:r>
            <a:endParaRPr lang="en-US" sz="1000" dirty="0"/>
          </a:p>
        </p:txBody>
      </p:sp>
      <p:sp>
        <p:nvSpPr>
          <p:cNvPr id="19" name="Shape 17"/>
          <p:cNvSpPr/>
          <p:nvPr/>
        </p:nvSpPr>
        <p:spPr>
          <a:xfrm>
            <a:off x="548640" y="3877056"/>
            <a:ext cx="5029200" cy="896112"/>
          </a:xfrm>
          <a:prstGeom prst="roundRect">
            <a:avLst>
              <a:gd name="adj" fmla="val 8163"/>
            </a:avLst>
          </a:prstGeom>
          <a:solidFill>
            <a:srgbClr val="F2F8FA"/>
          </a:solidFill>
          <a:ln/>
          <a:effectLst>
            <a:outerShdw sx="100000" sy="100000" kx="0" ky="0" algn="bl" rotWithShape="0" blurRad="101600" dist="25400" dir="5400000">
              <a:srgbClr val="1B2733">
                <a:alpha val="8000"/>
              </a:srgbClr>
            </a:outerShdw>
          </a:effectLst>
        </p:spPr>
      </p:sp>
      <p:sp>
        <p:nvSpPr>
          <p:cNvPr id="20" name="Shape 18"/>
          <p:cNvSpPr/>
          <p:nvPr/>
        </p:nvSpPr>
        <p:spPr>
          <a:xfrm>
            <a:off x="777240" y="4206240"/>
            <a:ext cx="292608" cy="292608"/>
          </a:xfrm>
          <a:prstGeom prst="ellipse">
            <a:avLst/>
          </a:prstGeom>
          <a:solidFill>
            <a:srgbClr val="21295C"/>
          </a:solidFill>
          <a:ln/>
        </p:spPr>
      </p:sp>
      <p:sp>
        <p:nvSpPr>
          <p:cNvPr id="21" name="Text 19"/>
          <p:cNvSpPr/>
          <p:nvPr/>
        </p:nvSpPr>
        <p:spPr>
          <a:xfrm>
            <a:off x="1207008" y="4005072"/>
            <a:ext cx="4114800" cy="38404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Unpaired preference</a:t>
            </a:r>
            <a:endParaRPr lang="en-US" sz="1300" dirty="0"/>
          </a:p>
        </p:txBody>
      </p:sp>
      <p:sp>
        <p:nvSpPr>
          <p:cNvPr id="22" name="Text 20"/>
          <p:cNvSpPr/>
          <p:nvPr/>
        </p:nvSpPr>
        <p:spPr>
          <a:xfrm>
            <a:off x="1207008" y="4379976"/>
            <a:ext cx="4114800" cy="320040"/>
          </a:xfrm>
          <a:prstGeom prst="rect">
            <a:avLst/>
          </a:prstGeom>
          <a:noFill/>
          <a:ln/>
        </p:spPr>
        <p:txBody>
          <a:bodyPr wrap="square" lIns="0" tIns="0" rIns="0" bIns="0" rtlCol="0" anchor="ctr"/>
          <a:lstStyle/>
          <a:p>
            <a:pPr indent="0" marL="0">
              <a:buNone/>
            </a:pPr>
            <a:r>
              <a:rPr lang="en-US" sz="1000" dirty="0">
                <a:solidFill>
                  <a:srgbClr val="21295C"/>
                </a:solidFill>
                <a:latin typeface="Courier New" pitchFamily="34" charset="0"/>
                <a:ea typeface="Courier New" pitchFamily="34" charset="-122"/>
                <a:cs typeface="Courier New" pitchFamily="34" charset="-120"/>
              </a:rPr>
              <a:t>KTOTrainer</a:t>
            </a:r>
            <a:endParaRPr lang="en-US" sz="1000" dirty="0"/>
          </a:p>
        </p:txBody>
      </p:sp>
      <p:sp>
        <p:nvSpPr>
          <p:cNvPr id="23" name="Shape 21"/>
          <p:cNvSpPr/>
          <p:nvPr/>
        </p:nvSpPr>
        <p:spPr>
          <a:xfrm>
            <a:off x="5806440" y="3877056"/>
            <a:ext cx="5806440" cy="896112"/>
          </a:xfrm>
          <a:prstGeom prst="roundRect">
            <a:avLst>
              <a:gd name="adj" fmla="val 6122"/>
            </a:avLst>
          </a:prstGeom>
          <a:solidFill>
            <a:srgbClr val="0B2942"/>
          </a:solidFill>
          <a:ln/>
        </p:spPr>
      </p:sp>
      <p:sp>
        <p:nvSpPr>
          <p:cNvPr id="24" name="Text 22"/>
          <p:cNvSpPr/>
          <p:nvPr/>
        </p:nvSpPr>
        <p:spPr>
          <a:xfrm>
            <a:off x="6007608" y="4005072"/>
            <a:ext cx="5404104" cy="640080"/>
          </a:xfrm>
          <a:prstGeom prst="rect">
            <a:avLst/>
          </a:prstGeom>
          <a:noFill/>
          <a:ln/>
        </p:spPr>
        <p:txBody>
          <a:bodyPr wrap="square" lIns="0" tIns="0" rIns="0" bIns="0" rtlCol="0" anchor="ctr"/>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{"prompt": "The sky is",</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"completion": " blue.",</a:t>
            </a:r>
            <a:endParaRPr lang="en-US" sz="1000" dirty="0"/>
          </a:p>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 "label": True}</a:t>
            </a:r>
            <a:endParaRPr lang="en-US" sz="1000" dirty="0"/>
          </a:p>
        </p:txBody>
      </p:sp>
      <p:sp>
        <p:nvSpPr>
          <p:cNvPr id="25" name="Shape 23"/>
          <p:cNvSpPr/>
          <p:nvPr/>
        </p:nvSpPr>
        <p:spPr>
          <a:xfrm>
            <a:off x="548640" y="4846320"/>
            <a:ext cx="5029200" cy="896112"/>
          </a:xfrm>
          <a:prstGeom prst="roundRect">
            <a:avLst>
              <a:gd name="adj" fmla="val 8163"/>
            </a:avLst>
          </a:prstGeom>
          <a:solidFill>
            <a:srgbClr val="F2F8FA"/>
          </a:solidFill>
          <a:ln/>
          <a:effectLst>
            <a:outerShdw sx="100000" sy="100000" kx="0" ky="0" algn="bl" rotWithShape="0" blurRad="101600" dist="25400" dir="5400000">
              <a:srgbClr val="1B2733">
                <a:alpha val="8000"/>
              </a:srgbClr>
            </a:outerShdw>
          </a:effectLst>
        </p:spPr>
      </p:sp>
      <p:sp>
        <p:nvSpPr>
          <p:cNvPr id="26" name="Shape 24"/>
          <p:cNvSpPr/>
          <p:nvPr/>
        </p:nvSpPr>
        <p:spPr>
          <a:xfrm>
            <a:off x="777240" y="5175504"/>
            <a:ext cx="292608" cy="292608"/>
          </a:xfrm>
          <a:prstGeom prst="ellipse">
            <a:avLst/>
          </a:prstGeom>
          <a:solidFill>
            <a:srgbClr val="1E7A5F"/>
          </a:solidFill>
          <a:ln/>
        </p:spPr>
      </p:sp>
      <p:sp>
        <p:nvSpPr>
          <p:cNvPr id="27" name="Text 25"/>
          <p:cNvSpPr/>
          <p:nvPr/>
        </p:nvSpPr>
        <p:spPr>
          <a:xfrm>
            <a:off x="1207008" y="4974336"/>
            <a:ext cx="4114800" cy="384048"/>
          </a:xfrm>
          <a:prstGeom prst="rect">
            <a:avLst/>
          </a:prstGeom>
          <a:noFill/>
          <a:ln/>
        </p:spPr>
        <p:txBody>
          <a:bodyPr wrap="square" lIns="0" tIns="0" rIns="0" bIns="0" rtlCol="0" anchor="ctr"/>
          <a:lstStyle/>
          <a:p>
            <a:pPr indent="0" marL="0">
              <a:buNone/>
            </a:pPr>
            <a:r>
              <a:rPr lang="en-US" sz="1300" b="1" dirty="0">
                <a:solidFill>
                  <a:srgbClr val="1B2733"/>
                </a:solidFill>
                <a:latin typeface="Calibri" pitchFamily="34" charset="0"/>
                <a:ea typeface="Calibri" pitchFamily="34" charset="-122"/>
                <a:cs typeface="Calibri" pitchFamily="34" charset="-120"/>
              </a:rPr>
              <a:t>Prompt-only</a:t>
            </a:r>
            <a:endParaRPr lang="en-US" sz="1300" dirty="0"/>
          </a:p>
        </p:txBody>
      </p:sp>
      <p:sp>
        <p:nvSpPr>
          <p:cNvPr id="28" name="Text 26"/>
          <p:cNvSpPr/>
          <p:nvPr/>
        </p:nvSpPr>
        <p:spPr>
          <a:xfrm>
            <a:off x="1207008" y="5349240"/>
            <a:ext cx="4114800" cy="320040"/>
          </a:xfrm>
          <a:prstGeom prst="rect">
            <a:avLst/>
          </a:prstGeom>
          <a:noFill/>
          <a:ln/>
        </p:spPr>
        <p:txBody>
          <a:bodyPr wrap="square" lIns="0" tIns="0" rIns="0" bIns="0" rtlCol="0" anchor="ctr"/>
          <a:lstStyle/>
          <a:p>
            <a:pPr indent="0" marL="0">
              <a:buNone/>
            </a:pPr>
            <a:r>
              <a:rPr lang="en-US" sz="1000" dirty="0">
                <a:solidFill>
                  <a:srgbClr val="1E7A5F"/>
                </a:solidFill>
                <a:latin typeface="Courier New" pitchFamily="34" charset="0"/>
                <a:ea typeface="Courier New" pitchFamily="34" charset="-122"/>
                <a:cs typeface="Courier New" pitchFamily="34" charset="-120"/>
              </a:rPr>
              <a:t>GRPOTrainer · RLOOTrainer</a:t>
            </a:r>
            <a:endParaRPr lang="en-US" sz="1000" dirty="0"/>
          </a:p>
        </p:txBody>
      </p:sp>
      <p:sp>
        <p:nvSpPr>
          <p:cNvPr id="29" name="Shape 27"/>
          <p:cNvSpPr/>
          <p:nvPr/>
        </p:nvSpPr>
        <p:spPr>
          <a:xfrm>
            <a:off x="5806440" y="4846320"/>
            <a:ext cx="5806440" cy="896112"/>
          </a:xfrm>
          <a:prstGeom prst="roundRect">
            <a:avLst>
              <a:gd name="adj" fmla="val 6122"/>
            </a:avLst>
          </a:prstGeom>
          <a:solidFill>
            <a:srgbClr val="0B2942"/>
          </a:solidFill>
          <a:ln/>
        </p:spPr>
      </p:sp>
      <p:sp>
        <p:nvSpPr>
          <p:cNvPr id="30" name="Text 28"/>
          <p:cNvSpPr/>
          <p:nvPr/>
        </p:nvSpPr>
        <p:spPr>
          <a:xfrm>
            <a:off x="6007608" y="4974336"/>
            <a:ext cx="5404104" cy="640080"/>
          </a:xfrm>
          <a:prstGeom prst="rect">
            <a:avLst/>
          </a:prstGeom>
          <a:noFill/>
          <a:ln/>
        </p:spPr>
        <p:txBody>
          <a:bodyPr wrap="square" lIns="0" tIns="0" rIns="0" bIns="0" rtlCol="0" anchor="ctr"/>
          <a:lstStyle/>
          <a:p>
            <a:pPr indent="0" marL="0">
              <a:lnSpc>
                <a:spcPct val="122000"/>
              </a:lnSpc>
              <a:buNone/>
            </a:pPr>
            <a:r>
              <a:rPr lang="en-US" sz="1000" dirty="0">
                <a:solidFill>
                  <a:srgbClr val="CFE8F0"/>
                </a:solidFill>
                <a:latin typeface="Courier New" pitchFamily="34" charset="0"/>
                <a:ea typeface="Courier New" pitchFamily="34" charset="-122"/>
                <a:cs typeface="Courier New" pitchFamily="34" charset="-120"/>
              </a:rPr>
              <a:t>{"prompt": "The sky is"}</a:t>
            </a:r>
            <a:endParaRPr lang="en-US" sz="1000" dirty="0"/>
          </a:p>
        </p:txBody>
      </p:sp>
      <p:sp>
        <p:nvSpPr>
          <p:cNvPr id="31" name="Shape 29"/>
          <p:cNvSpPr/>
          <p:nvPr/>
        </p:nvSpPr>
        <p:spPr>
          <a:xfrm>
            <a:off x="548640" y="5852160"/>
            <a:ext cx="11064240" cy="475488"/>
          </a:xfrm>
          <a:prstGeom prst="roundRect">
            <a:avLst>
              <a:gd name="adj" fmla="val 11538"/>
            </a:avLst>
          </a:prstGeom>
          <a:solidFill>
            <a:srgbClr val="CFE8F0"/>
          </a:solidFill>
          <a:ln/>
        </p:spPr>
      </p:sp>
      <p:sp>
        <p:nvSpPr>
          <p:cNvPr id="32" name="Text 30"/>
          <p:cNvSpPr/>
          <p:nvPr/>
        </p:nvSpPr>
        <p:spPr>
          <a:xfrm>
            <a:off x="777240" y="5852160"/>
            <a:ext cx="10607040" cy="475488"/>
          </a:xfrm>
          <a:prstGeom prst="rect">
            <a:avLst/>
          </a:prstGeom>
          <a:noFill/>
          <a:ln/>
        </p:spPr>
        <p:txBody>
          <a:bodyPr wrap="square" lIns="0" tIns="0" rIns="0" bIns="0" rtlCol="0" anchor="ctr"/>
          <a:lstStyle/>
          <a:p>
            <a:pPr indent="0" marL="0">
              <a:lnSpc>
                <a:spcPct val="120000"/>
              </a:lnSpc>
              <a:buNone/>
            </a:pPr>
            <a:r>
              <a:rPr lang="en-US" sz="1050" dirty="0">
                <a:solidFill>
                  <a:srgbClr val="065A82"/>
                </a:solidFill>
                <a:latin typeface="Calibri" pitchFamily="34" charset="0"/>
                <a:ea typeface="Calibri" pitchFamily="34" charset="-122"/>
                <a:cs typeface="Calibri" pitchFamily="34" charset="-120"/>
              </a:rPr>
              <a:t>The library ships converters between most of these formats — unpair_preference_dataset() in data_utils.py turns a paired set into an unpaired one, for instance. Conversions that add information, though, don't exist: nothing turns prompt-only data into preference data.</a:t>
            </a:r>
            <a:endParaRPr lang="en-US" sz="1050" dirty="0"/>
          </a:p>
        </p:txBody>
      </p:sp>
      <p:sp>
        <p:nvSpPr>
          <p:cNvPr id="33" name="Text 3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34" name="Text 3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2800" b="1" dirty="0">
                <a:solidFill>
                  <a:srgbClr val="1B2733"/>
                </a:solidFill>
                <a:latin typeface="Courier New" pitchFamily="34" charset="0"/>
                <a:ea typeface="Courier New" pitchFamily="34" charset="-122"/>
                <a:cs typeface="Courier New" pitchFamily="34" charset="-120"/>
              </a:rPr>
              <a:t>reward_trainer.py</a:t>
            </a:r>
            <a:endParaRPr lang="en-US" sz="2800" dirty="0"/>
          </a:p>
        </p:txBody>
      </p:sp>
      <p:sp>
        <p:nvSpPr>
          <p:cNvPr id="4" name="Shape 2"/>
          <p:cNvSpPr/>
          <p:nvPr/>
        </p:nvSpPr>
        <p:spPr>
          <a:xfrm>
            <a:off x="8549640" y="777240"/>
            <a:ext cx="3063240" cy="310896"/>
          </a:xfrm>
          <a:prstGeom prst="roundRect">
            <a:avLst>
              <a:gd name="adj" fmla="val 14706"/>
            </a:avLst>
          </a:prstGeom>
          <a:solidFill>
            <a:srgbClr val="CFE8F0"/>
          </a:solidFill>
          <a:ln/>
        </p:spPr>
      </p:sp>
      <p:sp>
        <p:nvSpPr>
          <p:cNvPr id="5" name="Text 3"/>
          <p:cNvSpPr/>
          <p:nvPr/>
        </p:nvSpPr>
        <p:spPr>
          <a:xfrm>
            <a:off x="8549640" y="777240"/>
            <a:ext cx="306324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compute_loss()</a:t>
            </a:r>
            <a:endParaRPr lang="en-US" sz="1000" dirty="0"/>
          </a:p>
        </p:txBody>
      </p:sp>
      <p:sp>
        <p:nvSpPr>
          <p:cNvPr id="6" name="Shape 4"/>
          <p:cNvSpPr/>
          <p:nvPr/>
        </p:nvSpPr>
        <p:spPr>
          <a:xfrm>
            <a:off x="8549640" y="1170432"/>
            <a:ext cx="3063240" cy="292608"/>
          </a:xfrm>
          <a:prstGeom prst="roundRect">
            <a:avLst>
              <a:gd name="adj" fmla="val 15625"/>
            </a:avLst>
          </a:prstGeom>
          <a:solidFill>
            <a:srgbClr val="E4F4EC"/>
          </a:solidFill>
          <a:ln/>
        </p:spPr>
      </p:sp>
      <p:sp>
        <p:nvSpPr>
          <p:cNvPr id="7" name="Text 5"/>
          <p:cNvSpPr/>
          <p:nvPr/>
        </p:nvSpPr>
        <p:spPr>
          <a:xfrm>
            <a:off x="8549640" y="1170432"/>
            <a:ext cx="306324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4, Reward models</a:t>
            </a:r>
            <a:endParaRPr lang="en-US" sz="950" dirty="0"/>
          </a:p>
        </p:txBody>
      </p:sp>
      <p:sp>
        <p:nvSpPr>
          <p:cNvPr id="8" name="Text 6"/>
          <p:cNvSpPr/>
          <p:nvPr/>
        </p:nvSpPr>
        <p:spPr>
          <a:xfrm>
            <a:off x="548640" y="1371600"/>
            <a:ext cx="7772400" cy="41148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Slide 4 described reward modeling in prose. Here it is as the library actually implements it — the arithmetic is smaller than the explanation.</a:t>
            </a:r>
            <a:endParaRPr lang="en-US" sz="1250" dirty="0"/>
          </a:p>
        </p:txBody>
      </p:sp>
      <p:sp>
        <p:nvSpPr>
          <p:cNvPr id="9" name="Shape 7"/>
          <p:cNvSpPr/>
          <p:nvPr/>
        </p:nvSpPr>
        <p:spPr>
          <a:xfrm>
            <a:off x="548640" y="1965960"/>
            <a:ext cx="6400800" cy="2286000"/>
          </a:xfrm>
          <a:prstGeom prst="roundRect">
            <a:avLst>
              <a:gd name="adj" fmla="val 2400"/>
            </a:avLst>
          </a:prstGeom>
          <a:solidFill>
            <a:srgbClr val="0B2942"/>
          </a:solidFill>
          <a:ln/>
        </p:spPr>
      </p:sp>
      <p:sp>
        <p:nvSpPr>
          <p:cNvPr id="10" name="Text 8"/>
          <p:cNvSpPr/>
          <p:nvPr/>
        </p:nvSpPr>
        <p:spPr>
          <a:xfrm>
            <a:off x="749808" y="2093976"/>
            <a:ext cx="5998464" cy="2029968"/>
          </a:xfrm>
          <a:prstGeom prst="rect">
            <a:avLst/>
          </a:prstGeom>
          <a:noFill/>
          <a:ln/>
        </p:spPr>
        <p:txBody>
          <a:bodyPr wrap="square" lIns="0" tIns="0" rIns="0" bIns="0" rtlCol="0" anchor="ctr"/>
          <a:lstStyle/>
          <a:p>
            <a:pPr indent="0" marL="0">
              <a:lnSpc>
                <a:spcPct val="122000"/>
              </a:lnSpc>
              <a:buNone/>
            </a:pPr>
            <a:r>
              <a:rPr lang="en-US" sz="1100" dirty="0">
                <a:solidFill>
                  <a:srgbClr val="CFE8F0"/>
                </a:solidFill>
                <a:latin typeface="Courier New" pitchFamily="34" charset="0"/>
                <a:ea typeface="Courier New" pitchFamily="34" charset="-122"/>
                <a:cs typeface="Courier New" pitchFamily="34" charset="-120"/>
              </a:rPr>
              <a:t>outputs = model(**inputs)</a:t>
            </a:r>
            <a:endParaRPr lang="en-US" sz="1100" dirty="0"/>
          </a:p>
          <a:p>
            <a:pPr indent="0" marL="0">
              <a:lnSpc>
                <a:spcPct val="122000"/>
              </a:lnSpc>
              <a:buNone/>
            </a:pPr>
            <a:endParaRPr lang="en-US" sz="1100" dirty="0"/>
          </a:p>
          <a:p>
            <a:pPr indent="0" marL="0">
              <a:lnSpc>
                <a:spcPct val="122000"/>
              </a:lnSpc>
              <a:buNone/>
            </a:pPr>
            <a:r>
              <a:rPr lang="en-US" sz="1100" dirty="0">
                <a:solidFill>
                  <a:srgbClr val="CFE8F0"/>
                </a:solidFill>
                <a:latin typeface="Courier New" pitchFamily="34" charset="0"/>
                <a:ea typeface="Courier New" pitchFamily="34" charset="-122"/>
                <a:cs typeface="Courier New" pitchFamily="34" charset="-120"/>
              </a:rPr>
              <a:t># one scalar per response; the batch holds both, stacked</a:t>
            </a:r>
            <a:endParaRPr lang="en-US" sz="1100" dirty="0"/>
          </a:p>
          <a:p>
            <a:pPr indent="0" marL="0">
              <a:lnSpc>
                <a:spcPct val="122000"/>
              </a:lnSpc>
              <a:buNone/>
            </a:pPr>
            <a:r>
              <a:rPr lang="en-US" sz="1100" dirty="0">
                <a:solidFill>
                  <a:srgbClr val="CFE8F0"/>
                </a:solidFill>
                <a:latin typeface="Courier New" pitchFamily="34" charset="0"/>
                <a:ea typeface="Courier New" pitchFamily="34" charset="-122"/>
                <a:cs typeface="Courier New" pitchFamily="34" charset="-120"/>
              </a:rPr>
              <a:t>rewards_chosen, rewards_rejected = torch.chunk(</a:t>
            </a:r>
            <a:endParaRPr lang="en-US" sz="1100" dirty="0"/>
          </a:p>
          <a:p>
            <a:pPr indent="0" marL="0">
              <a:lnSpc>
                <a:spcPct val="122000"/>
              </a:lnSpc>
              <a:buNone/>
            </a:pPr>
            <a:r>
              <a:rPr lang="en-US" sz="1100" dirty="0">
                <a:solidFill>
                  <a:srgbClr val="CFE8F0"/>
                </a:solidFill>
                <a:latin typeface="Courier New" pitchFamily="34" charset="0"/>
                <a:ea typeface="Courier New" pitchFamily="34" charset="-122"/>
                <a:cs typeface="Courier New" pitchFamily="34" charset="-120"/>
              </a:rPr>
              <a:t>    outputs.logits.squeeze(-1), chunks=2)</a:t>
            </a:r>
            <a:endParaRPr lang="en-US" sz="1100" dirty="0"/>
          </a:p>
          <a:p>
            <a:pPr indent="0" marL="0">
              <a:lnSpc>
                <a:spcPct val="122000"/>
              </a:lnSpc>
              <a:buNone/>
            </a:pPr>
            <a:endParaRPr lang="en-US" sz="1100" dirty="0"/>
          </a:p>
          <a:p>
            <a:pPr indent="0" marL="0">
              <a:lnSpc>
                <a:spcPct val="122000"/>
              </a:lnSpc>
              <a:buNone/>
            </a:pPr>
            <a:r>
              <a:rPr lang="en-US" sz="1100" dirty="0">
                <a:solidFill>
                  <a:srgbClr val="CFE8F0"/>
                </a:solidFill>
                <a:latin typeface="Courier New" pitchFamily="34" charset="0"/>
                <a:ea typeface="Courier New" pitchFamily="34" charset="-122"/>
                <a:cs typeface="Courier New" pitchFamily="34" charset="-120"/>
              </a:rPr>
              <a:t>loss = -nn.functional.logsigmoid(</a:t>
            </a:r>
            <a:endParaRPr lang="en-US" sz="1100" dirty="0"/>
          </a:p>
          <a:p>
            <a:pPr indent="0" marL="0">
              <a:lnSpc>
                <a:spcPct val="122000"/>
              </a:lnSpc>
              <a:buNone/>
            </a:pPr>
            <a:r>
              <a:rPr lang="en-US" sz="1100" dirty="0">
                <a:solidFill>
                  <a:srgbClr val="CFE8F0"/>
                </a:solidFill>
                <a:latin typeface="Courier New" pitchFamily="34" charset="0"/>
                <a:ea typeface="Courier New" pitchFamily="34" charset="-122"/>
                <a:cs typeface="Courier New" pitchFamily="34" charset="-120"/>
              </a:rPr>
              <a:t>    rewards_chosen - rewards_rejected).mean()</a:t>
            </a:r>
            <a:endParaRPr lang="en-US" sz="1100" dirty="0"/>
          </a:p>
        </p:txBody>
      </p:sp>
      <p:sp>
        <p:nvSpPr>
          <p:cNvPr id="11" name="Shape 9"/>
          <p:cNvSpPr/>
          <p:nvPr/>
        </p:nvSpPr>
        <p:spPr>
          <a:xfrm>
            <a:off x="7223760" y="1965960"/>
            <a:ext cx="4389120" cy="2286000"/>
          </a:xfrm>
          <a:prstGeom prst="roundRect">
            <a:avLst>
              <a:gd name="adj" fmla="val 3200"/>
            </a:avLst>
          </a:prstGeom>
          <a:solidFill>
            <a:srgbClr val="16385A"/>
          </a:solidFill>
          <a:ln/>
          <a:effectLst>
            <a:outerShdw sx="100000" sy="100000" kx="0" ky="0" algn="bl" rotWithShape="0" blurRad="101600" dist="25400" dir="5400000">
              <a:srgbClr val="1B2733">
                <a:alpha val="8000"/>
              </a:srgbClr>
            </a:outerShdw>
          </a:effectLst>
        </p:spPr>
      </p:sp>
      <p:sp>
        <p:nvSpPr>
          <p:cNvPr id="12" name="Text 10"/>
          <p:cNvSpPr/>
          <p:nvPr/>
        </p:nvSpPr>
        <p:spPr>
          <a:xfrm>
            <a:off x="7498080" y="2148840"/>
            <a:ext cx="3840480" cy="3200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to notice</a:t>
            </a:r>
            <a:endParaRPr lang="en-US" sz="1350" dirty="0"/>
          </a:p>
        </p:txBody>
      </p:sp>
      <p:sp>
        <p:nvSpPr>
          <p:cNvPr id="13" name="Text 11"/>
          <p:cNvSpPr/>
          <p:nvPr/>
        </p:nvSpPr>
        <p:spPr>
          <a:xfrm>
            <a:off x="7498080" y="2560320"/>
            <a:ext cx="3840480" cy="1554480"/>
          </a:xfrm>
          <a:prstGeom prst="rect">
            <a:avLst/>
          </a:prstGeom>
          <a:noFill/>
          <a:ln/>
        </p:spPr>
        <p:txBody>
          <a:bodyPr wrap="square" rtlCol="0" anchor="ctr"/>
          <a:lstStyle/>
          <a:p>
            <a:pPr indent="0" marL="0">
              <a:lnSpc>
                <a:spcPct val="128000"/>
              </a:lnSpc>
              <a:buNone/>
            </a:pPr>
            <a:r>
              <a:rPr lang="en-US" sz="1150" dirty="0">
                <a:solidFill>
                  <a:srgbClr val="9FC3D9"/>
                </a:solidFill>
                <a:latin typeface="Calibri" pitchFamily="34" charset="0"/>
                <a:ea typeface="Calibri" pitchFamily="34" charset="-122"/>
                <a:cs typeface="Calibri" pitchFamily="34" charset="-120"/>
              </a:rPr>
              <a:t>Only the difference appears. Never an individual score, never a target value. The loss falls as the gap widens and can always fall further — there is no point at which the model is finished being right.</a:t>
            </a:r>
            <a:endParaRPr lang="en-US" sz="1150" dirty="0"/>
          </a:p>
          <a:p>
            <a:pPr indent="0" marL="0">
              <a:lnSpc>
                <a:spcPct val="128000"/>
              </a:lnSpc>
              <a:buNone/>
            </a:pPr>
            <a:endParaRPr lang="en-US" sz="1150" dirty="0"/>
          </a:p>
          <a:p>
            <a:pPr indent="0" marL="0">
              <a:lnSpc>
                <a:spcPct val="128000"/>
              </a:lnSpc>
              <a:buNone/>
            </a:pPr>
            <a:r>
              <a:rPr lang="en-US" sz="1150" dirty="0">
                <a:solidFill>
                  <a:srgbClr val="9FC3D9"/>
                </a:solidFill>
                <a:latin typeface="Calibri" pitchFamily="34" charset="0"/>
                <a:ea typeface="Calibri" pitchFamily="34" charset="-122"/>
                <a:cs typeface="Calibri" pitchFamily="34" charset="-120"/>
              </a:rPr>
              <a:t>This is the reward-model scale-invariance from slide 4, visible in one expression.</a:t>
            </a:r>
            <a:endParaRPr lang="en-US" sz="1150" dirty="0"/>
          </a:p>
        </p:txBody>
      </p:sp>
      <p:sp>
        <p:nvSpPr>
          <p:cNvPr id="14" name="Shape 12"/>
          <p:cNvSpPr/>
          <p:nvPr/>
        </p:nvSpPr>
        <p:spPr>
          <a:xfrm>
            <a:off x="548640" y="4434840"/>
            <a:ext cx="3520440" cy="1600200"/>
          </a:xfrm>
          <a:prstGeom prst="roundRect">
            <a:avLst>
              <a:gd name="adj" fmla="val 4571"/>
            </a:avLst>
          </a:prstGeom>
          <a:solidFill>
            <a:srgbClr val="F2F8FA"/>
          </a:solidFill>
          <a:ln/>
          <a:effectLst>
            <a:outerShdw sx="100000" sy="100000" kx="0" ky="0" algn="bl" rotWithShape="0" blurRad="101600" dist="25400" dir="5400000">
              <a:srgbClr val="1B2733">
                <a:alpha val="8000"/>
              </a:srgbClr>
            </a:outerShdw>
          </a:effectLst>
        </p:spPr>
      </p:sp>
      <p:sp>
        <p:nvSpPr>
          <p:cNvPr id="15" name="Text 13"/>
          <p:cNvSpPr/>
          <p:nvPr/>
        </p:nvSpPr>
        <p:spPr>
          <a:xfrm>
            <a:off x="777240" y="4572000"/>
            <a:ext cx="3063240" cy="29260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squeeze(-1)</a:t>
            </a:r>
            <a:endParaRPr lang="en-US" sz="1100" dirty="0"/>
          </a:p>
        </p:txBody>
      </p:sp>
      <p:sp>
        <p:nvSpPr>
          <p:cNvPr id="16" name="Text 14"/>
          <p:cNvSpPr/>
          <p:nvPr/>
        </p:nvSpPr>
        <p:spPr>
          <a:xfrm>
            <a:off x="777240" y="4919472"/>
            <a:ext cx="3063240" cy="10058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The language-modeling head is gone. What comes out per response is one number, not a distribution over the vocabulary.</a:t>
            </a:r>
            <a:endParaRPr lang="en-US" sz="1050" dirty="0"/>
          </a:p>
        </p:txBody>
      </p:sp>
      <p:sp>
        <p:nvSpPr>
          <p:cNvPr id="17" name="Shape 15"/>
          <p:cNvSpPr/>
          <p:nvPr/>
        </p:nvSpPr>
        <p:spPr>
          <a:xfrm>
            <a:off x="4325112" y="4434840"/>
            <a:ext cx="3520440" cy="1600200"/>
          </a:xfrm>
          <a:prstGeom prst="roundRect">
            <a:avLst>
              <a:gd name="adj" fmla="val 4571"/>
            </a:avLst>
          </a:prstGeom>
          <a:solidFill>
            <a:srgbClr val="F2F8FA"/>
          </a:solidFill>
          <a:ln/>
          <a:effectLst>
            <a:outerShdw sx="100000" sy="100000" kx="0" ky="0" algn="bl" rotWithShape="0" blurRad="101600" dist="25400" dir="5400000">
              <a:srgbClr val="1B2733">
                <a:alpha val="8000"/>
              </a:srgbClr>
            </a:outerShdw>
          </a:effectLst>
        </p:spPr>
      </p:sp>
      <p:sp>
        <p:nvSpPr>
          <p:cNvPr id="18" name="Text 16"/>
          <p:cNvSpPr/>
          <p:nvPr/>
        </p:nvSpPr>
        <p:spPr>
          <a:xfrm>
            <a:off x="4553712" y="4572000"/>
            <a:ext cx="3063240" cy="29260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chunk(..., 2)</a:t>
            </a:r>
            <a:endParaRPr lang="en-US" sz="1100" dirty="0"/>
          </a:p>
        </p:txBody>
      </p:sp>
      <p:sp>
        <p:nvSpPr>
          <p:cNvPr id="19" name="Text 17"/>
          <p:cNvSpPr/>
          <p:nvPr/>
        </p:nvSpPr>
        <p:spPr>
          <a:xfrm>
            <a:off x="4553712" y="4919472"/>
            <a:ext cx="3063240" cy="10058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Chosen and rejected travel through the network as one batch, then get split apart. Both are scored by the same weights in the same step.</a:t>
            </a:r>
            <a:endParaRPr lang="en-US" sz="1050" dirty="0"/>
          </a:p>
        </p:txBody>
      </p:sp>
      <p:sp>
        <p:nvSpPr>
          <p:cNvPr id="20" name="Shape 18"/>
          <p:cNvSpPr/>
          <p:nvPr/>
        </p:nvSpPr>
        <p:spPr>
          <a:xfrm>
            <a:off x="8101584" y="4434840"/>
            <a:ext cx="3520440" cy="1600200"/>
          </a:xfrm>
          <a:prstGeom prst="roundRect">
            <a:avLst>
              <a:gd name="adj" fmla="val 4571"/>
            </a:avLst>
          </a:prstGeom>
          <a:solidFill>
            <a:srgbClr val="F2F8FA"/>
          </a:solidFill>
          <a:ln/>
          <a:effectLst>
            <a:outerShdw sx="100000" sy="100000" kx="0" ky="0" algn="bl" rotWithShape="0" blurRad="101600" dist="25400" dir="5400000">
              <a:srgbClr val="1B2733">
                <a:alpha val="8000"/>
              </a:srgbClr>
            </a:outerShdw>
          </a:effectLst>
        </p:spPr>
      </p:sp>
      <p:sp>
        <p:nvSpPr>
          <p:cNvPr id="21" name="Text 19"/>
          <p:cNvSpPr/>
          <p:nvPr/>
        </p:nvSpPr>
        <p:spPr>
          <a:xfrm>
            <a:off x="8330184" y="4572000"/>
            <a:ext cx="3063240" cy="292608"/>
          </a:xfrm>
          <a:prstGeom prst="rect">
            <a:avLst/>
          </a:prstGeom>
          <a:noFill/>
          <a:ln/>
        </p:spPr>
        <p:txBody>
          <a:bodyPr wrap="square" lIns="0" tIns="0" rIns="0" bIns="0" rtlCol="0" anchor="ctr"/>
          <a:lstStyle/>
          <a:p>
            <a:pPr indent="0" marL="0">
              <a:buNone/>
            </a:pPr>
            <a:r>
              <a:rPr lang="en-US" sz="1100" b="1" dirty="0">
                <a:solidFill>
                  <a:srgbClr val="065A82"/>
                </a:solidFill>
                <a:latin typeface="Courier New" pitchFamily="34" charset="0"/>
                <a:ea typeface="Courier New" pitchFamily="34" charset="-122"/>
                <a:cs typeface="Courier New" pitchFamily="34" charset="-120"/>
              </a:rPr>
              <a:t>Two optional terms</a:t>
            </a:r>
            <a:endParaRPr lang="en-US" sz="1100" dirty="0"/>
          </a:p>
        </p:txBody>
      </p:sp>
      <p:sp>
        <p:nvSpPr>
          <p:cNvPr id="22" name="Text 20"/>
          <p:cNvSpPr/>
          <p:nvPr/>
        </p:nvSpPr>
        <p:spPr>
          <a:xfrm>
            <a:off x="8330184" y="4919472"/>
            <a:ext cx="3063240" cy="100584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A margin can be subtracted to demand a minimum gap, and center_rewards_coefficient can penalize scores drifting from zero — pinning down the arbitrary scale.</a:t>
            </a:r>
            <a:endParaRPr lang="en-US" sz="1050" dirty="0"/>
          </a:p>
        </p:txBody>
      </p:sp>
      <p:sp>
        <p:nvSpPr>
          <p:cNvPr id="23" name="Text 2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4"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READING THE SOURCE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Verifiable Rewards</a:t>
            </a:r>
            <a:endParaRPr lang="en-US" sz="3000" dirty="0"/>
          </a:p>
        </p:txBody>
      </p:sp>
      <p:sp>
        <p:nvSpPr>
          <p:cNvPr id="4" name="Shape 2"/>
          <p:cNvSpPr/>
          <p:nvPr/>
        </p:nvSpPr>
        <p:spPr>
          <a:xfrm>
            <a:off x="8686800" y="777240"/>
            <a:ext cx="2926080" cy="310896"/>
          </a:xfrm>
          <a:prstGeom prst="roundRect">
            <a:avLst>
              <a:gd name="adj" fmla="val 14706"/>
            </a:avLst>
          </a:prstGeom>
          <a:solidFill>
            <a:srgbClr val="CFE8F0"/>
          </a:solidFill>
          <a:ln/>
        </p:spPr>
      </p:sp>
      <p:sp>
        <p:nvSpPr>
          <p:cNvPr id="5" name="Text 3"/>
          <p:cNvSpPr/>
          <p:nvPr/>
        </p:nvSpPr>
        <p:spPr>
          <a:xfrm>
            <a:off x="8686800" y="777240"/>
            <a:ext cx="2926080" cy="310896"/>
          </a:xfrm>
          <a:prstGeom prst="rect">
            <a:avLst/>
          </a:prstGeom>
          <a:noFill/>
          <a:ln/>
        </p:spPr>
        <p:txBody>
          <a:bodyPr wrap="square" lIns="0" tIns="0" rIns="0" bIns="0" rtlCol="0" anchor="ctr"/>
          <a:lstStyle/>
          <a:p>
            <a:pPr algn="ctr" indent="0" marL="0">
              <a:buNone/>
            </a:pPr>
            <a:r>
              <a:rPr lang="en-US" sz="1000" dirty="0">
                <a:solidFill>
                  <a:srgbClr val="065A82"/>
                </a:solidFill>
                <a:latin typeface="Courier New" pitchFamily="34" charset="0"/>
                <a:ea typeface="Courier New" pitchFamily="34" charset="-122"/>
                <a:cs typeface="Courier New" pitchFamily="34" charset="-120"/>
              </a:rPr>
              <a:t>trl/rewards/format_rewards.py</a:t>
            </a:r>
            <a:endParaRPr lang="en-US" sz="1000" dirty="0"/>
          </a:p>
        </p:txBody>
      </p:sp>
      <p:sp>
        <p:nvSpPr>
          <p:cNvPr id="6" name="Shape 4"/>
          <p:cNvSpPr/>
          <p:nvPr/>
        </p:nvSpPr>
        <p:spPr>
          <a:xfrm>
            <a:off x="8686800" y="1170432"/>
            <a:ext cx="2926080" cy="292608"/>
          </a:xfrm>
          <a:prstGeom prst="roundRect">
            <a:avLst>
              <a:gd name="adj" fmla="val 15625"/>
            </a:avLst>
          </a:prstGeom>
          <a:solidFill>
            <a:srgbClr val="E4F4EC"/>
          </a:solidFill>
          <a:ln/>
        </p:spPr>
      </p:sp>
      <p:sp>
        <p:nvSpPr>
          <p:cNvPr id="7" name="Text 5"/>
          <p:cNvSpPr/>
          <p:nvPr/>
        </p:nvSpPr>
        <p:spPr>
          <a:xfrm>
            <a:off x="8686800" y="1170432"/>
            <a:ext cx="292608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7, Verifiable rewards</a:t>
            </a:r>
            <a:endParaRPr lang="en-US" sz="950" dirty="0"/>
          </a:p>
        </p:txBody>
      </p:sp>
      <p:sp>
        <p:nvSpPr>
          <p:cNvPr id="8" name="Text 6"/>
          <p:cNvSpPr/>
          <p:nvPr/>
        </p:nvSpPr>
        <p:spPr>
          <a:xfrm>
            <a:off x="548640" y="1371600"/>
            <a:ext cx="7863840" cy="41148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The whole of think_format_reward: it checks that a completion wrapped its reasoning in the expected tags, and returns 1.0 or 0.0. No model, no training, no data.</a:t>
            </a:r>
            <a:endParaRPr lang="en-US" sz="1250" dirty="0"/>
          </a:p>
        </p:txBody>
      </p:sp>
      <p:sp>
        <p:nvSpPr>
          <p:cNvPr id="9" name="Shape 7"/>
          <p:cNvSpPr/>
          <p:nvPr/>
        </p:nvSpPr>
        <p:spPr>
          <a:xfrm>
            <a:off x="548640" y="1965960"/>
            <a:ext cx="11064240" cy="1783080"/>
          </a:xfrm>
          <a:prstGeom prst="roundRect">
            <a:avLst>
              <a:gd name="adj" fmla="val 3077"/>
            </a:avLst>
          </a:prstGeom>
          <a:solidFill>
            <a:srgbClr val="0B2942"/>
          </a:solidFill>
          <a:ln/>
        </p:spPr>
      </p:sp>
      <p:sp>
        <p:nvSpPr>
          <p:cNvPr id="10" name="Text 8"/>
          <p:cNvSpPr/>
          <p:nvPr/>
        </p:nvSpPr>
        <p:spPr>
          <a:xfrm>
            <a:off x="749808" y="2093976"/>
            <a:ext cx="10661904" cy="1527048"/>
          </a:xfrm>
          <a:prstGeom prst="rect">
            <a:avLst/>
          </a:prstGeom>
          <a:noFill/>
          <a:ln/>
        </p:spPr>
        <p:txBody>
          <a:bodyPr wrap="square" lIns="0" tIns="0" rIns="0" bIns="0" rtlCol="0" anchor="ctr"/>
          <a:lstStyle/>
          <a:p>
            <a:pPr indent="0" marL="0">
              <a:lnSpc>
                <a:spcPct val="122000"/>
              </a:lnSpc>
              <a:buNone/>
            </a:pPr>
            <a:r>
              <a:rPr lang="en-US" sz="1150" dirty="0">
                <a:solidFill>
                  <a:srgbClr val="CFE8F0"/>
                </a:solidFill>
                <a:latin typeface="Courier New" pitchFamily="34" charset="0"/>
                <a:ea typeface="Courier New" pitchFamily="34" charset="-122"/>
                <a:cs typeface="Courier New" pitchFamily="34" charset="-120"/>
              </a:rPr>
              <a:t>def think_format_reward(completions, **kwargs) -&gt; list[float]:</a:t>
            </a:r>
            <a:endParaRPr lang="en-US" sz="1150" dirty="0"/>
          </a:p>
          <a:p>
            <a:pPr indent="0" marL="0">
              <a:lnSpc>
                <a:spcPct val="122000"/>
              </a:lnSpc>
              <a:buNone/>
            </a:pPr>
            <a:r>
              <a:rPr lang="en-US" sz="1150" dirty="0">
                <a:solidFill>
                  <a:srgbClr val="CFE8F0"/>
                </a:solidFill>
                <a:latin typeface="Courier New" pitchFamily="34" charset="0"/>
                <a:ea typeface="Courier New" pitchFamily="34" charset="-122"/>
                <a:cs typeface="Courier New" pitchFamily="34" charset="-120"/>
              </a:rPr>
              <a:t>    pattern = r"^&lt;think&gt;(?!.*&lt;think&gt;)(.*?)&lt;/think&gt;.*$"</a:t>
            </a:r>
            <a:endParaRPr lang="en-US" sz="1150" dirty="0"/>
          </a:p>
          <a:p>
            <a:pPr indent="0" marL="0">
              <a:lnSpc>
                <a:spcPct val="122000"/>
              </a:lnSpc>
              <a:buNone/>
            </a:pPr>
            <a:r>
              <a:rPr lang="en-US" sz="1150" dirty="0">
                <a:solidFill>
                  <a:srgbClr val="CFE8F0"/>
                </a:solidFill>
                <a:latin typeface="Courier New" pitchFamily="34" charset="0"/>
                <a:ea typeface="Courier New" pitchFamily="34" charset="-122"/>
                <a:cs typeface="Courier New" pitchFamily="34" charset="-120"/>
              </a:rPr>
              <a:t>    contents = [c[0]["content"] for c in completions]</a:t>
            </a:r>
            <a:endParaRPr lang="en-US" sz="1150" dirty="0"/>
          </a:p>
          <a:p>
            <a:pPr indent="0" marL="0">
              <a:lnSpc>
                <a:spcPct val="122000"/>
              </a:lnSpc>
              <a:buNone/>
            </a:pPr>
            <a:r>
              <a:rPr lang="en-US" sz="1150" dirty="0">
                <a:solidFill>
                  <a:srgbClr val="CFE8F0"/>
                </a:solidFill>
                <a:latin typeface="Courier New" pitchFamily="34" charset="0"/>
                <a:ea typeface="Courier New" pitchFamily="34" charset="-122"/>
                <a:cs typeface="Courier New" pitchFamily="34" charset="-120"/>
              </a:rPr>
              <a:t>    matches  = [re.match(pattern, c, re.DOTALL | re.MULTILINE)</a:t>
            </a:r>
            <a:endParaRPr lang="en-US" sz="1150" dirty="0"/>
          </a:p>
          <a:p>
            <a:pPr indent="0" marL="0">
              <a:lnSpc>
                <a:spcPct val="122000"/>
              </a:lnSpc>
              <a:buNone/>
            </a:pPr>
            <a:r>
              <a:rPr lang="en-US" sz="1150" dirty="0">
                <a:solidFill>
                  <a:srgbClr val="CFE8F0"/>
                </a:solidFill>
                <a:latin typeface="Courier New" pitchFamily="34" charset="0"/>
                <a:ea typeface="Courier New" pitchFamily="34" charset="-122"/>
                <a:cs typeface="Courier New" pitchFamily="34" charset="-120"/>
              </a:rPr>
              <a:t>                for c in contents]</a:t>
            </a:r>
            <a:endParaRPr lang="en-US" sz="1150" dirty="0"/>
          </a:p>
          <a:p>
            <a:pPr indent="0" marL="0">
              <a:lnSpc>
                <a:spcPct val="122000"/>
              </a:lnSpc>
              <a:buNone/>
            </a:pPr>
            <a:r>
              <a:rPr lang="en-US" sz="1150" dirty="0">
                <a:solidFill>
                  <a:srgbClr val="CFE8F0"/>
                </a:solidFill>
                <a:latin typeface="Courier New" pitchFamily="34" charset="0"/>
                <a:ea typeface="Courier New" pitchFamily="34" charset="-122"/>
                <a:cs typeface="Courier New" pitchFamily="34" charset="-120"/>
              </a:rPr>
              <a:t>    return [1.0 if m else 0.0 for m in matches]</a:t>
            </a:r>
            <a:endParaRPr lang="en-US" sz="1150" dirty="0"/>
          </a:p>
        </p:txBody>
      </p:sp>
      <p:sp>
        <p:nvSpPr>
          <p:cNvPr id="11" name="Shape 9"/>
          <p:cNvSpPr/>
          <p:nvPr/>
        </p:nvSpPr>
        <p:spPr>
          <a:xfrm>
            <a:off x="548640" y="3977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12" name="Shape 10"/>
          <p:cNvSpPr/>
          <p:nvPr/>
        </p:nvSpPr>
        <p:spPr>
          <a:xfrm>
            <a:off x="777240" y="4187952"/>
            <a:ext cx="457200" cy="457200"/>
          </a:xfrm>
          <a:prstGeom prst="ellipse">
            <a:avLst/>
          </a:prstGeom>
          <a:solidFill>
            <a:srgbClr val="065A82"/>
          </a:solidFill>
          <a:ln/>
        </p:spPr>
      </p:sp>
      <p:pic>
        <p:nvPicPr>
          <p:cNvPr id="13" name="Image 0" descr="/home/claude/icons/signal.png">    </p:cNvPr>
          <p:cNvPicPr>
            <a:picLocks noChangeAspect="1"/>
          </p:cNvPicPr>
          <p:nvPr/>
        </p:nvPicPr>
        <p:blipFill>
          <a:blip r:embed="rId1"/>
          <a:stretch>
            <a:fillRect/>
          </a:stretch>
        </p:blipFill>
        <p:spPr>
          <a:xfrm>
            <a:off x="896112" y="4306824"/>
            <a:ext cx="219456" cy="219456"/>
          </a:xfrm>
          <a:prstGeom prst="rect">
            <a:avLst/>
          </a:prstGeom>
        </p:spPr>
      </p:pic>
      <p:sp>
        <p:nvSpPr>
          <p:cNvPr id="14" name="Text 11"/>
          <p:cNvSpPr/>
          <p:nvPr/>
        </p:nvSpPr>
        <p:spPr>
          <a:xfrm>
            <a:off x="1371600" y="4187952"/>
            <a:ext cx="2514600" cy="45720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It is just a function</a:t>
            </a:r>
            <a:endParaRPr lang="en-US" sz="1200" dirty="0"/>
          </a:p>
        </p:txBody>
      </p:sp>
      <p:sp>
        <p:nvSpPr>
          <p:cNvPr id="15" name="Text 12"/>
          <p:cNvSpPr/>
          <p:nvPr/>
        </p:nvSpPr>
        <p:spPr>
          <a:xfrm>
            <a:off x="777240" y="4754880"/>
            <a:ext cx="3063240" cy="114300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Any callable with this signature works. A reward function can shell out to a unit-test runner, a compiler, or a symbolic checker — the trainer only requires a list of floats back.</a:t>
            </a:r>
            <a:endParaRPr lang="en-US" sz="1050" dirty="0"/>
          </a:p>
        </p:txBody>
      </p:sp>
      <p:sp>
        <p:nvSpPr>
          <p:cNvPr id="16" name="Shape 13"/>
          <p:cNvSpPr/>
          <p:nvPr/>
        </p:nvSpPr>
        <p:spPr>
          <a:xfrm>
            <a:off x="4325112" y="3977640"/>
            <a:ext cx="3520440" cy="2057400"/>
          </a:xfrm>
          <a:prstGeom prst="roundRect">
            <a:avLst>
              <a:gd name="adj" fmla="val 3556"/>
            </a:avLst>
          </a:prstGeom>
          <a:solidFill>
            <a:srgbClr val="F2F8FA"/>
          </a:solidFill>
          <a:ln/>
          <a:effectLst>
            <a:outerShdw sx="100000" sy="100000" kx="0" ky="0" algn="bl" rotWithShape="0" blurRad="101600" dist="25400" dir="5400000">
              <a:srgbClr val="1B2733">
                <a:alpha val="8000"/>
              </a:srgbClr>
            </a:outerShdw>
          </a:effectLst>
        </p:spPr>
      </p:sp>
      <p:sp>
        <p:nvSpPr>
          <p:cNvPr id="17" name="Shape 14"/>
          <p:cNvSpPr/>
          <p:nvPr/>
        </p:nvSpPr>
        <p:spPr>
          <a:xfrm>
            <a:off x="4553712" y="4187952"/>
            <a:ext cx="457200" cy="457200"/>
          </a:xfrm>
          <a:prstGeom prst="ellipse">
            <a:avLst/>
          </a:prstGeom>
          <a:solidFill>
            <a:srgbClr val="1C7293"/>
          </a:solidFill>
          <a:ln/>
        </p:spPr>
      </p:sp>
      <p:pic>
        <p:nvPicPr>
          <p:cNvPr id="18" name="Image 1" descr="/home/claude/icons/stack.png">    </p:cNvPr>
          <p:cNvPicPr>
            <a:picLocks noChangeAspect="1"/>
          </p:cNvPicPr>
          <p:nvPr/>
        </p:nvPicPr>
        <p:blipFill>
          <a:blip r:embed="rId2"/>
          <a:stretch>
            <a:fillRect/>
          </a:stretch>
        </p:blipFill>
        <p:spPr>
          <a:xfrm>
            <a:off x="4672584" y="4306824"/>
            <a:ext cx="219456" cy="219456"/>
          </a:xfrm>
          <a:prstGeom prst="rect">
            <a:avLst/>
          </a:prstGeom>
        </p:spPr>
      </p:pic>
      <p:sp>
        <p:nvSpPr>
          <p:cNvPr id="19" name="Text 15"/>
          <p:cNvSpPr/>
          <p:nvPr/>
        </p:nvSpPr>
        <p:spPr>
          <a:xfrm>
            <a:off x="5148072" y="4187952"/>
            <a:ext cx="2514600" cy="45720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They compose</a:t>
            </a:r>
            <a:endParaRPr lang="en-US" sz="1200" dirty="0"/>
          </a:p>
        </p:txBody>
      </p:sp>
      <p:sp>
        <p:nvSpPr>
          <p:cNvPr id="20" name="Text 16"/>
          <p:cNvSpPr/>
          <p:nvPr/>
        </p:nvSpPr>
        <p:spPr>
          <a:xfrm>
            <a:off x="4553712" y="4754880"/>
            <a:ext cx="3063240" cy="1143000"/>
          </a:xfrm>
          <a:prstGeom prst="rect">
            <a:avLst/>
          </a:prstGeom>
          <a:noFill/>
          <a:ln/>
        </p:spPr>
        <p:txBody>
          <a:bodyPr wrap="square" rtlCol="0" anchor="ctr"/>
          <a:lstStyle/>
          <a:p>
            <a:pPr indent="0" marL="0">
              <a:lnSpc>
                <a:spcPct val="120000"/>
              </a:lnSpc>
              <a:buNone/>
            </a:pPr>
            <a:r>
              <a:rPr lang="en-US" sz="1050" dirty="0">
                <a:solidFill>
                  <a:srgbClr val="5C7080"/>
                </a:solidFill>
                <a:latin typeface="Calibri" pitchFamily="34" charset="0"/>
                <a:ea typeface="Calibri" pitchFamily="34" charset="-122"/>
                <a:cs typeface="Calibri" pitchFamily="34" charset="-120"/>
              </a:rPr>
              <a:t>GRPOTrainer accepts a list of reward functions and sums them, so format compliance, correctness and a length penalty can each be a separate small function.</a:t>
            </a:r>
            <a:endParaRPr lang="en-US" sz="1050" dirty="0"/>
          </a:p>
        </p:txBody>
      </p:sp>
      <p:sp>
        <p:nvSpPr>
          <p:cNvPr id="21" name="Shape 17"/>
          <p:cNvSpPr/>
          <p:nvPr/>
        </p:nvSpPr>
        <p:spPr>
          <a:xfrm>
            <a:off x="8101584" y="3977640"/>
            <a:ext cx="3520440" cy="2057400"/>
          </a:xfrm>
          <a:prstGeom prst="roundRect">
            <a:avLst>
              <a:gd name="adj" fmla="val 3556"/>
            </a:avLst>
          </a:prstGeom>
          <a:solidFill>
            <a:srgbClr val="FDF3E3"/>
          </a:solidFill>
          <a:ln/>
          <a:effectLst>
            <a:outerShdw sx="100000" sy="100000" kx="0" ky="0" algn="bl" rotWithShape="0" blurRad="101600" dist="25400" dir="5400000">
              <a:srgbClr val="1B2733">
                <a:alpha val="8000"/>
              </a:srgbClr>
            </a:outerShdw>
          </a:effectLst>
        </p:spPr>
      </p:sp>
      <p:sp>
        <p:nvSpPr>
          <p:cNvPr id="22" name="Shape 18"/>
          <p:cNvSpPr/>
          <p:nvPr/>
        </p:nvSpPr>
        <p:spPr>
          <a:xfrm>
            <a:off x="8330184" y="4187952"/>
            <a:ext cx="457200" cy="457200"/>
          </a:xfrm>
          <a:prstGeom prst="ellipse">
            <a:avLst/>
          </a:prstGeom>
          <a:solidFill>
            <a:srgbClr val="21295C"/>
          </a:solidFill>
          <a:ln/>
        </p:spPr>
      </p:sp>
      <p:pic>
        <p:nvPicPr>
          <p:cNvPr id="23" name="Image 2" descr="/home/claude/icons/warning.png">    </p:cNvPr>
          <p:cNvPicPr>
            <a:picLocks noChangeAspect="1"/>
          </p:cNvPicPr>
          <p:nvPr/>
        </p:nvPicPr>
        <p:blipFill>
          <a:blip r:embed="rId3"/>
          <a:stretch>
            <a:fillRect/>
          </a:stretch>
        </p:blipFill>
        <p:spPr>
          <a:xfrm>
            <a:off x="8449056" y="4306824"/>
            <a:ext cx="219456" cy="219456"/>
          </a:xfrm>
          <a:prstGeom prst="rect">
            <a:avLst/>
          </a:prstGeom>
        </p:spPr>
      </p:pic>
      <p:sp>
        <p:nvSpPr>
          <p:cNvPr id="24" name="Text 19"/>
          <p:cNvSpPr/>
          <p:nvPr/>
        </p:nvSpPr>
        <p:spPr>
          <a:xfrm>
            <a:off x="8924544" y="4187952"/>
            <a:ext cx="2514600" cy="457200"/>
          </a:xfrm>
          <a:prstGeom prst="rect">
            <a:avLst/>
          </a:prstGeom>
          <a:noFill/>
          <a:ln/>
        </p:spPr>
        <p:txBody>
          <a:bodyPr wrap="square" lIns="0" tIns="0" rIns="0" bIns="0" rtlCol="0" anchor="ctr"/>
          <a:lstStyle/>
          <a:p>
            <a:pPr indent="0" marL="0">
              <a:buNone/>
            </a:pPr>
            <a:r>
              <a:rPr lang="en-US" sz="1200" b="1" dirty="0">
                <a:solidFill>
                  <a:srgbClr val="1B2733"/>
                </a:solidFill>
                <a:latin typeface="Calibri" pitchFamily="34" charset="0"/>
                <a:ea typeface="Calibri" pitchFamily="34" charset="-122"/>
                <a:cs typeface="Calibri" pitchFamily="34" charset="-120"/>
              </a:rPr>
              <a:t>This is where hacking moves</a:t>
            </a:r>
            <a:endParaRPr lang="en-US" sz="1200" dirty="0"/>
          </a:p>
        </p:txBody>
      </p:sp>
      <p:sp>
        <p:nvSpPr>
          <p:cNvPr id="25" name="Text 20"/>
          <p:cNvSpPr/>
          <p:nvPr/>
        </p:nvSpPr>
        <p:spPr>
          <a:xfrm>
            <a:off x="8330184" y="4754880"/>
            <a:ext cx="3063240" cy="1143000"/>
          </a:xfrm>
          <a:prstGeom prst="rect">
            <a:avLst/>
          </a:prstGeom>
          <a:noFill/>
          <a:ln/>
        </p:spPr>
        <p:txBody>
          <a:bodyPr wrap="square" rtlCol="0" anchor="ctr"/>
          <a:lstStyle/>
          <a:p>
            <a:pPr indent="0" marL="0">
              <a:lnSpc>
                <a:spcPct val="120000"/>
              </a:lnSpc>
              <a:buNone/>
            </a:pPr>
            <a:r>
              <a:rPr lang="en-US" sz="1050" dirty="0">
                <a:solidFill>
                  <a:srgbClr val="6B4A12"/>
                </a:solidFill>
                <a:latin typeface="Calibri" pitchFamily="34" charset="0"/>
                <a:ea typeface="Calibri" pitchFamily="34" charset="-122"/>
                <a:cs typeface="Calibri" pitchFamily="34" charset="-120"/>
              </a:rPr>
              <a:t>Remove the learned judge and you have not removed the problem — you've moved it into the regex. A model can satisfy this checker with empty think tags. Verifiers are exploitable too; they're just exploitable in ways you can read.</a:t>
            </a:r>
            <a:endParaRPr lang="en-US" sz="1050" dirty="0"/>
          </a:p>
        </p:txBody>
      </p:sp>
      <p:sp>
        <p:nvSpPr>
          <p:cNvPr id="26" name="Text 21"/>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7" name="Text 22"/>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STRUCTURE AS EVIDENCE</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The On-Policy Split, Visible in the Class Bodies</a:t>
            </a:r>
            <a:endParaRPr lang="en-US" sz="3000" dirty="0"/>
          </a:p>
        </p:txBody>
      </p:sp>
      <p:sp>
        <p:nvSpPr>
          <p:cNvPr id="4" name="Shape 2"/>
          <p:cNvSpPr/>
          <p:nvPr/>
        </p:nvSpPr>
        <p:spPr>
          <a:xfrm>
            <a:off x="8778240" y="841248"/>
            <a:ext cx="2834640" cy="292608"/>
          </a:xfrm>
          <a:prstGeom prst="roundRect">
            <a:avLst>
              <a:gd name="adj" fmla="val 15625"/>
            </a:avLst>
          </a:prstGeom>
          <a:solidFill>
            <a:srgbClr val="E4F4EC"/>
          </a:solidFill>
          <a:ln/>
        </p:spPr>
      </p:sp>
      <p:sp>
        <p:nvSpPr>
          <p:cNvPr id="5" name="Text 3"/>
          <p:cNvSpPr/>
          <p:nvPr/>
        </p:nvSpPr>
        <p:spPr>
          <a:xfrm>
            <a:off x="8778240" y="841248"/>
            <a:ext cx="2834640" cy="292608"/>
          </a:xfrm>
          <a:prstGeom prst="rect">
            <a:avLst/>
          </a:prstGeom>
          <a:noFill/>
          <a:ln/>
        </p:spPr>
        <p:txBody>
          <a:bodyPr wrap="square" lIns="0" tIns="0" rIns="0" bIns="0" rtlCol="0" anchor="ctr"/>
          <a:lstStyle/>
          <a:p>
            <a:pPr algn="ctr" indent="0" marL="0">
              <a:buNone/>
            </a:pPr>
            <a:r>
              <a:rPr lang="en-US" sz="950" b="1" dirty="0">
                <a:solidFill>
                  <a:srgbClr val="1E7A5F"/>
                </a:solidFill>
                <a:latin typeface="Calibri" pitchFamily="34" charset="0"/>
                <a:ea typeface="Calibri" pitchFamily="34" charset="-122"/>
                <a:cs typeface="Calibri" pitchFamily="34" charset="-120"/>
              </a:rPr>
              <a:t>← Background · Slide 6, On- vs off-policy</a:t>
            </a:r>
            <a:endParaRPr lang="en-US" sz="950" dirty="0"/>
          </a:p>
        </p:txBody>
      </p:sp>
      <p:sp>
        <p:nvSpPr>
          <p:cNvPr id="6" name="Text 4"/>
          <p:cNvSpPr/>
          <p:nvPr/>
        </p:nvSpPr>
        <p:spPr>
          <a:xfrm>
            <a:off x="548640" y="1371600"/>
            <a:ext cx="8046720" cy="41148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You don't need documentation to tell you which trainers generate. Compare what each class overrides and the split falls out on its own.</a:t>
            </a:r>
            <a:endParaRPr lang="en-US" sz="1250" dirty="0"/>
          </a:p>
        </p:txBody>
      </p:sp>
      <p:sp>
        <p:nvSpPr>
          <p:cNvPr id="7" name="Shape 5"/>
          <p:cNvSpPr/>
          <p:nvPr/>
        </p:nvSpPr>
        <p:spPr>
          <a:xfrm>
            <a:off x="548640" y="1920240"/>
            <a:ext cx="5349240" cy="3200400"/>
          </a:xfrm>
          <a:prstGeom prst="roundRect">
            <a:avLst>
              <a:gd name="adj" fmla="val 2286"/>
            </a:avLst>
          </a:prstGeom>
          <a:solidFill>
            <a:srgbClr val="F2F8FA"/>
          </a:solidFill>
          <a:ln/>
          <a:effectLst>
            <a:outerShdw sx="100000" sy="100000" kx="0" ky="0" algn="bl" rotWithShape="0" blurRad="101600" dist="25400" dir="5400000">
              <a:srgbClr val="1B2733">
                <a:alpha val="8000"/>
              </a:srgbClr>
            </a:outerShdw>
          </a:effectLst>
        </p:spPr>
      </p:sp>
      <p:sp>
        <p:nvSpPr>
          <p:cNvPr id="8" name="Shape 6"/>
          <p:cNvSpPr/>
          <p:nvPr/>
        </p:nvSpPr>
        <p:spPr>
          <a:xfrm>
            <a:off x="822960" y="2148840"/>
            <a:ext cx="502920" cy="502920"/>
          </a:xfrm>
          <a:prstGeom prst="ellipse">
            <a:avLst/>
          </a:prstGeom>
          <a:solidFill>
            <a:srgbClr val="065A82"/>
          </a:solidFill>
          <a:ln/>
        </p:spPr>
      </p:sp>
      <p:pic>
        <p:nvPicPr>
          <p:cNvPr id="9" name="Image 0" descr="/home/claude/icons/swap.png">    </p:cNvPr>
          <p:cNvPicPr>
            <a:picLocks noChangeAspect="1"/>
          </p:cNvPicPr>
          <p:nvPr/>
        </p:nvPicPr>
        <p:blipFill>
          <a:blip r:embed="rId1"/>
          <a:stretch>
            <a:fillRect/>
          </a:stretch>
        </p:blipFill>
        <p:spPr>
          <a:xfrm>
            <a:off x="953719" y="2279599"/>
            <a:ext cx="241402" cy="241402"/>
          </a:xfrm>
          <a:prstGeom prst="rect">
            <a:avLst/>
          </a:prstGeom>
        </p:spPr>
      </p:pic>
      <p:sp>
        <p:nvSpPr>
          <p:cNvPr id="10" name="Text 7"/>
          <p:cNvSpPr/>
          <p:nvPr/>
        </p:nvSpPr>
        <p:spPr>
          <a:xfrm>
            <a:off x="1481328" y="2148840"/>
            <a:ext cx="4206240" cy="50292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SFT · Reward · DPO · KTO</a:t>
            </a:r>
            <a:endParaRPr lang="en-US" sz="1400" dirty="0"/>
          </a:p>
        </p:txBody>
      </p:sp>
      <p:sp>
        <p:nvSpPr>
          <p:cNvPr id="11" name="Shape 8"/>
          <p:cNvSpPr/>
          <p:nvPr/>
        </p:nvSpPr>
        <p:spPr>
          <a:xfrm>
            <a:off x="822960" y="2788920"/>
            <a:ext cx="4800600" cy="1234440"/>
          </a:xfrm>
          <a:prstGeom prst="roundRect">
            <a:avLst>
              <a:gd name="adj" fmla="val 4444"/>
            </a:avLst>
          </a:prstGeom>
          <a:solidFill>
            <a:srgbClr val="0B2942"/>
          </a:solidFill>
          <a:ln/>
        </p:spPr>
      </p:sp>
      <p:sp>
        <p:nvSpPr>
          <p:cNvPr id="12" name="Text 9"/>
          <p:cNvSpPr/>
          <p:nvPr/>
        </p:nvSpPr>
        <p:spPr>
          <a:xfrm>
            <a:off x="1024128" y="2916936"/>
            <a:ext cx="4398264" cy="978408"/>
          </a:xfrm>
          <a:prstGeom prst="rect">
            <a:avLst/>
          </a:prstGeom>
          <a:noFill/>
          <a:ln/>
        </p:spPr>
        <p:txBody>
          <a:bodyPr wrap="square" lIns="0" tIns="0" rIns="0" bIns="0" rtlCol="0" anchor="ctr"/>
          <a:lstStyle/>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def training_step(self, *args, **kwargs):</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with self.maybe_activation_offload_context:</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return super().training_step(*args,</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**kwargs)</a:t>
            </a:r>
            <a:endParaRPr lang="en-US" sz="950" dirty="0"/>
          </a:p>
        </p:txBody>
      </p:sp>
      <p:sp>
        <p:nvSpPr>
          <p:cNvPr id="13" name="Text 10"/>
          <p:cNvSpPr/>
          <p:nvPr/>
        </p:nvSpPr>
        <p:spPr>
          <a:xfrm>
            <a:off x="822960" y="4160520"/>
            <a:ext cx="4800600" cy="868680"/>
          </a:xfrm>
          <a:prstGeom prst="rect">
            <a:avLst/>
          </a:prstGeom>
          <a:noFill/>
          <a:ln/>
        </p:spPr>
        <p:txBody>
          <a:bodyPr wrap="square" rtlCol="0" anchor="ctr"/>
          <a:lstStyle/>
          <a:p>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A passthrough. It adds a memory-management context and hands straight back to the parent. Nothing happens here that wasn't already going to happen — the batch arrived complete from the dataset.</a:t>
            </a:r>
            <a:endParaRPr lang="en-US" sz="1100" dirty="0"/>
          </a:p>
        </p:txBody>
      </p:sp>
      <p:sp>
        <p:nvSpPr>
          <p:cNvPr id="14" name="Shape 11"/>
          <p:cNvSpPr/>
          <p:nvPr/>
        </p:nvSpPr>
        <p:spPr>
          <a:xfrm>
            <a:off x="6263640" y="1920240"/>
            <a:ext cx="5349240" cy="3200400"/>
          </a:xfrm>
          <a:prstGeom prst="roundRect">
            <a:avLst>
              <a:gd name="adj" fmla="val 2286"/>
            </a:avLst>
          </a:prstGeom>
          <a:solidFill>
            <a:srgbClr val="EDF1FA"/>
          </a:solidFill>
          <a:ln/>
          <a:effectLst>
            <a:outerShdw sx="100000" sy="100000" kx="0" ky="0" algn="bl" rotWithShape="0" blurRad="101600" dist="25400" dir="5400000">
              <a:srgbClr val="1B2733">
                <a:alpha val="8000"/>
              </a:srgbClr>
            </a:outerShdw>
          </a:effectLst>
        </p:spPr>
      </p:sp>
      <p:sp>
        <p:nvSpPr>
          <p:cNvPr id="15" name="Shape 12"/>
          <p:cNvSpPr/>
          <p:nvPr/>
        </p:nvSpPr>
        <p:spPr>
          <a:xfrm>
            <a:off x="6537960" y="2148840"/>
            <a:ext cx="502920" cy="502920"/>
          </a:xfrm>
          <a:prstGeom prst="ellipse">
            <a:avLst/>
          </a:prstGeom>
          <a:solidFill>
            <a:srgbClr val="21295C"/>
          </a:solidFill>
          <a:ln/>
        </p:spPr>
      </p:sp>
      <p:pic>
        <p:nvPicPr>
          <p:cNvPr id="16" name="Image 1" descr="/home/claude/icons/spin.png">    </p:cNvPr>
          <p:cNvPicPr>
            <a:picLocks noChangeAspect="1"/>
          </p:cNvPicPr>
          <p:nvPr/>
        </p:nvPicPr>
        <p:blipFill>
          <a:blip r:embed="rId2"/>
          <a:stretch>
            <a:fillRect/>
          </a:stretch>
        </p:blipFill>
        <p:spPr>
          <a:xfrm>
            <a:off x="6668719" y="2279599"/>
            <a:ext cx="241402" cy="241402"/>
          </a:xfrm>
          <a:prstGeom prst="rect">
            <a:avLst/>
          </a:prstGeom>
        </p:spPr>
      </p:pic>
      <p:sp>
        <p:nvSpPr>
          <p:cNvPr id="17" name="Text 13"/>
          <p:cNvSpPr/>
          <p:nvPr/>
        </p:nvSpPr>
        <p:spPr>
          <a:xfrm>
            <a:off x="7196328" y="2148840"/>
            <a:ext cx="4206240" cy="50292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GRPO · RLOO</a:t>
            </a:r>
            <a:endParaRPr lang="en-US" sz="1400" dirty="0"/>
          </a:p>
        </p:txBody>
      </p:sp>
      <p:sp>
        <p:nvSpPr>
          <p:cNvPr id="18" name="Shape 14"/>
          <p:cNvSpPr/>
          <p:nvPr/>
        </p:nvSpPr>
        <p:spPr>
          <a:xfrm>
            <a:off x="6537960" y="2788920"/>
            <a:ext cx="4800600" cy="1600200"/>
          </a:xfrm>
          <a:prstGeom prst="roundRect">
            <a:avLst>
              <a:gd name="adj" fmla="val 3429"/>
            </a:avLst>
          </a:prstGeom>
          <a:solidFill>
            <a:srgbClr val="0B2942"/>
          </a:solidFill>
          <a:ln/>
        </p:spPr>
      </p:sp>
      <p:sp>
        <p:nvSpPr>
          <p:cNvPr id="19" name="Text 15"/>
          <p:cNvSpPr/>
          <p:nvPr/>
        </p:nvSpPr>
        <p:spPr>
          <a:xfrm>
            <a:off x="6739128" y="2916936"/>
            <a:ext cx="4398264" cy="1344168"/>
          </a:xfrm>
          <a:prstGeom prst="rect">
            <a:avLst/>
          </a:prstGeom>
          <a:noFill/>
          <a:ln/>
        </p:spPr>
        <p:txBody>
          <a:bodyPr wrap="square" lIns="0" tIns="0" rIns="0" bIns="0" rtlCol="0" anchor="ctr"/>
          <a:lstStyle/>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def _prepare_inputs(self, generation_batch):</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inputs = self._generate_and_score_completions(</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generation_batch)</a:t>
            </a:r>
            <a:endParaRPr lang="en-US" sz="950" dirty="0"/>
          </a:p>
          <a:p>
            <a:pPr indent="0" marL="0">
              <a:lnSpc>
                <a:spcPct val="122000"/>
              </a:lnSpc>
              <a:buNone/>
            </a:pP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def _calculate_rewards(self, inputs, prompts,</a:t>
            </a:r>
            <a:endParaRPr lang="en-US" sz="950" dirty="0"/>
          </a:p>
          <a:p>
            <a:pPr indent="0" marL="0">
              <a:lnSpc>
                <a:spcPct val="122000"/>
              </a:lnSpc>
              <a:buNone/>
            </a:pPr>
            <a:r>
              <a:rPr lang="en-US" sz="950" dirty="0">
                <a:solidFill>
                  <a:srgbClr val="CFE8F0"/>
                </a:solidFill>
                <a:latin typeface="Courier New" pitchFamily="34" charset="0"/>
                <a:ea typeface="Courier New" pitchFamily="34" charset="-122"/>
                <a:cs typeface="Courier New" pitchFamily="34" charset="-120"/>
              </a:rPr>
              <a:t>                       completions, ...):</a:t>
            </a:r>
            <a:endParaRPr lang="en-US" sz="950" dirty="0"/>
          </a:p>
        </p:txBody>
      </p:sp>
      <p:sp>
        <p:nvSpPr>
          <p:cNvPr id="20" name="Text 16"/>
          <p:cNvSpPr/>
          <p:nvPr/>
        </p:nvSpPr>
        <p:spPr>
          <a:xfrm>
            <a:off x="6537960" y="4526280"/>
            <a:ext cx="4800600" cy="502920"/>
          </a:xfrm>
          <a:prstGeom prst="rect">
            <a:avLst/>
          </a:prstGeom>
          <a:noFill/>
          <a:ln/>
        </p:spPr>
        <p:txBody>
          <a:bodyPr wrap="square" rtlCol="0" anchor="ctr"/>
          <a:lstStyle/>
          <a:p>
            <a:pPr indent="0" marL="0">
              <a:lnSpc>
                <a:spcPct val="122000"/>
              </a:lnSpc>
              <a:buNone/>
            </a:pPr>
            <a:r>
              <a:rPr lang="en-US" sz="1100" dirty="0">
                <a:solidFill>
                  <a:srgbClr val="5C7080"/>
                </a:solidFill>
                <a:latin typeface="Calibri" pitchFamily="34" charset="0"/>
                <a:ea typeface="Calibri" pitchFamily="34" charset="-122"/>
                <a:cs typeface="Calibri" pitchFamily="34" charset="-120"/>
              </a:rPr>
              <a:t>A real generation stage. The batch arrives as prompts only and has to be completed and scored before any gradient exists.</a:t>
            </a:r>
            <a:endParaRPr lang="en-US" sz="1100" dirty="0"/>
          </a:p>
        </p:txBody>
      </p:sp>
      <p:sp>
        <p:nvSpPr>
          <p:cNvPr id="21" name="Shape 17"/>
          <p:cNvSpPr/>
          <p:nvPr/>
        </p:nvSpPr>
        <p:spPr>
          <a:xfrm>
            <a:off x="548640" y="5349240"/>
            <a:ext cx="11064240" cy="777240"/>
          </a:xfrm>
          <a:prstGeom prst="roundRect">
            <a:avLst>
              <a:gd name="adj" fmla="val 7059"/>
            </a:avLst>
          </a:prstGeom>
          <a:solidFill>
            <a:srgbClr val="CFE8F0"/>
          </a:solidFill>
          <a:ln/>
        </p:spPr>
      </p:sp>
      <p:sp>
        <p:nvSpPr>
          <p:cNvPr id="22" name="Text 18"/>
          <p:cNvSpPr/>
          <p:nvPr/>
        </p:nvSpPr>
        <p:spPr>
          <a:xfrm>
            <a:off x="777240" y="5349240"/>
            <a:ext cx="10607040" cy="777240"/>
          </a:xfrm>
          <a:prstGeom prst="rect">
            <a:avLst/>
          </a:prstGeom>
          <a:noFill/>
          <a:ln/>
        </p:spPr>
        <p:txBody>
          <a:bodyPr wrap="square" lIns="0" tIns="0" rIns="0" bIns="0" rtlCol="0" anchor="ctr"/>
          <a:lstStyle/>
          <a:p>
            <a:pPr indent="0" marL="0">
              <a:lnSpc>
                <a:spcPct val="118000"/>
              </a:lnSpc>
              <a:buNone/>
            </a:pPr>
            <a:r>
              <a:rPr lang="en-US" sz="1150" dirty="0">
                <a:solidFill>
                  <a:srgbClr val="065A82"/>
                </a:solidFill>
                <a:latin typeface="Calibri" pitchFamily="34" charset="0"/>
                <a:ea typeface="Calibri" pitchFamily="34" charset="-122"/>
                <a:cs typeface="Calibri" pitchFamily="34" charset="-120"/>
              </a:rPr>
              <a:t>The size difference says the same thing. grpo_trainer.py runs to roughly 3,400 lines, against 800–1,900 for every other trainer in the directory — and most of that excess is generation machinery: batching completions, sharing a vLLM server, masking, computing group-relative advantages.</a:t>
            </a:r>
            <a:endParaRPr lang="en-US" sz="1150" dirty="0"/>
          </a:p>
        </p:txBody>
      </p:sp>
      <p:sp>
        <p:nvSpPr>
          <p:cNvPr id="23" name="Text 19"/>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4" name="Text 20"/>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THE FRONTIER, AS A DIRECTORY</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Stable and Experimental</a:t>
            </a:r>
            <a:endParaRPr lang="en-US" sz="3000" dirty="0"/>
          </a:p>
        </p:txBody>
      </p:sp>
      <p:sp>
        <p:nvSpPr>
          <p:cNvPr id="4" name="Text 2"/>
          <p:cNvSpPr/>
          <p:nvPr/>
        </p:nvSpPr>
        <p:spPr>
          <a:xfrm>
            <a:off x="548640" y="1417320"/>
            <a:ext cx="11064240" cy="548640"/>
          </a:xfrm>
          <a:prstGeom prst="rect">
            <a:avLst/>
          </a:prstGeom>
          <a:noFill/>
          <a:ln/>
        </p:spPr>
        <p:txBody>
          <a:bodyPr wrap="square" rtlCol="0" anchor="ctr"/>
          <a:lstStyle/>
          <a:p>
            <a:pPr indent="0" marL="0">
              <a:lnSpc>
                <a:spcPct val="120000"/>
              </a:lnSpc>
              <a:buNone/>
            </a:pPr>
            <a:r>
              <a:rPr lang="en-US" sz="1350" dirty="0">
                <a:solidFill>
                  <a:srgbClr val="5C7080"/>
                </a:solidFill>
                <a:latin typeface="Calibri" pitchFamily="34" charset="0"/>
                <a:ea typeface="Calibri" pitchFamily="34" charset="-122"/>
                <a:cs typeface="Calibri" pitchFamily="34" charset="-120"/>
              </a:rPr>
              <a:t>Alongside the six stable trainers sits trl/experimental/, holding twenty-seven further methods. The boundary between the two directories is a real, documented contract — and reading it is the fastest way to see which ideas the field has actually settled on.</a:t>
            </a:r>
            <a:endParaRPr lang="en-US" sz="1350" dirty="0"/>
          </a:p>
        </p:txBody>
      </p:sp>
      <p:sp>
        <p:nvSpPr>
          <p:cNvPr id="5" name="Shape 3"/>
          <p:cNvSpPr/>
          <p:nvPr/>
        </p:nvSpPr>
        <p:spPr>
          <a:xfrm>
            <a:off x="548640" y="2103120"/>
            <a:ext cx="5349240" cy="2286000"/>
          </a:xfrm>
          <a:prstGeom prst="roundRect">
            <a:avLst>
              <a:gd name="adj" fmla="val 3200"/>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22960" y="2331720"/>
            <a:ext cx="502920" cy="502920"/>
          </a:xfrm>
          <a:prstGeom prst="ellipse">
            <a:avLst/>
          </a:prstGeom>
          <a:solidFill>
            <a:srgbClr val="065A82"/>
          </a:solidFill>
          <a:ln/>
        </p:spPr>
      </p:sp>
      <p:pic>
        <p:nvPicPr>
          <p:cNvPr id="7" name="Image 0" descr="/home/claude/icons/cubes.png">    </p:cNvPr>
          <p:cNvPicPr>
            <a:picLocks noChangeAspect="1"/>
          </p:cNvPicPr>
          <p:nvPr/>
        </p:nvPicPr>
        <p:blipFill>
          <a:blip r:embed="rId1"/>
          <a:stretch>
            <a:fillRect/>
          </a:stretch>
        </p:blipFill>
        <p:spPr>
          <a:xfrm>
            <a:off x="953719" y="2462479"/>
            <a:ext cx="241402" cy="241402"/>
          </a:xfrm>
          <a:prstGeom prst="rect">
            <a:avLst/>
          </a:prstGeom>
        </p:spPr>
      </p:pic>
      <p:sp>
        <p:nvSpPr>
          <p:cNvPr id="8" name="Text 5"/>
          <p:cNvSpPr/>
          <p:nvPr/>
        </p:nvSpPr>
        <p:spPr>
          <a:xfrm>
            <a:off x="1481328" y="2331720"/>
            <a:ext cx="4114800" cy="50292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trl/trainer/  —  stable</a:t>
            </a:r>
            <a:endParaRPr lang="en-US" sz="1400" dirty="0"/>
          </a:p>
        </p:txBody>
      </p:sp>
      <p:sp>
        <p:nvSpPr>
          <p:cNvPr id="9" name="Text 6"/>
          <p:cNvSpPr/>
          <p:nvPr/>
        </p:nvSpPr>
        <p:spPr>
          <a:xfrm>
            <a:off x="822960" y="2971800"/>
            <a:ext cx="4800600" cy="731520"/>
          </a:xfrm>
          <a:prstGeom prst="rect">
            <a:avLst/>
          </a:prstGeom>
          <a:noFill/>
          <a:ln/>
        </p:spPr>
        <p:txBody>
          <a:bodyPr wrap="square" rtlCol="0" anchor="ctr"/>
          <a:lstStyle/>
          <a:p>
            <a:pPr indent="0" marL="0">
              <a:lnSpc>
                <a:spcPct val="122000"/>
              </a:lnSpc>
              <a:buNone/>
            </a:pPr>
            <a:r>
              <a:rPr lang="en-US" sz="1150" dirty="0">
                <a:solidFill>
                  <a:srgbClr val="5C7080"/>
                </a:solidFill>
                <a:latin typeface="Calibri" pitchFamily="34" charset="0"/>
                <a:ea typeface="Calibri" pitchFamily="34" charset="-122"/>
                <a:cs typeface="Calibri" pitchFamily="34" charset="-120"/>
              </a:rPr>
              <a:t>Six methods. Public API, deprecation cycles, maintained. Breaking changes are documented in MIGRATION.md before they ship.</a:t>
            </a:r>
            <a:endParaRPr lang="en-US" sz="1150" dirty="0"/>
          </a:p>
        </p:txBody>
      </p:sp>
      <p:sp>
        <p:nvSpPr>
          <p:cNvPr id="10" name="Text 7"/>
          <p:cNvSpPr/>
          <p:nvPr/>
        </p:nvSpPr>
        <p:spPr>
          <a:xfrm>
            <a:off x="822960" y="3794760"/>
            <a:ext cx="4800600" cy="365760"/>
          </a:xfrm>
          <a:prstGeom prst="rect">
            <a:avLst/>
          </a:prstGeom>
          <a:noFill/>
          <a:ln/>
        </p:spPr>
        <p:txBody>
          <a:bodyPr wrap="square" lIns="0" tIns="0" rIns="0" bIns="0" rtlCol="0" anchor="ctr"/>
          <a:lstStyle/>
          <a:p>
            <a:pPr indent="0" marL="0">
              <a:buNone/>
            </a:pPr>
            <a:r>
              <a:rPr lang="en-US" sz="1050" dirty="0">
                <a:solidFill>
                  <a:srgbClr val="065A82"/>
                </a:solidFill>
                <a:latin typeface="Courier New" pitchFamily="34" charset="0"/>
                <a:ea typeface="Courier New" pitchFamily="34" charset="-122"/>
                <a:cs typeface="Courier New" pitchFamily="34" charset="-120"/>
              </a:rPr>
              <a:t>SFT · Reward · DPO · KTO · GRPO · RLOO</a:t>
            </a:r>
            <a:endParaRPr lang="en-US" sz="1050" dirty="0"/>
          </a:p>
        </p:txBody>
      </p:sp>
      <p:sp>
        <p:nvSpPr>
          <p:cNvPr id="11" name="Shape 8"/>
          <p:cNvSpPr/>
          <p:nvPr/>
        </p:nvSpPr>
        <p:spPr>
          <a:xfrm>
            <a:off x="6263640" y="2103120"/>
            <a:ext cx="5349240" cy="2286000"/>
          </a:xfrm>
          <a:prstGeom prst="roundRect">
            <a:avLst>
              <a:gd name="adj" fmla="val 3200"/>
            </a:avLst>
          </a:prstGeom>
          <a:solidFill>
            <a:srgbClr val="EDF1FA"/>
          </a:solidFill>
          <a:ln/>
          <a:effectLst>
            <a:outerShdw sx="100000" sy="100000" kx="0" ky="0" algn="bl" rotWithShape="0" blurRad="101600" dist="25400" dir="5400000">
              <a:srgbClr val="1B2733">
                <a:alpha val="8000"/>
              </a:srgbClr>
            </a:outerShdw>
          </a:effectLst>
        </p:spPr>
      </p:sp>
      <p:sp>
        <p:nvSpPr>
          <p:cNvPr id="12" name="Shape 9"/>
          <p:cNvSpPr/>
          <p:nvPr/>
        </p:nvSpPr>
        <p:spPr>
          <a:xfrm>
            <a:off x="6537960" y="2331720"/>
            <a:ext cx="502920" cy="502920"/>
          </a:xfrm>
          <a:prstGeom prst="ellipse">
            <a:avLst/>
          </a:prstGeom>
          <a:solidFill>
            <a:srgbClr val="21295C"/>
          </a:solidFill>
          <a:ln/>
        </p:spPr>
      </p:sp>
      <p:pic>
        <p:nvPicPr>
          <p:cNvPr id="13" name="Image 1" descr="/home/claude/icons/flask.png">    </p:cNvPr>
          <p:cNvPicPr>
            <a:picLocks noChangeAspect="1"/>
          </p:cNvPicPr>
          <p:nvPr/>
        </p:nvPicPr>
        <p:blipFill>
          <a:blip r:embed="rId2"/>
          <a:stretch>
            <a:fillRect/>
          </a:stretch>
        </p:blipFill>
        <p:spPr>
          <a:xfrm>
            <a:off x="6668719" y="2462479"/>
            <a:ext cx="241402" cy="241402"/>
          </a:xfrm>
          <a:prstGeom prst="rect">
            <a:avLst/>
          </a:prstGeom>
        </p:spPr>
      </p:pic>
      <p:sp>
        <p:nvSpPr>
          <p:cNvPr id="14" name="Text 10"/>
          <p:cNvSpPr/>
          <p:nvPr/>
        </p:nvSpPr>
        <p:spPr>
          <a:xfrm>
            <a:off x="7196328" y="2331720"/>
            <a:ext cx="4114800" cy="502920"/>
          </a:xfrm>
          <a:prstGeom prst="rect">
            <a:avLst/>
          </a:prstGeom>
          <a:noFill/>
          <a:ln/>
        </p:spPr>
        <p:txBody>
          <a:bodyPr wrap="square" lIns="0" tIns="0" rIns="0" bIns="0" rtlCol="0" anchor="ctr"/>
          <a:lstStyle/>
          <a:p>
            <a:pPr indent="0" marL="0">
              <a:buNone/>
            </a:pPr>
            <a:r>
              <a:rPr lang="en-US" sz="1400" b="1" dirty="0">
                <a:solidFill>
                  <a:srgbClr val="1B2733"/>
                </a:solidFill>
                <a:latin typeface="Calibri" pitchFamily="34" charset="0"/>
                <a:ea typeface="Calibri" pitchFamily="34" charset="-122"/>
                <a:cs typeface="Calibri" pitchFamily="34" charset="-120"/>
              </a:rPr>
              <a:t>trl/experimental/  —  volatile</a:t>
            </a:r>
            <a:endParaRPr lang="en-US" sz="1400" dirty="0"/>
          </a:p>
        </p:txBody>
      </p:sp>
      <p:sp>
        <p:nvSpPr>
          <p:cNvPr id="15" name="Text 11"/>
          <p:cNvSpPr/>
          <p:nvPr/>
        </p:nvSpPr>
        <p:spPr>
          <a:xfrm>
            <a:off x="6537960" y="2971800"/>
            <a:ext cx="4800600" cy="731520"/>
          </a:xfrm>
          <a:prstGeom prst="rect">
            <a:avLst/>
          </a:prstGeom>
          <a:noFill/>
          <a:ln/>
        </p:spPr>
        <p:txBody>
          <a:bodyPr wrap="square" rtlCol="0" anchor="ctr"/>
          <a:lstStyle/>
          <a:p>
            <a:pPr indent="0" marL="0">
              <a:lnSpc>
                <a:spcPct val="122000"/>
              </a:lnSpc>
              <a:buNone/>
            </a:pPr>
            <a:r>
              <a:rPr lang="en-US" sz="1150" dirty="0">
                <a:solidFill>
                  <a:srgbClr val="5C7080"/>
                </a:solidFill>
                <a:latin typeface="Calibri" pitchFamily="34" charset="0"/>
                <a:ea typeface="Calibri" pitchFamily="34" charset="-122"/>
                <a:cs typeface="Calibri" pitchFamily="34" charset="-120"/>
              </a:rPr>
              <a:t>May change or disappear in any release, including a patch. Maintainers explicitly do not commit to fixing issues here. Not for production.</a:t>
            </a:r>
            <a:endParaRPr lang="en-US" sz="1150" dirty="0"/>
          </a:p>
        </p:txBody>
      </p:sp>
      <p:sp>
        <p:nvSpPr>
          <p:cNvPr id="16" name="Text 12"/>
          <p:cNvSpPr/>
          <p:nvPr/>
        </p:nvSpPr>
        <p:spPr>
          <a:xfrm>
            <a:off x="6537960" y="3794760"/>
            <a:ext cx="4800600" cy="365760"/>
          </a:xfrm>
          <a:prstGeom prst="rect">
            <a:avLst/>
          </a:prstGeom>
          <a:noFill/>
          <a:ln/>
        </p:spPr>
        <p:txBody>
          <a:bodyPr wrap="square" lIns="0" tIns="0" rIns="0" bIns="0" rtlCol="0" anchor="ctr"/>
          <a:lstStyle/>
          <a:p>
            <a:pPr indent="0" marL="0">
              <a:buNone/>
            </a:pPr>
            <a:r>
              <a:rPr lang="en-US" sz="1000" dirty="0">
                <a:solidFill>
                  <a:srgbClr val="21295C"/>
                </a:solidFill>
                <a:latin typeface="Courier New" pitchFamily="34" charset="0"/>
                <a:ea typeface="Courier New" pitchFamily="34" charset="-122"/>
                <a:cs typeface="Courier New" pitchFamily="34" charset="-120"/>
              </a:rPr>
              <a:t>ppo · orpo · cpo · bco · online_dpo · xpo · gkd · prm · …</a:t>
            </a:r>
            <a:endParaRPr lang="en-US" sz="1000" dirty="0"/>
          </a:p>
        </p:txBody>
      </p:sp>
      <p:sp>
        <p:nvSpPr>
          <p:cNvPr id="17" name="Shape 13"/>
          <p:cNvSpPr/>
          <p:nvPr/>
        </p:nvSpPr>
        <p:spPr>
          <a:xfrm>
            <a:off x="548640" y="4572000"/>
            <a:ext cx="11064240" cy="1463040"/>
          </a:xfrm>
          <a:prstGeom prst="roundRect">
            <a:avLst>
              <a:gd name="adj" fmla="val 5000"/>
            </a:avLst>
          </a:prstGeom>
          <a:solidFill>
            <a:srgbClr val="FDF3E3"/>
          </a:solidFill>
          <a:ln/>
        </p:spPr>
      </p:sp>
      <p:sp>
        <p:nvSpPr>
          <p:cNvPr id="18" name="Shape 14"/>
          <p:cNvSpPr/>
          <p:nvPr/>
        </p:nvSpPr>
        <p:spPr>
          <a:xfrm>
            <a:off x="868680" y="4846320"/>
            <a:ext cx="457200" cy="457200"/>
          </a:xfrm>
          <a:prstGeom prst="ellipse">
            <a:avLst/>
          </a:prstGeom>
          <a:solidFill>
            <a:srgbClr val="FFFFFF"/>
          </a:solidFill>
          <a:ln/>
        </p:spPr>
      </p:sp>
      <p:pic>
        <p:nvPicPr>
          <p:cNvPr id="19" name="Image 2" descr="/home/claude/icons/warning_teal.png">    </p:cNvPr>
          <p:cNvPicPr>
            <a:picLocks noChangeAspect="1"/>
          </p:cNvPicPr>
          <p:nvPr/>
        </p:nvPicPr>
        <p:blipFill>
          <a:blip r:embed="rId3"/>
          <a:stretch>
            <a:fillRect/>
          </a:stretch>
        </p:blipFill>
        <p:spPr>
          <a:xfrm>
            <a:off x="987552" y="4965192"/>
            <a:ext cx="219456" cy="219456"/>
          </a:xfrm>
          <a:prstGeom prst="rect">
            <a:avLst/>
          </a:prstGeom>
        </p:spPr>
      </p:pic>
      <p:sp>
        <p:nvSpPr>
          <p:cNvPr id="20" name="Text 15"/>
          <p:cNvSpPr/>
          <p:nvPr/>
        </p:nvSpPr>
        <p:spPr>
          <a:xfrm>
            <a:off x="1463040" y="4782312"/>
            <a:ext cx="7315200" cy="365760"/>
          </a:xfrm>
          <a:prstGeom prst="rect">
            <a:avLst/>
          </a:prstGeom>
          <a:noFill/>
          <a:ln/>
        </p:spPr>
        <p:txBody>
          <a:bodyPr wrap="square" lIns="0" tIns="0" rIns="0" bIns="0" rtlCol="0" anchor="ctr"/>
          <a:lstStyle/>
          <a:p>
            <a:pPr indent="0" marL="0">
              <a:buNone/>
            </a:pPr>
            <a:r>
              <a:rPr lang="en-US" sz="1300" b="1" dirty="0">
                <a:solidFill>
                  <a:srgbClr val="8A5A12"/>
                </a:solidFill>
                <a:latin typeface="Calibri" pitchFamily="34" charset="0"/>
                <a:ea typeface="Calibri" pitchFamily="34" charset="-122"/>
                <a:cs typeface="Calibri" pitchFamily="34" charset="-120"/>
              </a:rPr>
              <a:t>PPO is in the experimental directory</a:t>
            </a:r>
            <a:endParaRPr lang="en-US" sz="1300" dirty="0"/>
          </a:p>
        </p:txBody>
      </p:sp>
      <p:sp>
        <p:nvSpPr>
          <p:cNvPr id="21" name="Text 16"/>
          <p:cNvSpPr/>
          <p:nvPr/>
        </p:nvSpPr>
        <p:spPr>
          <a:xfrm>
            <a:off x="1463040" y="5193792"/>
            <a:ext cx="9875520" cy="777240"/>
          </a:xfrm>
          <a:prstGeom prst="rect">
            <a:avLst/>
          </a:prstGeom>
          <a:noFill/>
          <a:ln/>
        </p:spPr>
        <p:txBody>
          <a:bodyPr wrap="square" rtlCol="0" anchor="ctr"/>
          <a:lstStyle/>
          <a:p>
            <a:pPr indent="0" marL="0">
              <a:lnSpc>
                <a:spcPct val="118000"/>
              </a:lnSpc>
              <a:buNone/>
            </a:pPr>
            <a:r>
              <a:rPr lang="en-US" sz="1100" dirty="0">
                <a:solidFill>
                  <a:srgbClr val="6B4A12"/>
                </a:solidFill>
                <a:latin typeface="Calibri" pitchFamily="34" charset="0"/>
                <a:ea typeface="Calibri" pitchFamily="34" charset="-122"/>
                <a:cs typeface="Calibri" pitchFamily="34" charset="-120"/>
              </a:rPr>
              <a:t>The algorithm most tutorials still present as the canonical way to do RLHF is not part of this library's stable API, and its dataset requirement — pre-tokenized text — is unlike every other trainer's. Meanwhile KTO was promoted into stable only recently. Treat any external description of “what TRL supports” </a:t>
            </a:r>
            <a:pPr indent="0" marL="0">
              <a:lnSpc>
                <a:spcPct val="118000"/>
              </a:lnSpc>
              <a:buNone/>
            </a:pPr>
            <a:r>
              <a:rPr lang="en-US" sz="1100" b="1" dirty="0">
                <a:solidFill>
                  <a:srgbClr val="6B4A12"/>
                </a:solidFill>
                <a:latin typeface="Calibri" pitchFamily="34" charset="0"/>
                <a:ea typeface="Calibri" pitchFamily="34" charset="-122"/>
                <a:cs typeface="Calibri" pitchFamily="34" charset="-120"/>
              </a:rPr>
              <a:t>— including this slide, last checked against the repository on 8 August 2026 —</a:t>
            </a:r>
            <a:pPr indent="0" marL="0">
              <a:lnSpc>
                <a:spcPct val="118000"/>
              </a:lnSpc>
              <a:buNone/>
            </a:pPr>
            <a:r>
              <a:rPr lang="en-US" sz="1100" dirty="0">
                <a:solidFill>
                  <a:srgbClr val="6B4A12"/>
                </a:solidFill>
                <a:latin typeface="Calibri" pitchFamily="34" charset="0"/>
                <a:ea typeface="Calibri" pitchFamily="34" charset="-122"/>
                <a:cs typeface="Calibri" pitchFamily="34" charset="-120"/>
              </a:rPr>
              <a:t> as a claim about one particular version, and check the directory yourself.</a:t>
            </a:r>
            <a:endParaRPr lang="en-US" sz="1100" dirty="0"/>
          </a:p>
        </p:txBody>
      </p:sp>
      <p:sp>
        <p:nvSpPr>
          <p:cNvPr id="22" name="Text 1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23" name="Text 1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HONEST CAVEATS</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1B2733"/>
                </a:solidFill>
                <a:latin typeface="Cambria" pitchFamily="34" charset="0"/>
                <a:ea typeface="Cambria" pitchFamily="34" charset="-122"/>
                <a:cs typeface="Cambria" pitchFamily="34" charset="-120"/>
              </a:rPr>
              <a:t>Limitations</a:t>
            </a:r>
            <a:endParaRPr lang="en-US" sz="3000" dirty="0"/>
          </a:p>
        </p:txBody>
      </p:sp>
      <p:sp>
        <p:nvSpPr>
          <p:cNvPr id="4" name="Text 2"/>
          <p:cNvSpPr/>
          <p:nvPr/>
        </p:nvSpPr>
        <p:spPr>
          <a:xfrm>
            <a:off x="548640" y="1417320"/>
            <a:ext cx="11064240" cy="365760"/>
          </a:xfrm>
          <a:prstGeom prst="rect">
            <a:avLst/>
          </a:prstGeom>
          <a:noFill/>
          <a:ln/>
        </p:spPr>
        <p:txBody>
          <a:bodyPr wrap="square" rtlCol="0" anchor="ctr"/>
          <a:lstStyle/>
          <a:p>
            <a:pPr indent="0" marL="0">
              <a:lnSpc>
                <a:spcPct val="120000"/>
              </a:lnSpc>
              <a:buNone/>
            </a:pPr>
            <a:r>
              <a:rPr lang="en-US" sz="1250" dirty="0">
                <a:solidFill>
                  <a:srgbClr val="5C7080"/>
                </a:solidFill>
                <a:latin typeface="Calibri" pitchFamily="34" charset="0"/>
                <a:ea typeface="Calibri" pitchFamily="34" charset="-122"/>
                <a:cs typeface="Calibri" pitchFamily="34" charset="-120"/>
              </a:rPr>
              <a:t>Some of these are the library's; most are the field's, and the library simply doesn't hide them.</a:t>
            </a:r>
            <a:endParaRPr lang="en-US" sz="1250" dirty="0"/>
          </a:p>
        </p:txBody>
      </p:sp>
      <p:sp>
        <p:nvSpPr>
          <p:cNvPr id="5" name="Shape 3"/>
          <p:cNvSpPr/>
          <p:nvPr/>
        </p:nvSpPr>
        <p:spPr>
          <a:xfrm>
            <a:off x="548640" y="1920240"/>
            <a:ext cx="5349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6" name="Shape 4"/>
          <p:cNvSpPr/>
          <p:nvPr/>
        </p:nvSpPr>
        <p:spPr>
          <a:xfrm>
            <a:off x="804672" y="2148840"/>
            <a:ext cx="457200" cy="457200"/>
          </a:xfrm>
          <a:prstGeom prst="ellipse">
            <a:avLst/>
          </a:prstGeom>
          <a:solidFill>
            <a:srgbClr val="21295C"/>
          </a:solidFill>
          <a:ln/>
        </p:spPr>
      </p:sp>
      <p:pic>
        <p:nvPicPr>
          <p:cNvPr id="7" name="Image 0" descr="/home/claude/icons/chip.png">    </p:cNvPr>
          <p:cNvPicPr>
            <a:picLocks noChangeAspect="1"/>
          </p:cNvPicPr>
          <p:nvPr/>
        </p:nvPicPr>
        <p:blipFill>
          <a:blip r:embed="rId1"/>
          <a:stretch>
            <a:fillRect/>
          </a:stretch>
        </p:blipFill>
        <p:spPr>
          <a:xfrm>
            <a:off x="923544" y="2267712"/>
            <a:ext cx="219456" cy="219456"/>
          </a:xfrm>
          <a:prstGeom prst="rect">
            <a:avLst/>
          </a:prstGeom>
        </p:spPr>
      </p:pic>
      <p:sp>
        <p:nvSpPr>
          <p:cNvPr id="8" name="Text 5"/>
          <p:cNvSpPr/>
          <p:nvPr/>
        </p:nvSpPr>
        <p:spPr>
          <a:xfrm>
            <a:off x="1389888" y="2121408"/>
            <a:ext cx="4297680" cy="36576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It assumes you have GPUs</a:t>
            </a:r>
            <a:endParaRPr lang="en-US" sz="1250" dirty="0"/>
          </a:p>
        </p:txBody>
      </p:sp>
      <p:sp>
        <p:nvSpPr>
          <p:cNvPr id="9" name="Text 6"/>
          <p:cNvSpPr/>
          <p:nvPr/>
        </p:nvSpPr>
        <p:spPr>
          <a:xfrm>
            <a:off x="804672" y="2542032"/>
            <a:ext cx="4846320" cy="59436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Every stable trainer expects CUDA and real memory. The on-policy trainers additionally want vLLM — colocated in-process by default as of v1. Nothing here runs meaningfully on a laptop.</a:t>
            </a:r>
            <a:endParaRPr lang="en-US" sz="1000" dirty="0"/>
          </a:p>
        </p:txBody>
      </p:sp>
      <p:sp>
        <p:nvSpPr>
          <p:cNvPr id="10" name="Shape 7"/>
          <p:cNvSpPr/>
          <p:nvPr/>
        </p:nvSpPr>
        <p:spPr>
          <a:xfrm>
            <a:off x="6263640" y="1920240"/>
            <a:ext cx="5349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11" name="Shape 8"/>
          <p:cNvSpPr/>
          <p:nvPr/>
        </p:nvSpPr>
        <p:spPr>
          <a:xfrm>
            <a:off x="6519672" y="2148840"/>
            <a:ext cx="457200" cy="457200"/>
          </a:xfrm>
          <a:prstGeom prst="ellipse">
            <a:avLst/>
          </a:prstGeom>
          <a:solidFill>
            <a:srgbClr val="21295C"/>
          </a:solidFill>
          <a:ln/>
        </p:spPr>
      </p:sp>
      <p:pic>
        <p:nvPicPr>
          <p:cNvPr id="12" name="Image 1" descr="/home/claude/icons/shuffle.png">    </p:cNvPr>
          <p:cNvPicPr>
            <a:picLocks noChangeAspect="1"/>
          </p:cNvPicPr>
          <p:nvPr/>
        </p:nvPicPr>
        <p:blipFill>
          <a:blip r:embed="rId2"/>
          <a:stretch>
            <a:fillRect/>
          </a:stretch>
        </p:blipFill>
        <p:spPr>
          <a:xfrm>
            <a:off x="6638544" y="2267712"/>
            <a:ext cx="219456" cy="219456"/>
          </a:xfrm>
          <a:prstGeom prst="rect">
            <a:avLst/>
          </a:prstGeom>
        </p:spPr>
      </p:pic>
      <p:sp>
        <p:nvSpPr>
          <p:cNvPr id="13" name="Text 9"/>
          <p:cNvSpPr/>
          <p:nvPr/>
        </p:nvSpPr>
        <p:spPr>
          <a:xfrm>
            <a:off x="7104888" y="2121408"/>
            <a:ext cx="4297680" cy="36576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The API moves under you</a:t>
            </a:r>
            <a:endParaRPr lang="en-US" sz="1250" dirty="0"/>
          </a:p>
        </p:txBody>
      </p:sp>
      <p:sp>
        <p:nvSpPr>
          <p:cNvPr id="14" name="Text 10"/>
          <p:cNvSpPr/>
          <p:nvPr/>
        </p:nvSpPr>
        <p:spPr>
          <a:xfrm>
            <a:off x="6519672" y="2542032"/>
            <a:ext cx="4846320" cy="59436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v1 changed defaults (vllm_mode from server to colocate), renamed config values, and dropped the automatic None-stripping that trainers used to apply to datasets. A tutorial from a year ago will mislead you in specifics.</a:t>
            </a:r>
            <a:endParaRPr lang="en-US" sz="1000" dirty="0"/>
          </a:p>
        </p:txBody>
      </p:sp>
      <p:sp>
        <p:nvSpPr>
          <p:cNvPr id="15" name="Shape 11"/>
          <p:cNvSpPr/>
          <p:nvPr/>
        </p:nvSpPr>
        <p:spPr>
          <a:xfrm>
            <a:off x="548640" y="3383280"/>
            <a:ext cx="5349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16" name="Shape 12"/>
          <p:cNvSpPr/>
          <p:nvPr/>
        </p:nvSpPr>
        <p:spPr>
          <a:xfrm>
            <a:off x="804672" y="3611880"/>
            <a:ext cx="457200" cy="457200"/>
          </a:xfrm>
          <a:prstGeom prst="ellipse">
            <a:avLst/>
          </a:prstGeom>
          <a:solidFill>
            <a:srgbClr val="21295C"/>
          </a:solidFill>
          <a:ln/>
        </p:spPr>
      </p:sp>
      <p:pic>
        <p:nvPicPr>
          <p:cNvPr id="17" name="Image 2" descr="/home/claude/icons/warning.png">    </p:cNvPr>
          <p:cNvPicPr>
            <a:picLocks noChangeAspect="1"/>
          </p:cNvPicPr>
          <p:nvPr/>
        </p:nvPicPr>
        <p:blipFill>
          <a:blip r:embed="rId3"/>
          <a:stretch>
            <a:fillRect/>
          </a:stretch>
        </p:blipFill>
        <p:spPr>
          <a:xfrm>
            <a:off x="923544" y="3730752"/>
            <a:ext cx="219456" cy="219456"/>
          </a:xfrm>
          <a:prstGeom prst="rect">
            <a:avLst/>
          </a:prstGeom>
        </p:spPr>
      </p:pic>
      <p:sp>
        <p:nvSpPr>
          <p:cNvPr id="18" name="Text 13"/>
          <p:cNvSpPr/>
          <p:nvPr/>
        </p:nvSpPr>
        <p:spPr>
          <a:xfrm>
            <a:off x="1389888" y="3584448"/>
            <a:ext cx="4297680" cy="36576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Thin wrappers leak</a:t>
            </a:r>
            <a:endParaRPr lang="en-US" sz="1250" dirty="0"/>
          </a:p>
        </p:txBody>
      </p:sp>
      <p:sp>
        <p:nvSpPr>
          <p:cNvPr id="19" name="Text 14"/>
          <p:cNvSpPr/>
          <p:nvPr/>
        </p:nvSpPr>
        <p:spPr>
          <a:xfrm>
            <a:off x="804672" y="4005072"/>
            <a:ext cx="4846320" cy="59436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Because each trainer is a light layer over the Transformers Trainer, failures often surface as Transformers, Accelerate or DeepSpeed errors with no obvious connection to the method you invoked.</a:t>
            </a:r>
            <a:endParaRPr lang="en-US" sz="1000" dirty="0"/>
          </a:p>
        </p:txBody>
      </p:sp>
      <p:sp>
        <p:nvSpPr>
          <p:cNvPr id="20" name="Shape 15"/>
          <p:cNvSpPr/>
          <p:nvPr/>
        </p:nvSpPr>
        <p:spPr>
          <a:xfrm>
            <a:off x="6263640" y="3383280"/>
            <a:ext cx="5349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21" name="Shape 16"/>
          <p:cNvSpPr/>
          <p:nvPr/>
        </p:nvSpPr>
        <p:spPr>
          <a:xfrm>
            <a:off x="6519672" y="3611880"/>
            <a:ext cx="457200" cy="457200"/>
          </a:xfrm>
          <a:prstGeom prst="ellipse">
            <a:avLst/>
          </a:prstGeom>
          <a:solidFill>
            <a:srgbClr val="21295C"/>
          </a:solidFill>
          <a:ln/>
        </p:spPr>
      </p:sp>
      <p:pic>
        <p:nvPicPr>
          <p:cNvPr id="22" name="Image 3" descr="/home/claude/icons/signal.png">    </p:cNvPr>
          <p:cNvPicPr>
            <a:picLocks noChangeAspect="1"/>
          </p:cNvPicPr>
          <p:nvPr/>
        </p:nvPicPr>
        <p:blipFill>
          <a:blip r:embed="rId4"/>
          <a:stretch>
            <a:fillRect/>
          </a:stretch>
        </p:blipFill>
        <p:spPr>
          <a:xfrm>
            <a:off x="6638544" y="3730752"/>
            <a:ext cx="219456" cy="219456"/>
          </a:xfrm>
          <a:prstGeom prst="rect">
            <a:avLst/>
          </a:prstGeom>
        </p:spPr>
      </p:pic>
      <p:sp>
        <p:nvSpPr>
          <p:cNvPr id="23" name="Text 17"/>
          <p:cNvSpPr/>
          <p:nvPr/>
        </p:nvSpPr>
        <p:spPr>
          <a:xfrm>
            <a:off x="7104888" y="3584448"/>
            <a:ext cx="4297680" cy="36576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Ease of use is not safety</a:t>
            </a:r>
            <a:endParaRPr lang="en-US" sz="1250" dirty="0"/>
          </a:p>
        </p:txBody>
      </p:sp>
      <p:sp>
        <p:nvSpPr>
          <p:cNvPr id="24" name="Text 18"/>
          <p:cNvSpPr/>
          <p:nvPr/>
        </p:nvSpPr>
        <p:spPr>
          <a:xfrm>
            <a:off x="6519672" y="4005072"/>
            <a:ext cx="4846320" cy="59436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Four lines will start a GRPO run. Nothing in those four lines tells you whether your reward function is measuring what you meant, and a well-optimized wrong objective is worse than no training.</a:t>
            </a:r>
            <a:endParaRPr lang="en-US" sz="1000" dirty="0"/>
          </a:p>
        </p:txBody>
      </p:sp>
      <p:sp>
        <p:nvSpPr>
          <p:cNvPr id="25" name="Shape 19"/>
          <p:cNvSpPr/>
          <p:nvPr/>
        </p:nvSpPr>
        <p:spPr>
          <a:xfrm>
            <a:off x="548640" y="4846320"/>
            <a:ext cx="5349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26" name="Shape 20"/>
          <p:cNvSpPr/>
          <p:nvPr/>
        </p:nvSpPr>
        <p:spPr>
          <a:xfrm>
            <a:off x="804672" y="5074920"/>
            <a:ext cx="457200" cy="457200"/>
          </a:xfrm>
          <a:prstGeom prst="ellipse">
            <a:avLst/>
          </a:prstGeom>
          <a:solidFill>
            <a:srgbClr val="21295C"/>
          </a:solidFill>
          <a:ln/>
        </p:spPr>
      </p:sp>
      <p:pic>
        <p:nvPicPr>
          <p:cNvPr id="27" name="Image 4" descr="/home/claude/icons/flask.png">    </p:cNvPr>
          <p:cNvPicPr>
            <a:picLocks noChangeAspect="1"/>
          </p:cNvPicPr>
          <p:nvPr/>
        </p:nvPicPr>
        <p:blipFill>
          <a:blip r:embed="rId5"/>
          <a:stretch>
            <a:fillRect/>
          </a:stretch>
        </p:blipFill>
        <p:spPr>
          <a:xfrm>
            <a:off x="923544" y="5193792"/>
            <a:ext cx="219456" cy="219456"/>
          </a:xfrm>
          <a:prstGeom prst="rect">
            <a:avLst/>
          </a:prstGeom>
        </p:spPr>
      </p:pic>
      <p:sp>
        <p:nvSpPr>
          <p:cNvPr id="28" name="Text 21"/>
          <p:cNvSpPr/>
          <p:nvPr/>
        </p:nvSpPr>
        <p:spPr>
          <a:xfrm>
            <a:off x="1389888" y="5047488"/>
            <a:ext cx="4297680" cy="36576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Most methods are experimental</a:t>
            </a:r>
            <a:endParaRPr lang="en-US" sz="1250" dirty="0"/>
          </a:p>
        </p:txBody>
      </p:sp>
      <p:sp>
        <p:nvSpPr>
          <p:cNvPr id="29" name="Text 22"/>
          <p:cNvSpPr/>
          <p:nvPr/>
        </p:nvSpPr>
        <p:spPr>
          <a:xfrm>
            <a:off x="804672" y="5468112"/>
            <a:ext cx="4846320" cy="59436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Six stable against twenty-seven experimental. If your paper's method is in this library, the odds favour it being in the volatile half.</a:t>
            </a:r>
            <a:endParaRPr lang="en-US" sz="1000" dirty="0"/>
          </a:p>
        </p:txBody>
      </p:sp>
      <p:sp>
        <p:nvSpPr>
          <p:cNvPr id="30" name="Shape 23"/>
          <p:cNvSpPr/>
          <p:nvPr/>
        </p:nvSpPr>
        <p:spPr>
          <a:xfrm>
            <a:off x="6263640" y="4846320"/>
            <a:ext cx="5349240" cy="1298448"/>
          </a:xfrm>
          <a:prstGeom prst="roundRect">
            <a:avLst>
              <a:gd name="adj" fmla="val 5634"/>
            </a:avLst>
          </a:prstGeom>
          <a:solidFill>
            <a:srgbClr val="F2F8FA"/>
          </a:solidFill>
          <a:ln/>
          <a:effectLst>
            <a:outerShdw sx="100000" sy="100000" kx="0" ky="0" algn="bl" rotWithShape="0" blurRad="101600" dist="25400" dir="5400000">
              <a:srgbClr val="1B2733">
                <a:alpha val="8000"/>
              </a:srgbClr>
            </a:outerShdw>
          </a:effectLst>
        </p:spPr>
      </p:sp>
      <p:sp>
        <p:nvSpPr>
          <p:cNvPr id="31" name="Shape 24"/>
          <p:cNvSpPr/>
          <p:nvPr/>
        </p:nvSpPr>
        <p:spPr>
          <a:xfrm>
            <a:off x="6519672" y="5074920"/>
            <a:ext cx="457200" cy="457200"/>
          </a:xfrm>
          <a:prstGeom prst="ellipse">
            <a:avLst/>
          </a:prstGeom>
          <a:solidFill>
            <a:srgbClr val="21295C"/>
          </a:solidFill>
          <a:ln/>
        </p:spPr>
      </p:sp>
      <p:pic>
        <p:nvPicPr>
          <p:cNvPr id="32" name="Image 5" descr="/home/claude/icons/code.png">    </p:cNvPr>
          <p:cNvPicPr>
            <a:picLocks noChangeAspect="1"/>
          </p:cNvPicPr>
          <p:nvPr/>
        </p:nvPicPr>
        <p:blipFill>
          <a:blip r:embed="rId6"/>
          <a:stretch>
            <a:fillRect/>
          </a:stretch>
        </p:blipFill>
        <p:spPr>
          <a:xfrm>
            <a:off x="6638544" y="5193792"/>
            <a:ext cx="219456" cy="219456"/>
          </a:xfrm>
          <a:prstGeom prst="rect">
            <a:avLst/>
          </a:prstGeom>
        </p:spPr>
      </p:pic>
      <p:sp>
        <p:nvSpPr>
          <p:cNvPr id="33" name="Text 25"/>
          <p:cNvSpPr/>
          <p:nvPr/>
        </p:nvSpPr>
        <p:spPr>
          <a:xfrm>
            <a:off x="7104888" y="5047488"/>
            <a:ext cx="4297680" cy="365760"/>
          </a:xfrm>
          <a:prstGeom prst="rect">
            <a:avLst/>
          </a:prstGeom>
          <a:noFill/>
          <a:ln/>
        </p:spPr>
        <p:txBody>
          <a:bodyPr wrap="square" lIns="0" tIns="0" rIns="0" bIns="0" rtlCol="0" anchor="ctr"/>
          <a:lstStyle/>
          <a:p>
            <a:pPr indent="0" marL="0">
              <a:buNone/>
            </a:pPr>
            <a:r>
              <a:rPr lang="en-US" sz="1250" b="1" dirty="0">
                <a:solidFill>
                  <a:srgbClr val="1B2733"/>
                </a:solidFill>
                <a:latin typeface="Calibri" pitchFamily="34" charset="0"/>
                <a:ea typeface="Calibri" pitchFamily="34" charset="-122"/>
                <a:cs typeface="Calibri" pitchFamily="34" charset="-120"/>
              </a:rPr>
              <a:t>The algorithm is buried in infrastructure</a:t>
            </a:r>
            <a:endParaRPr lang="en-US" sz="1250" dirty="0"/>
          </a:p>
        </p:txBody>
      </p:sp>
      <p:sp>
        <p:nvSpPr>
          <p:cNvPr id="34" name="Text 26"/>
          <p:cNvSpPr/>
          <p:nvPr/>
        </p:nvSpPr>
        <p:spPr>
          <a:xfrm>
            <a:off x="6519672" y="5468112"/>
            <a:ext cx="4846320" cy="594360"/>
          </a:xfrm>
          <a:prstGeom prst="rect">
            <a:avLst/>
          </a:prstGeom>
          <a:noFill/>
          <a:ln/>
        </p:spPr>
        <p:txBody>
          <a:bodyPr wrap="square" rtlCol="0" anchor="ctr"/>
          <a:lstStyle/>
          <a:p>
            <a:pPr indent="0" marL="0">
              <a:lnSpc>
                <a:spcPct val="115000"/>
              </a:lnSpc>
              <a:buNone/>
            </a:pPr>
            <a:r>
              <a:rPr lang="en-US" sz="1000" dirty="0">
                <a:solidFill>
                  <a:srgbClr val="5C7080"/>
                </a:solidFill>
                <a:latin typeface="Calibri" pitchFamily="34" charset="0"/>
                <a:ea typeface="Calibri" pitchFamily="34" charset="-122"/>
                <a:cs typeface="Calibri" pitchFamily="34" charset="-120"/>
              </a:rPr>
              <a:t>grpo_trainer.py is around 3,400 lines, with vLLM integration, distributed coordination and multimodal handling interleaved with the method itself. Locating the part that is the algorithm is a task in its own right.</a:t>
            </a:r>
            <a:endParaRPr lang="en-US" sz="1000" dirty="0"/>
          </a:p>
        </p:txBody>
      </p:sp>
      <p:sp>
        <p:nvSpPr>
          <p:cNvPr id="35" name="Text 27"/>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5C7080"/>
                </a:solidFill>
                <a:latin typeface="Calibri" pitchFamily="34" charset="0"/>
                <a:ea typeface="Calibri" pitchFamily="34" charset="-122"/>
                <a:cs typeface="Calibri" pitchFamily="34" charset="-120"/>
              </a:rPr>
              <a:t>TRL  ·  AI SEMINAR, LECTURE 4</a:t>
            </a:r>
            <a:endParaRPr lang="en-US" sz="900" dirty="0"/>
          </a:p>
        </p:txBody>
      </p:sp>
      <p:sp>
        <p:nvSpPr>
          <p:cNvPr id="36" name="Text 28"/>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B2942"/>
        </a:solidFill>
      </p:bgPr>
    </p:bg>
    <p:spTree>
      <p:nvGrpSpPr>
        <p:cNvPr id="1" name=""/>
        <p:cNvGrpSpPr/>
        <p:nvPr/>
      </p:nvGrpSpPr>
      <p:grpSpPr>
        <a:xfrm>
          <a:off x="0" y="0"/>
          <a:ext cx="0" cy="0"/>
          <a:chOff x="0" y="0"/>
          <a:chExt cx="0" cy="0"/>
        </a:xfrm>
      </p:grpSpPr>
      <p:sp>
        <p:nvSpPr>
          <p:cNvPr id="2" name="Text 0"/>
          <p:cNvSpPr/>
          <p:nvPr/>
        </p:nvSpPr>
        <p:spPr>
          <a:xfrm>
            <a:off x="548640" y="411480"/>
            <a:ext cx="9144000" cy="320040"/>
          </a:xfrm>
          <a:prstGeom prst="rect">
            <a:avLst/>
          </a:prstGeom>
          <a:noFill/>
          <a:ln/>
        </p:spPr>
        <p:txBody>
          <a:bodyPr wrap="square" rtlCol="0" anchor="ctr"/>
          <a:lstStyle/>
          <a:p>
            <a:pPr indent="0" marL="0">
              <a:buNone/>
            </a:pPr>
            <a:r>
              <a:rPr lang="en-US" sz="1300" b="1" spc="200" kern="0" dirty="0">
                <a:solidFill>
                  <a:srgbClr val="8FD4E8"/>
                </a:solidFill>
                <a:latin typeface="Calibri" pitchFamily="34" charset="0"/>
                <a:ea typeface="Calibri" pitchFamily="34" charset="-122"/>
                <a:cs typeface="Calibri" pitchFamily="34" charset="-120"/>
              </a:rPr>
              <a:t>WRAPPING UP</a:t>
            </a:r>
            <a:endParaRPr lang="en-US" sz="1300" dirty="0"/>
          </a:p>
        </p:txBody>
      </p:sp>
      <p:sp>
        <p:nvSpPr>
          <p:cNvPr id="3" name="Text 1"/>
          <p:cNvSpPr/>
          <p:nvPr/>
        </p:nvSpPr>
        <p:spPr>
          <a:xfrm>
            <a:off x="548640" y="713232"/>
            <a:ext cx="1078992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4" name="Shape 2"/>
          <p:cNvSpPr/>
          <p:nvPr/>
        </p:nvSpPr>
        <p:spPr>
          <a:xfrm>
            <a:off x="548640" y="1600200"/>
            <a:ext cx="5486400" cy="2194560"/>
          </a:xfrm>
          <a:prstGeom prst="roundRect">
            <a:avLst>
              <a:gd name="adj" fmla="val 3333"/>
            </a:avLst>
          </a:prstGeom>
          <a:solidFill>
            <a:srgbClr val="21295C"/>
          </a:solidFill>
          <a:ln/>
          <a:effectLst>
            <a:outerShdw sx="100000" sy="100000" kx="0" ky="0" algn="bl" rotWithShape="0" blurRad="101600" dist="25400" dir="5400000">
              <a:srgbClr val="1B2733">
                <a:alpha val="8000"/>
              </a:srgbClr>
            </a:outerShdw>
          </a:effectLst>
        </p:spPr>
      </p:sp>
      <p:sp>
        <p:nvSpPr>
          <p:cNvPr id="5" name="Text 3"/>
          <p:cNvSpPr/>
          <p:nvPr/>
        </p:nvSpPr>
        <p:spPr>
          <a:xfrm>
            <a:off x="822960" y="1783080"/>
            <a:ext cx="4937760" cy="365760"/>
          </a:xfrm>
          <a:prstGeom prst="rect">
            <a:avLst/>
          </a:prstGeom>
          <a:noFill/>
          <a:ln/>
        </p:spPr>
        <p:txBody>
          <a:bodyPr wrap="square" rtlCol="0" anchor="ctr"/>
          <a:lstStyle/>
          <a:p>
            <a:pPr indent="0" marL="0">
              <a:buNone/>
            </a:pPr>
            <a:r>
              <a:rPr lang="en-US" sz="1400" b="1" dirty="0">
                <a:solidFill>
                  <a:srgbClr val="8FD4E8"/>
                </a:solidFill>
                <a:latin typeface="Calibri" pitchFamily="34" charset="0"/>
                <a:ea typeface="Calibri" pitchFamily="34" charset="-122"/>
                <a:cs typeface="Calibri" pitchFamily="34" charset="-120"/>
              </a:rPr>
              <a:t>The one-sentence version</a:t>
            </a:r>
            <a:endParaRPr lang="en-US" sz="1400" dirty="0"/>
          </a:p>
        </p:txBody>
      </p:sp>
      <p:sp>
        <p:nvSpPr>
          <p:cNvPr id="6" name="Text 4"/>
          <p:cNvSpPr/>
          <p:nvPr/>
        </p:nvSpPr>
        <p:spPr>
          <a:xfrm>
            <a:off x="822960" y="2240280"/>
            <a:ext cx="4937760" cy="1371600"/>
          </a:xfrm>
          <a:prstGeom prst="rect">
            <a:avLst/>
          </a:prstGeom>
          <a:noFill/>
          <a:ln/>
        </p:spPr>
        <p:txBody>
          <a:bodyPr wrap="square" rtlCol="0" anchor="ctr"/>
          <a:lstStyle/>
          <a:p>
            <a:pPr indent="0" marL="0">
              <a:lnSpc>
                <a:spcPct val="130000"/>
              </a:lnSpc>
              <a:buNone/>
            </a:pPr>
            <a:r>
              <a:rPr lang="en-US" sz="1250" dirty="0">
                <a:solidFill>
                  <a:srgbClr val="CFE8F0"/>
                </a:solidFill>
                <a:latin typeface="Calibri" pitchFamily="34" charset="0"/>
                <a:ea typeface="Calibri" pitchFamily="34" charset="-122"/>
                <a:cs typeface="Calibri" pitchFamily="34" charset="-120"/>
              </a:rPr>
              <a:t>Post-training methods differ mainly in where their signal comes from and whether the model generates its own training data. Every other difference — the losses, the configs, the compute profiles — follows from those two choices.</a:t>
            </a:r>
            <a:endParaRPr lang="en-US" sz="1250" dirty="0"/>
          </a:p>
        </p:txBody>
      </p:sp>
      <p:sp>
        <p:nvSpPr>
          <p:cNvPr id="7" name="Shape 5"/>
          <p:cNvSpPr/>
          <p:nvPr/>
        </p:nvSpPr>
        <p:spPr>
          <a:xfrm>
            <a:off x="6309360" y="1600200"/>
            <a:ext cx="5303520" cy="2194560"/>
          </a:xfrm>
          <a:prstGeom prst="roundRect">
            <a:avLst>
              <a:gd name="adj" fmla="val 3333"/>
            </a:avLst>
          </a:prstGeom>
          <a:solidFill>
            <a:srgbClr val="21295C"/>
          </a:solidFill>
          <a:ln/>
          <a:effectLst>
            <a:outerShdw sx="100000" sy="100000" kx="0" ky="0" algn="bl" rotWithShape="0" blurRad="101600" dist="25400" dir="5400000">
              <a:srgbClr val="1B2733">
                <a:alpha val="8000"/>
              </a:srgbClr>
            </a:outerShdw>
          </a:effectLst>
        </p:spPr>
      </p:sp>
      <p:sp>
        <p:nvSpPr>
          <p:cNvPr id="8" name="Text 6"/>
          <p:cNvSpPr/>
          <p:nvPr/>
        </p:nvSpPr>
        <p:spPr>
          <a:xfrm>
            <a:off x="6583680" y="1783080"/>
            <a:ext cx="4754880" cy="365760"/>
          </a:xfrm>
          <a:prstGeom prst="rect">
            <a:avLst/>
          </a:prstGeom>
          <a:noFill/>
          <a:ln/>
        </p:spPr>
        <p:txBody>
          <a:bodyPr wrap="square" rtlCol="0" anchor="ctr"/>
          <a:lstStyle/>
          <a:p>
            <a:pPr indent="0" marL="0">
              <a:buNone/>
            </a:pPr>
            <a:r>
              <a:rPr lang="en-US" sz="1400" b="1" dirty="0">
                <a:solidFill>
                  <a:srgbClr val="8FD4E8"/>
                </a:solidFill>
                <a:latin typeface="Calibri" pitchFamily="34" charset="0"/>
                <a:ea typeface="Calibri" pitchFamily="34" charset="-122"/>
                <a:cs typeface="Calibri" pitchFamily="34" charset="-120"/>
              </a:rPr>
              <a:t>Resources</a:t>
            </a:r>
            <a:endParaRPr lang="en-US" sz="1400" dirty="0"/>
          </a:p>
        </p:txBody>
      </p:sp>
      <p:sp>
        <p:nvSpPr>
          <p:cNvPr id="9" name="Text 7"/>
          <p:cNvSpPr/>
          <p:nvPr/>
        </p:nvSpPr>
        <p:spPr>
          <a:xfrm>
            <a:off x="6583680" y="2240280"/>
            <a:ext cx="4754880" cy="45720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huggingface/trl</a:t>
            </a:r>
            <a:endParaRPr lang="en-US" sz="1050" dirty="0"/>
          </a:p>
        </p:txBody>
      </p:sp>
      <p:sp>
        <p:nvSpPr>
          <p:cNvPr id="10" name="Text 8"/>
          <p:cNvSpPr/>
          <p:nvPr/>
        </p:nvSpPr>
        <p:spPr>
          <a:xfrm>
            <a:off x="6583680" y="2724912"/>
            <a:ext cx="4754880" cy="45720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docs/source/paper_index.md — method → paper, with hyperparameters</a:t>
            </a:r>
            <a:endParaRPr lang="en-US" sz="1050" dirty="0"/>
          </a:p>
        </p:txBody>
      </p:sp>
      <p:sp>
        <p:nvSpPr>
          <p:cNvPr id="11" name="Text 9"/>
          <p:cNvSpPr/>
          <p:nvPr/>
        </p:nvSpPr>
        <p:spPr>
          <a:xfrm>
            <a:off x="6583680" y="3209544"/>
            <a:ext cx="4754880" cy="457200"/>
          </a:xfrm>
          <a:prstGeom prst="rect">
            <a:avLst/>
          </a:prstGeom>
          <a:noFill/>
          <a:ln/>
        </p:spPr>
        <p:txBody>
          <a:bodyPr wrap="square" rtlCol="0" anchor="ctr"/>
          <a:lstStyle/>
          <a:p>
            <a:pPr indent="0" marL="0">
              <a:lnSpc>
                <a:spcPct val="110000"/>
              </a:lnSpc>
              <a:buNone/>
            </a:pPr>
            <a:r>
              <a:rPr lang="en-US" sz="1050" u="sng" dirty="0">
                <a:solidFill>
                  <a:srgbClr val="8FD4E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docs/source/dataset_formats.md — the trainer→dataset table</a:t>
            </a:r>
            <a:endParaRPr lang="en-US" sz="1050" dirty="0"/>
          </a:p>
        </p:txBody>
      </p:sp>
      <p:sp>
        <p:nvSpPr>
          <p:cNvPr id="12" name="Shape 10"/>
          <p:cNvSpPr/>
          <p:nvPr/>
        </p:nvSpPr>
        <p:spPr>
          <a:xfrm>
            <a:off x="548640" y="3913632"/>
            <a:ext cx="11064240" cy="1207008"/>
          </a:xfrm>
          <a:prstGeom prst="roundRect">
            <a:avLst>
              <a:gd name="adj" fmla="val 6061"/>
            </a:avLst>
          </a:prstGeom>
          <a:solidFill>
            <a:srgbClr val="16385A"/>
          </a:solidFill>
          <a:ln/>
        </p:spPr>
      </p:sp>
      <p:sp>
        <p:nvSpPr>
          <p:cNvPr id="13" name="Shape 11"/>
          <p:cNvSpPr/>
          <p:nvPr/>
        </p:nvSpPr>
        <p:spPr>
          <a:xfrm>
            <a:off x="868680" y="4133088"/>
            <a:ext cx="457200" cy="457200"/>
          </a:xfrm>
          <a:prstGeom prst="ellipse">
            <a:avLst/>
          </a:prstGeom>
          <a:solidFill>
            <a:srgbClr val="1C7293"/>
          </a:solidFill>
          <a:ln/>
        </p:spPr>
      </p:sp>
      <p:pic>
        <p:nvPicPr>
          <p:cNvPr id="14" name="Image 0" descr="/home/claude/icons/bulb.png">    </p:cNvPr>
          <p:cNvPicPr>
            <a:picLocks noChangeAspect="1"/>
          </p:cNvPicPr>
          <p:nvPr/>
        </p:nvPicPr>
        <p:blipFill>
          <a:blip r:embed="rId4"/>
          <a:stretch>
            <a:fillRect/>
          </a:stretch>
        </p:blipFill>
        <p:spPr>
          <a:xfrm>
            <a:off x="987552" y="4251960"/>
            <a:ext cx="219456" cy="219456"/>
          </a:xfrm>
          <a:prstGeom prst="rect">
            <a:avLst/>
          </a:prstGeom>
        </p:spPr>
      </p:pic>
      <p:sp>
        <p:nvSpPr>
          <p:cNvPr id="15" name="Text 12"/>
          <p:cNvSpPr/>
          <p:nvPr/>
        </p:nvSpPr>
        <p:spPr>
          <a:xfrm>
            <a:off x="1508760" y="4069080"/>
            <a:ext cx="7315200" cy="329184"/>
          </a:xfrm>
          <a:prstGeom prst="rect">
            <a:avLst/>
          </a:prstGeom>
          <a:noFill/>
          <a:ln/>
        </p:spPr>
        <p:txBody>
          <a:bodyPr wrap="square" lIns="0" tIns="0" rIns="0" bIns="0" rtlCol="0" anchor="ctr"/>
          <a:lstStyle/>
          <a:p>
            <a:pPr indent="0" marL="0">
              <a:buNone/>
            </a:pPr>
            <a:r>
              <a:rPr lang="en-US" sz="1300" b="1" dirty="0">
                <a:solidFill>
                  <a:srgbClr val="8FD4E8"/>
                </a:solidFill>
                <a:latin typeface="Calibri" pitchFamily="34" charset="0"/>
                <a:ea typeface="Calibri" pitchFamily="34" charset="-122"/>
                <a:cs typeface="Calibri" pitchFamily="34" charset="-120"/>
              </a:rPr>
              <a:t>A question to sit with</a:t>
            </a:r>
            <a:endParaRPr lang="en-US" sz="1300" dirty="0"/>
          </a:p>
        </p:txBody>
      </p:sp>
      <p:sp>
        <p:nvSpPr>
          <p:cNvPr id="16" name="Text 13"/>
          <p:cNvSpPr/>
          <p:nvPr/>
        </p:nvSpPr>
        <p:spPr>
          <a:xfrm>
            <a:off x="1508760" y="4425696"/>
            <a:ext cx="9829800" cy="640080"/>
          </a:xfrm>
          <a:prstGeom prst="rect">
            <a:avLst/>
          </a:prstGeom>
          <a:noFill/>
          <a:ln/>
        </p:spPr>
        <p:txBody>
          <a:bodyPr wrap="square" rtlCol="0" anchor="ctr"/>
          <a:lstStyle/>
          <a:p>
            <a:pPr indent="0" marL="0">
              <a:lnSpc>
                <a:spcPct val="122000"/>
              </a:lnSpc>
              <a:buNone/>
            </a:pPr>
            <a:r>
              <a:rPr lang="en-US" sz="1150" dirty="0">
                <a:solidFill>
                  <a:srgbClr val="CFE8F0"/>
                </a:solidFill>
                <a:latin typeface="Calibri" pitchFamily="34" charset="0"/>
                <a:ea typeface="Calibri" pitchFamily="34" charset="-122"/>
                <a:cs typeface="Calibri" pitchFamily="34" charset="-120"/>
              </a:rPr>
              <a:t>Every method here optimizes a proxy: a learned judge, a regex, a pair of human clicks. None of them can represent what we actually want. Given that, is the KL anchor a principled solution or an admission that we don't know how to specify the objective — and what would it mean to need it less?</a:t>
            </a:r>
            <a:endParaRPr lang="en-US" sz="1150" dirty="0"/>
          </a:p>
        </p:txBody>
      </p:sp>
      <p:sp>
        <p:nvSpPr>
          <p:cNvPr id="17" name="Shape 14"/>
          <p:cNvSpPr/>
          <p:nvPr/>
        </p:nvSpPr>
        <p:spPr>
          <a:xfrm>
            <a:off x="548640" y="5212080"/>
            <a:ext cx="11064240" cy="566928"/>
          </a:xfrm>
          <a:prstGeom prst="roundRect">
            <a:avLst>
              <a:gd name="adj" fmla="val 9677"/>
            </a:avLst>
          </a:prstGeom>
          <a:solidFill>
            <a:srgbClr val="21295C"/>
          </a:solidFill>
          <a:ln/>
        </p:spPr>
      </p:sp>
      <p:sp>
        <p:nvSpPr>
          <p:cNvPr id="18" name="Text 15"/>
          <p:cNvSpPr/>
          <p:nvPr/>
        </p:nvSpPr>
        <p:spPr>
          <a:xfrm>
            <a:off x="868680" y="5212080"/>
            <a:ext cx="10424160" cy="566928"/>
          </a:xfrm>
          <a:prstGeom prst="rect">
            <a:avLst/>
          </a:prstGeom>
          <a:noFill/>
          <a:ln/>
        </p:spPr>
        <p:txBody>
          <a:bodyPr wrap="square" lIns="0" tIns="0" rIns="0" bIns="0" rtlCol="0" anchor="ctr"/>
          <a:lstStyle/>
          <a:p>
            <a:pPr indent="0" marL="0">
              <a:lnSpc>
                <a:spcPct val="115000"/>
              </a:lnSpc>
              <a:buNone/>
            </a:pPr>
            <a:r>
              <a:rPr lang="en-US" sz="1150" b="1" dirty="0">
                <a:solidFill>
                  <a:srgbClr val="8FD4E8"/>
                </a:solidFill>
                <a:latin typeface="Calibri" pitchFamily="34" charset="0"/>
                <a:ea typeface="Calibri" pitchFamily="34" charset="-122"/>
                <a:cs typeface="Calibri" pitchFamily="34" charset="-120"/>
              </a:rPr>
              <a:t>Before you go: </a:t>
            </a:r>
            <a:pPr indent="0" marL="0">
              <a:lnSpc>
                <a:spcPct val="115000"/>
              </a:lnSpc>
              <a:buNone/>
            </a:pPr>
            <a:r>
              <a:rPr lang="en-US" sz="1150" dirty="0">
                <a:solidFill>
                  <a:srgbClr val="CFE8F0"/>
                </a:solidFill>
                <a:latin typeface="Calibri" pitchFamily="34" charset="0"/>
                <a:ea typeface="Calibri" pitchFamily="34" charset="-122"/>
                <a:cs typeface="Calibri" pitchFamily="34" charset="-120"/>
              </a:rPr>
              <a:t>take </a:t>
            </a:r>
            <a:pPr indent="0" marL="0">
              <a:lnSpc>
                <a:spcPct val="115000"/>
              </a:lnSpc>
              <a:buNone/>
            </a:pPr>
            <a:r>
              <a:rPr lang="en-US" sz="1150" dirty="0">
                <a:solidFill>
                  <a:srgbClr val="8FD4E8"/>
                </a:solidFill>
                <a:latin typeface="Courier New" pitchFamily="34" charset="0"/>
                <a:ea typeface="Courier New" pitchFamily="34" charset="-122"/>
                <a:cs typeface="Courier New" pitchFamily="34" charset="-120"/>
              </a:rPr>
              <a:t>quiz.py --mode post</a:t>
            </a:r>
            <a:pPr indent="0" marL="0">
              <a:lnSpc>
                <a:spcPct val="115000"/>
              </a:lnSpc>
              <a:buNone/>
            </a:pPr>
            <a:r>
              <a:rPr lang="en-US" sz="1150" dirty="0">
                <a:solidFill>
                  <a:srgbClr val="CFE8F0"/>
                </a:solidFill>
                <a:latin typeface="Calibri" pitchFamily="34" charset="0"/>
                <a:ea typeface="Calibri" pitchFamily="34" charset="-122"/>
                <a:cs typeface="Calibri" pitchFamily="34" charset="-120"/>
              </a:rPr>
              <a:t> to compare against your pre-lecture score, then work the assignment — Part 1 reads the repository at a terminal, Part 2 runs four trainers in the Kaggle notebook.</a:t>
            </a:r>
            <a:endParaRPr lang="en-US" sz="1150" dirty="0"/>
          </a:p>
        </p:txBody>
      </p:sp>
      <p:sp>
        <p:nvSpPr>
          <p:cNvPr id="19" name="Shape 16"/>
          <p:cNvSpPr/>
          <p:nvPr/>
        </p:nvSpPr>
        <p:spPr>
          <a:xfrm>
            <a:off x="548640" y="5870448"/>
            <a:ext cx="11064240" cy="502920"/>
          </a:xfrm>
          <a:prstGeom prst="roundRect">
            <a:avLst>
              <a:gd name="adj" fmla="val 10909"/>
            </a:avLst>
          </a:prstGeom>
          <a:solidFill>
            <a:srgbClr val="21295C"/>
          </a:solidFill>
          <a:ln/>
        </p:spPr>
      </p:sp>
      <p:sp>
        <p:nvSpPr>
          <p:cNvPr id="20" name="Text 17"/>
          <p:cNvSpPr/>
          <p:nvPr/>
        </p:nvSpPr>
        <p:spPr>
          <a:xfrm>
            <a:off x="868680" y="5870448"/>
            <a:ext cx="10424160" cy="502920"/>
          </a:xfrm>
          <a:prstGeom prst="rect">
            <a:avLst/>
          </a:prstGeom>
          <a:noFill/>
          <a:ln/>
        </p:spPr>
        <p:txBody>
          <a:bodyPr wrap="square" lIns="0" tIns="0" rIns="0" bIns="0" rtlCol="0" anchor="ctr"/>
          <a:lstStyle/>
          <a:p>
            <a:pPr indent="0" marL="0">
              <a:lnSpc>
                <a:spcPct val="120000"/>
              </a:lnSpc>
              <a:buNone/>
            </a:pPr>
            <a:r>
              <a:rPr lang="en-US" sz="1150" b="1" dirty="0">
                <a:solidFill>
                  <a:srgbClr val="9FC3D9"/>
                </a:solidFill>
                <a:latin typeface="Calibri" pitchFamily="34" charset="0"/>
                <a:ea typeface="Calibri" pitchFamily="34" charset="-122"/>
                <a:cs typeface="Calibri" pitchFamily="34" charset="-120"/>
              </a:rPr>
              <a:t>Next: Lecture 5 goes down one level, into grpo_trainer.py — policy gradients, group-relative advantage, and why the value network disappeared.</a:t>
            </a:r>
            <a:endParaRPr lang="en-US" sz="1150" dirty="0"/>
          </a:p>
        </p:txBody>
      </p:sp>
      <p:sp>
        <p:nvSpPr>
          <p:cNvPr id="21" name="Text 18"/>
          <p:cNvSpPr/>
          <p:nvPr/>
        </p:nvSpPr>
        <p:spPr>
          <a:xfrm>
            <a:off x="548640" y="6446520"/>
            <a:ext cx="7315200" cy="274320"/>
          </a:xfrm>
          <a:prstGeom prst="rect">
            <a:avLst/>
          </a:prstGeom>
          <a:noFill/>
          <a:ln/>
        </p:spPr>
        <p:txBody>
          <a:bodyPr wrap="square" rtlCol="0" anchor="ctr"/>
          <a:lstStyle/>
          <a:p>
            <a:pPr indent="0" marL="0">
              <a:buNone/>
            </a:pPr>
            <a:r>
              <a:rPr lang="en-US" sz="900" spc="100" kern="0" dirty="0">
                <a:solidFill>
                  <a:srgbClr val="8FA8C2"/>
                </a:solidFill>
                <a:latin typeface="Calibri" pitchFamily="34" charset="0"/>
                <a:ea typeface="Calibri" pitchFamily="34" charset="-122"/>
                <a:cs typeface="Calibri" pitchFamily="34" charset="-120"/>
              </a:rPr>
              <a:t>TRL  ·  AI SEMINAR, LECTURE 4</a:t>
            </a:r>
            <a:endParaRPr lang="en-US" sz="900" dirty="0"/>
          </a:p>
        </p:txBody>
      </p:sp>
      <p:sp>
        <p:nvSpPr>
          <p:cNvPr id="22" name="Text 19"/>
          <p:cNvSpPr/>
          <p:nvPr/>
        </p:nvSpPr>
        <p:spPr>
          <a:xfrm>
            <a:off x="11521440" y="6446520"/>
            <a:ext cx="457200" cy="274320"/>
          </a:xfrm>
          <a:prstGeom prst="rect">
            <a:avLst/>
          </a:prstGeom>
          <a:noFill/>
          <a:ln/>
        </p:spPr>
        <p:txBody>
          <a:bodyPr wrap="square" rtlCol="0" anchor="ctr"/>
          <a:lstStyle/>
          <a:p>
            <a:pPr algn="r" indent="0" marL="0">
              <a:buNone/>
            </a:pPr>
            <a:r>
              <a:rPr lang="en-US" sz="1000" dirty="0">
                <a:solidFill>
                  <a:srgbClr val="5C70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Post-Training: Six Methods, One Training Loop</dc:title>
  <dc:subject>PptxGenJS Presentation</dc:subject>
  <dc:creator>AI Seminar</dc:creator>
  <cp:lastModifiedBy>AI Seminar</cp:lastModifiedBy>
  <cp:revision>1</cp:revision>
  <dcterms:created xsi:type="dcterms:W3CDTF">2026-08-08T08:58:28Z</dcterms:created>
  <dcterms:modified xsi:type="dcterms:W3CDTF">2026-08-08T08:58:28Z</dcterms:modified>
</cp:coreProperties>
</file>